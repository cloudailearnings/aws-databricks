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68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9" r:id="rId25"/>
    <p:sldId id="290" r:id="rId26"/>
    <p:sldId id="280" r:id="rId27"/>
    <p:sldId id="281" r:id="rId28"/>
    <p:sldId id="282" r:id="rId29"/>
    <p:sldId id="283" r:id="rId30"/>
    <p:sldId id="284" r:id="rId31"/>
    <p:sldId id="292" r:id="rId32"/>
    <p:sldId id="293" r:id="rId33"/>
    <p:sldId id="294" r:id="rId34"/>
    <p:sldId id="291" r:id="rId35"/>
    <p:sldId id="295" r:id="rId36"/>
    <p:sldId id="296" r:id="rId37"/>
    <p:sldId id="28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7D88F-0ADA-15A7-564F-48C8E326D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76678-5053-8000-9C2B-89F2B8545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CC157-1E27-7EDC-6D0F-938E0A231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26FE-F99F-45D9-90BD-8191526BB1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DB7A8-D41F-AD52-69CA-7FE82104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6AEA0-BEB9-F2D6-B6AD-16A8EB42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3FE1-8E6B-4217-BD67-2C982993B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79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05371-E3BA-0518-CEFE-B066B08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0972C-4B2F-C5EE-2C2D-36C63EF0B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4C9C3-D8A4-4F80-CB72-D4E7EAFAE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26FE-F99F-45D9-90BD-8191526BB1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70E36-5A1A-4952-C5B4-E7B37F44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52EB5-A698-0EB8-FB60-9F13D79B4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3FE1-8E6B-4217-BD67-2C982993B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CD96-4B6F-4791-4260-FCAE25422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33D81-65BB-6945-6CBC-E7EF66775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EBD2-9C1A-260B-219B-6195F72A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26FE-F99F-45D9-90BD-8191526BB1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5E461-6EC9-594B-1542-8402933A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361E4-9E51-B1E2-2CF5-22471482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3FE1-8E6B-4217-BD67-2C982993B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69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DCDC0-3691-0ED0-86C5-BF680C45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3CEB2-B67B-37DF-8C83-B9E90C26C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11E5C-5497-5571-38EA-843B1CC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9520C-65F4-28BF-1652-3E152C58A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26FE-F99F-45D9-90BD-8191526BB1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EEEFF-FD96-D4AF-ED36-9818CB06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C10EA-C99C-0788-A2A1-517DC15B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3FE1-8E6B-4217-BD67-2C982993B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97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4B63D-911D-E9A0-5AC5-434C03629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2B8B-5C6F-747D-8CC2-B73F7ED58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B9562-DDC5-14CF-8AEB-3001F8C31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92BB2-F1E9-6210-1BC8-B169A1630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9D0A6E-7D30-3F2F-09CB-482391BE2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6744F6-20B2-D3B0-3826-D925B77C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26FE-F99F-45D9-90BD-8191526BB1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D5B222-C9D2-08AD-AD46-F8A2CD7B3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078E18-5B96-2C28-424D-E7DEB9C2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3FE1-8E6B-4217-BD67-2C982993B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6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9832-9AB2-887C-3D73-CB4F8BF72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B97B5-F3FF-563A-8564-AD6BA850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26FE-F99F-45D9-90BD-8191526BB1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8FCDC-86B5-8932-0583-9DF8F0FFD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CCEC0-01CE-CA19-3F67-B577DDB2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3FE1-8E6B-4217-BD67-2C982993B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95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BDBB5-35F6-3AC8-A5B8-79443ED66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26FE-F99F-45D9-90BD-8191526BB1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F2A6FD-3927-ACF9-9C31-E5718D205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FE275-7F60-0476-DC0D-E2C55F50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3FE1-8E6B-4217-BD67-2C982993B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75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0840-59B0-D049-AEFC-35E37E264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A34A6-363E-36AA-40E2-51204279D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F3BD4-6EFF-F865-C803-DA210B9F1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A2B3E-B89C-F224-C027-42525EEE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26FE-F99F-45D9-90BD-8191526BB1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4E933-5617-9956-8B41-935F67E2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B0A97-BEBC-E116-F6AC-6B166D66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3FE1-8E6B-4217-BD67-2C982993B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46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5928-884B-B3C6-4455-B5B579DD6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E8C641-2D12-3C91-466D-24209ABA5B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7C990-C66B-1536-AF8E-54EDBF2AA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DE2C8-E45F-90AD-9086-43355F67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26FE-F99F-45D9-90BD-8191526BB1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5689A-4588-B7F3-08D9-EACD0B45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07BD6-6CA5-4D26-570C-8CB3AA131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3FE1-8E6B-4217-BD67-2C982993B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0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1997D-4F0E-C73F-E0DA-DCFA7E15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6409C-CD8A-2251-E4AC-369247649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5F1CB-2BB8-EB3A-D723-59B324B7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26FE-F99F-45D9-90BD-8191526BB1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F995C-00CC-3787-623F-F859EAB6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EF7D0-B848-11E3-A522-8EAA56A6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3FE1-8E6B-4217-BD67-2C982993B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3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F7026E-822F-4F27-9811-68940DD01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A7934-9810-7A59-BD66-1C42A094B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2C651-2941-CC91-4F15-443620F29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26FE-F99F-45D9-90BD-8191526BB1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F3C04-706F-D2A0-7A60-4FE2D6B03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10E3D-5447-A3AE-44E2-E04C1AEA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3FE1-8E6B-4217-BD67-2C982993B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7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51792E-14E1-0B39-5D7E-B8927128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FD5A9-6489-15B5-DD01-FACC4B31E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1A066-55A3-E2F3-9C4C-D80BA797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126FE-F99F-45D9-90BD-8191526BB1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C0458-13C3-ABA1-F7EA-BB604F901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26270-DCA2-6D38-54EE-C853CBCB3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E3FE1-8E6B-4217-BD67-2C982993B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5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0FE10-9FFE-325E-8A4B-36463CB38C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–Day1</a:t>
            </a:r>
          </a:p>
        </p:txBody>
      </p:sp>
    </p:spTree>
    <p:extLst>
      <p:ext uri="{BB962C8B-B14F-4D97-AF65-F5344CB8AC3E}">
        <p14:creationId xmlns:p14="http://schemas.microsoft.com/office/powerpoint/2010/main" val="15957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D4067-0D10-5FD7-ED9B-5096A375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SQL –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2DD8D-BD8F-8ABE-B37C-EE0D33810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6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is SQL?</a:t>
            </a:r>
          </a:p>
          <a:p>
            <a:r>
              <a:rPr lang="en-US" b="1" dirty="0"/>
              <a:t>SQL (Structured Query Language)</a:t>
            </a:r>
            <a:r>
              <a:rPr lang="en-US" dirty="0"/>
              <a:t> is a standard language used to </a:t>
            </a:r>
            <a:r>
              <a:rPr lang="en-US" b="1" dirty="0"/>
              <a:t>communicate with relational databases</a:t>
            </a:r>
            <a:r>
              <a:rPr lang="en-US" dirty="0"/>
              <a:t>.</a:t>
            </a:r>
          </a:p>
          <a:p>
            <a:r>
              <a:rPr lang="en-US" dirty="0"/>
              <a:t>It allows users to </a:t>
            </a:r>
            <a:r>
              <a:rPr lang="en-US" b="1" dirty="0"/>
              <a:t>store, retrieve, update, and delete data</a:t>
            </a:r>
            <a:r>
              <a:rPr lang="en-US" dirty="0"/>
              <a:t> efficiently.</a:t>
            </a:r>
          </a:p>
          <a:p>
            <a:r>
              <a:rPr lang="en-US" dirty="0"/>
              <a:t>SQL is </a:t>
            </a:r>
            <a:r>
              <a:rPr lang="en-US" b="1" dirty="0"/>
              <a:t>declarative</a:t>
            </a:r>
            <a:r>
              <a:rPr lang="en-US" dirty="0"/>
              <a:t>, meaning you specify </a:t>
            </a:r>
            <a:r>
              <a:rPr lang="en-US" i="1" dirty="0"/>
              <a:t>what</a:t>
            </a:r>
            <a:r>
              <a:rPr lang="en-US" dirty="0"/>
              <a:t> data you want, not </a:t>
            </a:r>
            <a:r>
              <a:rPr lang="en-US" i="1" dirty="0"/>
              <a:t>how</a:t>
            </a:r>
            <a:r>
              <a:rPr lang="en-US" dirty="0"/>
              <a:t> to get 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275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5B760-BF51-79B5-D35B-7C7E3E521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DCD4B-F48B-ED0A-C28F-FDBF4D94D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Retrieve data from databases</a:t>
            </a:r>
          </a:p>
          <a:p>
            <a:r>
              <a:rPr lang="en-US" dirty="0"/>
              <a:t>Insert new records</a:t>
            </a:r>
          </a:p>
          <a:p>
            <a:r>
              <a:rPr lang="en-US" dirty="0"/>
              <a:t>Update existing data</a:t>
            </a:r>
          </a:p>
          <a:p>
            <a:r>
              <a:rPr lang="en-US" dirty="0"/>
              <a:t>Delete unwanted data</a:t>
            </a:r>
          </a:p>
          <a:p>
            <a:r>
              <a:rPr lang="en-US" dirty="0"/>
              <a:t>Create and manage database objects (tables, views, indexes)</a:t>
            </a:r>
          </a:p>
          <a:p>
            <a:r>
              <a:rPr lang="en-US" dirty="0"/>
              <a:t>Control access and security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957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7E196-3149-C903-C466-64E166B9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743745"/>
          </a:xfrm>
        </p:spPr>
        <p:txBody>
          <a:bodyPr/>
          <a:lstStyle/>
          <a:p>
            <a:r>
              <a:rPr lang="en-US" dirty="0"/>
              <a:t>What is a Database?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3CEE9-83F6-D754-F985-D285A6EE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357539"/>
            <a:ext cx="118110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database</a:t>
            </a:r>
            <a:r>
              <a:rPr lang="en-US" dirty="0"/>
              <a:t> is an </a:t>
            </a:r>
            <a:r>
              <a:rPr lang="en-US" b="1" dirty="0"/>
              <a:t>organized collection of data</a:t>
            </a:r>
            <a:r>
              <a:rPr lang="en-US" dirty="0"/>
              <a:t> stored electronically, so it can be </a:t>
            </a:r>
            <a:r>
              <a:rPr lang="en-US" b="1" dirty="0"/>
              <a:t>easily accessed, managed, and updated</a:t>
            </a:r>
            <a:r>
              <a:rPr lang="en-US" dirty="0"/>
              <a:t>.</a:t>
            </a:r>
          </a:p>
          <a:p>
            <a:r>
              <a:rPr lang="en-US" dirty="0"/>
              <a:t> Instead of keeping data in files or notebooks, we store it in a database for </a:t>
            </a:r>
            <a:r>
              <a:rPr lang="en-US" b="1" dirty="0"/>
              <a:t>speed, accuracy, and security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Why Do We Need a Database?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Store </a:t>
            </a:r>
            <a:r>
              <a:rPr lang="en-US" b="1" dirty="0"/>
              <a:t>large amounts of data</a:t>
            </a:r>
            <a:endParaRPr lang="en-US" dirty="0"/>
          </a:p>
          <a:p>
            <a:r>
              <a:rPr lang="en-US" dirty="0"/>
              <a:t>Access data </a:t>
            </a:r>
            <a:r>
              <a:rPr lang="en-US" b="1" dirty="0"/>
              <a:t>quickly</a:t>
            </a:r>
            <a:endParaRPr lang="en-US" dirty="0"/>
          </a:p>
          <a:p>
            <a:r>
              <a:rPr lang="en-US" dirty="0"/>
              <a:t>Avoid </a:t>
            </a:r>
            <a:r>
              <a:rPr lang="en-US" b="1" dirty="0"/>
              <a:t>duplicate data</a:t>
            </a:r>
            <a:endParaRPr lang="en-US" dirty="0"/>
          </a:p>
          <a:p>
            <a:r>
              <a:rPr lang="en-US" dirty="0"/>
              <a:t>Maintain </a:t>
            </a:r>
            <a:r>
              <a:rPr lang="en-US" b="1" dirty="0"/>
              <a:t>data accuracy</a:t>
            </a:r>
            <a:endParaRPr lang="en-US" dirty="0"/>
          </a:p>
          <a:p>
            <a:r>
              <a:rPr lang="en-US" dirty="0"/>
              <a:t>Allow </a:t>
            </a:r>
            <a:r>
              <a:rPr lang="en-US" b="1" dirty="0"/>
              <a:t>multiple users</a:t>
            </a:r>
            <a:r>
              <a:rPr lang="en-US" dirty="0"/>
              <a:t> to work at the same time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9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D4F5-DA69-125C-ADEA-9EEA47F0A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5517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Does a Database Contain?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68E07F-6229-EB77-7623-40B0C8A70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5957" y="1821443"/>
            <a:ext cx="3363686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Indexes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Stored Procs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979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77CF5-23E9-D3D1-7F31-9C60663E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What is RDBMS?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3EFD2-182E-F979-1EED-7584F3A1B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0" y="1253331"/>
            <a:ext cx="12094029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What is RDBMS?</a:t>
            </a:r>
          </a:p>
          <a:p>
            <a:r>
              <a:rPr lang="en-US" b="1" dirty="0"/>
              <a:t>RDBMS</a:t>
            </a:r>
            <a:r>
              <a:rPr lang="en-US" dirty="0"/>
              <a:t> stands for </a:t>
            </a:r>
            <a:r>
              <a:rPr lang="en-US" b="1" dirty="0"/>
              <a:t>Relational Database Management System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a type of database system where </a:t>
            </a:r>
            <a:r>
              <a:rPr lang="en-US" b="1" dirty="0"/>
              <a:t>data is stored in tables</a:t>
            </a:r>
            <a:r>
              <a:rPr lang="en-US" dirty="0"/>
              <a:t> and </a:t>
            </a:r>
            <a:r>
              <a:rPr lang="en-US" b="1" dirty="0"/>
              <a:t>relationships are created between those tables</a:t>
            </a:r>
            <a:r>
              <a:rPr lang="en-US" dirty="0"/>
              <a:t>.</a:t>
            </a:r>
          </a:p>
          <a:p>
            <a:r>
              <a:rPr lang="en-US" dirty="0"/>
              <a:t>Each table has </a:t>
            </a:r>
            <a:r>
              <a:rPr lang="en-US" b="1" dirty="0"/>
              <a:t>rows (records)</a:t>
            </a:r>
            <a:r>
              <a:rPr lang="en-US" dirty="0"/>
              <a:t> and </a:t>
            </a:r>
            <a:r>
              <a:rPr lang="en-US" b="1" dirty="0"/>
              <a:t>columns (attributes)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Why “Relational”?</a:t>
            </a:r>
          </a:p>
          <a:p>
            <a:r>
              <a:rPr lang="en-US" dirty="0"/>
              <a:t>Tables are </a:t>
            </a:r>
            <a:r>
              <a:rPr lang="en-US" b="1" dirty="0"/>
              <a:t>related</a:t>
            </a:r>
            <a:r>
              <a:rPr lang="en-US" dirty="0"/>
              <a:t> to each other using </a:t>
            </a:r>
            <a:r>
              <a:rPr lang="en-US" b="1" dirty="0"/>
              <a:t>keys</a:t>
            </a:r>
            <a:endParaRPr lang="en-US" dirty="0"/>
          </a:p>
          <a:p>
            <a:r>
              <a:rPr lang="en-US" dirty="0"/>
              <a:t>This avoids data duplication</a:t>
            </a:r>
          </a:p>
          <a:p>
            <a:r>
              <a:rPr lang="en-US" dirty="0"/>
              <a:t>Makes data easy to manage and maintain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512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4816-4053-2629-67F9-B5810E055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Components of RDBMS</a:t>
            </a:r>
          </a:p>
          <a:p>
            <a:r>
              <a:rPr lang="en-US" b="1" dirty="0"/>
              <a:t>Tables</a:t>
            </a:r>
            <a:r>
              <a:rPr lang="en-US" dirty="0"/>
              <a:t> – Store data</a:t>
            </a:r>
          </a:p>
          <a:p>
            <a:r>
              <a:rPr lang="en-US" b="1" dirty="0"/>
              <a:t>Rows (Tuples)</a:t>
            </a:r>
            <a:r>
              <a:rPr lang="en-US" dirty="0"/>
              <a:t> – Individual records</a:t>
            </a:r>
          </a:p>
          <a:p>
            <a:r>
              <a:rPr lang="en-US" b="1" dirty="0"/>
              <a:t>Columns (Attributes)</a:t>
            </a:r>
            <a:r>
              <a:rPr lang="en-US" dirty="0"/>
              <a:t> – Data fields</a:t>
            </a:r>
          </a:p>
          <a:p>
            <a:r>
              <a:rPr lang="en-US" b="1" dirty="0"/>
              <a:t>Primary Key (PK)</a:t>
            </a:r>
            <a:r>
              <a:rPr lang="en-US" dirty="0"/>
              <a:t> – Uniquely identifies a record</a:t>
            </a:r>
          </a:p>
          <a:p>
            <a:r>
              <a:rPr lang="en-US" b="1" dirty="0"/>
              <a:t>Foreign Key (FK)</a:t>
            </a:r>
            <a:r>
              <a:rPr lang="en-US" dirty="0"/>
              <a:t> – Creates relationships between 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54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4CDF5-D00B-27E2-AD8B-1500F009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SQL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44A8D-CC42-65C8-3D02-C174FE0D1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What are SQL Data Types?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SQL </a:t>
            </a:r>
            <a:r>
              <a:rPr lang="en-US" b="1" dirty="0"/>
              <a:t>data types</a:t>
            </a:r>
            <a:r>
              <a:rPr lang="en-US" dirty="0"/>
              <a:t> define </a:t>
            </a:r>
            <a:r>
              <a:rPr lang="en-US" b="1" dirty="0"/>
              <a:t>what kind of data a column can store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They ensure:</a:t>
            </a:r>
          </a:p>
          <a:p>
            <a:r>
              <a:rPr lang="en-US" dirty="0"/>
              <a:t>Data accuracy</a:t>
            </a:r>
          </a:p>
          <a:p>
            <a:r>
              <a:rPr lang="en-US" dirty="0"/>
              <a:t>Proper storage</a:t>
            </a:r>
          </a:p>
          <a:p>
            <a:r>
              <a:rPr lang="en-US" dirty="0"/>
              <a:t>Efficient performance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Example:</a:t>
            </a:r>
          </a:p>
          <a:p>
            <a:r>
              <a:rPr lang="en-US" dirty="0"/>
              <a:t>Employee ID → N</a:t>
            </a:r>
          </a:p>
          <a:p>
            <a:r>
              <a:rPr lang="en-US" dirty="0"/>
              <a:t>umber</a:t>
            </a:r>
          </a:p>
          <a:p>
            <a:r>
              <a:rPr lang="en-US" dirty="0"/>
              <a:t>Name → Text</a:t>
            </a:r>
          </a:p>
          <a:p>
            <a:r>
              <a:rPr lang="en-US" dirty="0"/>
              <a:t>Salary → Decimal</a:t>
            </a:r>
          </a:p>
          <a:p>
            <a:r>
              <a:rPr lang="en-US" dirty="0"/>
              <a:t>Date of Joining → Date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146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51F27-82BF-7DB5-F0BD-324B37DD8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1190"/>
            <a:ext cx="10515600" cy="1325563"/>
          </a:xfrm>
        </p:spPr>
        <p:txBody>
          <a:bodyPr/>
          <a:lstStyle/>
          <a:p>
            <a:r>
              <a:rPr lang="en-US" dirty="0"/>
              <a:t>1. Numeric Data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E4E365-676F-0F62-012F-D00D80AC3B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249173"/>
              </p:ext>
            </p:extLst>
          </p:nvPr>
        </p:nvGraphicFramePr>
        <p:xfrm>
          <a:off x="838200" y="1992086"/>
          <a:ext cx="10515600" cy="292361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5301079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369282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25526194"/>
                    </a:ext>
                  </a:extLst>
                </a:gridCol>
              </a:tblGrid>
              <a:tr h="58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726417"/>
                  </a:ext>
                </a:extLst>
              </a:tr>
              <a:tr h="58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Whole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262349"/>
                  </a:ext>
                </a:extLst>
              </a:tr>
              <a:tr h="58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BIGINT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896913"/>
                  </a:ext>
                </a:extLst>
              </a:tr>
              <a:tr h="58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DECIMAL(p,s)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Exact decimals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45000.75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496323"/>
                  </a:ext>
                </a:extLst>
              </a:tr>
              <a:tr h="58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Approximate decimals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76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9165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B7B9-6625-9F5A-49B6-8CFD12D94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80459"/>
          </a:xfrm>
        </p:spPr>
        <p:txBody>
          <a:bodyPr>
            <a:normAutofit fontScale="90000"/>
          </a:bodyPr>
          <a:lstStyle/>
          <a:p>
            <a:r>
              <a:rPr lang="en-US" dirty="0"/>
              <a:t>2. Character / String Data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FD4CE2-8BE6-0CF6-AE62-DC10C7164F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4093241"/>
              </p:ext>
            </p:extLst>
          </p:nvPr>
        </p:nvGraphicFramePr>
        <p:xfrm>
          <a:off x="685800" y="1604258"/>
          <a:ext cx="10515600" cy="2597628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7572095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344740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20670552"/>
                    </a:ext>
                  </a:extLst>
                </a:gridCol>
              </a:tblGrid>
              <a:tr h="64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highlight>
                            <a:srgbClr val="FFFF00"/>
                          </a:highlight>
                        </a:rPr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914177"/>
                  </a:ext>
                </a:extLst>
              </a:tr>
              <a:tr h="64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CHAR(n)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Fixed-length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'HR'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374305"/>
                  </a:ext>
                </a:extLst>
              </a:tr>
              <a:tr h="64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VARCHAR(n)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Variable-length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'Amit'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144999"/>
                  </a:ext>
                </a:extLst>
              </a:tr>
              <a:tr h="64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637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362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4B172-41E7-3FA1-67DA-264ABB1F8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18256"/>
            <a:ext cx="10515600" cy="874374"/>
          </a:xfrm>
        </p:spPr>
        <p:txBody>
          <a:bodyPr/>
          <a:lstStyle/>
          <a:p>
            <a:r>
              <a:rPr lang="en-US" dirty="0"/>
              <a:t>3. Date &amp; Time Data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09AC40-6ADF-BF16-A431-F4ED702DF1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7025061"/>
              </p:ext>
            </p:extLst>
          </p:nvPr>
        </p:nvGraphicFramePr>
        <p:xfrm>
          <a:off x="838200" y="1865516"/>
          <a:ext cx="10515600" cy="3087484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8087890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706929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96021829"/>
                    </a:ext>
                  </a:extLst>
                </a:gridCol>
              </a:tblGrid>
              <a:tr h="771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highlight>
                            <a:srgbClr val="FFFF00"/>
                          </a:highlight>
                        </a:rPr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highlight>
                            <a:srgbClr val="FFFF00"/>
                          </a:highlight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434017"/>
                  </a:ext>
                </a:extLst>
              </a:tr>
              <a:tr h="771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Date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'2026-02-09'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797578"/>
                  </a:ext>
                </a:extLst>
              </a:tr>
              <a:tr h="771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'10:30:00'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023503"/>
                  </a:ext>
                </a:extLst>
              </a:tr>
              <a:tr h="771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TIMESTAMP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Date &amp;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'2026-02-09 10:30:00'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825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880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D7392-DDDE-5709-614F-AA9B6FFA6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Boolean Data Type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A4BE51-64B7-84B4-9627-EB058B83C3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8903224"/>
              </p:ext>
            </p:extLst>
          </p:nvPr>
        </p:nvGraphicFramePr>
        <p:xfrm>
          <a:off x="838200" y="3635534"/>
          <a:ext cx="10515600" cy="7315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052866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42421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highlight>
                            <a:srgbClr val="FFFF00"/>
                          </a:highlight>
                        </a:rPr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731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BOOLEAN / 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TRUE or 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806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925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4944-B8EB-A67B-A38E-5E15AE83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highlight>
                  <a:srgbClr val="FFFF00"/>
                </a:highlight>
              </a:rPr>
              <a:t>Table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4513-EB8B-421D-661C-6BA1388A1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a Table in SQL?</a:t>
            </a:r>
          </a:p>
          <a:p>
            <a:r>
              <a:rPr lang="en-US" dirty="0"/>
              <a:t>A </a:t>
            </a:r>
            <a:r>
              <a:rPr lang="en-US" b="1" dirty="0"/>
              <a:t>table</a:t>
            </a:r>
            <a:r>
              <a:rPr lang="en-US" dirty="0"/>
              <a:t> is a structured format used to store data in an RDBMS.</a:t>
            </a:r>
            <a:br>
              <a:rPr lang="en-US" dirty="0"/>
            </a:br>
            <a:r>
              <a:rPr lang="en-US" dirty="0"/>
              <a:t>It consists of:</a:t>
            </a:r>
          </a:p>
          <a:p>
            <a:r>
              <a:rPr lang="en-US" dirty="0"/>
              <a:t>👉 Each table represents </a:t>
            </a:r>
            <a:r>
              <a:rPr lang="en-US" b="1" dirty="0"/>
              <a:t>one entity</a:t>
            </a:r>
            <a:r>
              <a:rPr lang="en-US" dirty="0"/>
              <a:t> (Employee, Product, Order, etc.).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645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7733-85BA-B142-505E-83E7B1DB4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678431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Basic Components of a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B28F-5953-573D-7733-0598D213D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9532"/>
            <a:ext cx="10515600" cy="60584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 Columns</a:t>
            </a:r>
          </a:p>
          <a:p>
            <a:r>
              <a:rPr lang="en-US" dirty="0"/>
              <a:t>Define the </a:t>
            </a:r>
            <a:r>
              <a:rPr lang="en-US" b="1" dirty="0"/>
              <a:t>type of data</a:t>
            </a:r>
            <a:r>
              <a:rPr lang="en-US" dirty="0"/>
              <a:t> stored</a:t>
            </a:r>
          </a:p>
          <a:p>
            <a:r>
              <a:rPr lang="en-US" dirty="0"/>
              <a:t>Each column has: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Data type</a:t>
            </a:r>
          </a:p>
          <a:p>
            <a:pPr lvl="1"/>
            <a:r>
              <a:rPr lang="en-US" dirty="0"/>
              <a:t>Constraints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Example columns:</a:t>
            </a:r>
          </a:p>
          <a:p>
            <a:r>
              <a:rPr lang="en-US" dirty="0" err="1"/>
              <a:t>EmpID</a:t>
            </a:r>
            <a:r>
              <a:rPr lang="en-US" dirty="0"/>
              <a:t> (INT)</a:t>
            </a:r>
          </a:p>
          <a:p>
            <a:r>
              <a:rPr lang="en-US" dirty="0"/>
              <a:t>Name (VARCHAR)</a:t>
            </a:r>
          </a:p>
          <a:p>
            <a:r>
              <a:rPr lang="en-US" dirty="0"/>
              <a:t>Salary (DECIMAL)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2. Rows (Records)</a:t>
            </a:r>
          </a:p>
          <a:p>
            <a:r>
              <a:rPr lang="en-US" dirty="0"/>
              <a:t>Each row represents </a:t>
            </a:r>
            <a:r>
              <a:rPr lang="en-US" b="1" dirty="0"/>
              <a:t>one record</a:t>
            </a:r>
            <a:endParaRPr lang="en-US" dirty="0"/>
          </a:p>
          <a:p>
            <a:r>
              <a:rPr lang="en-US" dirty="0"/>
              <a:t>Example: one employee’s details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39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BF876-616F-1004-30EF-8663D5D9B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541110"/>
            <a:ext cx="10515600" cy="6175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3. Primary Key (PK)</a:t>
            </a:r>
          </a:p>
          <a:p>
            <a:r>
              <a:rPr lang="en-US" dirty="0"/>
              <a:t>Uniquely identifies each row</a:t>
            </a:r>
          </a:p>
          <a:p>
            <a:r>
              <a:rPr lang="en-US" dirty="0"/>
              <a:t>Cannot be NULL</a:t>
            </a:r>
          </a:p>
          <a:p>
            <a:r>
              <a:rPr lang="en-US" dirty="0"/>
              <a:t>No duplicate values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Example:</a:t>
            </a:r>
          </a:p>
          <a:p>
            <a:r>
              <a:rPr lang="en-US" dirty="0" err="1"/>
              <a:t>EmpID</a:t>
            </a:r>
            <a:r>
              <a:rPr lang="en-US" dirty="0"/>
              <a:t> INT PRIMARY KEY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4. Foreign Key (FK)</a:t>
            </a:r>
          </a:p>
          <a:p>
            <a:r>
              <a:rPr lang="en-US" dirty="0"/>
              <a:t>Links one table to another</a:t>
            </a:r>
          </a:p>
          <a:p>
            <a:r>
              <a:rPr lang="en-US" dirty="0"/>
              <a:t>Maintains relationships between tables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Example:</a:t>
            </a:r>
          </a:p>
          <a:p>
            <a:r>
              <a:rPr lang="en-US" dirty="0" err="1"/>
              <a:t>DeptID</a:t>
            </a:r>
            <a:r>
              <a:rPr lang="en-US" dirty="0"/>
              <a:t> INT REFERENCES Department(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632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DA0FD-686B-AA75-B92B-16297D396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CREATE TABLE Employee (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 err="1">
                <a:solidFill>
                  <a:srgbClr val="FF0000"/>
                </a:solidFill>
              </a:rPr>
              <a:t>EmpID</a:t>
            </a:r>
            <a:r>
              <a:rPr lang="en-US" dirty="0">
                <a:solidFill>
                  <a:srgbClr val="FF0000"/>
                </a:solidFill>
              </a:rPr>
              <a:t> INT PRIMARY KEY,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Name VARCHAR(50),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Salary DECIMAL(10,2),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 err="1">
                <a:solidFill>
                  <a:srgbClr val="FF0000"/>
                </a:solidFill>
              </a:rPr>
              <a:t>JoinDate</a:t>
            </a:r>
            <a:r>
              <a:rPr lang="en-US" dirty="0">
                <a:solidFill>
                  <a:srgbClr val="FF0000"/>
                </a:solidFill>
              </a:rPr>
              <a:t> DATE,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 err="1">
                <a:solidFill>
                  <a:srgbClr val="FF0000"/>
                </a:solidFill>
              </a:rPr>
              <a:t>IsActive</a:t>
            </a:r>
            <a:r>
              <a:rPr lang="en-US" dirty="0">
                <a:solidFill>
                  <a:srgbClr val="FF0000"/>
                </a:solidFill>
              </a:rPr>
              <a:t> BOOLEAN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);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DAD91-D664-1259-E1FF-A41FCCE1C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highlight>
                  <a:srgbClr val="FFFF00"/>
                </a:highlight>
              </a:rPr>
              <a:t>Table Structure</a:t>
            </a:r>
          </a:p>
        </p:txBody>
      </p:sp>
    </p:spTree>
    <p:extLst>
      <p:ext uri="{BB962C8B-B14F-4D97-AF65-F5344CB8AC3E}">
        <p14:creationId xmlns:p14="http://schemas.microsoft.com/office/powerpoint/2010/main" val="1484048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4A0EF-EDD2-4E68-AEC0-F728434B1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62000"/>
          </a:xfrm>
        </p:spPr>
        <p:txBody>
          <a:bodyPr/>
          <a:lstStyle/>
          <a:p>
            <a:r>
              <a:rPr lang="en-US" b="1" i="1" dirty="0"/>
              <a:t>Data Modelling and ERD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243A2-721B-9537-8FF3-8E196B5D8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" y="15643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is Data Modelling?</a:t>
            </a:r>
          </a:p>
          <a:p>
            <a:r>
              <a:rPr lang="en-US" b="1" dirty="0"/>
              <a:t>Data Modelling</a:t>
            </a:r>
            <a:r>
              <a:rPr lang="en-US" dirty="0"/>
              <a:t> is the process of </a:t>
            </a:r>
            <a:r>
              <a:rPr lang="en-US" b="1" dirty="0"/>
              <a:t>designing the structure of a database</a:t>
            </a:r>
            <a:r>
              <a:rPr lang="en-US" dirty="0"/>
              <a:t> before it is created.</a:t>
            </a:r>
          </a:p>
          <a:p>
            <a:pPr marL="0" indent="0">
              <a:buNone/>
            </a:pPr>
            <a:r>
              <a:rPr lang="en-US" dirty="0"/>
              <a:t> It answers:</a:t>
            </a:r>
          </a:p>
          <a:p>
            <a:r>
              <a:rPr lang="en-US" dirty="0"/>
              <a:t>What data needs to be stored?</a:t>
            </a:r>
          </a:p>
          <a:p>
            <a:r>
              <a:rPr lang="en-US" dirty="0"/>
              <a:t>How is the data related?</a:t>
            </a:r>
          </a:p>
          <a:p>
            <a:r>
              <a:rPr lang="en-US" dirty="0"/>
              <a:t>What rules apply to the data?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676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3E5A-1A43-05FA-C990-A3F5E0F12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Why Data Modelling is Important</a:t>
            </a:r>
          </a:p>
          <a:p>
            <a:r>
              <a:rPr lang="en-US" dirty="0"/>
              <a:t>Avoids data duplication</a:t>
            </a:r>
          </a:p>
          <a:p>
            <a:r>
              <a:rPr lang="en-US" dirty="0"/>
              <a:t>Improves data accuracy</a:t>
            </a:r>
          </a:p>
          <a:p>
            <a:r>
              <a:rPr lang="en-US" dirty="0"/>
              <a:t>Makes database scalable</a:t>
            </a:r>
          </a:p>
          <a:p>
            <a:r>
              <a:rPr lang="en-US" dirty="0"/>
              <a:t>Saves development time</a:t>
            </a:r>
          </a:p>
          <a:p>
            <a:r>
              <a:rPr lang="en-US" dirty="0"/>
              <a:t>Helps developers and business users understand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576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3E7D-1E12-421A-D6B3-603DF612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58687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highlight>
                  <a:srgbClr val="FFFF00"/>
                </a:highlight>
              </a:rPr>
              <a:t>Types of Data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77742-8757-EDE1-DB14-A87550B54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0858"/>
            <a:ext cx="10515600" cy="596888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i="1" dirty="0"/>
              <a:t>Conceptual Model</a:t>
            </a:r>
          </a:p>
          <a:p>
            <a:endParaRPr lang="en-US" dirty="0"/>
          </a:p>
          <a:p>
            <a:r>
              <a:rPr lang="en-US" dirty="0"/>
              <a:t>High-level view</a:t>
            </a:r>
          </a:p>
          <a:p>
            <a:endParaRPr lang="en-US" dirty="0"/>
          </a:p>
          <a:p>
            <a:r>
              <a:rPr lang="en-US" dirty="0"/>
              <a:t>Business-focused</a:t>
            </a:r>
          </a:p>
          <a:p>
            <a:endParaRPr lang="en-US" dirty="0"/>
          </a:p>
          <a:p>
            <a:r>
              <a:rPr lang="en-US" dirty="0"/>
              <a:t>No technical details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i="1" dirty="0"/>
              <a:t>Logical Model</a:t>
            </a:r>
          </a:p>
          <a:p>
            <a:endParaRPr lang="en-US" dirty="0"/>
          </a:p>
          <a:p>
            <a:r>
              <a:rPr lang="en-US" dirty="0"/>
              <a:t>Defines entities, attributes, relationships</a:t>
            </a:r>
          </a:p>
          <a:p>
            <a:endParaRPr lang="en-US" dirty="0"/>
          </a:p>
          <a:p>
            <a:r>
              <a:rPr lang="en-US" dirty="0"/>
              <a:t>No DB-specific data types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i="1" dirty="0"/>
              <a:t>Physical Model</a:t>
            </a:r>
          </a:p>
          <a:p>
            <a:endParaRPr lang="en-US" dirty="0"/>
          </a:p>
          <a:p>
            <a:r>
              <a:rPr lang="en-US" dirty="0"/>
              <a:t>Actual database implementation</a:t>
            </a:r>
          </a:p>
          <a:p>
            <a:endParaRPr lang="en-US" dirty="0"/>
          </a:p>
          <a:p>
            <a:r>
              <a:rPr lang="en-US" dirty="0"/>
              <a:t>Tables, columns, data types, constraints</a:t>
            </a:r>
          </a:p>
        </p:txBody>
      </p:sp>
    </p:spTree>
    <p:extLst>
      <p:ext uri="{BB962C8B-B14F-4D97-AF65-F5344CB8AC3E}">
        <p14:creationId xmlns:p14="http://schemas.microsoft.com/office/powerpoint/2010/main" val="155713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D7B7-D723-2362-DBE1-FA2AE27A5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87288"/>
          </a:xfrm>
        </p:spPr>
        <p:txBody>
          <a:bodyPr/>
          <a:lstStyle/>
          <a:p>
            <a:r>
              <a:rPr lang="en-US" dirty="0"/>
              <a:t>What is ERD?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7082C-ED6D-A3E8-C36E-AE2653A89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6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ERD (Entity Relationship Diagram)</a:t>
            </a:r>
          </a:p>
          <a:p>
            <a:r>
              <a:rPr lang="en-US" dirty="0"/>
              <a:t>An </a:t>
            </a:r>
            <a:r>
              <a:rPr lang="en-US" b="1" dirty="0"/>
              <a:t>ERD</a:t>
            </a:r>
            <a:r>
              <a:rPr lang="en-US" dirty="0"/>
              <a:t> is a </a:t>
            </a:r>
            <a:r>
              <a:rPr lang="en-US" b="1" dirty="0"/>
              <a:t>visual representation of data modelling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shows:</a:t>
            </a:r>
          </a:p>
          <a:p>
            <a:r>
              <a:rPr lang="en-US" dirty="0"/>
              <a:t>Entities</a:t>
            </a:r>
          </a:p>
          <a:p>
            <a:r>
              <a:rPr lang="en-US" dirty="0"/>
              <a:t>Attributes</a:t>
            </a:r>
          </a:p>
          <a:p>
            <a:r>
              <a:rPr lang="en-US" dirty="0"/>
              <a:t>Relationships</a:t>
            </a:r>
          </a:p>
          <a:p>
            <a:r>
              <a:rPr lang="en-US" dirty="0"/>
              <a:t>Keys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217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9CE76-B14F-8465-C233-818ACE6F7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9871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Components of ERD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D907-D782-AA6F-79EF-E376FBD18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" y="1063625"/>
            <a:ext cx="10515600" cy="579437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1. Entity</a:t>
            </a:r>
          </a:p>
          <a:p>
            <a:r>
              <a:rPr lang="en-US" dirty="0"/>
              <a:t>Represents a real-world object</a:t>
            </a:r>
          </a:p>
          <a:p>
            <a:pPr marL="0" indent="0">
              <a:buNone/>
            </a:pPr>
            <a:r>
              <a:rPr lang="en-US" dirty="0"/>
              <a:t>Example: Employee, Department, Order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EMPLOYEE</a:t>
            </a:r>
          </a:p>
          <a:p>
            <a:r>
              <a:rPr lang="en-US" dirty="0"/>
              <a:t>---------</a:t>
            </a:r>
          </a:p>
          <a:p>
            <a:r>
              <a:rPr lang="en-US" dirty="0" err="1"/>
              <a:t>EmpID</a:t>
            </a:r>
            <a:r>
              <a:rPr lang="en-US" dirty="0"/>
              <a:t> (PK)</a:t>
            </a:r>
          </a:p>
          <a:p>
            <a:r>
              <a:rPr lang="en-US" dirty="0"/>
              <a:t>Name</a:t>
            </a:r>
          </a:p>
          <a:p>
            <a:r>
              <a:rPr lang="en-US" dirty="0"/>
              <a:t>Salary</a:t>
            </a:r>
          </a:p>
          <a:p>
            <a:r>
              <a:rPr lang="en-US" dirty="0" err="1"/>
              <a:t>DeptID</a:t>
            </a:r>
            <a:r>
              <a:rPr lang="en-US" dirty="0"/>
              <a:t> (FK)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2. Attributes</a:t>
            </a:r>
          </a:p>
          <a:p>
            <a:r>
              <a:rPr lang="en-US" dirty="0"/>
              <a:t>Properties of an entity</a:t>
            </a:r>
          </a:p>
          <a:p>
            <a:r>
              <a:rPr lang="en-US" dirty="0"/>
              <a:t>Example: Name, Salary, </a:t>
            </a:r>
            <a:r>
              <a:rPr lang="en-US" dirty="0" err="1"/>
              <a:t>JoinDate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10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C8A22-6B40-6DB8-33F3-C726E685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Components of ERD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A20D1-4892-7310-97FD-68EBF3DB1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9787"/>
            <a:ext cx="10515600" cy="584404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3. Primary Key (PK)</a:t>
            </a:r>
          </a:p>
          <a:p>
            <a:r>
              <a:rPr lang="en-US" dirty="0"/>
              <a:t>Uniquely identifies each record</a:t>
            </a:r>
          </a:p>
          <a:p>
            <a:r>
              <a:rPr lang="en-US" dirty="0"/>
              <a:t>Example: </a:t>
            </a:r>
            <a:r>
              <a:rPr lang="en-US" dirty="0" err="1"/>
              <a:t>EmpID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4. Foreign Key (FK)</a:t>
            </a:r>
          </a:p>
          <a:p>
            <a:r>
              <a:rPr lang="en-US" dirty="0"/>
              <a:t>Creates relationships between entities</a:t>
            </a:r>
          </a:p>
          <a:p>
            <a:r>
              <a:rPr lang="en-US" dirty="0"/>
              <a:t>Example: </a:t>
            </a:r>
            <a:r>
              <a:rPr lang="en-US" dirty="0" err="1"/>
              <a:t>DeptID</a:t>
            </a:r>
            <a:r>
              <a:rPr lang="en-US" dirty="0"/>
              <a:t> in Employee table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5. Relationships</a:t>
            </a:r>
          </a:p>
          <a:p>
            <a:r>
              <a:rPr lang="en-US" dirty="0"/>
              <a:t>Defines how entities are connected</a:t>
            </a:r>
          </a:p>
          <a:p>
            <a:pPr marL="0" indent="0">
              <a:buNone/>
            </a:pPr>
            <a:r>
              <a:rPr lang="en-US" b="1" dirty="0"/>
              <a:t>Types:</a:t>
            </a:r>
          </a:p>
          <a:p>
            <a:r>
              <a:rPr lang="en-US" dirty="0"/>
              <a:t>One-to-One</a:t>
            </a:r>
          </a:p>
          <a:p>
            <a:r>
              <a:rPr lang="en-US" dirty="0"/>
              <a:t>One-to-Many</a:t>
            </a:r>
          </a:p>
          <a:p>
            <a:r>
              <a:rPr lang="en-US" dirty="0"/>
              <a:t>Many-to-Many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188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2AB2-141A-6EB0-4B6C-A3EFC1962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ERD: Employee–Department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8ED54-CEBC-67B8-7945-4F8D50D65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6284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One Department can have many Employees</a:t>
            </a:r>
          </a:p>
          <a:p>
            <a:endParaRPr lang="en-US" dirty="0"/>
          </a:p>
          <a:p>
            <a:r>
              <a:rPr lang="en-US" dirty="0"/>
              <a:t>Each Employee belongs to one Department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DEPARTMENT                EMPLOYEE</a:t>
            </a:r>
          </a:p>
          <a:p>
            <a:pPr marL="0" indent="0">
              <a:buNone/>
            </a:pPr>
            <a:r>
              <a:rPr lang="en-US" dirty="0"/>
              <a:t>-----------               -----------</a:t>
            </a:r>
          </a:p>
          <a:p>
            <a:pPr marL="0" indent="0">
              <a:buNone/>
            </a:pPr>
            <a:r>
              <a:rPr lang="en-US" dirty="0" err="1"/>
              <a:t>DeptID</a:t>
            </a:r>
            <a:r>
              <a:rPr lang="en-US" dirty="0"/>
              <a:t> (PK)  ───────▶    </a:t>
            </a:r>
            <a:r>
              <a:rPr lang="en-US" dirty="0" err="1"/>
              <a:t>EmpID</a:t>
            </a:r>
            <a:r>
              <a:rPr lang="en-US" dirty="0"/>
              <a:t> (PK)</a:t>
            </a:r>
          </a:p>
          <a:p>
            <a:pPr marL="0" indent="0">
              <a:buNone/>
            </a:pPr>
            <a:r>
              <a:rPr lang="en-US" dirty="0" err="1"/>
              <a:t>DeptName</a:t>
            </a:r>
            <a:r>
              <a:rPr lang="en-US" dirty="0"/>
              <a:t>                             Name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</a:t>
            </a:r>
            <a:r>
              <a:rPr lang="en-US" dirty="0" err="1"/>
              <a:t>DeptID</a:t>
            </a:r>
            <a:r>
              <a:rPr lang="en-US" dirty="0"/>
              <a:t> (FK)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23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3A9FDE-4A4C-2281-1D09-FC52ACC36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344399" cy="698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7289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2FC1F-AFA9-3CF5-714E-4F00F257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Relationship Summary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1724C0-F20C-E3D2-1C41-7CD3B3889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920037"/>
              </p:ext>
            </p:extLst>
          </p:nvPr>
        </p:nvGraphicFramePr>
        <p:xfrm>
          <a:off x="661360" y="2633472"/>
          <a:ext cx="10866233" cy="3586359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5709175">
                  <a:extLst>
                    <a:ext uri="{9D8B030D-6E8A-4147-A177-3AD203B41FA5}">
                      <a16:colId xmlns:a16="http://schemas.microsoft.com/office/drawing/2014/main" val="3686795709"/>
                    </a:ext>
                  </a:extLst>
                </a:gridCol>
                <a:gridCol w="5157058">
                  <a:extLst>
                    <a:ext uri="{9D8B030D-6E8A-4147-A177-3AD203B41FA5}">
                      <a16:colId xmlns:a16="http://schemas.microsoft.com/office/drawing/2014/main" val="1743827712"/>
                    </a:ext>
                  </a:extLst>
                </a:gridCol>
              </a:tblGrid>
              <a:tr h="512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highlight>
                            <a:srgbClr val="FFFF00"/>
                          </a:highlight>
                        </a:rPr>
                        <a:t>Relationship</a:t>
                      </a:r>
                    </a:p>
                  </a:txBody>
                  <a:tcPr marL="116440" marR="116440" marT="58220" marB="582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highlight>
                            <a:srgbClr val="FFFF00"/>
                          </a:highlight>
                        </a:rPr>
                        <a:t>Type</a:t>
                      </a:r>
                    </a:p>
                  </a:txBody>
                  <a:tcPr marL="116440" marR="116440" marT="58220" marB="58220" anchor="ctr"/>
                </a:tc>
                <a:extLst>
                  <a:ext uri="{0D108BD9-81ED-4DB2-BD59-A6C34878D82A}">
                    <a16:rowId xmlns:a16="http://schemas.microsoft.com/office/drawing/2014/main" val="14119252"/>
                  </a:ext>
                </a:extLst>
              </a:tr>
              <a:tr h="512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Employee → Qualification</a:t>
                      </a:r>
                    </a:p>
                  </a:txBody>
                  <a:tcPr marL="116440" marR="116440" marT="58220" marB="582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One-to-Many</a:t>
                      </a:r>
                    </a:p>
                  </a:txBody>
                  <a:tcPr marL="116440" marR="116440" marT="58220" marB="58220" anchor="ctr"/>
                </a:tc>
                <a:extLst>
                  <a:ext uri="{0D108BD9-81ED-4DB2-BD59-A6C34878D82A}">
                    <a16:rowId xmlns:a16="http://schemas.microsoft.com/office/drawing/2014/main" val="1516560352"/>
                  </a:ext>
                </a:extLst>
              </a:tr>
              <a:tr h="512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Employee → Leave</a:t>
                      </a:r>
                    </a:p>
                  </a:txBody>
                  <a:tcPr marL="116440" marR="116440" marT="58220" marB="582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One-to-Many</a:t>
                      </a:r>
                    </a:p>
                  </a:txBody>
                  <a:tcPr marL="116440" marR="116440" marT="58220" marB="58220" anchor="ctr"/>
                </a:tc>
                <a:extLst>
                  <a:ext uri="{0D108BD9-81ED-4DB2-BD59-A6C34878D82A}">
                    <a16:rowId xmlns:a16="http://schemas.microsoft.com/office/drawing/2014/main" val="1254368134"/>
                  </a:ext>
                </a:extLst>
              </a:tr>
              <a:tr h="512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Job Department → Salary</a:t>
                      </a:r>
                    </a:p>
                  </a:txBody>
                  <a:tcPr marL="116440" marR="116440" marT="58220" marB="582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One-to-Many</a:t>
                      </a:r>
                    </a:p>
                  </a:txBody>
                  <a:tcPr marL="116440" marR="116440" marT="58220" marB="58220" anchor="ctr"/>
                </a:tc>
                <a:extLst>
                  <a:ext uri="{0D108BD9-81ED-4DB2-BD59-A6C34878D82A}">
                    <a16:rowId xmlns:a16="http://schemas.microsoft.com/office/drawing/2014/main" val="2865261193"/>
                  </a:ext>
                </a:extLst>
              </a:tr>
              <a:tr h="512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Employee → Payroll</a:t>
                      </a:r>
                    </a:p>
                  </a:txBody>
                  <a:tcPr marL="116440" marR="116440" marT="58220" marB="582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One-to-Many</a:t>
                      </a:r>
                    </a:p>
                  </a:txBody>
                  <a:tcPr marL="116440" marR="116440" marT="58220" marB="58220" anchor="ctr"/>
                </a:tc>
                <a:extLst>
                  <a:ext uri="{0D108BD9-81ED-4DB2-BD59-A6C34878D82A}">
                    <a16:rowId xmlns:a16="http://schemas.microsoft.com/office/drawing/2014/main" val="2394293414"/>
                  </a:ext>
                </a:extLst>
              </a:tr>
              <a:tr h="512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Salary → Payroll</a:t>
                      </a:r>
                    </a:p>
                  </a:txBody>
                  <a:tcPr marL="116440" marR="116440" marT="58220" marB="582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One-to-Many</a:t>
                      </a:r>
                    </a:p>
                  </a:txBody>
                  <a:tcPr marL="116440" marR="116440" marT="58220" marB="58220" anchor="ctr"/>
                </a:tc>
                <a:extLst>
                  <a:ext uri="{0D108BD9-81ED-4DB2-BD59-A6C34878D82A}">
                    <a16:rowId xmlns:a16="http://schemas.microsoft.com/office/drawing/2014/main" val="2956658531"/>
                  </a:ext>
                </a:extLst>
              </a:tr>
              <a:tr h="512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Leave → Payroll</a:t>
                      </a:r>
                    </a:p>
                  </a:txBody>
                  <a:tcPr marL="116440" marR="116440" marT="58220" marB="582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One-to-One / Optional</a:t>
                      </a:r>
                    </a:p>
                  </a:txBody>
                  <a:tcPr marL="116440" marR="116440" marT="58220" marB="58220" anchor="ctr"/>
                </a:tc>
                <a:extLst>
                  <a:ext uri="{0D108BD9-81ED-4DB2-BD59-A6C34878D82A}">
                    <a16:rowId xmlns:a16="http://schemas.microsoft.com/office/drawing/2014/main" val="536254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002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5DB0A-D3D8-9E3A-A804-E9FAD6F1C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Multiplicity (Cardinality)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C2D2B-5FD7-3C6B-CA8C-132404EE4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754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Defines the number of records involved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One Department → Many Employees (1 : N)</a:t>
            </a:r>
          </a:p>
        </p:txBody>
      </p:sp>
    </p:spTree>
    <p:extLst>
      <p:ext uri="{BB962C8B-B14F-4D97-AF65-F5344CB8AC3E}">
        <p14:creationId xmlns:p14="http://schemas.microsoft.com/office/powerpoint/2010/main" val="1397606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0D9C-F689-84D3-A62F-846CD104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One-to-One (1 :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DBA90-A013-EFC6-9D82-4ED014EEE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3" y="1162843"/>
            <a:ext cx="10515600" cy="4351338"/>
          </a:xfrm>
        </p:spPr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In a </a:t>
            </a:r>
            <a:r>
              <a:rPr lang="en-US" b="1" dirty="0"/>
              <a:t>One-to-One</a:t>
            </a:r>
            <a:r>
              <a:rPr lang="en-US" dirty="0"/>
              <a:t> relationship, </a:t>
            </a:r>
            <a:r>
              <a:rPr lang="en-US" b="1" dirty="0"/>
              <a:t>one record in Table A</a:t>
            </a:r>
            <a:r>
              <a:rPr lang="en-US" dirty="0"/>
              <a:t> is related to </a:t>
            </a:r>
            <a:r>
              <a:rPr lang="en-US" b="1" dirty="0"/>
              <a:t>only one record in Table B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Real-Time Example</a:t>
            </a:r>
          </a:p>
          <a:p>
            <a:pPr marL="0" indent="0">
              <a:buNone/>
            </a:pPr>
            <a:r>
              <a:rPr lang="en-US" dirty="0"/>
              <a:t>One </a:t>
            </a:r>
            <a:r>
              <a:rPr lang="en-US" b="1" dirty="0"/>
              <a:t>Person</a:t>
            </a:r>
            <a:r>
              <a:rPr lang="en-US" dirty="0"/>
              <a:t> → One </a:t>
            </a:r>
            <a:r>
              <a:rPr lang="en-US" b="1" dirty="0"/>
              <a:t>Passport</a:t>
            </a:r>
            <a:endParaRPr lang="en-US" dirty="0"/>
          </a:p>
          <a:p>
            <a:r>
              <a:rPr lang="en-US" dirty="0"/>
              <a:t>One </a:t>
            </a:r>
            <a:r>
              <a:rPr lang="en-US" b="1" dirty="0"/>
              <a:t>Employee</a:t>
            </a:r>
            <a:r>
              <a:rPr lang="en-US" dirty="0"/>
              <a:t> → One </a:t>
            </a:r>
            <a:r>
              <a:rPr lang="en-US" b="1" dirty="0" err="1"/>
              <a:t>EmployeeProfile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336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4F9B2-B3C1-2D50-4A93-EBD93CCD4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One-to-Many (1 : 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BC489-7702-ED1A-2C73-35C4CA0F8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253331"/>
            <a:ext cx="10515600" cy="53542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In a </a:t>
            </a:r>
            <a:r>
              <a:rPr lang="en-US" b="1" dirty="0"/>
              <a:t>One-to-Many</a:t>
            </a:r>
            <a:r>
              <a:rPr lang="en-US" dirty="0"/>
              <a:t> relationship, </a:t>
            </a:r>
            <a:r>
              <a:rPr lang="en-US" b="1" dirty="0"/>
              <a:t>one record in Table A</a:t>
            </a:r>
            <a:r>
              <a:rPr lang="en-US" dirty="0"/>
              <a:t> is related to </a:t>
            </a:r>
            <a:r>
              <a:rPr lang="en-US" b="1" dirty="0"/>
              <a:t>many records in Table B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Real-Time Example</a:t>
            </a:r>
          </a:p>
          <a:p>
            <a:r>
              <a:rPr lang="en-US" dirty="0"/>
              <a:t>One </a:t>
            </a:r>
            <a:r>
              <a:rPr lang="en-US" b="1" dirty="0"/>
              <a:t>Department</a:t>
            </a:r>
            <a:r>
              <a:rPr lang="en-US" dirty="0"/>
              <a:t> → Many </a:t>
            </a:r>
            <a:r>
              <a:rPr lang="en-US" b="1" dirty="0"/>
              <a:t>Employees </a:t>
            </a:r>
          </a:p>
          <a:p>
            <a:pPr marL="0" indent="0">
              <a:buNone/>
            </a:pPr>
            <a:r>
              <a:rPr lang="en-US" b="1" dirty="0"/>
              <a:t> (DEPARTMENT ────&lt; EMPLOYEE</a:t>
            </a:r>
            <a:endParaRPr lang="en-US" dirty="0"/>
          </a:p>
          <a:p>
            <a:r>
              <a:rPr lang="en-US" dirty="0"/>
              <a:t>One </a:t>
            </a:r>
            <a:r>
              <a:rPr lang="en-US" b="1" dirty="0"/>
              <a:t>Customer</a:t>
            </a:r>
            <a:r>
              <a:rPr lang="en-US" dirty="0"/>
              <a:t> → Many </a:t>
            </a:r>
            <a:r>
              <a:rPr lang="en-US" b="1" dirty="0"/>
              <a:t>Orders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When to Use</a:t>
            </a:r>
          </a:p>
          <a:p>
            <a:r>
              <a:rPr lang="en-US" dirty="0"/>
              <a:t>Hierarchical data</a:t>
            </a:r>
          </a:p>
          <a:p>
            <a:r>
              <a:rPr lang="en-US" dirty="0"/>
              <a:t>Master–detail relationships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5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4301-39C7-04B9-DE4B-AAEC55A9E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22514"/>
          </a:xfrm>
        </p:spPr>
        <p:txBody>
          <a:bodyPr>
            <a:normAutofit fontScale="90000"/>
          </a:bodyPr>
          <a:lstStyle/>
          <a:p>
            <a:r>
              <a:rPr lang="en-US" dirty="0"/>
              <a:t>Many-to-Many (M : 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E5665-C336-06E4-8438-031CD6037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1096282"/>
            <a:ext cx="11767457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In a </a:t>
            </a:r>
            <a:r>
              <a:rPr lang="en-US" b="1" dirty="0"/>
              <a:t>Many-to-Many</a:t>
            </a:r>
            <a:r>
              <a:rPr lang="en-US" dirty="0"/>
              <a:t> relationship, </a:t>
            </a:r>
            <a:r>
              <a:rPr lang="en-US" b="1" dirty="0"/>
              <a:t>multiple records in Table A</a:t>
            </a:r>
            <a:r>
              <a:rPr lang="en-US" dirty="0"/>
              <a:t> relate to </a:t>
            </a:r>
            <a:r>
              <a:rPr lang="en-US" b="1" dirty="0"/>
              <a:t>multiple records in Table B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Not implemented directly</a:t>
            </a:r>
            <a:r>
              <a:rPr lang="en-US" dirty="0"/>
              <a:t> — requires a </a:t>
            </a:r>
            <a:r>
              <a:rPr lang="en-US" b="1" dirty="0"/>
              <a:t>junction table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Example</a:t>
            </a:r>
          </a:p>
          <a:p>
            <a:r>
              <a:rPr lang="en-US" dirty="0"/>
              <a:t>Students ↔ Courses</a:t>
            </a:r>
          </a:p>
          <a:p>
            <a:r>
              <a:rPr lang="en-US" dirty="0"/>
              <a:t>Orders ↔ Products</a:t>
            </a:r>
          </a:p>
          <a:p>
            <a:r>
              <a:rPr lang="en-US" dirty="0"/>
              <a:t>Employees ↔ Projects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STUDENT &gt;───&lt; ENROLLMENT &gt;───&lt; COURSE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700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F0573-A839-45C8-7B00-5BCEC532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62000"/>
          </a:xfrm>
        </p:spPr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BB709-1FAC-6B4E-2A4B-232DA91EF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8" y="1063625"/>
            <a:ext cx="11919857" cy="560931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What is Normalization?</a:t>
            </a:r>
          </a:p>
          <a:p>
            <a:r>
              <a:rPr lang="en-US" b="1" dirty="0"/>
              <a:t>Normalization</a:t>
            </a:r>
            <a:r>
              <a:rPr lang="en-US" dirty="0"/>
              <a:t> is the process of </a:t>
            </a:r>
            <a:r>
              <a:rPr lang="en-US" b="1" dirty="0"/>
              <a:t>organizing data in a database</a:t>
            </a:r>
            <a:r>
              <a:rPr lang="en-US" dirty="0"/>
              <a:t> to:</a:t>
            </a:r>
          </a:p>
          <a:p>
            <a:r>
              <a:rPr lang="en-US" dirty="0"/>
              <a:t>Reduce data redundancy (duplicate data)</a:t>
            </a:r>
          </a:p>
          <a:p>
            <a:r>
              <a:rPr lang="en-US" dirty="0"/>
              <a:t>Improve data consistency</a:t>
            </a:r>
          </a:p>
          <a:p>
            <a:r>
              <a:rPr lang="en-US" dirty="0"/>
              <a:t>Maintain data integrity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It splits large tables into smaller, related tables.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Why Normalization is Needed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Without normalization:</a:t>
            </a:r>
          </a:p>
          <a:p>
            <a:r>
              <a:rPr lang="en-US" dirty="0"/>
              <a:t>Same data is stored multiple times</a:t>
            </a:r>
          </a:p>
          <a:p>
            <a:r>
              <a:rPr lang="en-US" dirty="0"/>
              <a:t>Update errors occur</a:t>
            </a:r>
          </a:p>
          <a:p>
            <a:r>
              <a:rPr lang="en-US" dirty="0"/>
              <a:t>Storage is wasted</a:t>
            </a:r>
          </a:p>
          <a:p>
            <a:r>
              <a:rPr lang="en-US" dirty="0"/>
              <a:t>Data becomes inconsistent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322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CF8AD-EEBB-8F70-4660-70F97378C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❌ UNNORMALIZED TABLE (Before 1NF)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69F509-69CC-276E-F6EA-E46662180C9E}"/>
              </a:ext>
            </a:extLst>
          </p:cNvPr>
          <p:cNvSpPr txBox="1"/>
          <p:nvPr/>
        </p:nvSpPr>
        <p:spPr>
          <a:xfrm>
            <a:off x="685799" y="1585436"/>
            <a:ext cx="96338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Employee_Data</a:t>
            </a:r>
            <a:endParaRPr lang="en-US" sz="2800" dirty="0"/>
          </a:p>
          <a:p>
            <a:r>
              <a:rPr lang="en-US" sz="2800" dirty="0"/>
              <a:t>--------------------------------------------------------------</a:t>
            </a:r>
          </a:p>
          <a:p>
            <a:r>
              <a:rPr lang="en-US" sz="2800" dirty="0" err="1"/>
              <a:t>emp_id</a:t>
            </a:r>
            <a:r>
              <a:rPr lang="en-US" sz="2800" dirty="0"/>
              <a:t> | </a:t>
            </a:r>
            <a:r>
              <a:rPr lang="en-US" sz="2800" dirty="0" err="1"/>
              <a:t>emp_name</a:t>
            </a:r>
            <a:r>
              <a:rPr lang="en-US" sz="2800" dirty="0"/>
              <a:t> | dept | job | salary | bonus | </a:t>
            </a:r>
            <a:r>
              <a:rPr lang="en-US" sz="2800" dirty="0" err="1"/>
              <a:t>leave_dates</a:t>
            </a:r>
            <a:endParaRPr lang="en-US" sz="2800" dirty="0"/>
          </a:p>
          <a:p>
            <a:r>
              <a:rPr lang="en-US" sz="2800" dirty="0"/>
              <a:t>--------------------------------------------------------------</a:t>
            </a:r>
          </a:p>
          <a:p>
            <a:r>
              <a:rPr lang="en-US" sz="2800" dirty="0"/>
              <a:t>101    | Rajesh   | IT   | Dev | 60000  | 5000  | </a:t>
            </a:r>
            <a:r>
              <a:rPr lang="en-US" sz="2800" b="1" dirty="0">
                <a:highlight>
                  <a:srgbClr val="FFFF00"/>
                </a:highlight>
              </a:rPr>
              <a:t>1-Jan,5-Feb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14C0F3-984D-B68A-B5BB-F36D983B5C79}"/>
              </a:ext>
            </a:extLst>
          </p:cNvPr>
          <p:cNvSpPr txBox="1"/>
          <p:nvPr/>
        </p:nvSpPr>
        <p:spPr>
          <a:xfrm>
            <a:off x="849087" y="4736603"/>
            <a:ext cx="62048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Problems: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Multiple values in one column (</a:t>
            </a:r>
            <a:r>
              <a:rPr lang="en-US" sz="2400" dirty="0" err="1">
                <a:latin typeface="Courier New" panose="02070309020205020404" pitchFamily="49" charset="0"/>
              </a:rPr>
              <a:t>leave_dates</a:t>
            </a:r>
            <a:r>
              <a:rPr lang="en-US" sz="2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Data repetition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Hard to update salary or department</a:t>
            </a:r>
          </a:p>
        </p:txBody>
      </p:sp>
    </p:spTree>
    <p:extLst>
      <p:ext uri="{BB962C8B-B14F-4D97-AF65-F5344CB8AC3E}">
        <p14:creationId xmlns:p14="http://schemas.microsoft.com/office/powerpoint/2010/main" val="6057041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DE72-948F-B6FE-5920-11ADC9539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16429"/>
          </a:xfrm>
        </p:spPr>
        <p:txBody>
          <a:bodyPr/>
          <a:lstStyle/>
          <a:p>
            <a:r>
              <a:rPr lang="en-US" b="1" dirty="0">
                <a:highlight>
                  <a:srgbClr val="FFFF00"/>
                </a:highlight>
              </a:rPr>
              <a:t>FIRST NORMAL FORM (1NF)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1AD00-1B1B-4680-E8D6-A2C2A7776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Rule of 1NF:</a:t>
            </a:r>
          </a:p>
          <a:p>
            <a:pPr marL="0" indent="0">
              <a:buNone/>
            </a:pPr>
            <a:r>
              <a:rPr lang="en-US" dirty="0"/>
              <a:t>✔ Each column contains </a:t>
            </a:r>
            <a:r>
              <a:rPr lang="en-US" b="1" dirty="0"/>
              <a:t>atomic (single) values</a:t>
            </a:r>
            <a:br>
              <a:rPr lang="en-US" dirty="0"/>
            </a:br>
            <a:r>
              <a:rPr lang="en-US" dirty="0"/>
              <a:t>✔ No repeating groups</a:t>
            </a:r>
            <a:br>
              <a:rPr lang="en-US" dirty="0"/>
            </a:br>
            <a:r>
              <a:rPr lang="en-US" dirty="0"/>
              <a:t>✔ Each record is unique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18BD1-0218-7C62-0A56-34DB99FBAA59}"/>
              </a:ext>
            </a:extLst>
          </p:cNvPr>
          <p:cNvSpPr txBox="1"/>
          <p:nvPr/>
        </p:nvSpPr>
        <p:spPr>
          <a:xfrm>
            <a:off x="857251" y="3429000"/>
            <a:ext cx="6221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After 1NF: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053437-8567-5A97-2654-EF6F4A320419}"/>
              </a:ext>
            </a:extLst>
          </p:cNvPr>
          <p:cNvSpPr txBox="1"/>
          <p:nvPr/>
        </p:nvSpPr>
        <p:spPr>
          <a:xfrm>
            <a:off x="1338943" y="4086331"/>
            <a:ext cx="62211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Employee_Leave</a:t>
            </a:r>
            <a:endParaRPr lang="en-US" b="1" dirty="0"/>
          </a:p>
          <a:p>
            <a:r>
              <a:rPr lang="en-US" b="1" dirty="0"/>
              <a:t>--------------------------------</a:t>
            </a:r>
          </a:p>
          <a:p>
            <a:r>
              <a:rPr lang="en-US" b="1" dirty="0" err="1"/>
              <a:t>emp_id</a:t>
            </a:r>
            <a:r>
              <a:rPr lang="en-US" b="1" dirty="0"/>
              <a:t> | </a:t>
            </a:r>
            <a:r>
              <a:rPr lang="en-US" b="1" dirty="0" err="1"/>
              <a:t>emp_name</a:t>
            </a:r>
            <a:r>
              <a:rPr lang="en-US" b="1" dirty="0"/>
              <a:t> | </a:t>
            </a:r>
            <a:r>
              <a:rPr lang="en-US" b="1" dirty="0" err="1"/>
              <a:t>leave_date</a:t>
            </a:r>
            <a:endParaRPr lang="en-US" b="1" dirty="0"/>
          </a:p>
          <a:p>
            <a:r>
              <a:rPr lang="en-US" b="1" dirty="0"/>
              <a:t>--------------------------------</a:t>
            </a:r>
          </a:p>
          <a:p>
            <a:r>
              <a:rPr lang="en-US" b="1" dirty="0"/>
              <a:t>101    | Rajesh   | 1-Jan</a:t>
            </a:r>
          </a:p>
          <a:p>
            <a:r>
              <a:rPr lang="en-US" b="1" dirty="0"/>
              <a:t>101    | Rajesh   | 5-Feb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22E0C-62A5-1DB6-F7B3-ABC1511D764D}"/>
              </a:ext>
            </a:extLst>
          </p:cNvPr>
          <p:cNvSpPr txBox="1"/>
          <p:nvPr/>
        </p:nvSpPr>
        <p:spPr>
          <a:xfrm>
            <a:off x="5970816" y="3840109"/>
            <a:ext cx="622118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❌ Problem After 1NF</a:t>
            </a:r>
          </a:p>
          <a:p>
            <a:pPr>
              <a:buNone/>
            </a:pPr>
            <a:r>
              <a:rPr lang="en-US" sz="2800" dirty="0"/>
              <a:t>Still issues: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Employee name repeated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Salary depends on job, not employee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Partial dependency exists</a:t>
            </a:r>
          </a:p>
        </p:txBody>
      </p:sp>
    </p:spTree>
    <p:extLst>
      <p:ext uri="{BB962C8B-B14F-4D97-AF65-F5344CB8AC3E}">
        <p14:creationId xmlns:p14="http://schemas.microsoft.com/office/powerpoint/2010/main" val="23473086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83C68-81D0-5090-F3BE-078016206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SECOND NORMAL FORM (2NF)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3E455-164F-86E0-506F-A4602222B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9547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Rule of 2NF:</a:t>
            </a:r>
          </a:p>
          <a:p>
            <a:pPr marL="0" indent="0">
              <a:buNone/>
            </a:pPr>
            <a:r>
              <a:rPr lang="en-US" dirty="0"/>
              <a:t>✔ Must be in 1NF</a:t>
            </a:r>
            <a:br>
              <a:rPr lang="en-US" dirty="0"/>
            </a:br>
            <a:r>
              <a:rPr lang="en-US" dirty="0"/>
              <a:t>✔ No </a:t>
            </a:r>
            <a:r>
              <a:rPr lang="en-US" b="1" dirty="0"/>
              <a:t>partial dependency</a:t>
            </a:r>
            <a:br>
              <a:rPr lang="en-US" dirty="0"/>
            </a:br>
            <a:r>
              <a:rPr lang="en-US" dirty="0"/>
              <a:t>✔ Non-key attributes depend on </a:t>
            </a:r>
            <a:r>
              <a:rPr lang="en-US" b="1" dirty="0"/>
              <a:t>full primary key</a:t>
            </a:r>
          </a:p>
          <a:p>
            <a:pPr marL="0" indent="0">
              <a:buNone/>
            </a:pPr>
            <a:r>
              <a:rPr lang="en-US" b="1" dirty="0"/>
              <a:t>Fix:</a:t>
            </a:r>
          </a:p>
          <a:p>
            <a:r>
              <a:rPr lang="en-US" dirty="0"/>
              <a:t>Split data into separate tables: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72D67-403A-A279-14D3-6F50BF4050A3}"/>
              </a:ext>
            </a:extLst>
          </p:cNvPr>
          <p:cNvSpPr txBox="1"/>
          <p:nvPr/>
        </p:nvSpPr>
        <p:spPr>
          <a:xfrm>
            <a:off x="8349344" y="0"/>
            <a:ext cx="620485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Employee Table</a:t>
            </a:r>
          </a:p>
          <a:p>
            <a:pPr rtl="0">
              <a:buNone/>
            </a:pP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Employee</a:t>
            </a:r>
          </a:p>
          <a:p>
            <a:pPr rtl="0">
              <a:buNone/>
            </a:pP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-------------------------</a:t>
            </a:r>
          </a:p>
          <a:p>
            <a:pPr rtl="0">
              <a:buNone/>
            </a:pPr>
            <a:r>
              <a:rPr lang="en-US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emp_ID</a:t>
            </a: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 (PK)</a:t>
            </a:r>
          </a:p>
          <a:p>
            <a:pPr rtl="0">
              <a:buNone/>
            </a:pPr>
            <a:r>
              <a:rPr lang="en-US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fname</a:t>
            </a:r>
            <a:endParaRPr lang="en-US" b="1" i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lname</a:t>
            </a:r>
            <a:endParaRPr lang="en-US" b="1" i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Email</a:t>
            </a:r>
          </a:p>
          <a:p>
            <a:pPr rtl="0">
              <a:buNone/>
            </a:pPr>
            <a:endParaRPr lang="en-US" b="1" i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Job Department Table</a:t>
            </a:r>
          </a:p>
          <a:p>
            <a:pPr rtl="0">
              <a:buNone/>
            </a:pPr>
            <a:r>
              <a:rPr lang="en-US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Job_Department</a:t>
            </a:r>
            <a:endParaRPr lang="en-US" b="1" i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-------------------------</a:t>
            </a:r>
          </a:p>
          <a:p>
            <a:pPr rtl="0">
              <a:buNone/>
            </a:pPr>
            <a:r>
              <a:rPr lang="en-US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job_ID</a:t>
            </a: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 (PK)</a:t>
            </a:r>
          </a:p>
          <a:p>
            <a:pPr rtl="0">
              <a:buNone/>
            </a:pPr>
            <a:r>
              <a:rPr lang="en-US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job_dept</a:t>
            </a:r>
            <a:endParaRPr lang="en-US" b="1" i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description</a:t>
            </a:r>
          </a:p>
          <a:p>
            <a:pPr rtl="0">
              <a:buNone/>
            </a:pPr>
            <a:r>
              <a:rPr lang="en-US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salary_range</a:t>
            </a:r>
            <a:endParaRPr lang="en-US" b="1" i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b="1" i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Salary Table</a:t>
            </a:r>
          </a:p>
          <a:p>
            <a:pPr rtl="0">
              <a:buNone/>
            </a:pP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Salary</a:t>
            </a:r>
          </a:p>
          <a:p>
            <a:pPr rtl="0">
              <a:buNone/>
            </a:pP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-------------------------</a:t>
            </a:r>
          </a:p>
          <a:p>
            <a:pPr rtl="0">
              <a:buNone/>
            </a:pPr>
            <a:r>
              <a:rPr lang="en-US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salary_ID</a:t>
            </a: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 (PK)</a:t>
            </a:r>
          </a:p>
          <a:p>
            <a:pPr rtl="0">
              <a:buNone/>
            </a:pPr>
            <a:r>
              <a:rPr lang="en-US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job_ID</a:t>
            </a: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 (FK)</a:t>
            </a:r>
          </a:p>
          <a:p>
            <a:pPr rtl="0">
              <a:buNone/>
            </a:pP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amount</a:t>
            </a:r>
          </a:p>
          <a:p>
            <a:pPr rtl="0">
              <a:buNone/>
            </a:pP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bonus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88E7C-E603-A3F8-E741-207DF8E815CE}"/>
              </a:ext>
            </a:extLst>
          </p:cNvPr>
          <p:cNvSpPr txBox="1"/>
          <p:nvPr/>
        </p:nvSpPr>
        <p:spPr>
          <a:xfrm>
            <a:off x="3728360" y="3878765"/>
            <a:ext cx="73859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Now: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Employee data depends only on </a:t>
            </a:r>
            <a:r>
              <a:rPr lang="en-US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emp_ID</a:t>
            </a:r>
            <a:endParaRPr lang="en-US" b="1" dirty="0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Salary depends on </a:t>
            </a:r>
            <a:r>
              <a:rPr lang="en-US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job_ID</a:t>
            </a:r>
            <a:endParaRPr lang="en-US" b="1" dirty="0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No partial dependency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FA751-A29F-3FE3-C4E1-8600191EB18E}"/>
              </a:ext>
            </a:extLst>
          </p:cNvPr>
          <p:cNvSpPr txBox="1"/>
          <p:nvPr/>
        </p:nvSpPr>
        <p:spPr>
          <a:xfrm>
            <a:off x="318408" y="5398048"/>
            <a:ext cx="73859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❌ Problem After 2NF</a:t>
            </a:r>
          </a:p>
          <a:p>
            <a:pPr>
              <a:buNone/>
            </a:pPr>
            <a:r>
              <a:rPr lang="en-US" b="1" dirty="0"/>
              <a:t>Still: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Transitive dependency exists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Payroll contains non-direct attributes</a:t>
            </a:r>
          </a:p>
        </p:txBody>
      </p:sp>
    </p:spTree>
    <p:extLst>
      <p:ext uri="{BB962C8B-B14F-4D97-AF65-F5344CB8AC3E}">
        <p14:creationId xmlns:p14="http://schemas.microsoft.com/office/powerpoint/2010/main" val="2681486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765F9-8BF8-DCD6-57BA-0AE175D7B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58688"/>
          </a:xfrm>
        </p:spPr>
        <p:txBody>
          <a:bodyPr>
            <a:normAutofit fontScale="90000"/>
          </a:bodyPr>
          <a:lstStyle/>
          <a:p>
            <a:r>
              <a:rPr lang="en-US" dirty="0"/>
              <a:t>THIRD NORMAL FORM (3NF)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54C59-2F17-4D3A-9EFE-AF6B0453E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Rule of 3NF:</a:t>
            </a:r>
          </a:p>
          <a:p>
            <a:pPr marL="0" indent="0">
              <a:buNone/>
            </a:pPr>
            <a:r>
              <a:rPr lang="en-US"/>
              <a:t>✔ Must be in 2NF</a:t>
            </a:r>
            <a:br>
              <a:rPr lang="en-US"/>
            </a:br>
            <a:r>
              <a:rPr lang="en-US"/>
              <a:t>✔ No </a:t>
            </a:r>
            <a:r>
              <a:rPr lang="en-US" b="1"/>
              <a:t>transitive dependency</a:t>
            </a:r>
            <a:br>
              <a:rPr lang="en-US"/>
            </a:br>
            <a:r>
              <a:rPr lang="en-US"/>
              <a:t>✔ Non-key attributes depend </a:t>
            </a:r>
            <a:r>
              <a:rPr lang="en-US" b="1"/>
              <a:t>only on the primary key</a:t>
            </a:r>
            <a:endParaRPr lang="en-US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1EE1E-604E-9431-0C22-F993F595F282}"/>
              </a:ext>
            </a:extLst>
          </p:cNvPr>
          <p:cNvSpPr txBox="1"/>
          <p:nvPr/>
        </p:nvSpPr>
        <p:spPr>
          <a:xfrm>
            <a:off x="195943" y="3244334"/>
            <a:ext cx="6204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Transitive Dependency 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92FCB7-F417-5DD2-2DFC-2B8875ED38BD}"/>
              </a:ext>
            </a:extLst>
          </p:cNvPr>
          <p:cNvSpPr txBox="1"/>
          <p:nvPr/>
        </p:nvSpPr>
        <p:spPr>
          <a:xfrm>
            <a:off x="653143" y="3968681"/>
            <a:ext cx="62048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Payroll</a:t>
            </a:r>
          </a:p>
          <a:p>
            <a:r>
              <a:rPr lang="en-US" dirty="0"/>
              <a:t>--------------------------</a:t>
            </a:r>
          </a:p>
          <a:p>
            <a:r>
              <a:rPr lang="en-US" dirty="0" err="1"/>
              <a:t>payroll_ID</a:t>
            </a:r>
            <a:r>
              <a:rPr lang="en-US" dirty="0"/>
              <a:t> (PK)</a:t>
            </a:r>
          </a:p>
          <a:p>
            <a:r>
              <a:rPr lang="en-US" dirty="0" err="1"/>
              <a:t>emp_ID</a:t>
            </a:r>
            <a:endParaRPr lang="en-US" dirty="0"/>
          </a:p>
          <a:p>
            <a:r>
              <a:rPr lang="en-US" dirty="0" err="1"/>
              <a:t>job_dept</a:t>
            </a:r>
            <a:endParaRPr lang="en-US" dirty="0"/>
          </a:p>
          <a:p>
            <a:r>
              <a:rPr lang="en-US" dirty="0" err="1"/>
              <a:t>salary_amount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C4F677-0902-9507-11C0-47B3FFEEB142}"/>
              </a:ext>
            </a:extLst>
          </p:cNvPr>
          <p:cNvSpPr txBox="1"/>
          <p:nvPr/>
        </p:nvSpPr>
        <p:spPr>
          <a:xfrm>
            <a:off x="4963887" y="4245679"/>
            <a:ext cx="6204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highlight>
                  <a:srgbClr val="FFFF00"/>
                </a:highlight>
              </a:rPr>
              <a:t>salary_amount</a:t>
            </a:r>
            <a:r>
              <a:rPr lang="en-US" b="1" dirty="0">
                <a:highlight>
                  <a:srgbClr val="FFFF00"/>
                </a:highlight>
              </a:rPr>
              <a:t> depends on </a:t>
            </a:r>
            <a:r>
              <a:rPr lang="en-US" b="1" dirty="0" err="1">
                <a:highlight>
                  <a:srgbClr val="FFFF00"/>
                </a:highlight>
              </a:rPr>
              <a:t>job_dept</a:t>
            </a:r>
            <a:endParaRPr lang="en-US" b="1" dirty="0">
              <a:highlight>
                <a:srgbClr val="FFFF00"/>
              </a:highlight>
            </a:endParaRPr>
          </a:p>
          <a:p>
            <a:endParaRPr lang="en-US" dirty="0"/>
          </a:p>
          <a:p>
            <a:r>
              <a:rPr lang="en-US" b="1" dirty="0" err="1">
                <a:highlight>
                  <a:srgbClr val="FFFF00"/>
                </a:highlight>
              </a:rPr>
              <a:t>job_dept</a:t>
            </a:r>
            <a:r>
              <a:rPr lang="en-US" b="1" dirty="0">
                <a:highlight>
                  <a:srgbClr val="FFFF00"/>
                </a:highlight>
              </a:rPr>
              <a:t> depends on </a:t>
            </a:r>
            <a:r>
              <a:rPr lang="en-US" b="1" dirty="0" err="1">
                <a:highlight>
                  <a:srgbClr val="FFFF00"/>
                </a:highlight>
              </a:rPr>
              <a:t>job_ID</a:t>
            </a:r>
            <a:endParaRPr lang="en-US" b="1" dirty="0">
              <a:highlight>
                <a:srgbClr val="FFFF00"/>
              </a:highlight>
            </a:endParaRPr>
          </a:p>
          <a:p>
            <a:r>
              <a:rPr lang="en-US" dirty="0"/>
              <a:t>➡ Transitive dependency</a:t>
            </a:r>
          </a:p>
        </p:txBody>
      </p:sp>
    </p:spTree>
    <p:extLst>
      <p:ext uri="{BB962C8B-B14F-4D97-AF65-F5344CB8AC3E}">
        <p14:creationId xmlns:p14="http://schemas.microsoft.com/office/powerpoint/2010/main" val="14184463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2563-CC4F-D721-3423-2F9FFC631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After 3NF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6756C-6A97-C21E-D454-5E3345E0C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162843"/>
            <a:ext cx="10515600" cy="4351338"/>
          </a:xfrm>
        </p:spPr>
        <p:txBody>
          <a:bodyPr/>
          <a:lstStyle/>
          <a:p>
            <a:r>
              <a:rPr lang="en-US" dirty="0"/>
              <a:t>Payroll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54F14-A988-0D39-9602-9E276D5457E5}"/>
              </a:ext>
            </a:extLst>
          </p:cNvPr>
          <p:cNvSpPr txBox="1"/>
          <p:nvPr/>
        </p:nvSpPr>
        <p:spPr>
          <a:xfrm>
            <a:off x="751115" y="1793439"/>
            <a:ext cx="62048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Payroll</a:t>
            </a:r>
          </a:p>
          <a:p>
            <a:r>
              <a:rPr lang="en-US" dirty="0"/>
              <a:t>--------------------------</a:t>
            </a:r>
          </a:p>
          <a:p>
            <a:r>
              <a:rPr lang="en-US" dirty="0" err="1"/>
              <a:t>payroll_ID</a:t>
            </a:r>
            <a:r>
              <a:rPr lang="en-US" dirty="0"/>
              <a:t> (PK)</a:t>
            </a:r>
          </a:p>
          <a:p>
            <a:r>
              <a:rPr lang="en-US" dirty="0" err="1"/>
              <a:t>emp_ID</a:t>
            </a:r>
            <a:r>
              <a:rPr lang="en-US" dirty="0"/>
              <a:t> (FK)</a:t>
            </a:r>
          </a:p>
          <a:p>
            <a:r>
              <a:rPr lang="en-US" dirty="0" err="1"/>
              <a:t>job_ID</a:t>
            </a:r>
            <a:r>
              <a:rPr lang="en-US" dirty="0"/>
              <a:t> (FK)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salary_ID</a:t>
            </a:r>
            <a:r>
              <a:rPr lang="en-US" b="1" dirty="0">
                <a:solidFill>
                  <a:srgbClr val="FF0000"/>
                </a:solidFill>
              </a:rPr>
              <a:t> (FK)</a:t>
            </a:r>
          </a:p>
          <a:p>
            <a:r>
              <a:rPr lang="en-US" dirty="0" err="1"/>
              <a:t>leave_ID</a:t>
            </a:r>
            <a:r>
              <a:rPr lang="en-US" dirty="0"/>
              <a:t> (FK)</a:t>
            </a:r>
          </a:p>
          <a:p>
            <a:r>
              <a:rPr lang="en-US" dirty="0"/>
              <a:t>date</a:t>
            </a:r>
          </a:p>
          <a:p>
            <a:r>
              <a:rPr lang="en-US" dirty="0" err="1"/>
              <a:t>total_amount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B3E52-98B9-1293-7072-97FC9053229A}"/>
              </a:ext>
            </a:extLst>
          </p:cNvPr>
          <p:cNvSpPr txBox="1"/>
          <p:nvPr/>
        </p:nvSpPr>
        <p:spPr>
          <a:xfrm>
            <a:off x="4822373" y="1725421"/>
            <a:ext cx="62048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Salary Table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Salary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--------------------------</a:t>
            </a:r>
          </a:p>
          <a:p>
            <a:pPr rtl="0">
              <a:buNone/>
            </a:pP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salary_ID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</a:rPr>
              <a:t>(PK)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job_ID</a:t>
            </a:r>
            <a:r>
              <a:rPr lang="en-US" dirty="0">
                <a:latin typeface="Courier New" panose="02070309020205020404" pitchFamily="49" charset="0"/>
              </a:rPr>
              <a:t> (FK)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amount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bonus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BD37D9-13D6-12FC-9FE6-5E17942081FF}"/>
              </a:ext>
            </a:extLst>
          </p:cNvPr>
          <p:cNvSpPr txBox="1"/>
          <p:nvPr/>
        </p:nvSpPr>
        <p:spPr>
          <a:xfrm>
            <a:off x="2993572" y="4795657"/>
            <a:ext cx="6204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Now: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Payroll references salary instead of storing salary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All attributes depend only on primary keys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Clean, scalable design</a:t>
            </a:r>
          </a:p>
        </p:txBody>
      </p:sp>
    </p:spTree>
    <p:extLst>
      <p:ext uri="{BB962C8B-B14F-4D97-AF65-F5344CB8AC3E}">
        <p14:creationId xmlns:p14="http://schemas.microsoft.com/office/powerpoint/2010/main" val="33064958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3263A-4BE8-D5AD-2C7C-B22346503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Finally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DC5F9A-2B44-5949-26AA-269923CA8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089447"/>
              </p:ext>
            </p:extLst>
          </p:nvPr>
        </p:nvGraphicFramePr>
        <p:xfrm>
          <a:off x="4038600" y="1714716"/>
          <a:ext cx="7188199" cy="3425180"/>
        </p:xfrm>
        <a:graphic>
          <a:graphicData uri="http://schemas.openxmlformats.org/drawingml/2006/table">
            <a:tbl>
              <a:tblPr/>
              <a:tblGrid>
                <a:gridCol w="2616456">
                  <a:extLst>
                    <a:ext uri="{9D8B030D-6E8A-4147-A177-3AD203B41FA5}">
                      <a16:colId xmlns:a16="http://schemas.microsoft.com/office/drawing/2014/main" val="4229112661"/>
                    </a:ext>
                  </a:extLst>
                </a:gridCol>
                <a:gridCol w="4571743">
                  <a:extLst>
                    <a:ext uri="{9D8B030D-6E8A-4147-A177-3AD203B41FA5}">
                      <a16:colId xmlns:a16="http://schemas.microsoft.com/office/drawing/2014/main" val="209070046"/>
                    </a:ext>
                  </a:extLst>
                </a:gridCol>
              </a:tblGrid>
              <a:tr h="6385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1" i="0" u="none" strike="noStrike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Normal Form</a:t>
                      </a:r>
                    </a:p>
                  </a:txBody>
                  <a:tcPr marL="145135" marR="145135" marT="72567" marB="72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1" i="0" u="none" strike="noStrike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Achieved By</a:t>
                      </a:r>
                    </a:p>
                  </a:txBody>
                  <a:tcPr marL="145135" marR="145135" marT="72567" marB="72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155225"/>
                  </a:ext>
                </a:extLst>
              </a:tr>
              <a:tr h="6385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1NF</a:t>
                      </a:r>
                    </a:p>
                  </a:txBody>
                  <a:tcPr marL="145135" marR="145135" marT="72567" marB="72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No multi-valued fields</a:t>
                      </a:r>
                    </a:p>
                  </a:txBody>
                  <a:tcPr marL="145135" marR="145135" marT="72567" marB="72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069339"/>
                  </a:ext>
                </a:extLst>
              </a:tr>
              <a:tr h="10739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2NF</a:t>
                      </a:r>
                    </a:p>
                  </a:txBody>
                  <a:tcPr marL="145135" marR="145135" marT="72567" marB="72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Separate Employee, Job, Salary</a:t>
                      </a:r>
                    </a:p>
                  </a:txBody>
                  <a:tcPr marL="145135" marR="145135" marT="72567" marB="72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651706"/>
                  </a:ext>
                </a:extLst>
              </a:tr>
              <a:tr h="10739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3NF</a:t>
                      </a:r>
                    </a:p>
                  </a:txBody>
                  <a:tcPr marL="145135" marR="145135" marT="72567" marB="72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900" b="0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Remove transitive dependencies via FKs</a:t>
                      </a:r>
                    </a:p>
                  </a:txBody>
                  <a:tcPr marL="145135" marR="145135" marT="72567" marB="72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170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148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5471-7B36-2A07-A8C7-32D0AE91D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98174"/>
          </a:xfrm>
        </p:spPr>
        <p:txBody>
          <a:bodyPr/>
          <a:lstStyle/>
          <a:p>
            <a:r>
              <a:rPr lang="en-US" dirty="0"/>
              <a:t>Benefits of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9CBFE-F11A-CB88-BDE1-A9B2D3CC2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133576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✔ Eliminates data duplication</a:t>
            </a:r>
            <a:br>
              <a:rPr lang="en-US" dirty="0"/>
            </a:br>
            <a:r>
              <a:rPr lang="en-US" dirty="0"/>
              <a:t>✔ Improves data consistency</a:t>
            </a:r>
            <a:br>
              <a:rPr lang="en-US" dirty="0"/>
            </a:br>
            <a:r>
              <a:rPr lang="en-US" dirty="0"/>
              <a:t>✔ Simplifies maintenance</a:t>
            </a:r>
            <a:br>
              <a:rPr lang="en-US" dirty="0"/>
            </a:br>
            <a:r>
              <a:rPr lang="en-US" dirty="0"/>
              <a:t>✔ Saves storage</a:t>
            </a:r>
            <a:br>
              <a:rPr lang="en-US" dirty="0"/>
            </a:br>
            <a:r>
              <a:rPr lang="en-US" dirty="0"/>
              <a:t>✔ Improves database design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When NOT to Normalize Too Much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i="1" dirty="0">
                <a:solidFill>
                  <a:srgbClr val="FF0000"/>
                </a:solidFill>
              </a:rPr>
              <a:t>Reporting systems</a:t>
            </a:r>
          </a:p>
          <a:p>
            <a:endParaRPr lang="en-US" i="1" dirty="0"/>
          </a:p>
          <a:p>
            <a:r>
              <a:rPr lang="en-US" i="1" dirty="0">
                <a:solidFill>
                  <a:srgbClr val="FF0000"/>
                </a:solidFill>
              </a:rPr>
              <a:t>Performance-critical queries</a:t>
            </a:r>
          </a:p>
          <a:p>
            <a:endParaRPr lang="en-US" i="1" dirty="0"/>
          </a:p>
          <a:p>
            <a:r>
              <a:rPr lang="en-US" i="1" dirty="0">
                <a:solidFill>
                  <a:srgbClr val="FF0000"/>
                </a:solidFill>
              </a:rPr>
              <a:t>Data warehouses (often use denormalization)</a:t>
            </a:r>
          </a:p>
        </p:txBody>
      </p:sp>
    </p:spTree>
    <p:extLst>
      <p:ext uri="{BB962C8B-B14F-4D97-AF65-F5344CB8AC3E}">
        <p14:creationId xmlns:p14="http://schemas.microsoft.com/office/powerpoint/2010/main" val="287701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1643</Words>
  <Application>Microsoft Office PowerPoint</Application>
  <PresentationFormat>Widescreen</PresentationFormat>
  <Paragraphs>409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Courier New</vt:lpstr>
      <vt:lpstr>Office Theme</vt:lpstr>
      <vt:lpstr>SQL –Day1</vt:lpstr>
      <vt:lpstr>SQL – Introduction</vt:lpstr>
      <vt:lpstr>SQL Operations</vt:lpstr>
      <vt:lpstr>What is a Database?</vt:lpstr>
      <vt:lpstr>What Does a Database Contain?</vt:lpstr>
      <vt:lpstr>What is RDBMS?</vt:lpstr>
      <vt:lpstr>PowerPoint Presentation</vt:lpstr>
      <vt:lpstr>SQL Data Types</vt:lpstr>
      <vt:lpstr>1. Numeric Data Types</vt:lpstr>
      <vt:lpstr>2. Character / String Data Types</vt:lpstr>
      <vt:lpstr>3. Date &amp; Time Data Types</vt:lpstr>
      <vt:lpstr>4. Boolean Data Type</vt:lpstr>
      <vt:lpstr>Table Structure</vt:lpstr>
      <vt:lpstr>Basic Components of a Table</vt:lpstr>
      <vt:lpstr>PowerPoint Presentation</vt:lpstr>
      <vt:lpstr>Table Structure</vt:lpstr>
      <vt:lpstr>Data Modelling and ERD</vt:lpstr>
      <vt:lpstr>PowerPoint Presentation</vt:lpstr>
      <vt:lpstr>Types of Data Models</vt:lpstr>
      <vt:lpstr>What is ERD?</vt:lpstr>
      <vt:lpstr>Components of ERD</vt:lpstr>
      <vt:lpstr>Components of ERD</vt:lpstr>
      <vt:lpstr>ERD: Employee–Department</vt:lpstr>
      <vt:lpstr>PowerPoint Presentation</vt:lpstr>
      <vt:lpstr>Relationship Summary</vt:lpstr>
      <vt:lpstr>Multiplicity (Cardinality)</vt:lpstr>
      <vt:lpstr>One-to-One (1 : 1)</vt:lpstr>
      <vt:lpstr>One-to-Many (1 : N)</vt:lpstr>
      <vt:lpstr>Many-to-Many (M : N)</vt:lpstr>
      <vt:lpstr>Normalization</vt:lpstr>
      <vt:lpstr>❌ UNNORMALIZED TABLE (Before 1NF)</vt:lpstr>
      <vt:lpstr>FIRST NORMAL FORM (1NF)</vt:lpstr>
      <vt:lpstr>SECOND NORMAL FORM (2NF)</vt:lpstr>
      <vt:lpstr>THIRD NORMAL FORM (3NF)</vt:lpstr>
      <vt:lpstr>After 3NF</vt:lpstr>
      <vt:lpstr>Finally</vt:lpstr>
      <vt:lpstr>Benefits of Normalization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13</cp:revision>
  <dcterms:created xsi:type="dcterms:W3CDTF">2026-02-05T09:12:24Z</dcterms:created>
  <dcterms:modified xsi:type="dcterms:W3CDTF">2026-02-08T14:26:32Z</dcterms:modified>
</cp:coreProperties>
</file>