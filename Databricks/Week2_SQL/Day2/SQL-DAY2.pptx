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141C-0EE5-E0FC-A84D-335A214B9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A36E1-684A-E8BF-4E0E-CC1E68DF6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27D70-6814-7AF5-E78B-FE092DE80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BB08-EA21-4324-B743-BC1FF2517CF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A3B3F-5572-00C6-234A-6C4ED0CB1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8325A-157B-EBC1-B046-CF858B00F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9C9D-FCF3-4A1F-80F7-A958C8C7F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73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14FFC-C724-8CAF-54B6-09A6845D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2AEAB-AB14-08AE-B0DD-7F3918E0E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296A5-9240-CECD-7FC6-A24649A9C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BB08-EA21-4324-B743-BC1FF2517CF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6FE88-E9FE-DD51-CEE3-67B471A7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BA3C3-BDF3-51E4-2ED5-C7B91E53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9C9D-FCF3-4A1F-80F7-A958C8C7F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03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D9D78-6FF3-7A12-3331-E16468A4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3CDCF-B8ED-0069-3BFD-EED4160D5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36FD9-5D31-5A77-A09D-9D6CA9BE1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BB08-EA21-4324-B743-BC1FF2517CF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31190-B7CA-D392-4659-C4F27854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030A1-F7C3-FA9D-0795-D8DD4D6BF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9C9D-FCF3-4A1F-80F7-A958C8C7F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89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40C7-61B3-00AD-B933-61991CBC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2D02A-261A-E724-50F6-92A2F9B22D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9FDB3-5BFC-FA41-A5ED-D7D8F62CC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A276B-D3E6-D017-53FE-2D75BF422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BB08-EA21-4324-B743-BC1FF2517CF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7DD14-85A7-D2B7-EBAD-F068CCD0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29E54-5434-E9D9-A24F-E40026C1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9C9D-FCF3-4A1F-80F7-A958C8C7F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84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8309-A66A-6BF1-D534-D130CA10E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331DE-DC62-9EA2-CBC2-BAF512997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2DAA1-F1E0-21C1-82AD-1C4462BBC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0E8E87-4DDE-A350-6CD7-6D43108F89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6FDDC0-8F7B-1BDF-C6E5-FABE50506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659902-E170-728E-1B16-809773CF5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BB08-EA21-4324-B743-BC1FF2517CF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B058B3-A19A-9826-B9AD-FA836950C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C2D65-E555-606C-42D7-59EDDE7AB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9C9D-FCF3-4A1F-80F7-A958C8C7F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11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1E6CB-B9D2-B913-E900-06EC19A6F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9A5A1-BAC7-EBCD-9A3E-28981734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BB08-EA21-4324-B743-BC1FF2517CF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C7274-B7F3-7592-BFE8-08654BB9E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7EB98-A7DA-D4B5-1869-2FD70C242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9C9D-FCF3-4A1F-80F7-A958C8C7F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9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028DA5-89A5-371F-3265-B36C0D58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BB08-EA21-4324-B743-BC1FF2517CF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C6186-6FC9-62B8-E53F-56AFF289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6A1F4-F00A-97D0-4072-560977EE8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9C9D-FCF3-4A1F-80F7-A958C8C7F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09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2C264-21F9-0522-D17E-2AC664FA2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0BD71-BF22-E0F5-BE6F-955EEA464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4EA2A-2B67-4762-8109-24BA0A10A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D3FCC-F047-F232-9CBC-4BBC3A735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BB08-EA21-4324-B743-BC1FF2517CF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DCB54-A747-DDF0-EB0E-158B2E422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B26D6-2282-5396-62BA-29F0155C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9C9D-FCF3-4A1F-80F7-A958C8C7F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89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6573-DE93-B72A-56F1-E4474FDD1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B7D218-9928-E717-FB4C-7CB3868DEF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976FF-48CD-8D74-30E7-09B623B38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47F1B-5327-03AA-58FF-F0AE5D82A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BB08-EA21-4324-B743-BC1FF2517CF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0C781-924C-598F-E6ED-64EF77129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1EC44-FDDC-0652-8038-EC69C9AB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9C9D-FCF3-4A1F-80F7-A958C8C7F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30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F9C7-85E6-342B-D666-8982F1A5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E3C6E-262E-ABE8-9C29-2BFABB434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D1CB3-CE1E-6199-61BB-0A32BBD3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BB08-EA21-4324-B743-BC1FF2517CF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4E454-FCD4-2FB9-65C0-0476D75A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005C-BAAD-B85E-6EF1-7B792C638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9C9D-FCF3-4A1F-80F7-A958C8C7F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75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02CF0-90FC-965F-CA5D-1513E12A0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EF6C5-6DDA-0294-1D7B-55D6EA283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7C02A-E26E-5846-7CDD-B61D1987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BB08-EA21-4324-B743-BC1FF2517CF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CB3F1-F0B3-841F-BB45-3A7268BFC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D030-0CA0-9B56-E0E6-651F53F87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9C9D-FCF3-4A1F-80F7-A958C8C7F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11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DAC431-AD70-620A-6C0A-BC0E64A38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D436F-BE25-0897-3E53-1841BE7B4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314A6-32D9-7BB3-B392-80B28F17A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F5BB08-EA21-4324-B743-BC1FF2517CF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B38DD-F800-6AE6-1963-B191B0C45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07D5E-5E41-6D20-96DA-B1FF61D48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19C9D-FCF3-4A1F-80F7-A958C8C7F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54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75CD5-2D5C-5948-9EF8-ED6B558255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SQL-DAY2</a:t>
            </a:r>
          </a:p>
        </p:txBody>
      </p:sp>
    </p:spTree>
    <p:extLst>
      <p:ext uri="{BB962C8B-B14F-4D97-AF65-F5344CB8AC3E}">
        <p14:creationId xmlns:p14="http://schemas.microsoft.com/office/powerpoint/2010/main" val="2152164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92022-BEE5-C599-7856-0A8A4BAA0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1️⃣ 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C118E-0C7E-A572-357C-97027F4AE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6" y="125333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A </a:t>
            </a:r>
            <a:r>
              <a:rPr lang="en-US" b="1" dirty="0"/>
              <a:t>Primary Key</a:t>
            </a:r>
            <a:r>
              <a:rPr lang="en-US" dirty="0"/>
              <a:t> uniquely identifies </a:t>
            </a:r>
            <a:r>
              <a:rPr lang="en-US" b="1" dirty="0"/>
              <a:t>each record</a:t>
            </a:r>
            <a:r>
              <a:rPr lang="en-US" dirty="0"/>
              <a:t> in a table.</a:t>
            </a:r>
          </a:p>
          <a:p>
            <a:pPr marL="0" indent="0">
              <a:buNone/>
            </a:pPr>
            <a:r>
              <a:rPr lang="en-US" b="1" dirty="0"/>
              <a:t>Rules</a:t>
            </a:r>
          </a:p>
          <a:p>
            <a:r>
              <a:rPr lang="en-US" dirty="0"/>
              <a:t>Must be </a:t>
            </a:r>
            <a:r>
              <a:rPr lang="en-US" b="1" dirty="0"/>
              <a:t>unique</a:t>
            </a:r>
            <a:endParaRPr lang="en-US" dirty="0"/>
          </a:p>
          <a:p>
            <a:r>
              <a:rPr lang="en-US" dirty="0"/>
              <a:t>Cannot be </a:t>
            </a:r>
            <a:r>
              <a:rPr lang="en-US" b="1" dirty="0"/>
              <a:t>NULL</a:t>
            </a:r>
            <a:endParaRPr lang="en-US" dirty="0"/>
          </a:p>
          <a:p>
            <a:r>
              <a:rPr lang="en-US" dirty="0"/>
              <a:t>Only </a:t>
            </a:r>
            <a:r>
              <a:rPr lang="en-US" b="1" dirty="0"/>
              <a:t>one primary key</a:t>
            </a:r>
            <a:r>
              <a:rPr lang="en-US" dirty="0"/>
              <a:t> per table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Employee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Name VARCHAR(50)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3C83D8-F40F-207D-2DEE-1F347C44F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403110"/>
              </p:ext>
            </p:extLst>
          </p:nvPr>
        </p:nvGraphicFramePr>
        <p:xfrm>
          <a:off x="7151913" y="2880360"/>
          <a:ext cx="5453744" cy="1097280"/>
        </p:xfrm>
        <a:graphic>
          <a:graphicData uri="http://schemas.openxmlformats.org/drawingml/2006/table">
            <a:tbl>
              <a:tblPr/>
              <a:tblGrid>
                <a:gridCol w="2726872">
                  <a:extLst>
                    <a:ext uri="{9D8B030D-6E8A-4147-A177-3AD203B41FA5}">
                      <a16:colId xmlns:a16="http://schemas.microsoft.com/office/drawing/2014/main" val="3590180699"/>
                    </a:ext>
                  </a:extLst>
                </a:gridCol>
                <a:gridCol w="2726872">
                  <a:extLst>
                    <a:ext uri="{9D8B030D-6E8A-4147-A177-3AD203B41FA5}">
                      <a16:colId xmlns:a16="http://schemas.microsoft.com/office/drawing/2014/main" val="26325026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EmpID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213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010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314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5600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34DB6-DEE0-CB66-1B5A-E07B41BA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76943"/>
          </a:xfrm>
        </p:spPr>
        <p:txBody>
          <a:bodyPr>
            <a:normAutofit fontScale="90000"/>
          </a:bodyPr>
          <a:lstStyle/>
          <a:p>
            <a:r>
              <a:rPr lang="en-US" dirty="0"/>
              <a:t>2️⃣ Composite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2C381-9092-AFFD-753E-92A01C00F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5024"/>
            <a:ext cx="11658600" cy="611006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 Composite Key is a primary key made of two or more columns.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When Used</a:t>
            </a:r>
          </a:p>
          <a:p>
            <a:endParaRPr lang="en-US" dirty="0"/>
          </a:p>
          <a:p>
            <a:r>
              <a:rPr lang="en-US" dirty="0"/>
              <a:t>When a single column is not enough to uniquely identify a record</a:t>
            </a:r>
          </a:p>
          <a:p>
            <a:r>
              <a:rPr lang="en-US" dirty="0"/>
              <a:t>Real-Time Example</a:t>
            </a:r>
          </a:p>
          <a:p>
            <a:r>
              <a:rPr lang="en-US" dirty="0"/>
              <a:t>Student enrolled in multiple courses                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Enrollment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CourseID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PRIMARY KEY (</a:t>
            </a:r>
            <a:r>
              <a:rPr lang="en-US" dirty="0" err="1"/>
              <a:t>StudentID</a:t>
            </a:r>
            <a:r>
              <a:rPr lang="en-US" dirty="0"/>
              <a:t>, </a:t>
            </a:r>
            <a:r>
              <a:rPr lang="en-US" dirty="0" err="1"/>
              <a:t>CourseID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Enrollment Table</a:t>
            </a:r>
          </a:p>
          <a:p>
            <a:endParaRPr lang="en-US" dirty="0"/>
          </a:p>
          <a:p>
            <a:r>
              <a:rPr lang="en-US" dirty="0" err="1"/>
              <a:t>StudentID</a:t>
            </a:r>
            <a:r>
              <a:rPr lang="en-US" dirty="0"/>
              <a:t>	</a:t>
            </a:r>
            <a:r>
              <a:rPr lang="en-US" dirty="0" err="1"/>
              <a:t>CourseID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836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EC47-9922-E1C8-AD6F-FC979734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3️⃣ Foreign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F7B4B-C5AB-ED1A-4FF0-7960B0388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1253330"/>
            <a:ext cx="10515600" cy="558641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A </a:t>
            </a:r>
            <a:r>
              <a:rPr lang="en-US" b="1" dirty="0"/>
              <a:t>Foreign Key</a:t>
            </a:r>
            <a:r>
              <a:rPr lang="en-US" dirty="0"/>
              <a:t> creates a </a:t>
            </a:r>
            <a:r>
              <a:rPr lang="en-US" b="1" dirty="0"/>
              <a:t>relationship between two tables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Rules</a:t>
            </a:r>
          </a:p>
          <a:p>
            <a:r>
              <a:rPr lang="en-US" dirty="0"/>
              <a:t>References a </a:t>
            </a:r>
            <a:r>
              <a:rPr lang="en-US" b="1" dirty="0"/>
              <a:t>Primary Key</a:t>
            </a:r>
            <a:r>
              <a:rPr lang="en-US" dirty="0"/>
              <a:t> in another table</a:t>
            </a:r>
          </a:p>
          <a:p>
            <a:r>
              <a:rPr lang="en-US" dirty="0"/>
              <a:t>Maintains data consistency</a:t>
            </a:r>
          </a:p>
          <a:p>
            <a:pPr marL="0" indent="0">
              <a:buNone/>
            </a:pPr>
            <a:r>
              <a:rPr lang="en-US" b="1" dirty="0"/>
              <a:t>Real-Time Example</a:t>
            </a:r>
          </a:p>
          <a:p>
            <a:r>
              <a:rPr lang="en-US" dirty="0"/>
              <a:t>Employee belongs to a department.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Department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DeptID</a:t>
            </a:r>
            <a:r>
              <a:rPr lang="en-US" dirty="0"/>
              <a:t> INT PRIMARY KEY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Employee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DeptID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DeptID</a:t>
            </a:r>
            <a:r>
              <a:rPr lang="en-US" dirty="0"/>
              <a:t>) REFERENCES Department(</a:t>
            </a:r>
            <a:r>
              <a:rPr lang="en-US" dirty="0" err="1"/>
              <a:t>DeptID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63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E9AEE-C413-E928-6EB8-1490FD9E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58688"/>
          </a:xfrm>
        </p:spPr>
        <p:txBody>
          <a:bodyPr>
            <a:normAutofit fontScale="90000"/>
          </a:bodyPr>
          <a:lstStyle/>
          <a:p>
            <a:r>
              <a:rPr lang="en-US" dirty="0"/>
              <a:t>4️⃣ Unique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A450E-C11C-58CE-1F7D-F4F18A15C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1266937"/>
            <a:ext cx="10515600" cy="4351338"/>
          </a:xfrm>
        </p:spPr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A </a:t>
            </a:r>
            <a:r>
              <a:rPr lang="en-US" b="1" dirty="0"/>
              <a:t>Unique Key</a:t>
            </a:r>
            <a:r>
              <a:rPr lang="en-US" dirty="0"/>
              <a:t> ensures </a:t>
            </a:r>
            <a:r>
              <a:rPr lang="en-US" b="1" dirty="0"/>
              <a:t>no duplicate values</a:t>
            </a:r>
            <a:r>
              <a:rPr lang="en-US" dirty="0"/>
              <a:t> in a column.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110A7D-736B-DBD3-3FA5-EAAD29FCE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797422"/>
              </p:ext>
            </p:extLst>
          </p:nvPr>
        </p:nvGraphicFramePr>
        <p:xfrm>
          <a:off x="370114" y="2527368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1748098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921897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Primary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Unique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250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Cannot be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allow one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188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Only 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Multiple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8893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0E4D3EE-3605-F8B4-8929-2345AC38378F}"/>
              </a:ext>
            </a:extLst>
          </p:cNvPr>
          <p:cNvSpPr txBox="1"/>
          <p:nvPr/>
        </p:nvSpPr>
        <p:spPr>
          <a:xfrm>
            <a:off x="664029" y="4390734"/>
            <a:ext cx="6204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TABLE Users (</a:t>
            </a:r>
          </a:p>
          <a:p>
            <a:r>
              <a:rPr lang="en-US" dirty="0"/>
              <a:t>    </a:t>
            </a:r>
            <a:r>
              <a:rPr lang="en-US" dirty="0" err="1"/>
              <a:t>UserID</a:t>
            </a:r>
            <a:r>
              <a:rPr lang="en-US" dirty="0"/>
              <a:t> INT PRIMARY KEY,</a:t>
            </a:r>
          </a:p>
          <a:p>
            <a:r>
              <a:rPr lang="en-US" dirty="0"/>
              <a:t>    Email VARCHAR(100) UNIQUE</a:t>
            </a:r>
          </a:p>
          <a:p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254013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E083-1971-D3A3-29D2-D400F4E7D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5️⃣ Secondary / Alternate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788D6-2D01-1E63-0A89-2D26E289C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009196"/>
            <a:ext cx="10515600" cy="562020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A </a:t>
            </a:r>
            <a:r>
              <a:rPr lang="en-US" b="1" dirty="0"/>
              <a:t>Secondary (Alternate) Key</a:t>
            </a:r>
            <a:r>
              <a:rPr lang="en-US" dirty="0"/>
              <a:t> is a column that can uniquely identify records </a:t>
            </a:r>
            <a:r>
              <a:rPr lang="en-US" b="1" dirty="0"/>
              <a:t>but is not chosen as the primary key</a:t>
            </a:r>
            <a:r>
              <a:rPr lang="en-US" dirty="0"/>
              <a:t>.</a:t>
            </a:r>
          </a:p>
          <a:p>
            <a:r>
              <a:rPr lang="en-US" b="1" dirty="0"/>
              <a:t>Real-Time Example</a:t>
            </a:r>
          </a:p>
          <a:p>
            <a:pPr marL="0" indent="0">
              <a:buNone/>
            </a:pPr>
            <a:r>
              <a:rPr lang="en-US" dirty="0"/>
              <a:t>Employee table:</a:t>
            </a:r>
          </a:p>
          <a:p>
            <a:r>
              <a:rPr lang="en-US" dirty="0" err="1"/>
              <a:t>EmpID</a:t>
            </a:r>
            <a:r>
              <a:rPr lang="en-US" dirty="0"/>
              <a:t> → Primary Key</a:t>
            </a:r>
          </a:p>
          <a:p>
            <a:r>
              <a:rPr lang="en-US" b="1" dirty="0" err="1">
                <a:highlight>
                  <a:srgbClr val="FFFF00"/>
                </a:highlight>
              </a:rPr>
              <a:t>AadhaarNumber</a:t>
            </a:r>
            <a:r>
              <a:rPr lang="en-US" b="1" dirty="0">
                <a:highlight>
                  <a:srgbClr val="FFFF00"/>
                </a:highlight>
              </a:rPr>
              <a:t> → Alternate Key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Employee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FF0000"/>
                </a:solidFill>
              </a:rPr>
              <a:t>Aadhaar VARCHAR(20) UNIQUE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721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5BFA5-2B82-EDD8-F74D-111C69CC1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6️⃣ Referential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AB4AA-3089-D235-8AEC-06C271077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0" y="1444625"/>
            <a:ext cx="12094029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b="1" dirty="0"/>
              <a:t>Referential Integrity</a:t>
            </a:r>
            <a:r>
              <a:rPr lang="en-US" dirty="0"/>
              <a:t> ensures that </a:t>
            </a:r>
            <a:r>
              <a:rPr lang="en-US" b="1" dirty="0"/>
              <a:t>foreign key values always match primary key values</a:t>
            </a:r>
            <a:r>
              <a:rPr lang="en-US" dirty="0"/>
              <a:t> in the referenced table.</a:t>
            </a:r>
          </a:p>
          <a:p>
            <a:pPr marL="0" indent="0">
              <a:buNone/>
            </a:pPr>
            <a:r>
              <a:rPr lang="en-US" b="1" dirty="0"/>
              <a:t>Why It Matters</a:t>
            </a:r>
          </a:p>
          <a:p>
            <a:r>
              <a:rPr lang="en-US" dirty="0"/>
              <a:t>Prevents orphan records</a:t>
            </a:r>
          </a:p>
          <a:p>
            <a:r>
              <a:rPr lang="en-US" dirty="0"/>
              <a:t>Maintains relationship accuracy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❌ Employee cannot be assigned to a non-existing department.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FOREIGN KEY (</a:t>
            </a:r>
            <a:r>
              <a:rPr lang="en-US" dirty="0" err="1"/>
              <a:t>DeptID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REFERENCES Department(</a:t>
            </a:r>
            <a:r>
              <a:rPr lang="en-US" dirty="0" err="1"/>
              <a:t>DeptID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ON DELETE RESTRICT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837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10198-3057-36A0-6A80-5F06E1B8C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SQL Sub-Languages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760D2-13DD-452F-D66D-EDDC338D5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62843"/>
            <a:ext cx="11930743" cy="4351338"/>
          </a:xfrm>
        </p:spPr>
        <p:txBody>
          <a:bodyPr/>
          <a:lstStyle/>
          <a:p>
            <a:r>
              <a:rPr lang="en-US" b="1" dirty="0"/>
              <a:t>What are SQL Sub-Languages?</a:t>
            </a:r>
          </a:p>
          <a:p>
            <a:r>
              <a:rPr lang="en-US" dirty="0"/>
              <a:t>SQL commands are grouped into </a:t>
            </a:r>
            <a:r>
              <a:rPr lang="en-US" b="1" dirty="0"/>
              <a:t>sub-languages</a:t>
            </a:r>
            <a:r>
              <a:rPr lang="en-US" dirty="0"/>
              <a:t> based on </a:t>
            </a:r>
            <a:r>
              <a:rPr lang="en-US" b="1" dirty="0"/>
              <a:t>what operation they perform</a:t>
            </a:r>
            <a:r>
              <a:rPr lang="en-US" dirty="0"/>
              <a:t> on the database.</a:t>
            </a:r>
          </a:p>
          <a:p>
            <a:r>
              <a:rPr lang="en-US" dirty="0"/>
              <a:t>👉 This classification makes SQL </a:t>
            </a:r>
            <a:r>
              <a:rPr lang="en-US" b="1" dirty="0"/>
              <a:t>easy to learn and use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FFA93A-4F67-3C8C-AB92-47BC2EC03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948025"/>
              </p:ext>
            </p:extLst>
          </p:nvPr>
        </p:nvGraphicFramePr>
        <p:xfrm>
          <a:off x="838200" y="3801426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945432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34362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Sub-Language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385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DDL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Define database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55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Manipulate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26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Retrieve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526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DCL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Control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722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Manage 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441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940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A47F-E9B4-318E-E34F-F1292D39D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19945"/>
          </a:xfrm>
        </p:spPr>
        <p:txBody>
          <a:bodyPr/>
          <a:lstStyle/>
          <a:p>
            <a:r>
              <a:rPr lang="it-IT" dirty="0"/>
              <a:t>1️⃣ DDL – Data Definition Language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872B5-0EC8-8466-E445-DD720918B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01082"/>
            <a:ext cx="10515600" cy="4351338"/>
          </a:xfrm>
        </p:spPr>
        <p:txBody>
          <a:bodyPr/>
          <a:lstStyle/>
          <a:p>
            <a:r>
              <a:rPr lang="en-US" dirty="0"/>
              <a:t>Used to </a:t>
            </a:r>
            <a:r>
              <a:rPr lang="en-US" b="1" dirty="0"/>
              <a:t>create, modify, and delete database objects</a:t>
            </a:r>
            <a:r>
              <a:rPr lang="en-US" dirty="0"/>
              <a:t>.</a:t>
            </a:r>
          </a:p>
          <a:p>
            <a:r>
              <a:rPr lang="en-US" b="1" dirty="0"/>
              <a:t>Common Commands</a:t>
            </a:r>
          </a:p>
          <a:p>
            <a:r>
              <a:rPr lang="en-US" dirty="0"/>
              <a:t>CREATE</a:t>
            </a:r>
          </a:p>
          <a:p>
            <a:r>
              <a:rPr lang="en-US" dirty="0"/>
              <a:t>ALTER</a:t>
            </a:r>
          </a:p>
          <a:p>
            <a:r>
              <a:rPr lang="en-US" dirty="0"/>
              <a:t>DROP</a:t>
            </a:r>
          </a:p>
          <a:p>
            <a:r>
              <a:rPr lang="en-US" dirty="0"/>
              <a:t>TRUNCATE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171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8A84-4A2C-C34D-FCC3-A08F81D7D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19945"/>
          </a:xfrm>
        </p:spPr>
        <p:txBody>
          <a:bodyPr/>
          <a:lstStyle/>
          <a:p>
            <a:r>
              <a:rPr lang="en-US" dirty="0"/>
              <a:t>2️⃣ DML – Data Manipulation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B612E-7DCD-5C12-B7E9-634B0DB47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" y="147728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Used to </a:t>
            </a:r>
            <a:r>
              <a:rPr lang="en-US" b="1" dirty="0"/>
              <a:t>insert, update, and delete data</a:t>
            </a:r>
            <a:r>
              <a:rPr lang="en-US" dirty="0"/>
              <a:t> in tables.</a:t>
            </a:r>
          </a:p>
          <a:p>
            <a:r>
              <a:rPr lang="en-US" b="1" dirty="0"/>
              <a:t>Common Commands</a:t>
            </a:r>
          </a:p>
          <a:p>
            <a:r>
              <a:rPr lang="en-US" dirty="0"/>
              <a:t>INSERT</a:t>
            </a:r>
          </a:p>
          <a:p>
            <a:r>
              <a:rPr lang="en-US" dirty="0"/>
              <a:t>UPDATE</a:t>
            </a:r>
          </a:p>
          <a:p>
            <a:r>
              <a:rPr lang="en-US" dirty="0"/>
              <a:t>DELETE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925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ED85C-18F4-6A8E-4690-B9BBCD20E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03514"/>
          </a:xfrm>
        </p:spPr>
        <p:txBody>
          <a:bodyPr/>
          <a:lstStyle/>
          <a:p>
            <a:r>
              <a:rPr lang="en-US" dirty="0"/>
              <a:t>3️⃣ DQL – Data Query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97C2C-2B06-DECD-B49E-C6750985B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Used to </a:t>
            </a:r>
            <a:r>
              <a:rPr lang="en-US" b="1" dirty="0"/>
              <a:t>retrieve data</a:t>
            </a:r>
            <a:r>
              <a:rPr lang="en-US" dirty="0"/>
              <a:t> from database tables.</a:t>
            </a:r>
          </a:p>
          <a:p>
            <a:pPr marL="0" indent="0">
              <a:buNone/>
            </a:pPr>
            <a:r>
              <a:rPr lang="en-US" b="1" dirty="0"/>
              <a:t>Common Command</a:t>
            </a:r>
          </a:p>
          <a:p>
            <a:r>
              <a:rPr lang="en-US" dirty="0"/>
              <a:t>SELECT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008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E49C-490C-8BA4-86C3-DF307B03F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it-IT" dirty="0"/>
              <a:t>4️⃣ DCL – Data Control Language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0C5B5-281B-337D-242A-7F7D03ECA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13901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Used to </a:t>
            </a:r>
            <a:r>
              <a:rPr lang="en-US" b="1" dirty="0"/>
              <a:t>control user access and permissions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Common Commands</a:t>
            </a:r>
          </a:p>
          <a:p>
            <a:r>
              <a:rPr lang="en-US" dirty="0"/>
              <a:t>GRANT</a:t>
            </a:r>
          </a:p>
          <a:p>
            <a:r>
              <a:rPr lang="en-US" dirty="0"/>
              <a:t>REVOKE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295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5037-1654-B4BE-C01B-5A7C188C2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5️⃣ TCL – Transaction Control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A0357-CB33-03C6-A22D-34FF9432D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2" y="1162843"/>
            <a:ext cx="11996057" cy="4351338"/>
          </a:xfrm>
        </p:spPr>
        <p:txBody>
          <a:bodyPr/>
          <a:lstStyle/>
          <a:p>
            <a:r>
              <a:rPr lang="en-US" dirty="0"/>
              <a:t>Used to </a:t>
            </a:r>
            <a:r>
              <a:rPr lang="en-US" b="1" dirty="0"/>
              <a:t>manage transactions</a:t>
            </a:r>
            <a:r>
              <a:rPr lang="en-US" dirty="0"/>
              <a:t> and ensure data consistency.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Common Commands</a:t>
            </a:r>
          </a:p>
          <a:p>
            <a:r>
              <a:rPr lang="en-US" dirty="0"/>
              <a:t>COMMIT</a:t>
            </a:r>
          </a:p>
          <a:p>
            <a:r>
              <a:rPr lang="en-US" dirty="0"/>
              <a:t>ROLLBACK</a:t>
            </a:r>
          </a:p>
          <a:p>
            <a:r>
              <a:rPr lang="en-US" dirty="0"/>
              <a:t>SAVEPOINT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304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504</Words>
  <Application>Microsoft Office PowerPoint</Application>
  <PresentationFormat>Widescreen</PresentationFormat>
  <Paragraphs>141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SQL-DAY2</vt:lpstr>
      <vt:lpstr>1️⃣ Primary Key</vt:lpstr>
      <vt:lpstr>2️⃣ Composite Key</vt:lpstr>
      <vt:lpstr>3️⃣ Foreign Key</vt:lpstr>
      <vt:lpstr>4️⃣ Unique Key</vt:lpstr>
      <vt:lpstr>5️⃣ Secondary / Alternate Key</vt:lpstr>
      <vt:lpstr>6️⃣ Referential Integrity</vt:lpstr>
      <vt:lpstr>SQL Sub-Languages</vt:lpstr>
      <vt:lpstr>1️⃣ DDL – Data Definition Language</vt:lpstr>
      <vt:lpstr>2️⃣ DML – Data Manipulation Language</vt:lpstr>
      <vt:lpstr>3️⃣ DQL – Data Query Language</vt:lpstr>
      <vt:lpstr>4️⃣ DCL – Data Control Language</vt:lpstr>
      <vt:lpstr>5️⃣ TCL – Transaction Control Language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6</cp:revision>
  <dcterms:created xsi:type="dcterms:W3CDTF">2026-02-05T09:59:34Z</dcterms:created>
  <dcterms:modified xsi:type="dcterms:W3CDTF">2026-02-06T16:10:02Z</dcterms:modified>
</cp:coreProperties>
</file>