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95" r:id="rId3"/>
    <p:sldId id="296" r:id="rId4"/>
    <p:sldId id="275" r:id="rId5"/>
    <p:sldId id="279" r:id="rId6"/>
    <p:sldId id="280" r:id="rId7"/>
    <p:sldId id="281" r:id="rId8"/>
    <p:sldId id="290" r:id="rId9"/>
    <p:sldId id="289" r:id="rId10"/>
    <p:sldId id="292" r:id="rId11"/>
    <p:sldId id="293" r:id="rId12"/>
    <p:sldId id="291" r:id="rId13"/>
    <p:sldId id="294" r:id="rId14"/>
    <p:sldId id="283" r:id="rId15"/>
    <p:sldId id="284" r:id="rId16"/>
    <p:sldId id="285" r:id="rId17"/>
    <p:sldId id="297" r:id="rId18"/>
    <p:sldId id="28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A027B-D3A0-1DA1-9272-62A5E5B910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0BCE61-D51F-71C1-2103-2F7CE4C7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5347A6-785F-D061-5859-C4542E6129D0}"/>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5" name="Footer Placeholder 4">
            <a:extLst>
              <a:ext uri="{FF2B5EF4-FFF2-40B4-BE49-F238E27FC236}">
                <a16:creationId xmlns:a16="http://schemas.microsoft.com/office/drawing/2014/main" id="{9A0D2A4E-1A04-015A-9137-6BF95211E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A48D02-1864-271F-F737-555C8730F69C}"/>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2319081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B6E8-E0F0-6B5F-04A0-4FE9D4F56B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0D4454-7076-2F10-A44E-4B1E132618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CFE6B5-4EAE-AEFD-9B31-8751788BDECA}"/>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5" name="Footer Placeholder 4">
            <a:extLst>
              <a:ext uri="{FF2B5EF4-FFF2-40B4-BE49-F238E27FC236}">
                <a16:creationId xmlns:a16="http://schemas.microsoft.com/office/drawing/2014/main" id="{7AB52196-6FCB-A4DB-16A4-2CE87668A0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47DECB-EE7A-AB9A-B3E3-D4EA2685123D}"/>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3624141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DFF4C-A2C8-FCF5-FCD8-256F7EC497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5563C5-38A1-F60A-0BC7-0B4ACC9A6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332FD4-DDC8-D385-E632-D6F9D21BD0E8}"/>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5" name="Footer Placeholder 4">
            <a:extLst>
              <a:ext uri="{FF2B5EF4-FFF2-40B4-BE49-F238E27FC236}">
                <a16:creationId xmlns:a16="http://schemas.microsoft.com/office/drawing/2014/main" id="{07CA0B73-D466-0D01-F23F-B94FF592D0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A0A18F-3D2E-6AD1-044F-486CD1E3217C}"/>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3394710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855FE-96EE-F39A-3FB6-4ADE442B07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6EADB2-55BA-0A60-2ED0-07BD2FEE7E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D5AADF-E3B3-605A-3DDF-A2DBE40D13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AF87E2-8E75-342E-91EF-CD57E2DEED02}"/>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6" name="Footer Placeholder 5">
            <a:extLst>
              <a:ext uri="{FF2B5EF4-FFF2-40B4-BE49-F238E27FC236}">
                <a16:creationId xmlns:a16="http://schemas.microsoft.com/office/drawing/2014/main" id="{8DF4CDA8-9DF3-A601-BD54-3E27FF775A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E2BCC-A318-500C-94DF-2338ABA5E59C}"/>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545232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40863-C49E-A46C-4C2C-96AD3C20D4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23DB75-4025-92B8-0AD3-968BE86AB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5B00C-E9E7-FA73-E754-9EC26F158F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3F42B4F-BAB7-2D05-E2DD-8329270A0A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46AD46-91DA-0962-BEB9-ADA1D4AC89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0C079F4-D3C8-8DD0-BD09-01CBEF202C26}"/>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8" name="Footer Placeholder 7">
            <a:extLst>
              <a:ext uri="{FF2B5EF4-FFF2-40B4-BE49-F238E27FC236}">
                <a16:creationId xmlns:a16="http://schemas.microsoft.com/office/drawing/2014/main" id="{684B0254-E414-32BB-2FDE-CEC2732ABD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376346-779C-F85F-9431-ED06932C25FF}"/>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1940422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0BDE2-EFBD-B3BA-742E-5C716FAB8B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9E2C39-F89E-2189-E90D-78D69901D3EE}"/>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4" name="Footer Placeholder 3">
            <a:extLst>
              <a:ext uri="{FF2B5EF4-FFF2-40B4-BE49-F238E27FC236}">
                <a16:creationId xmlns:a16="http://schemas.microsoft.com/office/drawing/2014/main" id="{173EB983-0705-CFD4-A639-2E36483D6D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7C2C1B-61F7-876B-F4B9-61539E804C65}"/>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286503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048CB1-B825-667F-52A7-8F0AEA409F0E}"/>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3" name="Footer Placeholder 2">
            <a:extLst>
              <a:ext uri="{FF2B5EF4-FFF2-40B4-BE49-F238E27FC236}">
                <a16:creationId xmlns:a16="http://schemas.microsoft.com/office/drawing/2014/main" id="{F8AF533F-1891-79C1-223F-5D7C502DAD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3B8F633-27B0-1CAA-98A1-7CB372244B1B}"/>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2248946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2155-3C87-BBB9-7F80-ACF78699CA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31248E-23F2-4619-1504-A8B6124F05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5F41E4-6543-B072-C653-7DDE4007C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344F32-A5B7-A94D-7336-BDE4D623276F}"/>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6" name="Footer Placeholder 5">
            <a:extLst>
              <a:ext uri="{FF2B5EF4-FFF2-40B4-BE49-F238E27FC236}">
                <a16:creationId xmlns:a16="http://schemas.microsoft.com/office/drawing/2014/main" id="{2163C450-BA6F-F360-3F50-0C87202D59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4CBF45-A463-D9F0-DB0F-AB6177C9981F}"/>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3557285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04FE8-FB61-ADCC-194D-CA5123D6DC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F4AA40-BC09-AF50-028D-2EA08FBE0B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D856D8-48EC-7E2C-5E5F-E5B724E7A9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FFE1E5-A006-29F7-EB12-616E9F10B695}"/>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6" name="Footer Placeholder 5">
            <a:extLst>
              <a:ext uri="{FF2B5EF4-FFF2-40B4-BE49-F238E27FC236}">
                <a16:creationId xmlns:a16="http://schemas.microsoft.com/office/drawing/2014/main" id="{FF85BC52-22D4-B8FE-5D34-B9B5ABEC50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CF7D1B-555C-DD50-89F1-1811633D01BE}"/>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117998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02AA3-B657-41BE-2EA7-893E269043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9D0FAA-BFD0-74CA-ACA1-937445437B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89EF31-C3AE-7010-F453-018CFEC03A2F}"/>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5" name="Footer Placeholder 4">
            <a:extLst>
              <a:ext uri="{FF2B5EF4-FFF2-40B4-BE49-F238E27FC236}">
                <a16:creationId xmlns:a16="http://schemas.microsoft.com/office/drawing/2014/main" id="{9B1BEC56-1DE4-687B-5807-CD3F905396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9BF208-CEA0-082B-61B9-E801A1DB169A}"/>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878831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6A89EE-59BE-A71B-B55C-BEB17D09AF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01CB5B-5871-F04D-0D79-80EC499A47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C1E6EE-B635-6E11-A3C5-9F3002FF4EBC}"/>
              </a:ext>
            </a:extLst>
          </p:cNvPr>
          <p:cNvSpPr>
            <a:spLocks noGrp="1"/>
          </p:cNvSpPr>
          <p:nvPr>
            <p:ph type="dt" sz="half" idx="10"/>
          </p:nvPr>
        </p:nvSpPr>
        <p:spPr/>
        <p:txBody>
          <a:bodyPr/>
          <a:lstStyle/>
          <a:p>
            <a:fld id="{57A4DEC6-0E97-4ABB-AE6B-33573B19FFF7}" type="datetimeFigureOut">
              <a:rPr lang="en-IN" smtClean="0"/>
              <a:t>05-11-2025</a:t>
            </a:fld>
            <a:endParaRPr lang="en-IN"/>
          </a:p>
        </p:txBody>
      </p:sp>
      <p:sp>
        <p:nvSpPr>
          <p:cNvPr id="5" name="Footer Placeholder 4">
            <a:extLst>
              <a:ext uri="{FF2B5EF4-FFF2-40B4-BE49-F238E27FC236}">
                <a16:creationId xmlns:a16="http://schemas.microsoft.com/office/drawing/2014/main" id="{DEED3991-D9D0-6F05-AF39-6012CF85A7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9741DF-300C-CB6D-E7F2-452CF9FF7417}"/>
              </a:ext>
            </a:extLst>
          </p:cNvPr>
          <p:cNvSpPr>
            <a:spLocks noGrp="1"/>
          </p:cNvSpPr>
          <p:nvPr>
            <p:ph type="sldNum" sz="quarter" idx="12"/>
          </p:nvPr>
        </p:nvSpPr>
        <p:spPr/>
        <p:txBody>
          <a:bodyPr/>
          <a:lstStyle/>
          <a:p>
            <a:fld id="{E41FDA75-59C5-4B26-91DB-90F3A03F69B6}" type="slidenum">
              <a:rPr lang="en-IN" smtClean="0"/>
              <a:t>‹#›</a:t>
            </a:fld>
            <a:endParaRPr lang="en-IN"/>
          </a:p>
        </p:txBody>
      </p:sp>
    </p:spTree>
    <p:extLst>
      <p:ext uri="{BB962C8B-B14F-4D97-AF65-F5344CB8AC3E}">
        <p14:creationId xmlns:p14="http://schemas.microsoft.com/office/powerpoint/2010/main" val="624256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BA3D9C-393B-E365-E88A-E0545EAB74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C7F503-FD22-08B1-23D0-8DD673B6CC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BE185-5EB5-74AA-7920-EFCD8FF4EA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4DEC6-0E97-4ABB-AE6B-33573B19FFF7}" type="datetimeFigureOut">
              <a:rPr lang="en-IN" smtClean="0"/>
              <a:t>05-11-2025</a:t>
            </a:fld>
            <a:endParaRPr lang="en-IN"/>
          </a:p>
        </p:txBody>
      </p:sp>
      <p:sp>
        <p:nvSpPr>
          <p:cNvPr id="5" name="Footer Placeholder 4">
            <a:extLst>
              <a:ext uri="{FF2B5EF4-FFF2-40B4-BE49-F238E27FC236}">
                <a16:creationId xmlns:a16="http://schemas.microsoft.com/office/drawing/2014/main" id="{3B387D79-5247-4642-B66C-062348E770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9EC0B1D-DD8E-72AB-EA77-5843F0FF77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1FDA75-59C5-4B26-91DB-90F3A03F69B6}" type="slidenum">
              <a:rPr lang="en-IN" smtClean="0"/>
              <a:t>‹#›</a:t>
            </a:fld>
            <a:endParaRPr lang="en-IN"/>
          </a:p>
        </p:txBody>
      </p:sp>
    </p:spTree>
    <p:extLst>
      <p:ext uri="{BB962C8B-B14F-4D97-AF65-F5344CB8AC3E}">
        <p14:creationId xmlns:p14="http://schemas.microsoft.com/office/powerpoint/2010/main" val="3455034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data-flair.training/blogs/lazy-evaluation-in-apache-spark-guide/" TargetMode="External"/><Relationship Id="rId2" Type="http://schemas.openxmlformats.org/officeDocument/2006/relationships/hyperlink" Target="https://data-flair.training/blogs/directed-acyclic-graph-dag-in-apache-spark/"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oogle.com/search?sca_esv=4a5c3741dee32086&amp;q=Wide+transformations&amp;sa=X&amp;ved=2ahUKEwjXzqXvz9OQAxXhe2wGHW-_BkIQxccNegUInAEQAQ&amp;mstk=AUtExfBafyUqKEIu7PQfgFIZ5dWKOdlXJT8jw0b6-xAsXWBU_p64MVKQyimwH0oimFWPsWl_1uTU2wc-X-BZfmuxl7FMnJS3ne-lolAu4xNd9lWGu8U_u-NgCM4GroipskAsQUYJVDqggLKg87aXXvQ2evy6mDj4eSbwfxFyX8MixFzSuVzF1tRXCyQZ-AduTygPRkyf&amp;csui=3" TargetMode="External"/><Relationship Id="rId2" Type="http://schemas.openxmlformats.org/officeDocument/2006/relationships/hyperlink" Target="https://www.google.com/search?sca_esv=4a5c3741dee32086&amp;q=Narrow+transformations&amp;sa=X&amp;ved=2ahUKEwjXzqXvz9OQAxXhe2wGHW-_BkIQxccNegUIngEQAQ&amp;mstk=AUtExfBafyUqKEIu7PQfgFIZ5dWKOdlXJT8jw0b6-xAsXWBU_p64MVKQyimwH0oimFWPsWl_1uTU2wc-X-BZfmuxl7FMnJS3ne-lolAu4xNd9lWGu8U_u-NgCM4GroipskAsQUYJVDqggLKg87aXXvQ2evy6mDj4eSbwfxFyX8MixFzSuVzF1tRXCyQZ-AduTygPRkyf&amp;csui=3"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8F14-155E-01C3-CF54-187607D03DDC}"/>
              </a:ext>
            </a:extLst>
          </p:cNvPr>
          <p:cNvSpPr>
            <a:spLocks noGrp="1"/>
          </p:cNvSpPr>
          <p:nvPr>
            <p:ph type="title"/>
          </p:nvPr>
        </p:nvSpPr>
        <p:spPr>
          <a:xfrm>
            <a:off x="4637314" y="2531382"/>
            <a:ext cx="10515600" cy="1325563"/>
          </a:xfrm>
        </p:spPr>
        <p:txBody>
          <a:bodyPr/>
          <a:lstStyle/>
          <a:p>
            <a:r>
              <a:rPr lang="en-IN" b="1" dirty="0">
                <a:highlight>
                  <a:srgbClr val="FFFF00"/>
                </a:highlight>
              </a:rPr>
              <a:t>SPARK RDD</a:t>
            </a:r>
          </a:p>
        </p:txBody>
      </p:sp>
    </p:spTree>
    <p:extLst>
      <p:ext uri="{BB962C8B-B14F-4D97-AF65-F5344CB8AC3E}">
        <p14:creationId xmlns:p14="http://schemas.microsoft.com/office/powerpoint/2010/main" val="3243336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a:extLst>
              <a:ext uri="{FF2B5EF4-FFF2-40B4-BE49-F238E27FC236}">
                <a16:creationId xmlns:a16="http://schemas.microsoft.com/office/drawing/2014/main" id="{E5031242-7860-E977-8764-B92B87E94D1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CD1D6166-A09F-F279-AACC-F1179A0FD94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755191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7E64A-3907-5C18-C15E-98F8B67BE9B8}"/>
              </a:ext>
            </a:extLst>
          </p:cNvPr>
          <p:cNvSpPr>
            <a:spLocks noGrp="1"/>
          </p:cNvSpPr>
          <p:nvPr>
            <p:ph type="title"/>
          </p:nvPr>
        </p:nvSpPr>
        <p:spPr>
          <a:xfrm>
            <a:off x="2579914" y="18256"/>
            <a:ext cx="10515600" cy="662782"/>
          </a:xfrm>
        </p:spPr>
        <p:txBody>
          <a:bodyPr>
            <a:normAutofit fontScale="90000"/>
          </a:bodyPr>
          <a:lstStyle/>
          <a:p>
            <a:r>
              <a:rPr lang="en-IN" dirty="0"/>
              <a:t>Architecture of RDD</a:t>
            </a:r>
          </a:p>
        </p:txBody>
      </p:sp>
      <p:sp>
        <p:nvSpPr>
          <p:cNvPr id="3" name="Content Placeholder 2">
            <a:extLst>
              <a:ext uri="{FF2B5EF4-FFF2-40B4-BE49-F238E27FC236}">
                <a16:creationId xmlns:a16="http://schemas.microsoft.com/office/drawing/2014/main" id="{45EF474E-CBE7-0FCE-196F-1149D2C53AB1}"/>
              </a:ext>
            </a:extLst>
          </p:cNvPr>
          <p:cNvSpPr>
            <a:spLocks noGrp="1"/>
          </p:cNvSpPr>
          <p:nvPr>
            <p:ph idx="1"/>
          </p:nvPr>
        </p:nvSpPr>
        <p:spPr>
          <a:xfrm>
            <a:off x="-1" y="1253331"/>
            <a:ext cx="12094029" cy="5495812"/>
          </a:xfrm>
        </p:spPr>
        <p:txBody>
          <a:bodyPr>
            <a:normAutofit fontScale="92500" lnSpcReduction="10000"/>
          </a:bodyPr>
          <a:lstStyle/>
          <a:p>
            <a:r>
              <a:rPr lang="en-US" b="1" dirty="0"/>
              <a:t>Create RDD (Resilient Distributed Datasets):</a:t>
            </a:r>
            <a:r>
              <a:rPr lang="en-US" dirty="0"/>
              <a:t> The first step is to create RDDs, which are distributed data structures that can be divided and distributed across the computers in the Spark cluster. RDDs can be created from various sources, such as program variables, other RDDs, or external data sources like files.</a:t>
            </a:r>
          </a:p>
          <a:p>
            <a:r>
              <a:rPr lang="en-US" b="1" dirty="0"/>
              <a:t>Transformation:</a:t>
            </a:r>
            <a:r>
              <a:rPr lang="en-US" dirty="0"/>
              <a:t> After creating RDDs, we can apply Transformations to change the data within the RDDs using functions like map, </a:t>
            </a:r>
            <a:r>
              <a:rPr lang="en-US" dirty="0" err="1"/>
              <a:t>flatMap</a:t>
            </a:r>
            <a:r>
              <a:rPr lang="en-US" dirty="0"/>
              <a:t>, filter, and others. The result of a Transformation is a new RDD with the transformed data.</a:t>
            </a:r>
          </a:p>
          <a:p>
            <a:r>
              <a:rPr lang="en-US" b="1" dirty="0"/>
              <a:t>RDD:</a:t>
            </a:r>
            <a:r>
              <a:rPr lang="en-US" dirty="0"/>
              <a:t> After performing Transformations, we obtain new RDDs that have undergone the specified changes. These RDDs hold distributed data within the Spark cluster.</a:t>
            </a:r>
          </a:p>
          <a:p>
            <a:r>
              <a:rPr lang="en-US" b="1" dirty="0"/>
              <a:t>Actions:</a:t>
            </a:r>
            <a:r>
              <a:rPr lang="en-US" dirty="0"/>
              <a:t> Actions are steps where we actually perform operations on the data within RDDs. This includes actions such as collecting data (collect), counting elements (count), calculating sums (sum), finding maximum values (max), and others.</a:t>
            </a:r>
          </a:p>
          <a:p>
            <a:r>
              <a:rPr lang="en-US" b="1" dirty="0"/>
              <a:t>Results:</a:t>
            </a:r>
            <a:r>
              <a:rPr lang="en-US" dirty="0"/>
              <a:t> The results represent the outcomes of the Actions performed on the data. These results can be numeric values, lists of data, or the results of various computations derived from data processing.</a:t>
            </a:r>
          </a:p>
          <a:p>
            <a:endParaRPr lang="en-IN" dirty="0"/>
          </a:p>
        </p:txBody>
      </p:sp>
    </p:spTree>
    <p:extLst>
      <p:ext uri="{BB962C8B-B14F-4D97-AF65-F5344CB8AC3E}">
        <p14:creationId xmlns:p14="http://schemas.microsoft.com/office/powerpoint/2010/main" val="644654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470A3-B493-BF92-540F-66A01DA9CA83}"/>
              </a:ext>
            </a:extLst>
          </p:cNvPr>
          <p:cNvSpPr>
            <a:spLocks noGrp="1"/>
          </p:cNvSpPr>
          <p:nvPr>
            <p:ph type="title"/>
          </p:nvPr>
        </p:nvSpPr>
        <p:spPr>
          <a:xfrm>
            <a:off x="3505200" y="0"/>
            <a:ext cx="10515600" cy="489857"/>
          </a:xfrm>
        </p:spPr>
        <p:txBody>
          <a:bodyPr>
            <a:normAutofit fontScale="90000"/>
          </a:bodyPr>
          <a:lstStyle/>
          <a:p>
            <a:r>
              <a:rPr lang="en-IN" dirty="0"/>
              <a:t>What is an RDD?</a:t>
            </a:r>
          </a:p>
        </p:txBody>
      </p:sp>
      <p:sp>
        <p:nvSpPr>
          <p:cNvPr id="3" name="Content Placeholder 2">
            <a:extLst>
              <a:ext uri="{FF2B5EF4-FFF2-40B4-BE49-F238E27FC236}">
                <a16:creationId xmlns:a16="http://schemas.microsoft.com/office/drawing/2014/main" id="{401CE0CF-10F6-B8BB-A671-916A6C8D4EC1}"/>
              </a:ext>
            </a:extLst>
          </p:cNvPr>
          <p:cNvSpPr>
            <a:spLocks noGrp="1"/>
          </p:cNvSpPr>
          <p:nvPr>
            <p:ph idx="1"/>
          </p:nvPr>
        </p:nvSpPr>
        <p:spPr>
          <a:xfrm>
            <a:off x="195943" y="1335768"/>
            <a:ext cx="11789228" cy="5446032"/>
          </a:xfrm>
        </p:spPr>
        <p:txBody>
          <a:bodyPr>
            <a:normAutofit fontScale="92500" lnSpcReduction="20000"/>
          </a:bodyPr>
          <a:lstStyle/>
          <a:p>
            <a:r>
              <a:rPr lang="en-US" b="1" dirty="0"/>
              <a:t>RDD (Resilient Distributed Dataset)</a:t>
            </a:r>
            <a:r>
              <a:rPr lang="en-US" dirty="0"/>
              <a:t> is the </a:t>
            </a:r>
            <a:r>
              <a:rPr lang="en-US" b="1" dirty="0"/>
              <a:t>fundamental data structure</a:t>
            </a:r>
            <a:r>
              <a:rPr lang="en-US" dirty="0"/>
              <a:t> in Apache Spark.</a:t>
            </a:r>
            <a:br>
              <a:rPr lang="en-US" dirty="0"/>
            </a:br>
            <a:r>
              <a:rPr lang="en-US" dirty="0"/>
              <a:t>It represents an </a:t>
            </a:r>
            <a:r>
              <a:rPr lang="en-US" b="1" dirty="0"/>
              <a:t>immutable, distributed collection of objects</a:t>
            </a:r>
            <a:r>
              <a:rPr lang="en-US" dirty="0"/>
              <a:t> that can be processed in parallel across a cluster.</a:t>
            </a:r>
          </a:p>
          <a:p>
            <a:pPr marL="0" indent="0">
              <a:buNone/>
            </a:pPr>
            <a:r>
              <a:rPr lang="en-US" b="1" dirty="0"/>
              <a:t> In short:</a:t>
            </a:r>
          </a:p>
          <a:p>
            <a:r>
              <a:rPr lang="en-US" dirty="0"/>
              <a:t>RDD = A </a:t>
            </a:r>
            <a:r>
              <a:rPr lang="en-US" b="1" dirty="0"/>
              <a:t>fault-tolerant</a:t>
            </a:r>
            <a:r>
              <a:rPr lang="en-US" dirty="0"/>
              <a:t>, </a:t>
            </a:r>
            <a:r>
              <a:rPr lang="en-US" b="1" dirty="0"/>
              <a:t>distributed</a:t>
            </a:r>
            <a:r>
              <a:rPr lang="en-US" dirty="0"/>
              <a:t>, </a:t>
            </a:r>
            <a:r>
              <a:rPr lang="en-US" b="1" dirty="0"/>
              <a:t>in-memory</a:t>
            </a:r>
            <a:r>
              <a:rPr lang="en-US" dirty="0"/>
              <a:t> collection of data elements.</a:t>
            </a:r>
          </a:p>
          <a:p>
            <a:endParaRPr lang="en-US" dirty="0"/>
          </a:p>
          <a:p>
            <a:r>
              <a:rPr lang="en-US" b="1" dirty="0"/>
              <a:t>Resilient</a:t>
            </a:r>
            <a:r>
              <a:rPr lang="en-US" dirty="0"/>
              <a:t>: If a partition of an RDD is lost, it can be </a:t>
            </a:r>
            <a:r>
              <a:rPr lang="en-US" b="1" dirty="0"/>
              <a:t>recomputed</a:t>
            </a:r>
            <a:r>
              <a:rPr lang="en-US" dirty="0"/>
              <a:t> using the original transformations (lineage).</a:t>
            </a:r>
          </a:p>
          <a:p>
            <a:r>
              <a:rPr lang="en-US" b="1" dirty="0"/>
              <a:t>Distributed</a:t>
            </a:r>
            <a:r>
              <a:rPr lang="en-US" dirty="0"/>
              <a:t>: RDDs are </a:t>
            </a:r>
            <a:r>
              <a:rPr lang="en-US" b="1" dirty="0"/>
              <a:t>automatically distributed</a:t>
            </a:r>
            <a:r>
              <a:rPr lang="en-US" dirty="0"/>
              <a:t> across nodes for scalability and fault tolerance.</a:t>
            </a:r>
          </a:p>
          <a:p>
            <a:r>
              <a:rPr lang="en-US" b="1" dirty="0"/>
              <a:t>Immutable</a:t>
            </a:r>
            <a:r>
              <a:rPr lang="en-US" dirty="0"/>
              <a:t>: Once an RDD is created, it </a:t>
            </a:r>
            <a:r>
              <a:rPr lang="en-US" b="1" dirty="0"/>
              <a:t>cannot be changed</a:t>
            </a:r>
            <a:r>
              <a:rPr lang="en-US" dirty="0"/>
              <a:t>. Transformations return new RDDs.</a:t>
            </a:r>
          </a:p>
          <a:p>
            <a:r>
              <a:rPr lang="en-US" b="1" dirty="0"/>
              <a:t>Lazy Evaluation</a:t>
            </a:r>
            <a:r>
              <a:rPr lang="en-US" dirty="0"/>
              <a:t>: Spark builds a </a:t>
            </a:r>
            <a:r>
              <a:rPr lang="en-US" b="1" dirty="0"/>
              <a:t>lineage graph</a:t>
            </a:r>
            <a:r>
              <a:rPr lang="en-US" dirty="0"/>
              <a:t> of transformations and only executes them when an action is called.</a:t>
            </a:r>
          </a:p>
          <a:p>
            <a:endParaRPr lang="en-US" dirty="0"/>
          </a:p>
          <a:p>
            <a:endParaRPr lang="en-IN" dirty="0"/>
          </a:p>
        </p:txBody>
      </p:sp>
    </p:spTree>
    <p:extLst>
      <p:ext uri="{BB962C8B-B14F-4D97-AF65-F5344CB8AC3E}">
        <p14:creationId xmlns:p14="http://schemas.microsoft.com/office/powerpoint/2010/main" val="149064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6E0DF-DBD7-47A3-7A34-8A9238AA5149}"/>
              </a:ext>
            </a:extLst>
          </p:cNvPr>
          <p:cNvSpPr>
            <a:spLocks noGrp="1"/>
          </p:cNvSpPr>
          <p:nvPr>
            <p:ph type="title"/>
          </p:nvPr>
        </p:nvSpPr>
        <p:spPr/>
        <p:txBody>
          <a:bodyPr/>
          <a:lstStyle/>
          <a:p>
            <a:r>
              <a:rPr lang="en-US" dirty="0"/>
              <a:t>🧩 </a:t>
            </a:r>
            <a:r>
              <a:rPr lang="en-US" b="1" dirty="0"/>
              <a:t>2. Key Features of RDD</a:t>
            </a:r>
            <a:endParaRPr lang="en-IN" dirty="0"/>
          </a:p>
        </p:txBody>
      </p:sp>
      <p:graphicFrame>
        <p:nvGraphicFramePr>
          <p:cNvPr id="4" name="Content Placeholder 3">
            <a:extLst>
              <a:ext uri="{FF2B5EF4-FFF2-40B4-BE49-F238E27FC236}">
                <a16:creationId xmlns:a16="http://schemas.microsoft.com/office/drawing/2014/main" id="{DB15424C-DD32-0C55-6B3F-8A9F674FA10C}"/>
              </a:ext>
            </a:extLst>
          </p:cNvPr>
          <p:cNvGraphicFramePr>
            <a:graphicFrameLocks noGrp="1"/>
          </p:cNvGraphicFramePr>
          <p:nvPr>
            <p:ph idx="1"/>
          </p:nvPr>
        </p:nvGraphicFramePr>
        <p:xfrm>
          <a:off x="838200" y="2355374"/>
          <a:ext cx="10515600" cy="3291840"/>
        </p:xfrm>
        <a:graphic>
          <a:graphicData uri="http://schemas.openxmlformats.org/drawingml/2006/table">
            <a:tbl>
              <a:tblPr/>
              <a:tblGrid>
                <a:gridCol w="5257800">
                  <a:extLst>
                    <a:ext uri="{9D8B030D-6E8A-4147-A177-3AD203B41FA5}">
                      <a16:colId xmlns:a16="http://schemas.microsoft.com/office/drawing/2014/main" val="137298070"/>
                    </a:ext>
                  </a:extLst>
                </a:gridCol>
                <a:gridCol w="5257800">
                  <a:extLst>
                    <a:ext uri="{9D8B030D-6E8A-4147-A177-3AD203B41FA5}">
                      <a16:colId xmlns:a16="http://schemas.microsoft.com/office/drawing/2014/main" val="3737138069"/>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extLst>
                  <a:ext uri="{0D108BD9-81ED-4DB2-BD59-A6C34878D82A}">
                    <a16:rowId xmlns:a16="http://schemas.microsoft.com/office/drawing/2014/main" val="2984417683"/>
                  </a:ext>
                </a:extLst>
              </a:tr>
              <a:tr h="0">
                <a:tc>
                  <a:txBody>
                    <a:bodyPr/>
                    <a:lstStyle/>
                    <a:p>
                      <a:pPr>
                        <a:buNone/>
                      </a:pPr>
                      <a:r>
                        <a:rPr lang="en-IN" b="1"/>
                        <a:t>Resilient</a:t>
                      </a:r>
                      <a:endParaRPr lang="en-IN"/>
                    </a:p>
                  </a:txBody>
                  <a:tcPr anchor="ctr">
                    <a:lnL>
                      <a:noFill/>
                    </a:lnL>
                    <a:lnR>
                      <a:noFill/>
                    </a:lnR>
                    <a:lnT>
                      <a:noFill/>
                    </a:lnT>
                    <a:lnB>
                      <a:noFill/>
                    </a:lnB>
                    <a:noFill/>
                  </a:tcPr>
                </a:tc>
                <a:tc>
                  <a:txBody>
                    <a:bodyPr/>
                    <a:lstStyle/>
                    <a:p>
                      <a:pPr>
                        <a:buNone/>
                      </a:pPr>
                      <a:r>
                        <a:rPr lang="en-US"/>
                        <a:t>Fault-tolerant — Spark can recompute lost data using </a:t>
                      </a:r>
                      <a:r>
                        <a:rPr lang="en-US" i="1"/>
                        <a:t>lineage</a:t>
                      </a:r>
                      <a:r>
                        <a:rPr lang="en-US"/>
                        <a:t> (a record of transformations).</a:t>
                      </a:r>
                    </a:p>
                  </a:txBody>
                  <a:tcPr anchor="ctr">
                    <a:lnL>
                      <a:noFill/>
                    </a:lnL>
                    <a:lnR>
                      <a:noFill/>
                    </a:lnR>
                    <a:lnT>
                      <a:noFill/>
                    </a:lnT>
                    <a:lnB>
                      <a:noFill/>
                    </a:lnB>
                    <a:noFill/>
                  </a:tcPr>
                </a:tc>
                <a:extLst>
                  <a:ext uri="{0D108BD9-81ED-4DB2-BD59-A6C34878D82A}">
                    <a16:rowId xmlns:a16="http://schemas.microsoft.com/office/drawing/2014/main" val="1181081097"/>
                  </a:ext>
                </a:extLst>
              </a:tr>
              <a:tr h="0">
                <a:tc>
                  <a:txBody>
                    <a:bodyPr/>
                    <a:lstStyle/>
                    <a:p>
                      <a:pPr>
                        <a:buNone/>
                      </a:pPr>
                      <a:r>
                        <a:rPr lang="en-IN" b="1"/>
                        <a:t>Distributed</a:t>
                      </a:r>
                      <a:endParaRPr lang="en-IN"/>
                    </a:p>
                  </a:txBody>
                  <a:tcPr anchor="ctr">
                    <a:lnL>
                      <a:noFill/>
                    </a:lnL>
                    <a:lnR>
                      <a:noFill/>
                    </a:lnR>
                    <a:lnT>
                      <a:noFill/>
                    </a:lnT>
                    <a:lnB>
                      <a:noFill/>
                    </a:lnB>
                    <a:noFill/>
                  </a:tcPr>
                </a:tc>
                <a:tc>
                  <a:txBody>
                    <a:bodyPr/>
                    <a:lstStyle/>
                    <a:p>
                      <a:pPr>
                        <a:buNone/>
                      </a:pPr>
                      <a:r>
                        <a:rPr lang="en-US"/>
                        <a:t>Data is split across cluster nodes (partitions).</a:t>
                      </a:r>
                    </a:p>
                  </a:txBody>
                  <a:tcPr anchor="ctr">
                    <a:lnL>
                      <a:noFill/>
                    </a:lnL>
                    <a:lnR>
                      <a:noFill/>
                    </a:lnR>
                    <a:lnT>
                      <a:noFill/>
                    </a:lnT>
                    <a:lnB>
                      <a:noFill/>
                    </a:lnB>
                    <a:noFill/>
                  </a:tcPr>
                </a:tc>
                <a:extLst>
                  <a:ext uri="{0D108BD9-81ED-4DB2-BD59-A6C34878D82A}">
                    <a16:rowId xmlns:a16="http://schemas.microsoft.com/office/drawing/2014/main" val="282128865"/>
                  </a:ext>
                </a:extLst>
              </a:tr>
              <a:tr h="0">
                <a:tc>
                  <a:txBody>
                    <a:bodyPr/>
                    <a:lstStyle/>
                    <a:p>
                      <a:pPr>
                        <a:buNone/>
                      </a:pPr>
                      <a:r>
                        <a:rPr lang="en-IN" b="1"/>
                        <a:t>Immutable</a:t>
                      </a:r>
                      <a:endParaRPr lang="en-IN"/>
                    </a:p>
                  </a:txBody>
                  <a:tcPr anchor="ctr">
                    <a:lnL>
                      <a:noFill/>
                    </a:lnL>
                    <a:lnR>
                      <a:noFill/>
                    </a:lnR>
                    <a:lnT>
                      <a:noFill/>
                    </a:lnT>
                    <a:lnB>
                      <a:noFill/>
                    </a:lnB>
                    <a:noFill/>
                  </a:tcPr>
                </a:tc>
                <a:tc>
                  <a:txBody>
                    <a:bodyPr/>
                    <a:lstStyle/>
                    <a:p>
                      <a:pPr>
                        <a:buNone/>
                      </a:pPr>
                      <a:r>
                        <a:rPr lang="en-US"/>
                        <a:t>Once created, it cannot be modified — new RDDs are made via transformations.</a:t>
                      </a:r>
                    </a:p>
                  </a:txBody>
                  <a:tcPr anchor="ctr">
                    <a:lnL>
                      <a:noFill/>
                    </a:lnL>
                    <a:lnR>
                      <a:noFill/>
                    </a:lnR>
                    <a:lnT>
                      <a:noFill/>
                    </a:lnT>
                    <a:lnB>
                      <a:noFill/>
                    </a:lnB>
                    <a:noFill/>
                  </a:tcPr>
                </a:tc>
                <a:extLst>
                  <a:ext uri="{0D108BD9-81ED-4DB2-BD59-A6C34878D82A}">
                    <a16:rowId xmlns:a16="http://schemas.microsoft.com/office/drawing/2014/main" val="545002549"/>
                  </a:ext>
                </a:extLst>
              </a:tr>
              <a:tr h="0">
                <a:tc>
                  <a:txBody>
                    <a:bodyPr/>
                    <a:lstStyle/>
                    <a:p>
                      <a:pPr>
                        <a:buNone/>
                      </a:pPr>
                      <a:r>
                        <a:rPr lang="en-IN" b="1"/>
                        <a:t>Lazy Evaluation</a:t>
                      </a:r>
                      <a:endParaRPr lang="en-IN"/>
                    </a:p>
                  </a:txBody>
                  <a:tcPr anchor="ctr">
                    <a:lnL>
                      <a:noFill/>
                    </a:lnL>
                    <a:lnR>
                      <a:noFill/>
                    </a:lnR>
                    <a:lnT>
                      <a:noFill/>
                    </a:lnT>
                    <a:lnB>
                      <a:noFill/>
                    </a:lnB>
                    <a:noFill/>
                  </a:tcPr>
                </a:tc>
                <a:tc>
                  <a:txBody>
                    <a:bodyPr/>
                    <a:lstStyle/>
                    <a:p>
                      <a:pPr>
                        <a:buNone/>
                      </a:pPr>
                      <a:r>
                        <a:rPr lang="en-US"/>
                        <a:t>Transformations are not executed immediately; Spark builds a DAG and runs it only when an action is called.</a:t>
                      </a:r>
                    </a:p>
                  </a:txBody>
                  <a:tcPr anchor="ctr">
                    <a:lnL>
                      <a:noFill/>
                    </a:lnL>
                    <a:lnR>
                      <a:noFill/>
                    </a:lnR>
                    <a:lnT>
                      <a:noFill/>
                    </a:lnT>
                    <a:lnB>
                      <a:noFill/>
                    </a:lnB>
                    <a:noFill/>
                  </a:tcPr>
                </a:tc>
                <a:extLst>
                  <a:ext uri="{0D108BD9-81ED-4DB2-BD59-A6C34878D82A}">
                    <a16:rowId xmlns:a16="http://schemas.microsoft.com/office/drawing/2014/main" val="1781952037"/>
                  </a:ext>
                </a:extLst>
              </a:tr>
              <a:tr h="0">
                <a:tc>
                  <a:txBody>
                    <a:bodyPr/>
                    <a:lstStyle/>
                    <a:p>
                      <a:pPr>
                        <a:buNone/>
                      </a:pPr>
                      <a:r>
                        <a:rPr lang="en-IN" b="1"/>
                        <a:t>In-Memory Computation</a:t>
                      </a:r>
                      <a:endParaRPr lang="en-IN"/>
                    </a:p>
                  </a:txBody>
                  <a:tcPr anchor="ctr">
                    <a:lnL>
                      <a:noFill/>
                    </a:lnL>
                    <a:lnR>
                      <a:noFill/>
                    </a:lnR>
                    <a:lnT>
                      <a:noFill/>
                    </a:lnT>
                    <a:lnB>
                      <a:noFill/>
                    </a:lnB>
                    <a:noFill/>
                  </a:tcPr>
                </a:tc>
                <a:tc>
                  <a:txBody>
                    <a:bodyPr/>
                    <a:lstStyle/>
                    <a:p>
                      <a:pPr>
                        <a:buNone/>
                      </a:pPr>
                      <a:r>
                        <a:rPr lang="en-US" dirty="0"/>
                        <a:t>Data can be cached in memory for faster reuse (important for iterative ML algorithms).</a:t>
                      </a:r>
                    </a:p>
                  </a:txBody>
                  <a:tcPr anchor="ctr">
                    <a:lnL>
                      <a:noFill/>
                    </a:lnL>
                    <a:lnR>
                      <a:noFill/>
                    </a:lnR>
                    <a:lnT>
                      <a:noFill/>
                    </a:lnT>
                    <a:lnB>
                      <a:noFill/>
                    </a:lnB>
                    <a:noFill/>
                  </a:tcPr>
                </a:tc>
                <a:extLst>
                  <a:ext uri="{0D108BD9-81ED-4DB2-BD59-A6C34878D82A}">
                    <a16:rowId xmlns:a16="http://schemas.microsoft.com/office/drawing/2014/main" val="1507669215"/>
                  </a:ext>
                </a:extLst>
              </a:tr>
            </a:tbl>
          </a:graphicData>
        </a:graphic>
      </p:graphicFrame>
    </p:spTree>
    <p:extLst>
      <p:ext uri="{BB962C8B-B14F-4D97-AF65-F5344CB8AC3E}">
        <p14:creationId xmlns:p14="http://schemas.microsoft.com/office/powerpoint/2010/main" val="763151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B0DD2-E01E-0265-8E7A-7F96AF7342D7}"/>
              </a:ext>
            </a:extLst>
          </p:cNvPr>
          <p:cNvSpPr>
            <a:spLocks noGrp="1"/>
          </p:cNvSpPr>
          <p:nvPr>
            <p:ph type="title"/>
          </p:nvPr>
        </p:nvSpPr>
        <p:spPr>
          <a:xfrm>
            <a:off x="2188029" y="18256"/>
            <a:ext cx="10515600" cy="662782"/>
          </a:xfrm>
        </p:spPr>
        <p:txBody>
          <a:bodyPr>
            <a:normAutofit fontScale="90000"/>
          </a:bodyPr>
          <a:lstStyle/>
          <a:p>
            <a:r>
              <a:rPr lang="en-IN" dirty="0"/>
              <a:t>RDD Creation Methods</a:t>
            </a:r>
          </a:p>
        </p:txBody>
      </p:sp>
      <p:sp>
        <p:nvSpPr>
          <p:cNvPr id="3" name="Content Placeholder 2">
            <a:extLst>
              <a:ext uri="{FF2B5EF4-FFF2-40B4-BE49-F238E27FC236}">
                <a16:creationId xmlns:a16="http://schemas.microsoft.com/office/drawing/2014/main" id="{7F4D1CBF-A8B7-C511-1F5E-6BFAEB7B0409}"/>
              </a:ext>
            </a:extLst>
          </p:cNvPr>
          <p:cNvSpPr>
            <a:spLocks noGrp="1"/>
          </p:cNvSpPr>
          <p:nvPr>
            <p:ph idx="1"/>
          </p:nvPr>
        </p:nvSpPr>
        <p:spPr>
          <a:xfrm>
            <a:off x="130629" y="1063624"/>
            <a:ext cx="11734800" cy="5776119"/>
          </a:xfrm>
        </p:spPr>
        <p:txBody>
          <a:bodyPr>
            <a:normAutofit fontScale="85000" lnSpcReduction="20000"/>
          </a:bodyPr>
          <a:lstStyle/>
          <a:p>
            <a:pPr marL="0" indent="0">
              <a:buNone/>
            </a:pPr>
            <a:r>
              <a:rPr lang="en-US" b="1" dirty="0">
                <a:highlight>
                  <a:srgbClr val="FFFF00"/>
                </a:highlight>
              </a:rPr>
              <a:t>a) From Existing Collections</a:t>
            </a:r>
          </a:p>
          <a:p>
            <a:r>
              <a:rPr lang="en-US" dirty="0"/>
              <a:t>You can create an RDD from a Python list (local collection):</a:t>
            </a:r>
          </a:p>
          <a:p>
            <a:endParaRPr lang="en-US" dirty="0"/>
          </a:p>
          <a:p>
            <a:r>
              <a:rPr lang="en-US" dirty="0" err="1"/>
              <a:t>rdd</a:t>
            </a:r>
            <a:r>
              <a:rPr lang="en-US" dirty="0"/>
              <a:t> = </a:t>
            </a:r>
            <a:r>
              <a:rPr lang="en-US" dirty="0" err="1"/>
              <a:t>spark.sparkContext.parallelize</a:t>
            </a:r>
            <a:r>
              <a:rPr lang="en-US" dirty="0"/>
              <a:t>([1, 2, 3, 4, 5])</a:t>
            </a:r>
          </a:p>
          <a:p>
            <a:endParaRPr lang="en-US" dirty="0"/>
          </a:p>
          <a:p>
            <a:pPr marL="0" indent="0">
              <a:buNone/>
            </a:pPr>
            <a:r>
              <a:rPr lang="en-US" b="1" dirty="0">
                <a:highlight>
                  <a:srgbClr val="FFFF00"/>
                </a:highlight>
              </a:rPr>
              <a:t>b) From External Data Sources</a:t>
            </a:r>
          </a:p>
          <a:p>
            <a:endParaRPr lang="en-US" dirty="0"/>
          </a:p>
          <a:p>
            <a:r>
              <a:rPr lang="en-US" dirty="0"/>
              <a:t>Load data from files, HDFS, S3, etc.:</a:t>
            </a:r>
          </a:p>
          <a:p>
            <a:endParaRPr lang="en-US" dirty="0"/>
          </a:p>
          <a:p>
            <a:r>
              <a:rPr lang="en-US" dirty="0" err="1"/>
              <a:t>rdd</a:t>
            </a:r>
            <a:r>
              <a:rPr lang="en-US" dirty="0"/>
              <a:t> = </a:t>
            </a:r>
            <a:r>
              <a:rPr lang="en-US" dirty="0" err="1"/>
              <a:t>spark.sparkContext.textFile</a:t>
            </a:r>
            <a:r>
              <a:rPr lang="en-US" dirty="0"/>
              <a:t>("data/input.txt")</a:t>
            </a:r>
          </a:p>
          <a:p>
            <a:endParaRPr lang="en-US" dirty="0"/>
          </a:p>
          <a:p>
            <a:pPr marL="0" indent="0">
              <a:buNone/>
            </a:pPr>
            <a:r>
              <a:rPr lang="en-US" b="1" dirty="0">
                <a:highlight>
                  <a:srgbClr val="FFFF00"/>
                </a:highlight>
              </a:rPr>
              <a:t>c)From Other RDDs</a:t>
            </a:r>
          </a:p>
          <a:p>
            <a:r>
              <a:rPr lang="en-US" dirty="0"/>
              <a:t>Transform an existing RDD to create a new one:</a:t>
            </a:r>
          </a:p>
          <a:p>
            <a:endParaRPr lang="en-US" dirty="0"/>
          </a:p>
          <a:p>
            <a:r>
              <a:rPr lang="en-US" dirty="0"/>
              <a:t>rdd2 = </a:t>
            </a:r>
            <a:r>
              <a:rPr lang="en-US" dirty="0" err="1"/>
              <a:t>rdd.map</a:t>
            </a:r>
            <a:r>
              <a:rPr lang="en-US" dirty="0"/>
              <a:t>(lambda x: x * 2)</a:t>
            </a:r>
          </a:p>
          <a:p>
            <a:endParaRPr lang="en-US" dirty="0"/>
          </a:p>
          <a:p>
            <a:endParaRPr lang="en-IN" dirty="0"/>
          </a:p>
        </p:txBody>
      </p:sp>
    </p:spTree>
    <p:extLst>
      <p:ext uri="{BB962C8B-B14F-4D97-AF65-F5344CB8AC3E}">
        <p14:creationId xmlns:p14="http://schemas.microsoft.com/office/powerpoint/2010/main" val="109288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EB4D-E8B8-A35C-2AEB-E5A8FD123825}"/>
              </a:ext>
            </a:extLst>
          </p:cNvPr>
          <p:cNvSpPr>
            <a:spLocks noGrp="1"/>
          </p:cNvSpPr>
          <p:nvPr>
            <p:ph type="title"/>
          </p:nvPr>
        </p:nvSpPr>
        <p:spPr/>
        <p:txBody>
          <a:bodyPr/>
          <a:lstStyle/>
          <a:p>
            <a:r>
              <a:rPr lang="en-IN" dirty="0"/>
              <a:t>RDD Operations</a:t>
            </a:r>
          </a:p>
        </p:txBody>
      </p:sp>
      <p:sp>
        <p:nvSpPr>
          <p:cNvPr id="3" name="Content Placeholder 2">
            <a:extLst>
              <a:ext uri="{FF2B5EF4-FFF2-40B4-BE49-F238E27FC236}">
                <a16:creationId xmlns:a16="http://schemas.microsoft.com/office/drawing/2014/main" id="{C835095A-58C6-D200-8412-DE654AFB8041}"/>
              </a:ext>
            </a:extLst>
          </p:cNvPr>
          <p:cNvSpPr>
            <a:spLocks noGrp="1"/>
          </p:cNvSpPr>
          <p:nvPr>
            <p:ph idx="1"/>
          </p:nvPr>
        </p:nvSpPr>
        <p:spPr/>
        <p:txBody>
          <a:bodyPr/>
          <a:lstStyle/>
          <a:p>
            <a:r>
              <a:rPr lang="en-US" dirty="0"/>
              <a:t>RDDs support </a:t>
            </a:r>
            <a:r>
              <a:rPr lang="en-US" b="1" dirty="0"/>
              <a:t>two types</a:t>
            </a:r>
            <a:r>
              <a:rPr lang="en-US" dirty="0"/>
              <a:t> of operations:</a:t>
            </a:r>
          </a:p>
          <a:p>
            <a:endParaRPr lang="en-IN" dirty="0"/>
          </a:p>
          <a:p>
            <a:endParaRPr lang="en-IN" dirty="0"/>
          </a:p>
        </p:txBody>
      </p:sp>
      <p:graphicFrame>
        <p:nvGraphicFramePr>
          <p:cNvPr id="6" name="Table 5">
            <a:extLst>
              <a:ext uri="{FF2B5EF4-FFF2-40B4-BE49-F238E27FC236}">
                <a16:creationId xmlns:a16="http://schemas.microsoft.com/office/drawing/2014/main" id="{B50A2073-4F0A-FB08-7D24-36C2407B52E2}"/>
              </a:ext>
            </a:extLst>
          </p:cNvPr>
          <p:cNvGraphicFramePr>
            <a:graphicFrameLocks noGrp="1"/>
          </p:cNvGraphicFramePr>
          <p:nvPr/>
        </p:nvGraphicFramePr>
        <p:xfrm>
          <a:off x="838200" y="3041174"/>
          <a:ext cx="10515600" cy="1920240"/>
        </p:xfrm>
        <a:graphic>
          <a:graphicData uri="http://schemas.openxmlformats.org/drawingml/2006/table">
            <a:tbl>
              <a:tblPr/>
              <a:tblGrid>
                <a:gridCol w="3505200">
                  <a:extLst>
                    <a:ext uri="{9D8B030D-6E8A-4147-A177-3AD203B41FA5}">
                      <a16:colId xmlns:a16="http://schemas.microsoft.com/office/drawing/2014/main" val="1796612771"/>
                    </a:ext>
                  </a:extLst>
                </a:gridCol>
                <a:gridCol w="3505200">
                  <a:extLst>
                    <a:ext uri="{9D8B030D-6E8A-4147-A177-3AD203B41FA5}">
                      <a16:colId xmlns:a16="http://schemas.microsoft.com/office/drawing/2014/main" val="1527148433"/>
                    </a:ext>
                  </a:extLst>
                </a:gridCol>
                <a:gridCol w="3505200">
                  <a:extLst>
                    <a:ext uri="{9D8B030D-6E8A-4147-A177-3AD203B41FA5}">
                      <a16:colId xmlns:a16="http://schemas.microsoft.com/office/drawing/2014/main" val="630474696"/>
                    </a:ext>
                  </a:extLst>
                </a:gridCol>
              </a:tblGrid>
              <a:tr h="0">
                <a:tc>
                  <a:txBody>
                    <a:bodyPr/>
                    <a:lstStyle/>
                    <a:p>
                      <a:pPr>
                        <a:buNone/>
                      </a:pPr>
                      <a:r>
                        <a:rPr lang="en-IN"/>
                        <a:t>Type</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tc>
                  <a:txBody>
                    <a:bodyPr/>
                    <a:lstStyle/>
                    <a:p>
                      <a:pPr>
                        <a:buNone/>
                      </a:pPr>
                      <a:r>
                        <a:rPr lang="en-IN"/>
                        <a:t>Example</a:t>
                      </a:r>
                    </a:p>
                  </a:txBody>
                  <a:tcPr anchor="ctr">
                    <a:lnL>
                      <a:noFill/>
                    </a:lnL>
                    <a:lnR>
                      <a:noFill/>
                    </a:lnR>
                    <a:lnT>
                      <a:noFill/>
                    </a:lnT>
                    <a:lnB>
                      <a:noFill/>
                    </a:lnB>
                    <a:noFill/>
                  </a:tcPr>
                </a:tc>
                <a:extLst>
                  <a:ext uri="{0D108BD9-81ED-4DB2-BD59-A6C34878D82A}">
                    <a16:rowId xmlns:a16="http://schemas.microsoft.com/office/drawing/2014/main" val="2456778237"/>
                  </a:ext>
                </a:extLst>
              </a:tr>
              <a:tr h="0">
                <a:tc>
                  <a:txBody>
                    <a:bodyPr/>
                    <a:lstStyle/>
                    <a:p>
                      <a:pPr>
                        <a:buNone/>
                      </a:pPr>
                      <a:r>
                        <a:rPr lang="en-IN" b="1"/>
                        <a:t>Transformations</a:t>
                      </a:r>
                      <a:endParaRPr lang="en-IN"/>
                    </a:p>
                  </a:txBody>
                  <a:tcPr anchor="ctr">
                    <a:lnL>
                      <a:noFill/>
                    </a:lnL>
                    <a:lnR>
                      <a:noFill/>
                    </a:lnR>
                    <a:lnT>
                      <a:noFill/>
                    </a:lnT>
                    <a:lnB>
                      <a:noFill/>
                    </a:lnB>
                    <a:noFill/>
                  </a:tcPr>
                </a:tc>
                <a:tc>
                  <a:txBody>
                    <a:bodyPr/>
                    <a:lstStyle/>
                    <a:p>
                      <a:pPr>
                        <a:buNone/>
                      </a:pPr>
                      <a:r>
                        <a:rPr lang="en-US"/>
                        <a:t>Create a new RDD from an existing one (lazy).</a:t>
                      </a:r>
                    </a:p>
                  </a:txBody>
                  <a:tcPr anchor="ctr">
                    <a:lnL>
                      <a:noFill/>
                    </a:lnL>
                    <a:lnR>
                      <a:noFill/>
                    </a:lnR>
                    <a:lnT>
                      <a:noFill/>
                    </a:lnT>
                    <a:lnB>
                      <a:noFill/>
                    </a:lnB>
                    <a:noFill/>
                  </a:tcPr>
                </a:tc>
                <a:tc>
                  <a:txBody>
                    <a:bodyPr/>
                    <a:lstStyle/>
                    <a:p>
                      <a:pPr>
                        <a:buNone/>
                      </a:pPr>
                      <a:r>
                        <a:rPr lang="en-US">
                          <a:latin typeface="Courier New" panose="02070309020205020404" pitchFamily="49" charset="0"/>
                        </a:rPr>
                        <a:t>map()</a:t>
                      </a:r>
                      <a:r>
                        <a:rPr lang="en-US"/>
                        <a:t>, </a:t>
                      </a:r>
                      <a:r>
                        <a:rPr lang="en-US">
                          <a:latin typeface="Courier New" panose="02070309020205020404" pitchFamily="49" charset="0"/>
                        </a:rPr>
                        <a:t>filter()</a:t>
                      </a:r>
                      <a:r>
                        <a:rPr lang="en-US"/>
                        <a:t>, </a:t>
                      </a:r>
                      <a:r>
                        <a:rPr lang="en-US">
                          <a:latin typeface="Courier New" panose="02070309020205020404" pitchFamily="49" charset="0"/>
                        </a:rPr>
                        <a:t>flatMap()</a:t>
                      </a:r>
                      <a:r>
                        <a:rPr lang="en-US"/>
                        <a:t>, </a:t>
                      </a:r>
                      <a:r>
                        <a:rPr lang="en-US">
                          <a:latin typeface="Courier New" panose="02070309020205020404" pitchFamily="49" charset="0"/>
                        </a:rPr>
                        <a:t>union()</a:t>
                      </a:r>
                      <a:r>
                        <a:rPr lang="en-US"/>
                        <a:t>, </a:t>
                      </a:r>
                      <a:r>
                        <a:rPr lang="en-US">
                          <a:latin typeface="Courier New" panose="02070309020205020404" pitchFamily="49" charset="0"/>
                        </a:rPr>
                        <a:t>join()</a:t>
                      </a:r>
                      <a:endParaRPr lang="en-US"/>
                    </a:p>
                  </a:txBody>
                  <a:tcPr anchor="ctr">
                    <a:lnL>
                      <a:noFill/>
                    </a:lnL>
                    <a:lnR>
                      <a:noFill/>
                    </a:lnR>
                    <a:lnT>
                      <a:noFill/>
                    </a:lnT>
                    <a:lnB>
                      <a:noFill/>
                    </a:lnB>
                    <a:noFill/>
                  </a:tcPr>
                </a:tc>
                <a:extLst>
                  <a:ext uri="{0D108BD9-81ED-4DB2-BD59-A6C34878D82A}">
                    <a16:rowId xmlns:a16="http://schemas.microsoft.com/office/drawing/2014/main" val="818037074"/>
                  </a:ext>
                </a:extLst>
              </a:tr>
              <a:tr h="0">
                <a:tc>
                  <a:txBody>
                    <a:bodyPr/>
                    <a:lstStyle/>
                    <a:p>
                      <a:pPr>
                        <a:buNone/>
                      </a:pPr>
                      <a:r>
                        <a:rPr lang="en-IN" b="1"/>
                        <a:t>Actions</a:t>
                      </a:r>
                      <a:endParaRPr lang="en-IN"/>
                    </a:p>
                  </a:txBody>
                  <a:tcPr anchor="ctr">
                    <a:lnL>
                      <a:noFill/>
                    </a:lnL>
                    <a:lnR>
                      <a:noFill/>
                    </a:lnR>
                    <a:lnT>
                      <a:noFill/>
                    </a:lnT>
                    <a:lnB>
                      <a:noFill/>
                    </a:lnB>
                    <a:noFill/>
                  </a:tcPr>
                </a:tc>
                <a:tc>
                  <a:txBody>
                    <a:bodyPr/>
                    <a:lstStyle/>
                    <a:p>
                      <a:pPr>
                        <a:buNone/>
                      </a:pPr>
                      <a:r>
                        <a:rPr lang="en-US"/>
                        <a:t>Trigger computation and return results.</a:t>
                      </a:r>
                    </a:p>
                  </a:txBody>
                  <a:tcPr anchor="ctr">
                    <a:lnL>
                      <a:noFill/>
                    </a:lnL>
                    <a:lnR>
                      <a:noFill/>
                    </a:lnR>
                    <a:lnT>
                      <a:noFill/>
                    </a:lnT>
                    <a:lnB>
                      <a:noFill/>
                    </a:lnB>
                    <a:noFill/>
                  </a:tcPr>
                </a:tc>
                <a:tc>
                  <a:txBody>
                    <a:bodyPr/>
                    <a:lstStyle/>
                    <a:p>
                      <a:pPr>
                        <a:buNone/>
                      </a:pPr>
                      <a:r>
                        <a:rPr lang="en-US" dirty="0">
                          <a:latin typeface="Courier New" panose="02070309020205020404" pitchFamily="49" charset="0"/>
                        </a:rPr>
                        <a:t>collect()</a:t>
                      </a:r>
                      <a:r>
                        <a:rPr lang="en-US" dirty="0"/>
                        <a:t>, </a:t>
                      </a:r>
                      <a:r>
                        <a:rPr lang="en-US" dirty="0">
                          <a:latin typeface="Courier New" panose="02070309020205020404" pitchFamily="49" charset="0"/>
                        </a:rPr>
                        <a:t>count()</a:t>
                      </a:r>
                      <a:r>
                        <a:rPr lang="en-US" dirty="0"/>
                        <a:t>, </a:t>
                      </a:r>
                      <a:r>
                        <a:rPr lang="en-US" dirty="0" err="1">
                          <a:latin typeface="Courier New" panose="02070309020205020404" pitchFamily="49" charset="0"/>
                        </a:rPr>
                        <a:t>saveAsTextFile</a:t>
                      </a:r>
                      <a:r>
                        <a:rPr lang="en-US" dirty="0">
                          <a:latin typeface="Courier New" panose="02070309020205020404" pitchFamily="49" charset="0"/>
                        </a:rPr>
                        <a:t>()</a:t>
                      </a:r>
                      <a:r>
                        <a:rPr lang="en-US" dirty="0"/>
                        <a:t>, </a:t>
                      </a:r>
                      <a:r>
                        <a:rPr lang="en-US" dirty="0">
                          <a:latin typeface="Courier New" panose="02070309020205020404" pitchFamily="49" charset="0"/>
                        </a:rPr>
                        <a:t>first()</a:t>
                      </a:r>
                      <a:r>
                        <a:rPr lang="en-US" dirty="0"/>
                        <a:t>, </a:t>
                      </a:r>
                      <a:r>
                        <a:rPr lang="en-US" dirty="0">
                          <a:latin typeface="Courier New" panose="02070309020205020404" pitchFamily="49" charset="0"/>
                        </a:rPr>
                        <a:t>reduce()</a:t>
                      </a:r>
                      <a:endParaRPr lang="en-US" dirty="0"/>
                    </a:p>
                  </a:txBody>
                  <a:tcPr anchor="ctr">
                    <a:lnL>
                      <a:noFill/>
                    </a:lnL>
                    <a:lnR>
                      <a:noFill/>
                    </a:lnR>
                    <a:lnT>
                      <a:noFill/>
                    </a:lnT>
                    <a:lnB>
                      <a:noFill/>
                    </a:lnB>
                    <a:noFill/>
                  </a:tcPr>
                </a:tc>
                <a:extLst>
                  <a:ext uri="{0D108BD9-81ED-4DB2-BD59-A6C34878D82A}">
                    <a16:rowId xmlns:a16="http://schemas.microsoft.com/office/drawing/2014/main" val="868868842"/>
                  </a:ext>
                </a:extLst>
              </a:tr>
            </a:tbl>
          </a:graphicData>
        </a:graphic>
      </p:graphicFrame>
    </p:spTree>
    <p:extLst>
      <p:ext uri="{BB962C8B-B14F-4D97-AF65-F5344CB8AC3E}">
        <p14:creationId xmlns:p14="http://schemas.microsoft.com/office/powerpoint/2010/main" val="1255223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252D-0A3A-2A20-EB0D-3D5FF3A04AB6}"/>
              </a:ext>
            </a:extLst>
          </p:cNvPr>
          <p:cNvSpPr>
            <a:spLocks noGrp="1"/>
          </p:cNvSpPr>
          <p:nvPr>
            <p:ph type="title"/>
          </p:nvPr>
        </p:nvSpPr>
        <p:spPr>
          <a:xfrm>
            <a:off x="2178628" y="0"/>
            <a:ext cx="10515600" cy="681037"/>
          </a:xfrm>
        </p:spPr>
        <p:txBody>
          <a:bodyPr>
            <a:normAutofit fontScale="90000"/>
          </a:bodyPr>
          <a:lstStyle/>
          <a:p>
            <a:r>
              <a:rPr lang="en-IN" b="1" dirty="0">
                <a:highlight>
                  <a:srgbClr val="FFFF00"/>
                </a:highlight>
              </a:rPr>
              <a:t>RDD Transformations &amp; Lineage</a:t>
            </a:r>
          </a:p>
        </p:txBody>
      </p:sp>
      <p:sp>
        <p:nvSpPr>
          <p:cNvPr id="3" name="Content Placeholder 2">
            <a:extLst>
              <a:ext uri="{FF2B5EF4-FFF2-40B4-BE49-F238E27FC236}">
                <a16:creationId xmlns:a16="http://schemas.microsoft.com/office/drawing/2014/main" id="{AD4F292D-EE35-F980-E32B-2A5CB5EAC7B8}"/>
              </a:ext>
            </a:extLst>
          </p:cNvPr>
          <p:cNvSpPr>
            <a:spLocks noGrp="1"/>
          </p:cNvSpPr>
          <p:nvPr>
            <p:ph idx="1"/>
          </p:nvPr>
        </p:nvSpPr>
        <p:spPr>
          <a:xfrm>
            <a:off x="214745" y="1461944"/>
            <a:ext cx="11734800" cy="5073938"/>
          </a:xfrm>
        </p:spPr>
        <p:txBody>
          <a:bodyPr>
            <a:normAutofit fontScale="92500" lnSpcReduction="20000"/>
          </a:bodyPr>
          <a:lstStyle/>
          <a:p>
            <a:r>
              <a:rPr lang="en-US" b="1" dirty="0"/>
              <a:t>Spark Transformation</a:t>
            </a:r>
            <a:r>
              <a:rPr lang="en-US" dirty="0"/>
              <a:t> is a function that produces new RDD from the existing RDDs.</a:t>
            </a:r>
          </a:p>
          <a:p>
            <a:r>
              <a:rPr lang="en-US" dirty="0"/>
              <a:t> It takes RDD as input and produces one or more RDD as output.</a:t>
            </a:r>
          </a:p>
          <a:p>
            <a:r>
              <a:rPr lang="en-US" dirty="0"/>
              <a:t> Each time it creates new RDD when we apply any transformation. Thus, the so input RDDs, cannot be changed since RDD are immutable in nature.</a:t>
            </a:r>
          </a:p>
          <a:p>
            <a:endParaRPr lang="en-US" dirty="0"/>
          </a:p>
          <a:p>
            <a:r>
              <a:rPr lang="en-US" dirty="0"/>
              <a:t>Applying transformation built an </a:t>
            </a:r>
            <a:r>
              <a:rPr lang="en-US" b="1" dirty="0"/>
              <a:t>RDD lineage</a:t>
            </a:r>
            <a:r>
              <a:rPr lang="en-US" dirty="0"/>
              <a:t>, with the entire parent RDDs of the final RDD(s). </a:t>
            </a:r>
          </a:p>
          <a:p>
            <a:r>
              <a:rPr lang="en-US" dirty="0"/>
              <a:t>RDD lineage, also known as </a:t>
            </a:r>
            <a:r>
              <a:rPr lang="en-US" b="1" dirty="0"/>
              <a:t>RDD operator graph </a:t>
            </a:r>
            <a:r>
              <a:rPr lang="en-US" dirty="0"/>
              <a:t>or </a:t>
            </a:r>
            <a:r>
              <a:rPr lang="en-US" b="1" dirty="0"/>
              <a:t>RDD dependency graph.</a:t>
            </a:r>
            <a:r>
              <a:rPr lang="en-US" dirty="0"/>
              <a:t> </a:t>
            </a:r>
          </a:p>
          <a:p>
            <a:r>
              <a:rPr lang="en-US" dirty="0"/>
              <a:t>It is a logical execution plan i.e., it is Directed Acyclic Graph (</a:t>
            </a:r>
            <a:r>
              <a:rPr lang="en-US" b="1" u="sng" dirty="0">
                <a:hlinkClick r:id="rId2"/>
              </a:rPr>
              <a:t>DAG</a:t>
            </a:r>
            <a:r>
              <a:rPr lang="en-US" dirty="0"/>
              <a:t>) of the entire parent RDDs of RDD.</a:t>
            </a:r>
          </a:p>
          <a:p>
            <a:endParaRPr lang="en-US" dirty="0"/>
          </a:p>
          <a:p>
            <a:r>
              <a:rPr lang="en-US" b="1" u="sng" dirty="0">
                <a:hlinkClick r:id="rId3"/>
              </a:rPr>
              <a:t>Transformations are lazy</a:t>
            </a:r>
            <a:r>
              <a:rPr lang="en-US" dirty="0"/>
              <a:t> in nature i.e., they get execute when we call an action. They are not executed immediately. Two most basic type of transformations is a map(), filter().</a:t>
            </a:r>
            <a:endParaRPr lang="en-IN" dirty="0"/>
          </a:p>
        </p:txBody>
      </p:sp>
    </p:spTree>
    <p:extLst>
      <p:ext uri="{BB962C8B-B14F-4D97-AF65-F5344CB8AC3E}">
        <p14:creationId xmlns:p14="http://schemas.microsoft.com/office/powerpoint/2010/main" val="288241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C7A88-4F24-7A4C-3ACB-7B5D75B6C923}"/>
              </a:ext>
            </a:extLst>
          </p:cNvPr>
          <p:cNvSpPr>
            <a:spLocks noGrp="1"/>
          </p:cNvSpPr>
          <p:nvPr>
            <p:ph type="title"/>
          </p:nvPr>
        </p:nvSpPr>
        <p:spPr>
          <a:xfrm>
            <a:off x="1762991" y="18256"/>
            <a:ext cx="10515600" cy="662782"/>
          </a:xfrm>
        </p:spPr>
        <p:txBody>
          <a:bodyPr>
            <a:normAutofit fontScale="90000"/>
          </a:bodyPr>
          <a:lstStyle/>
          <a:p>
            <a:r>
              <a:rPr lang="en-IN" b="1" dirty="0">
                <a:highlight>
                  <a:srgbClr val="FFFF00"/>
                </a:highlight>
              </a:rPr>
              <a:t>Narrow &amp; Wide Transformations</a:t>
            </a:r>
          </a:p>
        </p:txBody>
      </p:sp>
      <p:sp>
        <p:nvSpPr>
          <p:cNvPr id="3" name="Content Placeholder 2">
            <a:extLst>
              <a:ext uri="{FF2B5EF4-FFF2-40B4-BE49-F238E27FC236}">
                <a16:creationId xmlns:a16="http://schemas.microsoft.com/office/drawing/2014/main" id="{E602C539-6FA2-D1BB-3940-E38899F61E09}"/>
              </a:ext>
            </a:extLst>
          </p:cNvPr>
          <p:cNvSpPr>
            <a:spLocks noGrp="1"/>
          </p:cNvSpPr>
          <p:nvPr>
            <p:ph idx="1"/>
          </p:nvPr>
        </p:nvSpPr>
        <p:spPr>
          <a:xfrm>
            <a:off x="0" y="1358034"/>
            <a:ext cx="5569527" cy="5499965"/>
          </a:xfrm>
        </p:spPr>
        <p:txBody>
          <a:bodyPr>
            <a:normAutofit/>
          </a:bodyPr>
          <a:lstStyle/>
          <a:p>
            <a:pPr marL="0" indent="0">
              <a:buNone/>
            </a:pPr>
            <a:r>
              <a:rPr lang="en-US" b="1" dirty="0">
                <a:hlinkClick r:id="rId2"/>
              </a:rPr>
              <a:t>Narrow transformations</a:t>
            </a:r>
            <a:r>
              <a:rPr lang="en-US" b="1" dirty="0"/>
              <a:t>:</a:t>
            </a:r>
            <a:r>
              <a:rPr lang="en-US" dirty="0"/>
              <a:t> </a:t>
            </a:r>
          </a:p>
          <a:p>
            <a:r>
              <a:rPr lang="en-US" dirty="0"/>
              <a:t>These transformations don't require shuffling data between partitions. All data needed for a new partition resides within a single parent partition. </a:t>
            </a:r>
          </a:p>
          <a:p>
            <a:endParaRPr lang="en-US" dirty="0"/>
          </a:p>
          <a:p>
            <a:pPr marL="0" indent="0">
              <a:buNone/>
            </a:pPr>
            <a:r>
              <a:rPr lang="en-US" b="1" dirty="0">
                <a:hlinkClick r:id="rId3"/>
              </a:rPr>
              <a:t>Wide transformations</a:t>
            </a:r>
            <a:r>
              <a:rPr lang="en-US" b="1" dirty="0"/>
              <a:t>:</a:t>
            </a:r>
            <a:r>
              <a:rPr lang="en-US" dirty="0"/>
              <a:t> </a:t>
            </a:r>
          </a:p>
          <a:p>
            <a:r>
              <a:rPr lang="en-US" dirty="0"/>
              <a:t>These operations require shuffling data across partitions over the network, making them more expensive. </a:t>
            </a:r>
          </a:p>
          <a:p>
            <a:endParaRPr lang="en-US" dirty="0"/>
          </a:p>
          <a:p>
            <a:endParaRPr lang="en-IN" dirty="0"/>
          </a:p>
        </p:txBody>
      </p:sp>
      <p:pic>
        <p:nvPicPr>
          <p:cNvPr id="4" name="Picture 3">
            <a:extLst>
              <a:ext uri="{FF2B5EF4-FFF2-40B4-BE49-F238E27FC236}">
                <a16:creationId xmlns:a16="http://schemas.microsoft.com/office/drawing/2014/main" id="{BD3E79F8-E7F6-A0BF-2F7F-BD91F94B0817}"/>
              </a:ext>
            </a:extLst>
          </p:cNvPr>
          <p:cNvPicPr>
            <a:picLocks noChangeAspect="1"/>
          </p:cNvPicPr>
          <p:nvPr/>
        </p:nvPicPr>
        <p:blipFill>
          <a:blip r:embed="rId4"/>
          <a:stretch>
            <a:fillRect/>
          </a:stretch>
        </p:blipFill>
        <p:spPr>
          <a:xfrm>
            <a:off x="5960918" y="1358034"/>
            <a:ext cx="6231082" cy="2492032"/>
          </a:xfrm>
          <a:prstGeom prst="rect">
            <a:avLst/>
          </a:prstGeom>
        </p:spPr>
      </p:pic>
      <p:pic>
        <p:nvPicPr>
          <p:cNvPr id="6" name="Picture 5">
            <a:extLst>
              <a:ext uri="{FF2B5EF4-FFF2-40B4-BE49-F238E27FC236}">
                <a16:creationId xmlns:a16="http://schemas.microsoft.com/office/drawing/2014/main" id="{0C1DA6D6-2A89-6383-C5E8-439271199027}"/>
              </a:ext>
            </a:extLst>
          </p:cNvPr>
          <p:cNvPicPr>
            <a:picLocks noChangeAspect="1"/>
          </p:cNvPicPr>
          <p:nvPr/>
        </p:nvPicPr>
        <p:blipFill>
          <a:blip r:embed="rId5"/>
          <a:stretch>
            <a:fillRect/>
          </a:stretch>
        </p:blipFill>
        <p:spPr>
          <a:xfrm>
            <a:off x="5960918" y="4347713"/>
            <a:ext cx="6231082" cy="2492031"/>
          </a:xfrm>
          <a:prstGeom prst="rect">
            <a:avLst/>
          </a:prstGeom>
        </p:spPr>
      </p:pic>
    </p:spTree>
    <p:extLst>
      <p:ext uri="{BB962C8B-B14F-4D97-AF65-F5344CB8AC3E}">
        <p14:creationId xmlns:p14="http://schemas.microsoft.com/office/powerpoint/2010/main" val="911288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B6EDCB-7636-C6B1-A3A7-C81FB7C1BF6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07438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1E89C3-7BA3-3780-664B-61D266A2AA25}"/>
              </a:ext>
            </a:extLst>
          </p:cNvPr>
          <p:cNvPicPr>
            <a:picLocks noChangeAspect="1"/>
          </p:cNvPicPr>
          <p:nvPr/>
        </p:nvPicPr>
        <p:blipFill>
          <a:blip r:embed="rId2"/>
          <a:stretch>
            <a:fillRect/>
          </a:stretch>
        </p:blipFill>
        <p:spPr>
          <a:xfrm>
            <a:off x="-72735" y="-1"/>
            <a:ext cx="12469090" cy="7055427"/>
          </a:xfrm>
          <a:prstGeom prst="rect">
            <a:avLst/>
          </a:prstGeom>
        </p:spPr>
      </p:pic>
    </p:spTree>
    <p:extLst>
      <p:ext uri="{BB962C8B-B14F-4D97-AF65-F5344CB8AC3E}">
        <p14:creationId xmlns:p14="http://schemas.microsoft.com/office/powerpoint/2010/main" val="4122088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A1F6-6441-8C0B-5F2C-54C4E4C05BB4}"/>
              </a:ext>
            </a:extLst>
          </p:cNvPr>
          <p:cNvSpPr>
            <a:spLocks noGrp="1"/>
          </p:cNvSpPr>
          <p:nvPr>
            <p:ph type="title"/>
          </p:nvPr>
        </p:nvSpPr>
        <p:spPr/>
        <p:txBody>
          <a:bodyPr/>
          <a:lstStyle/>
          <a:p>
            <a:r>
              <a:rPr lang="en-IN" dirty="0"/>
              <a:t>Narrow</a:t>
            </a:r>
          </a:p>
        </p:txBody>
      </p:sp>
      <p:sp>
        <p:nvSpPr>
          <p:cNvPr id="3" name="Content Placeholder 2">
            <a:extLst>
              <a:ext uri="{FF2B5EF4-FFF2-40B4-BE49-F238E27FC236}">
                <a16:creationId xmlns:a16="http://schemas.microsoft.com/office/drawing/2014/main" id="{0F6F1BF5-BEC7-9905-A4AE-2CE952DC5954}"/>
              </a:ext>
            </a:extLst>
          </p:cNvPr>
          <p:cNvSpPr>
            <a:spLocks noGrp="1"/>
          </p:cNvSpPr>
          <p:nvPr>
            <p:ph idx="1"/>
          </p:nvPr>
        </p:nvSpPr>
        <p:spPr/>
        <p:txBody>
          <a:bodyPr>
            <a:normAutofit lnSpcReduction="10000"/>
          </a:bodyPr>
          <a:lstStyle/>
          <a:p>
            <a:pPr marL="0" indent="0">
              <a:buNone/>
            </a:pPr>
            <a:r>
              <a:rPr lang="en-IN" b="1" dirty="0"/>
              <a:t>map() : </a:t>
            </a:r>
            <a:r>
              <a:rPr lang="en-US" dirty="0"/>
              <a:t>The map() function applies a given function to each element in an RDD or </a:t>
            </a:r>
            <a:r>
              <a:rPr lang="en-US" dirty="0" err="1"/>
              <a:t>DataFrame</a:t>
            </a:r>
            <a:r>
              <a:rPr lang="en-US" dirty="0"/>
              <a:t>, without requiring any data exchange between partitions.</a:t>
            </a:r>
          </a:p>
          <a:p>
            <a:pPr marL="0" indent="0">
              <a:buNone/>
            </a:pPr>
            <a:endParaRPr lang="en-US" b="1" dirty="0"/>
          </a:p>
          <a:p>
            <a:pPr marL="0" indent="0">
              <a:buNone/>
            </a:pPr>
            <a:r>
              <a:rPr lang="en-IN" b="1" dirty="0"/>
              <a:t>filter() : </a:t>
            </a:r>
            <a:r>
              <a:rPr lang="en-US" dirty="0"/>
              <a:t>The filter() transformation retains elements that satisfy a certain condition, processing each partition individually.</a:t>
            </a:r>
          </a:p>
          <a:p>
            <a:pPr marL="0" indent="0">
              <a:buNone/>
            </a:pPr>
            <a:endParaRPr lang="en-US" b="1" dirty="0"/>
          </a:p>
          <a:p>
            <a:pPr marL="0" indent="0">
              <a:buNone/>
            </a:pPr>
            <a:r>
              <a:rPr lang="en-IN" b="1" dirty="0" err="1"/>
              <a:t>flatMap</a:t>
            </a:r>
            <a:r>
              <a:rPr lang="en-IN" b="1" dirty="0"/>
              <a:t>(): </a:t>
            </a:r>
            <a:r>
              <a:rPr lang="en-US" dirty="0"/>
              <a:t>Similar to map(), but </a:t>
            </a:r>
            <a:r>
              <a:rPr lang="en-US" dirty="0" err="1"/>
              <a:t>flatMap</a:t>
            </a:r>
            <a:r>
              <a:rPr lang="en-US" dirty="0"/>
              <a:t>() allows each input element to produce zero, one, or multiple output elements, still operating within each partition independently.</a:t>
            </a:r>
            <a:endParaRPr lang="en-IN" b="1" dirty="0"/>
          </a:p>
          <a:p>
            <a:pPr marL="0" indent="0">
              <a:buNone/>
            </a:pPr>
            <a:endParaRPr lang="en-IN" b="1" dirty="0"/>
          </a:p>
          <a:p>
            <a:pPr marL="0" indent="0">
              <a:buNone/>
            </a:pPr>
            <a:endParaRPr lang="en-IN" b="1" dirty="0"/>
          </a:p>
          <a:p>
            <a:endParaRPr lang="en-IN" dirty="0"/>
          </a:p>
        </p:txBody>
      </p:sp>
    </p:spTree>
    <p:extLst>
      <p:ext uri="{BB962C8B-B14F-4D97-AF65-F5344CB8AC3E}">
        <p14:creationId xmlns:p14="http://schemas.microsoft.com/office/powerpoint/2010/main" val="3476370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B88FD-E6E1-7A30-1EE0-2C9874B5A7F5}"/>
              </a:ext>
            </a:extLst>
          </p:cNvPr>
          <p:cNvSpPr>
            <a:spLocks noGrp="1"/>
          </p:cNvSpPr>
          <p:nvPr>
            <p:ph type="title"/>
          </p:nvPr>
        </p:nvSpPr>
        <p:spPr>
          <a:xfrm>
            <a:off x="2220686" y="18256"/>
            <a:ext cx="10515600" cy="656658"/>
          </a:xfrm>
        </p:spPr>
        <p:txBody>
          <a:bodyPr>
            <a:normAutofit fontScale="90000"/>
          </a:bodyPr>
          <a:lstStyle/>
          <a:p>
            <a:r>
              <a:rPr lang="en-IN" b="1" dirty="0"/>
              <a:t>Wide Transformations</a:t>
            </a:r>
          </a:p>
        </p:txBody>
      </p:sp>
      <p:graphicFrame>
        <p:nvGraphicFramePr>
          <p:cNvPr id="4" name="Content Placeholder 3">
            <a:extLst>
              <a:ext uri="{FF2B5EF4-FFF2-40B4-BE49-F238E27FC236}">
                <a16:creationId xmlns:a16="http://schemas.microsoft.com/office/drawing/2014/main" id="{50400D58-30D7-218B-D78F-DA36D88CBB38}"/>
              </a:ext>
            </a:extLst>
          </p:cNvPr>
          <p:cNvGraphicFramePr>
            <a:graphicFrameLocks noGrp="1"/>
          </p:cNvGraphicFramePr>
          <p:nvPr>
            <p:ph idx="1"/>
            <p:extLst>
              <p:ext uri="{D42A27DB-BD31-4B8C-83A1-F6EECF244321}">
                <p14:modId xmlns:p14="http://schemas.microsoft.com/office/powerpoint/2010/main" val="3898314155"/>
              </p:ext>
            </p:extLst>
          </p:nvPr>
        </p:nvGraphicFramePr>
        <p:xfrm>
          <a:off x="76200" y="1034142"/>
          <a:ext cx="12202887" cy="5805602"/>
        </p:xfrm>
        <a:graphic>
          <a:graphicData uri="http://schemas.openxmlformats.org/drawingml/2006/table">
            <a:tbl>
              <a:tblPr/>
              <a:tblGrid>
                <a:gridCol w="4067629">
                  <a:extLst>
                    <a:ext uri="{9D8B030D-6E8A-4147-A177-3AD203B41FA5}">
                      <a16:colId xmlns:a16="http://schemas.microsoft.com/office/drawing/2014/main" val="2807953209"/>
                    </a:ext>
                  </a:extLst>
                </a:gridCol>
                <a:gridCol w="4067629">
                  <a:extLst>
                    <a:ext uri="{9D8B030D-6E8A-4147-A177-3AD203B41FA5}">
                      <a16:colId xmlns:a16="http://schemas.microsoft.com/office/drawing/2014/main" val="668409043"/>
                    </a:ext>
                  </a:extLst>
                </a:gridCol>
                <a:gridCol w="4067629">
                  <a:extLst>
                    <a:ext uri="{9D8B030D-6E8A-4147-A177-3AD203B41FA5}">
                      <a16:colId xmlns:a16="http://schemas.microsoft.com/office/drawing/2014/main" val="3296301082"/>
                    </a:ext>
                  </a:extLst>
                </a:gridCol>
              </a:tblGrid>
              <a:tr h="252418">
                <a:tc>
                  <a:txBody>
                    <a:bodyPr/>
                    <a:lstStyle/>
                    <a:p>
                      <a:pPr>
                        <a:buNone/>
                      </a:pPr>
                      <a:r>
                        <a:rPr lang="en-IN" sz="900"/>
                        <a:t>Transformation</a:t>
                      </a:r>
                    </a:p>
                  </a:txBody>
                  <a:tcPr marL="47297" marR="47297" marT="23649" marB="23649" anchor="ctr">
                    <a:lnL>
                      <a:noFill/>
                    </a:lnL>
                    <a:lnR>
                      <a:noFill/>
                    </a:lnR>
                    <a:lnT>
                      <a:noFill/>
                    </a:lnT>
                    <a:lnB>
                      <a:noFill/>
                    </a:lnB>
                    <a:noFill/>
                  </a:tcPr>
                </a:tc>
                <a:tc>
                  <a:txBody>
                    <a:bodyPr/>
                    <a:lstStyle/>
                    <a:p>
                      <a:pPr>
                        <a:buNone/>
                      </a:pPr>
                      <a:r>
                        <a:rPr lang="en-IN" sz="900"/>
                        <a:t>Description</a:t>
                      </a:r>
                    </a:p>
                  </a:txBody>
                  <a:tcPr marL="47297" marR="47297" marT="23649" marB="23649" anchor="ctr">
                    <a:lnL>
                      <a:noFill/>
                    </a:lnL>
                    <a:lnR>
                      <a:noFill/>
                    </a:lnR>
                    <a:lnT>
                      <a:noFill/>
                    </a:lnT>
                    <a:lnB>
                      <a:noFill/>
                    </a:lnB>
                    <a:noFill/>
                  </a:tcPr>
                </a:tc>
                <a:tc>
                  <a:txBody>
                    <a:bodyPr/>
                    <a:lstStyle/>
                    <a:p>
                      <a:pPr>
                        <a:buNone/>
                      </a:pPr>
                      <a:r>
                        <a:rPr lang="en-IN" sz="900"/>
                        <a:t>Example</a:t>
                      </a:r>
                    </a:p>
                  </a:txBody>
                  <a:tcPr marL="47297" marR="47297" marT="23649" marB="23649" anchor="ctr">
                    <a:lnL>
                      <a:noFill/>
                    </a:lnL>
                    <a:lnR>
                      <a:noFill/>
                    </a:lnR>
                    <a:lnT>
                      <a:noFill/>
                    </a:lnT>
                    <a:lnB>
                      <a:noFill/>
                    </a:lnB>
                    <a:noFill/>
                  </a:tcPr>
                </a:tc>
                <a:extLst>
                  <a:ext uri="{0D108BD9-81ED-4DB2-BD59-A6C34878D82A}">
                    <a16:rowId xmlns:a16="http://schemas.microsoft.com/office/drawing/2014/main" val="1248904406"/>
                  </a:ext>
                </a:extLst>
              </a:tr>
              <a:tr h="441730">
                <a:tc>
                  <a:txBody>
                    <a:bodyPr/>
                    <a:lstStyle/>
                    <a:p>
                      <a:pPr>
                        <a:buNone/>
                      </a:pPr>
                      <a:r>
                        <a:rPr lang="en-IN" sz="900" b="1"/>
                        <a:t>groupByKey()</a:t>
                      </a:r>
                      <a:endParaRPr lang="en-IN" sz="900"/>
                    </a:p>
                  </a:txBody>
                  <a:tcPr marL="47297" marR="47297" marT="23649" marB="23649" anchor="ctr">
                    <a:lnL>
                      <a:noFill/>
                    </a:lnL>
                    <a:lnR>
                      <a:noFill/>
                    </a:lnR>
                    <a:lnT>
                      <a:noFill/>
                    </a:lnT>
                    <a:lnB>
                      <a:noFill/>
                    </a:lnB>
                    <a:noFill/>
                  </a:tcPr>
                </a:tc>
                <a:tc>
                  <a:txBody>
                    <a:bodyPr/>
                    <a:lstStyle/>
                    <a:p>
                      <a:pPr>
                        <a:buNone/>
                      </a:pPr>
                      <a:r>
                        <a:rPr lang="en-US" sz="900"/>
                        <a:t>Groups values with the same key across partitions (causes shuffle).</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rdd.groupByKey()</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386977415"/>
                  </a:ext>
                </a:extLst>
              </a:tr>
              <a:tr h="631044">
                <a:tc>
                  <a:txBody>
                    <a:bodyPr/>
                    <a:lstStyle/>
                    <a:p>
                      <a:pPr>
                        <a:buNone/>
                      </a:pPr>
                      <a:r>
                        <a:rPr lang="en-IN" sz="900" b="1"/>
                        <a:t>reduceByKey()</a:t>
                      </a:r>
                      <a:endParaRPr lang="en-IN" sz="900"/>
                    </a:p>
                  </a:txBody>
                  <a:tcPr marL="47297" marR="47297" marT="23649" marB="23649" anchor="ctr">
                    <a:lnL>
                      <a:noFill/>
                    </a:lnL>
                    <a:lnR>
                      <a:noFill/>
                    </a:lnR>
                    <a:lnT>
                      <a:noFill/>
                    </a:lnT>
                    <a:lnB>
                      <a:noFill/>
                    </a:lnB>
                    <a:noFill/>
                  </a:tcPr>
                </a:tc>
                <a:tc>
                  <a:txBody>
                    <a:bodyPr/>
                    <a:lstStyle/>
                    <a:p>
                      <a:pPr>
                        <a:buNone/>
                      </a:pPr>
                      <a:r>
                        <a:rPr lang="en-US" sz="900"/>
                        <a:t>Combines values with the same key using a reduce function. More efficient than </a:t>
                      </a:r>
                      <a:r>
                        <a:rPr lang="en-US" sz="900">
                          <a:latin typeface="Courier New" panose="02070309020205020404" pitchFamily="49" charset="0"/>
                        </a:rPr>
                        <a:t>groupByKey()</a:t>
                      </a:r>
                      <a:r>
                        <a:rPr lang="en-US" sz="900"/>
                        <a:t>.</a:t>
                      </a:r>
                    </a:p>
                  </a:txBody>
                  <a:tcPr marL="47297" marR="47297" marT="23649" marB="23649" anchor="ctr">
                    <a:lnL>
                      <a:noFill/>
                    </a:lnL>
                    <a:lnR>
                      <a:noFill/>
                    </a:lnR>
                    <a:lnT>
                      <a:noFill/>
                    </a:lnT>
                    <a:lnB>
                      <a:noFill/>
                    </a:lnB>
                    <a:noFill/>
                  </a:tcPr>
                </a:tc>
                <a:tc>
                  <a:txBody>
                    <a:bodyPr/>
                    <a:lstStyle/>
                    <a:p>
                      <a:pPr>
                        <a:buNone/>
                      </a:pPr>
                      <a:r>
                        <a:rPr lang="es-ES" sz="900">
                          <a:latin typeface="Courier New" panose="02070309020205020404" pitchFamily="49" charset="0"/>
                        </a:rPr>
                        <a:t>rdd.reduceByKey(lambda x, y: x + y)</a:t>
                      </a:r>
                      <a:endParaRPr lang="es-ES" sz="900"/>
                    </a:p>
                  </a:txBody>
                  <a:tcPr marL="47297" marR="47297" marT="23649" marB="23649" anchor="ctr">
                    <a:lnL>
                      <a:noFill/>
                    </a:lnL>
                    <a:lnR>
                      <a:noFill/>
                    </a:lnR>
                    <a:lnT>
                      <a:noFill/>
                    </a:lnT>
                    <a:lnB>
                      <a:noFill/>
                    </a:lnB>
                    <a:noFill/>
                  </a:tcPr>
                </a:tc>
                <a:extLst>
                  <a:ext uri="{0D108BD9-81ED-4DB2-BD59-A6C34878D82A}">
                    <a16:rowId xmlns:a16="http://schemas.microsoft.com/office/drawing/2014/main" val="1523585526"/>
                  </a:ext>
                </a:extLst>
              </a:tr>
              <a:tr h="820357">
                <a:tc>
                  <a:txBody>
                    <a:bodyPr/>
                    <a:lstStyle/>
                    <a:p>
                      <a:pPr>
                        <a:buNone/>
                      </a:pPr>
                      <a:r>
                        <a:rPr lang="en-IN" sz="900" b="1"/>
                        <a:t>aggregateByKey()</a:t>
                      </a:r>
                      <a:endParaRPr lang="en-IN" sz="900"/>
                    </a:p>
                  </a:txBody>
                  <a:tcPr marL="47297" marR="47297" marT="23649" marB="23649" anchor="ctr">
                    <a:lnL>
                      <a:noFill/>
                    </a:lnL>
                    <a:lnR>
                      <a:noFill/>
                    </a:lnR>
                    <a:lnT>
                      <a:noFill/>
                    </a:lnT>
                    <a:lnB>
                      <a:noFill/>
                    </a:lnB>
                    <a:noFill/>
                  </a:tcPr>
                </a:tc>
                <a:tc>
                  <a:txBody>
                    <a:bodyPr/>
                    <a:lstStyle/>
                    <a:p>
                      <a:pPr>
                        <a:buNone/>
                      </a:pPr>
                      <a:r>
                        <a:rPr lang="en-US" sz="900"/>
                        <a:t>Aggregates values for each key using separate functions for combining within and across partitions.</a:t>
                      </a:r>
                    </a:p>
                  </a:txBody>
                  <a:tcPr marL="47297" marR="47297" marT="23649" marB="23649" anchor="ctr">
                    <a:lnL>
                      <a:noFill/>
                    </a:lnL>
                    <a:lnR>
                      <a:noFill/>
                    </a:lnR>
                    <a:lnT>
                      <a:noFill/>
                    </a:lnT>
                    <a:lnB>
                      <a:noFill/>
                    </a:lnB>
                    <a:noFill/>
                  </a:tcPr>
                </a:tc>
                <a:tc>
                  <a:txBody>
                    <a:bodyPr/>
                    <a:lstStyle/>
                    <a:p>
                      <a:pPr>
                        <a:buNone/>
                      </a:pPr>
                      <a:r>
                        <a:rPr lang="es-ES" sz="900">
                          <a:latin typeface="Courier New" panose="02070309020205020404" pitchFamily="49" charset="0"/>
                        </a:rPr>
                        <a:t>rdd.aggregateByKey(0, lambda x, y: x + y, lambda x, y: x + y)</a:t>
                      </a:r>
                      <a:endParaRPr lang="es-ES" sz="900"/>
                    </a:p>
                  </a:txBody>
                  <a:tcPr marL="47297" marR="47297" marT="23649" marB="23649" anchor="ctr">
                    <a:lnL>
                      <a:noFill/>
                    </a:lnL>
                    <a:lnR>
                      <a:noFill/>
                    </a:lnR>
                    <a:lnT>
                      <a:noFill/>
                    </a:lnT>
                    <a:lnB>
                      <a:noFill/>
                    </a:lnB>
                    <a:noFill/>
                  </a:tcPr>
                </a:tc>
                <a:extLst>
                  <a:ext uri="{0D108BD9-81ED-4DB2-BD59-A6C34878D82A}">
                    <a16:rowId xmlns:a16="http://schemas.microsoft.com/office/drawing/2014/main" val="1362762330"/>
                  </a:ext>
                </a:extLst>
              </a:tr>
              <a:tr h="441730">
                <a:tc>
                  <a:txBody>
                    <a:bodyPr/>
                    <a:lstStyle/>
                    <a:p>
                      <a:pPr>
                        <a:buNone/>
                      </a:pPr>
                      <a:r>
                        <a:rPr lang="en-IN" sz="900" b="1"/>
                        <a:t>join()</a:t>
                      </a:r>
                      <a:endParaRPr lang="en-IN" sz="900"/>
                    </a:p>
                  </a:txBody>
                  <a:tcPr marL="47297" marR="47297" marT="23649" marB="23649" anchor="ctr">
                    <a:lnL>
                      <a:noFill/>
                    </a:lnL>
                    <a:lnR>
                      <a:noFill/>
                    </a:lnR>
                    <a:lnT>
                      <a:noFill/>
                    </a:lnT>
                    <a:lnB>
                      <a:noFill/>
                    </a:lnB>
                    <a:noFill/>
                  </a:tcPr>
                </a:tc>
                <a:tc>
                  <a:txBody>
                    <a:bodyPr/>
                    <a:lstStyle/>
                    <a:p>
                      <a:pPr>
                        <a:buNone/>
                      </a:pPr>
                      <a:r>
                        <a:rPr lang="en-US" sz="900"/>
                        <a:t>Joins two RDDs by key; requires shuffling of data.</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rdd1.join(rdd2)</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1854307731"/>
                  </a:ext>
                </a:extLst>
              </a:tr>
              <a:tr h="441730">
                <a:tc>
                  <a:txBody>
                    <a:bodyPr/>
                    <a:lstStyle/>
                    <a:p>
                      <a:pPr>
                        <a:buNone/>
                      </a:pPr>
                      <a:r>
                        <a:rPr lang="en-IN" sz="900" b="1"/>
                        <a:t>leftOuterJoin(), rightOuterJoin(), fullOuterJoin()</a:t>
                      </a:r>
                      <a:endParaRPr lang="en-IN" sz="900"/>
                    </a:p>
                  </a:txBody>
                  <a:tcPr marL="47297" marR="47297" marT="23649" marB="23649" anchor="ctr">
                    <a:lnL>
                      <a:noFill/>
                    </a:lnL>
                    <a:lnR>
                      <a:noFill/>
                    </a:lnR>
                    <a:lnT>
                      <a:noFill/>
                    </a:lnT>
                    <a:lnB>
                      <a:noFill/>
                    </a:lnB>
                    <a:noFill/>
                  </a:tcPr>
                </a:tc>
                <a:tc>
                  <a:txBody>
                    <a:bodyPr/>
                    <a:lstStyle/>
                    <a:p>
                      <a:pPr>
                        <a:buNone/>
                      </a:pPr>
                      <a:r>
                        <a:rPr lang="en-US" sz="900"/>
                        <a:t>Outer joins that also cause data shuffling.</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rdd1.leftOuterJoin(rdd2)</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1071057442"/>
                  </a:ext>
                </a:extLst>
              </a:tr>
              <a:tr h="441730">
                <a:tc>
                  <a:txBody>
                    <a:bodyPr/>
                    <a:lstStyle/>
                    <a:p>
                      <a:pPr>
                        <a:buNone/>
                      </a:pPr>
                      <a:r>
                        <a:rPr lang="en-IN" sz="900" b="1"/>
                        <a:t>cogroup()</a:t>
                      </a:r>
                      <a:endParaRPr lang="en-IN" sz="900"/>
                    </a:p>
                  </a:txBody>
                  <a:tcPr marL="47297" marR="47297" marT="23649" marB="23649" anchor="ctr">
                    <a:lnL>
                      <a:noFill/>
                    </a:lnL>
                    <a:lnR>
                      <a:noFill/>
                    </a:lnR>
                    <a:lnT>
                      <a:noFill/>
                    </a:lnT>
                    <a:lnB>
                      <a:noFill/>
                    </a:lnB>
                    <a:noFill/>
                  </a:tcPr>
                </a:tc>
                <a:tc>
                  <a:txBody>
                    <a:bodyPr/>
                    <a:lstStyle/>
                    <a:p>
                      <a:pPr>
                        <a:buNone/>
                      </a:pPr>
                      <a:r>
                        <a:rPr lang="en-US" sz="900"/>
                        <a:t>Groups data from multiple RDDs sharing the same key.</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rdd1.cogroup(rdd2)</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1360677101"/>
                  </a:ext>
                </a:extLst>
              </a:tr>
              <a:tr h="631044">
                <a:tc>
                  <a:txBody>
                    <a:bodyPr/>
                    <a:lstStyle/>
                    <a:p>
                      <a:pPr>
                        <a:buNone/>
                      </a:pPr>
                      <a:r>
                        <a:rPr lang="en-IN" sz="900" b="1"/>
                        <a:t>distinct()</a:t>
                      </a:r>
                      <a:endParaRPr lang="en-IN" sz="900"/>
                    </a:p>
                  </a:txBody>
                  <a:tcPr marL="47297" marR="47297" marT="23649" marB="23649" anchor="ctr">
                    <a:lnL>
                      <a:noFill/>
                    </a:lnL>
                    <a:lnR>
                      <a:noFill/>
                    </a:lnR>
                    <a:lnT>
                      <a:noFill/>
                    </a:lnT>
                    <a:lnB>
                      <a:noFill/>
                    </a:lnB>
                    <a:noFill/>
                  </a:tcPr>
                </a:tc>
                <a:tc>
                  <a:txBody>
                    <a:bodyPr/>
                    <a:lstStyle/>
                    <a:p>
                      <a:pPr>
                        <a:buNone/>
                      </a:pPr>
                      <a:r>
                        <a:rPr lang="en-US" sz="900"/>
                        <a:t>Removes duplicate records — requires a shuffle to group identical records.</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rdd.distinct()</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807713560"/>
                  </a:ext>
                </a:extLst>
              </a:tr>
              <a:tr h="820357">
                <a:tc>
                  <a:txBody>
                    <a:bodyPr/>
                    <a:lstStyle/>
                    <a:p>
                      <a:pPr>
                        <a:buNone/>
                      </a:pPr>
                      <a:r>
                        <a:rPr lang="en-IN" sz="900" b="1"/>
                        <a:t>repartition()</a:t>
                      </a:r>
                      <a:endParaRPr lang="en-IN" sz="900"/>
                    </a:p>
                  </a:txBody>
                  <a:tcPr marL="47297" marR="47297" marT="23649" marB="23649" anchor="ctr">
                    <a:lnL>
                      <a:noFill/>
                    </a:lnL>
                    <a:lnR>
                      <a:noFill/>
                    </a:lnR>
                    <a:lnT>
                      <a:noFill/>
                    </a:lnT>
                    <a:lnB>
                      <a:noFill/>
                    </a:lnB>
                    <a:noFill/>
                  </a:tcPr>
                </a:tc>
                <a:tc>
                  <a:txBody>
                    <a:bodyPr/>
                    <a:lstStyle/>
                    <a:p>
                      <a:pPr>
                        <a:buNone/>
                      </a:pPr>
                      <a:r>
                        <a:rPr lang="en-US" sz="900"/>
                        <a:t>Rebalances the number of partitions by randomly redistributing data (always shuffles).</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rdd.repartition(4)</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4208285649"/>
                  </a:ext>
                </a:extLst>
              </a:tr>
              <a:tr h="252418">
                <a:tc>
                  <a:txBody>
                    <a:bodyPr/>
                    <a:lstStyle/>
                    <a:p>
                      <a:pPr>
                        <a:buNone/>
                      </a:pPr>
                      <a:r>
                        <a:rPr lang="en-IN" sz="900" b="1"/>
                        <a:t>sortByKey()</a:t>
                      </a:r>
                      <a:endParaRPr lang="en-IN" sz="900"/>
                    </a:p>
                  </a:txBody>
                  <a:tcPr marL="47297" marR="47297" marT="23649" marB="23649" anchor="ctr">
                    <a:lnL>
                      <a:noFill/>
                    </a:lnL>
                    <a:lnR>
                      <a:noFill/>
                    </a:lnR>
                    <a:lnT>
                      <a:noFill/>
                    </a:lnT>
                    <a:lnB>
                      <a:noFill/>
                    </a:lnB>
                    <a:noFill/>
                  </a:tcPr>
                </a:tc>
                <a:tc>
                  <a:txBody>
                    <a:bodyPr/>
                    <a:lstStyle/>
                    <a:p>
                      <a:pPr>
                        <a:buNone/>
                      </a:pPr>
                      <a:r>
                        <a:rPr lang="en-US" sz="900"/>
                        <a:t>Sorts RDD by key across partitions.</a:t>
                      </a:r>
                    </a:p>
                  </a:txBody>
                  <a:tcPr marL="47297" marR="47297" marT="23649" marB="23649" anchor="ctr">
                    <a:lnL>
                      <a:noFill/>
                    </a:lnL>
                    <a:lnR>
                      <a:noFill/>
                    </a:lnR>
                    <a:lnT>
                      <a:noFill/>
                    </a:lnT>
                    <a:lnB>
                      <a:noFill/>
                    </a:lnB>
                    <a:noFill/>
                  </a:tcPr>
                </a:tc>
                <a:tc>
                  <a:txBody>
                    <a:bodyPr/>
                    <a:lstStyle/>
                    <a:p>
                      <a:pPr>
                        <a:buNone/>
                      </a:pPr>
                      <a:r>
                        <a:rPr lang="en-IN" sz="900">
                          <a:latin typeface="Courier New" panose="02070309020205020404" pitchFamily="49" charset="0"/>
                        </a:rPr>
                        <a:t>rdd.sortByKey()</a:t>
                      </a:r>
                      <a:endParaRPr lang="en-IN" sz="900"/>
                    </a:p>
                  </a:txBody>
                  <a:tcPr marL="47297" marR="47297" marT="23649" marB="23649" anchor="ctr">
                    <a:lnL>
                      <a:noFill/>
                    </a:lnL>
                    <a:lnR>
                      <a:noFill/>
                    </a:lnR>
                    <a:lnT>
                      <a:noFill/>
                    </a:lnT>
                    <a:lnB>
                      <a:noFill/>
                    </a:lnB>
                    <a:noFill/>
                  </a:tcPr>
                </a:tc>
                <a:extLst>
                  <a:ext uri="{0D108BD9-81ED-4DB2-BD59-A6C34878D82A}">
                    <a16:rowId xmlns:a16="http://schemas.microsoft.com/office/drawing/2014/main" val="2542494667"/>
                  </a:ext>
                </a:extLst>
              </a:tr>
              <a:tr h="631044">
                <a:tc>
                  <a:txBody>
                    <a:bodyPr/>
                    <a:lstStyle/>
                    <a:p>
                      <a:pPr>
                        <a:buNone/>
                      </a:pPr>
                      <a:r>
                        <a:rPr lang="en-IN" sz="900" b="1"/>
                        <a:t>combineByKey()</a:t>
                      </a:r>
                      <a:endParaRPr lang="en-IN" sz="900"/>
                    </a:p>
                  </a:txBody>
                  <a:tcPr marL="47297" marR="47297" marT="23649" marB="23649" anchor="ctr">
                    <a:lnL>
                      <a:noFill/>
                    </a:lnL>
                    <a:lnR>
                      <a:noFill/>
                    </a:lnR>
                    <a:lnT>
                      <a:noFill/>
                    </a:lnT>
                    <a:lnB>
                      <a:noFill/>
                    </a:lnB>
                    <a:noFill/>
                  </a:tcPr>
                </a:tc>
                <a:tc>
                  <a:txBody>
                    <a:bodyPr/>
                    <a:lstStyle/>
                    <a:p>
                      <a:pPr>
                        <a:buNone/>
                      </a:pPr>
                      <a:r>
                        <a:rPr lang="en-US" sz="900"/>
                        <a:t>Generalized version of reduceByKey allowing different input/output types.</a:t>
                      </a:r>
                    </a:p>
                  </a:txBody>
                  <a:tcPr marL="47297" marR="47297" marT="23649" marB="23649" anchor="ctr">
                    <a:lnL>
                      <a:noFill/>
                    </a:lnL>
                    <a:lnR>
                      <a:noFill/>
                    </a:lnR>
                    <a:lnT>
                      <a:noFill/>
                    </a:lnT>
                    <a:lnB>
                      <a:noFill/>
                    </a:lnB>
                    <a:noFill/>
                  </a:tcPr>
                </a:tc>
                <a:tc>
                  <a:txBody>
                    <a:bodyPr/>
                    <a:lstStyle/>
                    <a:p>
                      <a:pPr>
                        <a:buNone/>
                      </a:pPr>
                      <a:r>
                        <a:rPr lang="en-IN" sz="900" dirty="0" err="1">
                          <a:latin typeface="Courier New" panose="02070309020205020404" pitchFamily="49" charset="0"/>
                        </a:rPr>
                        <a:t>rdd.combineByKey</a:t>
                      </a:r>
                      <a:r>
                        <a:rPr lang="en-IN" sz="900" dirty="0">
                          <a:latin typeface="Courier New" panose="02070309020205020404" pitchFamily="49" charset="0"/>
                        </a:rPr>
                        <a:t>(...)</a:t>
                      </a:r>
                      <a:endParaRPr lang="en-IN" sz="900" dirty="0"/>
                    </a:p>
                  </a:txBody>
                  <a:tcPr marL="47297" marR="47297" marT="23649" marB="23649" anchor="ctr">
                    <a:lnL>
                      <a:noFill/>
                    </a:lnL>
                    <a:lnR>
                      <a:noFill/>
                    </a:lnR>
                    <a:lnT>
                      <a:noFill/>
                    </a:lnT>
                    <a:lnB>
                      <a:noFill/>
                    </a:lnB>
                    <a:noFill/>
                  </a:tcPr>
                </a:tc>
                <a:extLst>
                  <a:ext uri="{0D108BD9-81ED-4DB2-BD59-A6C34878D82A}">
                    <a16:rowId xmlns:a16="http://schemas.microsoft.com/office/drawing/2014/main" val="2533240646"/>
                  </a:ext>
                </a:extLst>
              </a:tr>
            </a:tbl>
          </a:graphicData>
        </a:graphic>
      </p:graphicFrame>
    </p:spTree>
    <p:extLst>
      <p:ext uri="{BB962C8B-B14F-4D97-AF65-F5344CB8AC3E}">
        <p14:creationId xmlns:p14="http://schemas.microsoft.com/office/powerpoint/2010/main" val="499662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AFAD8-D1C5-ECD3-80A8-47802FA7D7CB}"/>
              </a:ext>
            </a:extLst>
          </p:cNvPr>
          <p:cNvSpPr>
            <a:spLocks noGrp="1"/>
          </p:cNvSpPr>
          <p:nvPr>
            <p:ph type="title"/>
          </p:nvPr>
        </p:nvSpPr>
        <p:spPr/>
        <p:txBody>
          <a:bodyPr/>
          <a:lstStyle/>
          <a:p>
            <a:r>
              <a:rPr lang="en-IN" dirty="0"/>
              <a:t>🧮 </a:t>
            </a:r>
            <a:r>
              <a:rPr lang="en-IN" b="1" dirty="0"/>
              <a:t>Common Actions</a:t>
            </a:r>
            <a:endParaRPr lang="en-IN" dirty="0"/>
          </a:p>
        </p:txBody>
      </p:sp>
      <p:graphicFrame>
        <p:nvGraphicFramePr>
          <p:cNvPr id="4" name="Content Placeholder 3">
            <a:extLst>
              <a:ext uri="{FF2B5EF4-FFF2-40B4-BE49-F238E27FC236}">
                <a16:creationId xmlns:a16="http://schemas.microsoft.com/office/drawing/2014/main" id="{80C046A7-F2E6-20E9-C19B-5CE1E7756592}"/>
              </a:ext>
            </a:extLst>
          </p:cNvPr>
          <p:cNvGraphicFramePr>
            <a:graphicFrameLocks noGrp="1"/>
          </p:cNvGraphicFramePr>
          <p:nvPr>
            <p:ph idx="1"/>
          </p:nvPr>
        </p:nvGraphicFramePr>
        <p:xfrm>
          <a:off x="838200" y="2446814"/>
          <a:ext cx="10515600" cy="3108960"/>
        </p:xfrm>
        <a:graphic>
          <a:graphicData uri="http://schemas.openxmlformats.org/drawingml/2006/table">
            <a:tbl>
              <a:tblPr/>
              <a:tblGrid>
                <a:gridCol w="3505200">
                  <a:extLst>
                    <a:ext uri="{9D8B030D-6E8A-4147-A177-3AD203B41FA5}">
                      <a16:colId xmlns:a16="http://schemas.microsoft.com/office/drawing/2014/main" val="1156927712"/>
                    </a:ext>
                  </a:extLst>
                </a:gridCol>
                <a:gridCol w="3505200">
                  <a:extLst>
                    <a:ext uri="{9D8B030D-6E8A-4147-A177-3AD203B41FA5}">
                      <a16:colId xmlns:a16="http://schemas.microsoft.com/office/drawing/2014/main" val="3544224081"/>
                    </a:ext>
                  </a:extLst>
                </a:gridCol>
                <a:gridCol w="3505200">
                  <a:extLst>
                    <a:ext uri="{9D8B030D-6E8A-4147-A177-3AD203B41FA5}">
                      <a16:colId xmlns:a16="http://schemas.microsoft.com/office/drawing/2014/main" val="1308677799"/>
                    </a:ext>
                  </a:extLst>
                </a:gridCol>
              </a:tblGrid>
              <a:tr h="0">
                <a:tc>
                  <a:txBody>
                    <a:bodyPr/>
                    <a:lstStyle/>
                    <a:p>
                      <a:pPr>
                        <a:buNone/>
                      </a:pPr>
                      <a:r>
                        <a:rPr lang="en-IN"/>
                        <a:t>Operation</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tc>
                  <a:txBody>
                    <a:bodyPr/>
                    <a:lstStyle/>
                    <a:p>
                      <a:pPr>
                        <a:buNone/>
                      </a:pPr>
                      <a:r>
                        <a:rPr lang="en-IN"/>
                        <a:t>Example</a:t>
                      </a:r>
                    </a:p>
                  </a:txBody>
                  <a:tcPr anchor="ctr">
                    <a:lnL>
                      <a:noFill/>
                    </a:lnL>
                    <a:lnR>
                      <a:noFill/>
                    </a:lnR>
                    <a:lnT>
                      <a:noFill/>
                    </a:lnT>
                    <a:lnB>
                      <a:noFill/>
                    </a:lnB>
                    <a:noFill/>
                  </a:tcPr>
                </a:tc>
                <a:extLst>
                  <a:ext uri="{0D108BD9-81ED-4DB2-BD59-A6C34878D82A}">
                    <a16:rowId xmlns:a16="http://schemas.microsoft.com/office/drawing/2014/main" val="642360998"/>
                  </a:ext>
                </a:extLst>
              </a:tr>
              <a:tr h="0">
                <a:tc>
                  <a:txBody>
                    <a:bodyPr/>
                    <a:lstStyle/>
                    <a:p>
                      <a:pPr>
                        <a:buNone/>
                      </a:pPr>
                      <a:r>
                        <a:rPr lang="en-IN">
                          <a:latin typeface="Courier New" panose="02070309020205020404" pitchFamily="49" charset="0"/>
                        </a:rPr>
                        <a:t>collect()</a:t>
                      </a:r>
                      <a:endParaRPr lang="en-IN"/>
                    </a:p>
                  </a:txBody>
                  <a:tcPr anchor="ctr">
                    <a:lnL>
                      <a:noFill/>
                    </a:lnL>
                    <a:lnR>
                      <a:noFill/>
                    </a:lnR>
                    <a:lnT>
                      <a:noFill/>
                    </a:lnT>
                    <a:lnB>
                      <a:noFill/>
                    </a:lnB>
                    <a:noFill/>
                  </a:tcPr>
                </a:tc>
                <a:tc>
                  <a:txBody>
                    <a:bodyPr/>
                    <a:lstStyle/>
                    <a:p>
                      <a:pPr>
                        <a:buNone/>
                      </a:pPr>
                      <a:r>
                        <a:rPr lang="en-US"/>
                        <a:t>Return all elements to driver</a:t>
                      </a:r>
                    </a:p>
                  </a:txBody>
                  <a:tcPr anchor="ctr">
                    <a:lnL>
                      <a:noFill/>
                    </a:lnL>
                    <a:lnR>
                      <a:noFill/>
                    </a:lnR>
                    <a:lnT>
                      <a:noFill/>
                    </a:lnT>
                    <a:lnB>
                      <a:noFill/>
                    </a:lnB>
                    <a:noFill/>
                  </a:tcPr>
                </a:tc>
                <a:tc>
                  <a:txBody>
                    <a:bodyPr/>
                    <a:lstStyle/>
                    <a:p>
                      <a:pPr>
                        <a:buNone/>
                      </a:pPr>
                      <a:r>
                        <a:rPr lang="en-IN">
                          <a:latin typeface="Courier New" panose="02070309020205020404" pitchFamily="49" charset="0"/>
                        </a:rPr>
                        <a:t>rdd.collect()</a:t>
                      </a:r>
                      <a:endParaRPr lang="en-IN"/>
                    </a:p>
                  </a:txBody>
                  <a:tcPr anchor="ctr">
                    <a:lnL>
                      <a:noFill/>
                    </a:lnL>
                    <a:lnR>
                      <a:noFill/>
                    </a:lnR>
                    <a:lnT>
                      <a:noFill/>
                    </a:lnT>
                    <a:lnB>
                      <a:noFill/>
                    </a:lnB>
                    <a:noFill/>
                  </a:tcPr>
                </a:tc>
                <a:extLst>
                  <a:ext uri="{0D108BD9-81ED-4DB2-BD59-A6C34878D82A}">
                    <a16:rowId xmlns:a16="http://schemas.microsoft.com/office/drawing/2014/main" val="3496303577"/>
                  </a:ext>
                </a:extLst>
              </a:tr>
              <a:tr h="0">
                <a:tc>
                  <a:txBody>
                    <a:bodyPr/>
                    <a:lstStyle/>
                    <a:p>
                      <a:pPr>
                        <a:buNone/>
                      </a:pPr>
                      <a:r>
                        <a:rPr lang="en-IN">
                          <a:latin typeface="Courier New" panose="02070309020205020404" pitchFamily="49" charset="0"/>
                        </a:rPr>
                        <a:t>count()</a:t>
                      </a:r>
                      <a:endParaRPr lang="en-IN"/>
                    </a:p>
                  </a:txBody>
                  <a:tcPr anchor="ctr">
                    <a:lnL>
                      <a:noFill/>
                    </a:lnL>
                    <a:lnR>
                      <a:noFill/>
                    </a:lnR>
                    <a:lnT>
                      <a:noFill/>
                    </a:lnT>
                    <a:lnB>
                      <a:noFill/>
                    </a:lnB>
                    <a:noFill/>
                  </a:tcPr>
                </a:tc>
                <a:tc>
                  <a:txBody>
                    <a:bodyPr/>
                    <a:lstStyle/>
                    <a:p>
                      <a:pPr>
                        <a:buNone/>
                      </a:pPr>
                      <a:r>
                        <a:rPr lang="en-IN"/>
                        <a:t>Count number of elements</a:t>
                      </a:r>
                    </a:p>
                  </a:txBody>
                  <a:tcPr anchor="ctr">
                    <a:lnL>
                      <a:noFill/>
                    </a:lnL>
                    <a:lnR>
                      <a:noFill/>
                    </a:lnR>
                    <a:lnT>
                      <a:noFill/>
                    </a:lnT>
                    <a:lnB>
                      <a:noFill/>
                    </a:lnB>
                    <a:noFill/>
                  </a:tcPr>
                </a:tc>
                <a:tc>
                  <a:txBody>
                    <a:bodyPr/>
                    <a:lstStyle/>
                    <a:p>
                      <a:pPr>
                        <a:buNone/>
                      </a:pPr>
                      <a:r>
                        <a:rPr lang="en-IN">
                          <a:latin typeface="Courier New" panose="02070309020205020404" pitchFamily="49" charset="0"/>
                        </a:rPr>
                        <a:t>rdd.count()</a:t>
                      </a:r>
                      <a:endParaRPr lang="en-IN"/>
                    </a:p>
                  </a:txBody>
                  <a:tcPr anchor="ctr">
                    <a:lnL>
                      <a:noFill/>
                    </a:lnL>
                    <a:lnR>
                      <a:noFill/>
                    </a:lnR>
                    <a:lnT>
                      <a:noFill/>
                    </a:lnT>
                    <a:lnB>
                      <a:noFill/>
                    </a:lnB>
                    <a:noFill/>
                  </a:tcPr>
                </a:tc>
                <a:extLst>
                  <a:ext uri="{0D108BD9-81ED-4DB2-BD59-A6C34878D82A}">
                    <a16:rowId xmlns:a16="http://schemas.microsoft.com/office/drawing/2014/main" val="4276946909"/>
                  </a:ext>
                </a:extLst>
              </a:tr>
              <a:tr h="0">
                <a:tc>
                  <a:txBody>
                    <a:bodyPr/>
                    <a:lstStyle/>
                    <a:p>
                      <a:pPr>
                        <a:buNone/>
                      </a:pPr>
                      <a:r>
                        <a:rPr lang="en-IN">
                          <a:latin typeface="Courier New" panose="02070309020205020404" pitchFamily="49" charset="0"/>
                        </a:rPr>
                        <a:t>first()</a:t>
                      </a:r>
                      <a:endParaRPr lang="en-IN"/>
                    </a:p>
                  </a:txBody>
                  <a:tcPr anchor="ctr">
                    <a:lnL>
                      <a:noFill/>
                    </a:lnL>
                    <a:lnR>
                      <a:noFill/>
                    </a:lnR>
                    <a:lnT>
                      <a:noFill/>
                    </a:lnT>
                    <a:lnB>
                      <a:noFill/>
                    </a:lnB>
                    <a:noFill/>
                  </a:tcPr>
                </a:tc>
                <a:tc>
                  <a:txBody>
                    <a:bodyPr/>
                    <a:lstStyle/>
                    <a:p>
                      <a:pPr>
                        <a:buNone/>
                      </a:pPr>
                      <a:r>
                        <a:rPr lang="en-IN"/>
                        <a:t>Get first element</a:t>
                      </a:r>
                    </a:p>
                  </a:txBody>
                  <a:tcPr anchor="ctr">
                    <a:lnL>
                      <a:noFill/>
                    </a:lnL>
                    <a:lnR>
                      <a:noFill/>
                    </a:lnR>
                    <a:lnT>
                      <a:noFill/>
                    </a:lnT>
                    <a:lnB>
                      <a:noFill/>
                    </a:lnB>
                    <a:noFill/>
                  </a:tcPr>
                </a:tc>
                <a:tc>
                  <a:txBody>
                    <a:bodyPr/>
                    <a:lstStyle/>
                    <a:p>
                      <a:pPr>
                        <a:buNone/>
                      </a:pPr>
                      <a:r>
                        <a:rPr lang="en-IN">
                          <a:latin typeface="Courier New" panose="02070309020205020404" pitchFamily="49" charset="0"/>
                        </a:rPr>
                        <a:t>rdd.first()</a:t>
                      </a:r>
                      <a:endParaRPr lang="en-IN"/>
                    </a:p>
                  </a:txBody>
                  <a:tcPr anchor="ctr">
                    <a:lnL>
                      <a:noFill/>
                    </a:lnL>
                    <a:lnR>
                      <a:noFill/>
                    </a:lnR>
                    <a:lnT>
                      <a:noFill/>
                    </a:lnT>
                    <a:lnB>
                      <a:noFill/>
                    </a:lnB>
                    <a:noFill/>
                  </a:tcPr>
                </a:tc>
                <a:extLst>
                  <a:ext uri="{0D108BD9-81ED-4DB2-BD59-A6C34878D82A}">
                    <a16:rowId xmlns:a16="http://schemas.microsoft.com/office/drawing/2014/main" val="1597582613"/>
                  </a:ext>
                </a:extLst>
              </a:tr>
              <a:tr h="0">
                <a:tc>
                  <a:txBody>
                    <a:bodyPr/>
                    <a:lstStyle/>
                    <a:p>
                      <a:pPr>
                        <a:buNone/>
                      </a:pPr>
                      <a:r>
                        <a:rPr lang="en-IN">
                          <a:latin typeface="Courier New" panose="02070309020205020404" pitchFamily="49" charset="0"/>
                        </a:rPr>
                        <a:t>take(n)</a:t>
                      </a:r>
                      <a:endParaRPr lang="en-IN"/>
                    </a:p>
                  </a:txBody>
                  <a:tcPr anchor="ctr">
                    <a:lnL>
                      <a:noFill/>
                    </a:lnL>
                    <a:lnR>
                      <a:noFill/>
                    </a:lnR>
                    <a:lnT>
                      <a:noFill/>
                    </a:lnT>
                    <a:lnB>
                      <a:noFill/>
                    </a:lnB>
                    <a:noFill/>
                  </a:tcPr>
                </a:tc>
                <a:tc>
                  <a:txBody>
                    <a:bodyPr/>
                    <a:lstStyle/>
                    <a:p>
                      <a:pPr>
                        <a:buNone/>
                      </a:pPr>
                      <a:r>
                        <a:rPr lang="en-IN"/>
                        <a:t>Get first </a:t>
                      </a:r>
                      <a:r>
                        <a:rPr lang="en-IN" i="1"/>
                        <a:t>n</a:t>
                      </a:r>
                      <a:r>
                        <a:rPr lang="en-IN"/>
                        <a:t> elements</a:t>
                      </a:r>
                    </a:p>
                  </a:txBody>
                  <a:tcPr anchor="ctr">
                    <a:lnL>
                      <a:noFill/>
                    </a:lnL>
                    <a:lnR>
                      <a:noFill/>
                    </a:lnR>
                    <a:lnT>
                      <a:noFill/>
                    </a:lnT>
                    <a:lnB>
                      <a:noFill/>
                    </a:lnB>
                    <a:noFill/>
                  </a:tcPr>
                </a:tc>
                <a:tc>
                  <a:txBody>
                    <a:bodyPr/>
                    <a:lstStyle/>
                    <a:p>
                      <a:pPr>
                        <a:buNone/>
                      </a:pPr>
                      <a:r>
                        <a:rPr lang="en-IN">
                          <a:latin typeface="Courier New" panose="02070309020205020404" pitchFamily="49" charset="0"/>
                        </a:rPr>
                        <a:t>rdd.take(3)</a:t>
                      </a:r>
                      <a:endParaRPr lang="en-IN"/>
                    </a:p>
                  </a:txBody>
                  <a:tcPr anchor="ctr">
                    <a:lnL>
                      <a:noFill/>
                    </a:lnL>
                    <a:lnR>
                      <a:noFill/>
                    </a:lnR>
                    <a:lnT>
                      <a:noFill/>
                    </a:lnT>
                    <a:lnB>
                      <a:noFill/>
                    </a:lnB>
                    <a:noFill/>
                  </a:tcPr>
                </a:tc>
                <a:extLst>
                  <a:ext uri="{0D108BD9-81ED-4DB2-BD59-A6C34878D82A}">
                    <a16:rowId xmlns:a16="http://schemas.microsoft.com/office/drawing/2014/main" val="4226400957"/>
                  </a:ext>
                </a:extLst>
              </a:tr>
              <a:tr h="0">
                <a:tc>
                  <a:txBody>
                    <a:bodyPr/>
                    <a:lstStyle/>
                    <a:p>
                      <a:pPr>
                        <a:buNone/>
                      </a:pPr>
                      <a:r>
                        <a:rPr lang="en-IN">
                          <a:latin typeface="Courier New" panose="02070309020205020404" pitchFamily="49" charset="0"/>
                        </a:rPr>
                        <a:t>reduce()</a:t>
                      </a:r>
                      <a:endParaRPr lang="en-IN"/>
                    </a:p>
                  </a:txBody>
                  <a:tcPr anchor="ctr">
                    <a:lnL>
                      <a:noFill/>
                    </a:lnL>
                    <a:lnR>
                      <a:noFill/>
                    </a:lnR>
                    <a:lnT>
                      <a:noFill/>
                    </a:lnT>
                    <a:lnB>
                      <a:noFill/>
                    </a:lnB>
                    <a:noFill/>
                  </a:tcPr>
                </a:tc>
                <a:tc>
                  <a:txBody>
                    <a:bodyPr/>
                    <a:lstStyle/>
                    <a:p>
                      <a:pPr>
                        <a:buNone/>
                      </a:pPr>
                      <a:r>
                        <a:rPr lang="en-IN"/>
                        <a:t>Aggregate using function</a:t>
                      </a:r>
                    </a:p>
                  </a:txBody>
                  <a:tcPr anchor="ctr">
                    <a:lnL>
                      <a:noFill/>
                    </a:lnL>
                    <a:lnR>
                      <a:noFill/>
                    </a:lnR>
                    <a:lnT>
                      <a:noFill/>
                    </a:lnT>
                    <a:lnB>
                      <a:noFill/>
                    </a:lnB>
                    <a:noFill/>
                  </a:tcPr>
                </a:tc>
                <a:tc>
                  <a:txBody>
                    <a:bodyPr/>
                    <a:lstStyle/>
                    <a:p>
                      <a:pPr>
                        <a:buNone/>
                      </a:pPr>
                      <a:r>
                        <a:rPr lang="en-IN">
                          <a:latin typeface="Courier New" panose="02070309020205020404" pitchFamily="49" charset="0"/>
                        </a:rPr>
                        <a:t>rdd.reduce(lambda a,b: a+b)</a:t>
                      </a:r>
                      <a:endParaRPr lang="en-IN"/>
                    </a:p>
                  </a:txBody>
                  <a:tcPr anchor="ctr">
                    <a:lnL>
                      <a:noFill/>
                    </a:lnL>
                    <a:lnR>
                      <a:noFill/>
                    </a:lnR>
                    <a:lnT>
                      <a:noFill/>
                    </a:lnT>
                    <a:lnB>
                      <a:noFill/>
                    </a:lnB>
                    <a:noFill/>
                  </a:tcPr>
                </a:tc>
                <a:extLst>
                  <a:ext uri="{0D108BD9-81ED-4DB2-BD59-A6C34878D82A}">
                    <a16:rowId xmlns:a16="http://schemas.microsoft.com/office/drawing/2014/main" val="6374486"/>
                  </a:ext>
                </a:extLst>
              </a:tr>
              <a:tr h="0">
                <a:tc>
                  <a:txBody>
                    <a:bodyPr/>
                    <a:lstStyle/>
                    <a:p>
                      <a:pPr>
                        <a:buNone/>
                      </a:pPr>
                      <a:r>
                        <a:rPr lang="en-IN">
                          <a:latin typeface="Courier New" panose="02070309020205020404" pitchFamily="49" charset="0"/>
                        </a:rPr>
                        <a:t>saveAsTextFile()</a:t>
                      </a:r>
                      <a:endParaRPr lang="en-IN"/>
                    </a:p>
                  </a:txBody>
                  <a:tcPr anchor="ctr">
                    <a:lnL>
                      <a:noFill/>
                    </a:lnL>
                    <a:lnR>
                      <a:noFill/>
                    </a:lnR>
                    <a:lnT>
                      <a:noFill/>
                    </a:lnT>
                    <a:lnB>
                      <a:noFill/>
                    </a:lnB>
                    <a:noFill/>
                  </a:tcPr>
                </a:tc>
                <a:tc>
                  <a:txBody>
                    <a:bodyPr/>
                    <a:lstStyle/>
                    <a:p>
                      <a:pPr>
                        <a:buNone/>
                      </a:pPr>
                      <a:r>
                        <a:rPr lang="en-IN"/>
                        <a:t>Save results to file</a:t>
                      </a:r>
                    </a:p>
                  </a:txBody>
                  <a:tcPr anchor="ctr">
                    <a:lnL>
                      <a:noFill/>
                    </a:lnL>
                    <a:lnR>
                      <a:noFill/>
                    </a:lnR>
                    <a:lnT>
                      <a:noFill/>
                    </a:lnT>
                    <a:lnB>
                      <a:noFill/>
                    </a:lnB>
                    <a:noFill/>
                  </a:tcPr>
                </a:tc>
                <a:tc>
                  <a:txBody>
                    <a:bodyPr/>
                    <a:lstStyle/>
                    <a:p>
                      <a:pPr>
                        <a:buNone/>
                      </a:pPr>
                      <a:r>
                        <a:rPr lang="en-IN" dirty="0" err="1">
                          <a:latin typeface="Courier New" panose="02070309020205020404" pitchFamily="49" charset="0"/>
                        </a:rPr>
                        <a:t>rdd.saveAsTextFile</a:t>
                      </a:r>
                      <a:r>
                        <a:rPr lang="en-IN" dirty="0">
                          <a:latin typeface="Courier New" panose="02070309020205020404" pitchFamily="49" charset="0"/>
                        </a:rPr>
                        <a:t>("output")</a:t>
                      </a:r>
                      <a:endParaRPr lang="en-IN" dirty="0"/>
                    </a:p>
                  </a:txBody>
                  <a:tcPr anchor="ctr">
                    <a:lnL>
                      <a:noFill/>
                    </a:lnL>
                    <a:lnR>
                      <a:noFill/>
                    </a:lnR>
                    <a:lnT>
                      <a:noFill/>
                    </a:lnT>
                    <a:lnB>
                      <a:noFill/>
                    </a:lnB>
                    <a:noFill/>
                  </a:tcPr>
                </a:tc>
                <a:extLst>
                  <a:ext uri="{0D108BD9-81ED-4DB2-BD59-A6C34878D82A}">
                    <a16:rowId xmlns:a16="http://schemas.microsoft.com/office/drawing/2014/main" val="906527944"/>
                  </a:ext>
                </a:extLst>
              </a:tr>
            </a:tbl>
          </a:graphicData>
        </a:graphic>
      </p:graphicFrame>
    </p:spTree>
    <p:extLst>
      <p:ext uri="{BB962C8B-B14F-4D97-AF65-F5344CB8AC3E}">
        <p14:creationId xmlns:p14="http://schemas.microsoft.com/office/powerpoint/2010/main" val="3353703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3BBD7-FC1D-80E4-CA6E-16B590A175C2}"/>
              </a:ext>
            </a:extLst>
          </p:cNvPr>
          <p:cNvSpPr>
            <a:spLocks noGrp="1"/>
          </p:cNvSpPr>
          <p:nvPr>
            <p:ph type="title"/>
          </p:nvPr>
        </p:nvSpPr>
        <p:spPr>
          <a:xfrm>
            <a:off x="2514600" y="18256"/>
            <a:ext cx="10515600" cy="319202"/>
          </a:xfrm>
        </p:spPr>
        <p:txBody>
          <a:bodyPr>
            <a:normAutofit fontScale="90000"/>
          </a:bodyPr>
          <a:lstStyle/>
          <a:p>
            <a:r>
              <a:rPr lang="en-IN" dirty="0"/>
              <a:t>RDD Persistence (Caching &amp; Checkpointing)</a:t>
            </a:r>
          </a:p>
        </p:txBody>
      </p:sp>
      <p:sp>
        <p:nvSpPr>
          <p:cNvPr id="3" name="Content Placeholder 2">
            <a:extLst>
              <a:ext uri="{FF2B5EF4-FFF2-40B4-BE49-F238E27FC236}">
                <a16:creationId xmlns:a16="http://schemas.microsoft.com/office/drawing/2014/main" id="{64342695-DAC3-0E6B-6529-DAAC071108EA}"/>
              </a:ext>
            </a:extLst>
          </p:cNvPr>
          <p:cNvSpPr>
            <a:spLocks noGrp="1"/>
          </p:cNvSpPr>
          <p:nvPr>
            <p:ph idx="1"/>
          </p:nvPr>
        </p:nvSpPr>
        <p:spPr>
          <a:xfrm>
            <a:off x="326571" y="998310"/>
            <a:ext cx="10515600" cy="5859689"/>
          </a:xfrm>
        </p:spPr>
        <p:txBody>
          <a:bodyPr>
            <a:normAutofit fontScale="85000" lnSpcReduction="20000"/>
          </a:bodyPr>
          <a:lstStyle/>
          <a:p>
            <a:pPr marL="0" indent="0">
              <a:buNone/>
            </a:pPr>
            <a:r>
              <a:rPr lang="en-IN" b="1" i="1" u="sng" dirty="0">
                <a:highlight>
                  <a:srgbClr val="FFFF00"/>
                </a:highlight>
              </a:rPr>
              <a:t>Caching</a:t>
            </a:r>
          </a:p>
          <a:p>
            <a:r>
              <a:rPr lang="en-US" dirty="0"/>
              <a:t>Used when you reuse the same RDD multiple times:</a:t>
            </a:r>
          </a:p>
          <a:p>
            <a:endParaRPr lang="en-US" dirty="0"/>
          </a:p>
          <a:p>
            <a:pPr marL="0" indent="0">
              <a:buNone/>
            </a:pPr>
            <a:r>
              <a:rPr lang="en-US" dirty="0" err="1"/>
              <a:t>rdd.persist</a:t>
            </a:r>
            <a:r>
              <a:rPr lang="en-US" dirty="0"/>
              <a:t>()</a:t>
            </a:r>
          </a:p>
          <a:p>
            <a:pPr marL="0" indent="0">
              <a:buNone/>
            </a:pPr>
            <a:r>
              <a:rPr lang="en-US" dirty="0"/>
              <a:t># or</a:t>
            </a:r>
          </a:p>
          <a:p>
            <a:pPr marL="0" indent="0">
              <a:buNone/>
            </a:pPr>
            <a:r>
              <a:rPr lang="en-US" dirty="0" err="1"/>
              <a:t>rdd.cache</a:t>
            </a:r>
            <a:r>
              <a:rPr lang="en-US" dirty="0"/>
              <a:t>()</a:t>
            </a:r>
          </a:p>
          <a:p>
            <a:pPr marL="0" indent="0">
              <a:buNone/>
            </a:pPr>
            <a:endParaRPr lang="en-US" dirty="0"/>
          </a:p>
          <a:p>
            <a:pPr marL="0" indent="0">
              <a:buNone/>
            </a:pPr>
            <a:r>
              <a:rPr lang="en-US" dirty="0"/>
              <a:t>Stores data in memory for faster access.</a:t>
            </a:r>
          </a:p>
          <a:p>
            <a:pPr marL="0" indent="0">
              <a:buNone/>
            </a:pPr>
            <a:endParaRPr lang="en-US" dirty="0"/>
          </a:p>
          <a:p>
            <a:pPr marL="0" indent="0">
              <a:buNone/>
            </a:pPr>
            <a:r>
              <a:rPr lang="en-IN" b="1" i="1" u="sng" dirty="0">
                <a:highlight>
                  <a:srgbClr val="FFFF00"/>
                </a:highlight>
              </a:rPr>
              <a:t>Checkpointing</a:t>
            </a:r>
          </a:p>
          <a:p>
            <a:pPr marL="0" indent="0">
              <a:buNone/>
            </a:pPr>
            <a:endParaRPr lang="en-IN" dirty="0"/>
          </a:p>
          <a:p>
            <a:pPr marL="0" indent="0">
              <a:buNone/>
            </a:pPr>
            <a:r>
              <a:rPr lang="en-US" dirty="0"/>
              <a:t>Used for fault-tolerance and breaking long lineage chains:</a:t>
            </a:r>
          </a:p>
          <a:p>
            <a:pPr marL="0" indent="0">
              <a:buNone/>
            </a:pPr>
            <a:endParaRPr lang="en-US" dirty="0"/>
          </a:p>
          <a:p>
            <a:pPr marL="0" indent="0">
              <a:buNone/>
            </a:pPr>
            <a:r>
              <a:rPr lang="en-US" dirty="0" err="1"/>
              <a:t>sc.setCheckpointDir</a:t>
            </a:r>
            <a:r>
              <a:rPr lang="en-US" dirty="0"/>
              <a:t>("</a:t>
            </a:r>
            <a:r>
              <a:rPr lang="en-US" dirty="0" err="1"/>
              <a:t>hdfs</a:t>
            </a:r>
            <a:r>
              <a:rPr lang="en-US" dirty="0"/>
              <a:t>://path/to/checkpoint/")</a:t>
            </a:r>
          </a:p>
          <a:p>
            <a:pPr marL="0" indent="0">
              <a:buNone/>
            </a:pPr>
            <a:r>
              <a:rPr lang="en-US" dirty="0" err="1"/>
              <a:t>rdd.checkpoint</a:t>
            </a:r>
            <a:r>
              <a:rPr lang="en-US" dirty="0"/>
              <a:t>()</a:t>
            </a:r>
          </a:p>
          <a:p>
            <a:pPr marL="0" indent="0">
              <a:buNone/>
            </a:pPr>
            <a:endParaRPr lang="en-US" dirty="0"/>
          </a:p>
          <a:p>
            <a:endParaRPr lang="en-IN" dirty="0"/>
          </a:p>
          <a:p>
            <a:endParaRPr lang="en-IN" dirty="0"/>
          </a:p>
        </p:txBody>
      </p:sp>
    </p:spTree>
    <p:extLst>
      <p:ext uri="{BB962C8B-B14F-4D97-AF65-F5344CB8AC3E}">
        <p14:creationId xmlns:p14="http://schemas.microsoft.com/office/powerpoint/2010/main" val="512942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1AFC-057A-E362-1A01-4A610ACE2296}"/>
              </a:ext>
            </a:extLst>
          </p:cNvPr>
          <p:cNvSpPr>
            <a:spLocks noGrp="1"/>
          </p:cNvSpPr>
          <p:nvPr>
            <p:ph type="title"/>
          </p:nvPr>
        </p:nvSpPr>
        <p:spPr>
          <a:xfrm>
            <a:off x="1839685" y="18256"/>
            <a:ext cx="10515600" cy="569573"/>
          </a:xfrm>
        </p:spPr>
        <p:txBody>
          <a:bodyPr>
            <a:normAutofit fontScale="90000"/>
          </a:bodyPr>
          <a:lstStyle/>
          <a:p>
            <a:r>
              <a:rPr lang="en-IN" dirty="0"/>
              <a:t>Key-Value Pair RDDs</a:t>
            </a:r>
          </a:p>
        </p:txBody>
      </p:sp>
      <p:sp>
        <p:nvSpPr>
          <p:cNvPr id="3" name="Content Placeholder 2">
            <a:extLst>
              <a:ext uri="{FF2B5EF4-FFF2-40B4-BE49-F238E27FC236}">
                <a16:creationId xmlns:a16="http://schemas.microsoft.com/office/drawing/2014/main" id="{D6DBB8D9-130B-FC92-CE54-328A06AD78F4}"/>
              </a:ext>
            </a:extLst>
          </p:cNvPr>
          <p:cNvSpPr>
            <a:spLocks noGrp="1"/>
          </p:cNvSpPr>
          <p:nvPr>
            <p:ph idx="1"/>
          </p:nvPr>
        </p:nvSpPr>
        <p:spPr>
          <a:xfrm>
            <a:off x="0" y="715281"/>
            <a:ext cx="11625944" cy="4351338"/>
          </a:xfrm>
        </p:spPr>
        <p:txBody>
          <a:bodyPr/>
          <a:lstStyle/>
          <a:p>
            <a:r>
              <a:rPr lang="en-US" dirty="0"/>
              <a:t>Special RDDs containing (key, value) pairs enable distributed operations like grouping and joins.</a:t>
            </a:r>
          </a:p>
          <a:p>
            <a:endParaRPr lang="en-US" dirty="0"/>
          </a:p>
          <a:p>
            <a:pPr marL="0" indent="0">
              <a:buNone/>
            </a:pPr>
            <a:r>
              <a:rPr lang="en-IN" dirty="0"/>
              <a:t>data = </a:t>
            </a:r>
            <a:r>
              <a:rPr lang="en-IN" dirty="0" err="1"/>
              <a:t>sc.parallelize</a:t>
            </a:r>
            <a:r>
              <a:rPr lang="en-IN" dirty="0"/>
              <a:t>([("a", 1), ("b", 2), ("a", 3)])</a:t>
            </a:r>
          </a:p>
          <a:p>
            <a:pPr marL="0" indent="0">
              <a:buNone/>
            </a:pPr>
            <a:r>
              <a:rPr lang="en-IN" dirty="0"/>
              <a:t>result = </a:t>
            </a:r>
            <a:r>
              <a:rPr lang="en-IN" dirty="0" err="1"/>
              <a:t>data.reduceByKey</a:t>
            </a:r>
            <a:r>
              <a:rPr lang="en-IN" dirty="0"/>
              <a:t>(lambda x, y: x + y)</a:t>
            </a:r>
          </a:p>
          <a:p>
            <a:pPr marL="0" indent="0">
              <a:buNone/>
            </a:pPr>
            <a:r>
              <a:rPr lang="en-IN" dirty="0"/>
              <a:t>print(</a:t>
            </a:r>
            <a:r>
              <a:rPr lang="en-IN" dirty="0" err="1"/>
              <a:t>result.collect</a:t>
            </a:r>
            <a:r>
              <a:rPr lang="en-IN" dirty="0"/>
              <a:t>())</a:t>
            </a:r>
          </a:p>
          <a:p>
            <a:pPr marL="0" indent="0">
              <a:buNone/>
            </a:pPr>
            <a:r>
              <a:rPr lang="en-IN" dirty="0"/>
              <a:t># Output: [('a', 4), ('b', 2)]</a:t>
            </a:r>
          </a:p>
          <a:p>
            <a:pPr marL="0" indent="0">
              <a:buNone/>
            </a:pPr>
            <a:endParaRPr lang="en-IN" dirty="0"/>
          </a:p>
          <a:p>
            <a:pPr marL="0" indent="0">
              <a:buNone/>
            </a:pPr>
            <a:endParaRPr lang="en-IN" dirty="0"/>
          </a:p>
          <a:p>
            <a:pPr marL="0" indent="0">
              <a:buNone/>
            </a:pPr>
            <a:endParaRPr lang="en-IN" dirty="0"/>
          </a:p>
          <a:p>
            <a:endParaRPr lang="en-IN" dirty="0"/>
          </a:p>
        </p:txBody>
      </p:sp>
      <p:graphicFrame>
        <p:nvGraphicFramePr>
          <p:cNvPr id="5" name="Table 4">
            <a:extLst>
              <a:ext uri="{FF2B5EF4-FFF2-40B4-BE49-F238E27FC236}">
                <a16:creationId xmlns:a16="http://schemas.microsoft.com/office/drawing/2014/main" id="{125B2B6D-A768-715B-622A-A7FFDC9DE9C1}"/>
              </a:ext>
            </a:extLst>
          </p:cNvPr>
          <p:cNvGraphicFramePr>
            <a:graphicFrameLocks noGrp="1"/>
          </p:cNvGraphicFramePr>
          <p:nvPr/>
        </p:nvGraphicFramePr>
        <p:xfrm>
          <a:off x="838200" y="4979534"/>
          <a:ext cx="10515600" cy="1828800"/>
        </p:xfrm>
        <a:graphic>
          <a:graphicData uri="http://schemas.openxmlformats.org/drawingml/2006/table">
            <a:tbl>
              <a:tblPr/>
              <a:tblGrid>
                <a:gridCol w="5257800">
                  <a:extLst>
                    <a:ext uri="{9D8B030D-6E8A-4147-A177-3AD203B41FA5}">
                      <a16:colId xmlns:a16="http://schemas.microsoft.com/office/drawing/2014/main" val="1367804634"/>
                    </a:ext>
                  </a:extLst>
                </a:gridCol>
                <a:gridCol w="5257800">
                  <a:extLst>
                    <a:ext uri="{9D8B030D-6E8A-4147-A177-3AD203B41FA5}">
                      <a16:colId xmlns:a16="http://schemas.microsoft.com/office/drawing/2014/main" val="2203268103"/>
                    </a:ext>
                  </a:extLst>
                </a:gridCol>
              </a:tblGrid>
              <a:tr h="0">
                <a:tc>
                  <a:txBody>
                    <a:bodyPr/>
                    <a:lstStyle/>
                    <a:p>
                      <a:pPr>
                        <a:buNone/>
                      </a:pPr>
                      <a:r>
                        <a:rPr lang="en-IN"/>
                        <a:t>Operation</a:t>
                      </a:r>
                    </a:p>
                  </a:txBody>
                  <a:tcPr anchor="ctr">
                    <a:lnL>
                      <a:noFill/>
                    </a:lnL>
                    <a:lnR>
                      <a:noFill/>
                    </a:lnR>
                    <a:lnT>
                      <a:noFill/>
                    </a:lnT>
                    <a:lnB>
                      <a:noFill/>
                    </a:lnB>
                    <a:noFill/>
                  </a:tcPr>
                </a:tc>
                <a:tc>
                  <a:txBody>
                    <a:bodyPr/>
                    <a:lstStyle/>
                    <a:p>
                      <a:pPr>
                        <a:buNone/>
                      </a:pPr>
                      <a:r>
                        <a:rPr lang="en-IN"/>
                        <a:t>Description</a:t>
                      </a:r>
                    </a:p>
                  </a:txBody>
                  <a:tcPr anchor="ctr">
                    <a:lnL>
                      <a:noFill/>
                    </a:lnL>
                    <a:lnR>
                      <a:noFill/>
                    </a:lnR>
                    <a:lnT>
                      <a:noFill/>
                    </a:lnT>
                    <a:lnB>
                      <a:noFill/>
                    </a:lnB>
                    <a:noFill/>
                  </a:tcPr>
                </a:tc>
                <a:extLst>
                  <a:ext uri="{0D108BD9-81ED-4DB2-BD59-A6C34878D82A}">
                    <a16:rowId xmlns:a16="http://schemas.microsoft.com/office/drawing/2014/main" val="655334461"/>
                  </a:ext>
                </a:extLst>
              </a:tr>
              <a:tr h="0">
                <a:tc>
                  <a:txBody>
                    <a:bodyPr/>
                    <a:lstStyle/>
                    <a:p>
                      <a:pPr>
                        <a:buNone/>
                      </a:pPr>
                      <a:r>
                        <a:rPr lang="en-IN">
                          <a:latin typeface="Courier New" panose="02070309020205020404" pitchFamily="49" charset="0"/>
                        </a:rPr>
                        <a:t>reduceByKey(func)</a:t>
                      </a:r>
                      <a:endParaRPr lang="en-IN"/>
                    </a:p>
                  </a:txBody>
                  <a:tcPr anchor="ctr">
                    <a:lnL>
                      <a:noFill/>
                    </a:lnL>
                    <a:lnR>
                      <a:noFill/>
                    </a:lnR>
                    <a:lnT>
                      <a:noFill/>
                    </a:lnT>
                    <a:lnB>
                      <a:noFill/>
                    </a:lnB>
                    <a:noFill/>
                  </a:tcPr>
                </a:tc>
                <a:tc>
                  <a:txBody>
                    <a:bodyPr/>
                    <a:lstStyle/>
                    <a:p>
                      <a:pPr>
                        <a:buNone/>
                      </a:pPr>
                      <a:r>
                        <a:rPr lang="en-US"/>
                        <a:t>Aggregate values for each key</a:t>
                      </a:r>
                    </a:p>
                  </a:txBody>
                  <a:tcPr anchor="ctr">
                    <a:lnL>
                      <a:noFill/>
                    </a:lnL>
                    <a:lnR>
                      <a:noFill/>
                    </a:lnR>
                    <a:lnT>
                      <a:noFill/>
                    </a:lnT>
                    <a:lnB>
                      <a:noFill/>
                    </a:lnB>
                    <a:noFill/>
                  </a:tcPr>
                </a:tc>
                <a:extLst>
                  <a:ext uri="{0D108BD9-81ED-4DB2-BD59-A6C34878D82A}">
                    <a16:rowId xmlns:a16="http://schemas.microsoft.com/office/drawing/2014/main" val="1805342144"/>
                  </a:ext>
                </a:extLst>
              </a:tr>
              <a:tr h="0">
                <a:tc>
                  <a:txBody>
                    <a:bodyPr/>
                    <a:lstStyle/>
                    <a:p>
                      <a:pPr>
                        <a:buNone/>
                      </a:pPr>
                      <a:r>
                        <a:rPr lang="en-IN">
                          <a:latin typeface="Courier New" panose="02070309020205020404" pitchFamily="49" charset="0"/>
                        </a:rPr>
                        <a:t>groupByKey()</a:t>
                      </a:r>
                      <a:endParaRPr lang="en-IN"/>
                    </a:p>
                  </a:txBody>
                  <a:tcPr anchor="ctr">
                    <a:lnL>
                      <a:noFill/>
                    </a:lnL>
                    <a:lnR>
                      <a:noFill/>
                    </a:lnR>
                    <a:lnT>
                      <a:noFill/>
                    </a:lnT>
                    <a:lnB>
                      <a:noFill/>
                    </a:lnB>
                    <a:noFill/>
                  </a:tcPr>
                </a:tc>
                <a:tc>
                  <a:txBody>
                    <a:bodyPr/>
                    <a:lstStyle/>
                    <a:p>
                      <a:pPr>
                        <a:buNone/>
                      </a:pPr>
                      <a:r>
                        <a:rPr lang="en-IN"/>
                        <a:t>Group values by key</a:t>
                      </a:r>
                    </a:p>
                  </a:txBody>
                  <a:tcPr anchor="ctr">
                    <a:lnL>
                      <a:noFill/>
                    </a:lnL>
                    <a:lnR>
                      <a:noFill/>
                    </a:lnR>
                    <a:lnT>
                      <a:noFill/>
                    </a:lnT>
                    <a:lnB>
                      <a:noFill/>
                    </a:lnB>
                    <a:noFill/>
                  </a:tcPr>
                </a:tc>
                <a:extLst>
                  <a:ext uri="{0D108BD9-81ED-4DB2-BD59-A6C34878D82A}">
                    <a16:rowId xmlns:a16="http://schemas.microsoft.com/office/drawing/2014/main" val="3363962637"/>
                  </a:ext>
                </a:extLst>
              </a:tr>
              <a:tr h="0">
                <a:tc>
                  <a:txBody>
                    <a:bodyPr/>
                    <a:lstStyle/>
                    <a:p>
                      <a:pPr>
                        <a:buNone/>
                      </a:pPr>
                      <a:r>
                        <a:rPr lang="en-IN">
                          <a:latin typeface="Courier New" panose="02070309020205020404" pitchFamily="49" charset="0"/>
                        </a:rPr>
                        <a:t>mapValues(func)</a:t>
                      </a:r>
                      <a:endParaRPr lang="en-IN"/>
                    </a:p>
                  </a:txBody>
                  <a:tcPr anchor="ctr">
                    <a:lnL>
                      <a:noFill/>
                    </a:lnL>
                    <a:lnR>
                      <a:noFill/>
                    </a:lnR>
                    <a:lnT>
                      <a:noFill/>
                    </a:lnT>
                    <a:lnB>
                      <a:noFill/>
                    </a:lnB>
                    <a:noFill/>
                  </a:tcPr>
                </a:tc>
                <a:tc>
                  <a:txBody>
                    <a:bodyPr/>
                    <a:lstStyle/>
                    <a:p>
                      <a:pPr>
                        <a:buNone/>
                      </a:pPr>
                      <a:r>
                        <a:rPr lang="en-US"/>
                        <a:t>Apply function to each value</a:t>
                      </a:r>
                    </a:p>
                  </a:txBody>
                  <a:tcPr anchor="ctr">
                    <a:lnL>
                      <a:noFill/>
                    </a:lnL>
                    <a:lnR>
                      <a:noFill/>
                    </a:lnR>
                    <a:lnT>
                      <a:noFill/>
                    </a:lnT>
                    <a:lnB>
                      <a:noFill/>
                    </a:lnB>
                    <a:noFill/>
                  </a:tcPr>
                </a:tc>
                <a:extLst>
                  <a:ext uri="{0D108BD9-81ED-4DB2-BD59-A6C34878D82A}">
                    <a16:rowId xmlns:a16="http://schemas.microsoft.com/office/drawing/2014/main" val="47240471"/>
                  </a:ext>
                </a:extLst>
              </a:tr>
              <a:tr h="0">
                <a:tc>
                  <a:txBody>
                    <a:bodyPr/>
                    <a:lstStyle/>
                    <a:p>
                      <a:pPr>
                        <a:buNone/>
                      </a:pPr>
                      <a:r>
                        <a:rPr lang="en-IN">
                          <a:latin typeface="Courier New" panose="02070309020205020404" pitchFamily="49" charset="0"/>
                        </a:rPr>
                        <a:t>join(otherRDD)</a:t>
                      </a:r>
                      <a:endParaRPr lang="en-IN"/>
                    </a:p>
                  </a:txBody>
                  <a:tcPr anchor="ctr">
                    <a:lnL>
                      <a:noFill/>
                    </a:lnL>
                    <a:lnR>
                      <a:noFill/>
                    </a:lnR>
                    <a:lnT>
                      <a:noFill/>
                    </a:lnT>
                    <a:lnB>
                      <a:noFill/>
                    </a:lnB>
                    <a:noFill/>
                  </a:tcPr>
                </a:tc>
                <a:tc>
                  <a:txBody>
                    <a:bodyPr/>
                    <a:lstStyle/>
                    <a:p>
                      <a:pPr>
                        <a:buNone/>
                      </a:pPr>
                      <a:r>
                        <a:rPr lang="en-US" dirty="0"/>
                        <a:t>Join two key-value RDDs by key</a:t>
                      </a:r>
                    </a:p>
                  </a:txBody>
                  <a:tcPr anchor="ctr">
                    <a:lnL>
                      <a:noFill/>
                    </a:lnL>
                    <a:lnR>
                      <a:noFill/>
                    </a:lnR>
                    <a:lnT>
                      <a:noFill/>
                    </a:lnT>
                    <a:lnB>
                      <a:noFill/>
                    </a:lnB>
                    <a:noFill/>
                  </a:tcPr>
                </a:tc>
                <a:extLst>
                  <a:ext uri="{0D108BD9-81ED-4DB2-BD59-A6C34878D82A}">
                    <a16:rowId xmlns:a16="http://schemas.microsoft.com/office/drawing/2014/main" val="1171624932"/>
                  </a:ext>
                </a:extLst>
              </a:tr>
            </a:tbl>
          </a:graphicData>
        </a:graphic>
      </p:graphicFrame>
    </p:spTree>
    <p:extLst>
      <p:ext uri="{BB962C8B-B14F-4D97-AF65-F5344CB8AC3E}">
        <p14:creationId xmlns:p14="http://schemas.microsoft.com/office/powerpoint/2010/main" val="728791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4135DB-9645-E356-B662-A77A192C1746}"/>
              </a:ext>
            </a:extLst>
          </p:cNvPr>
          <p:cNvSpPr txBox="1"/>
          <p:nvPr/>
        </p:nvSpPr>
        <p:spPr>
          <a:xfrm>
            <a:off x="119743" y="1187361"/>
            <a:ext cx="11854543" cy="4206280"/>
          </a:xfrm>
          <a:prstGeom prst="rect">
            <a:avLst/>
          </a:prstGeom>
          <a:noFill/>
        </p:spPr>
        <p:txBody>
          <a:bodyPr wrap="square">
            <a:spAutoFit/>
          </a:bodyPr>
          <a:lstStyle/>
          <a:p>
            <a:pPr algn="l">
              <a:lnSpc>
                <a:spcPts val="1950"/>
              </a:lnSpc>
              <a:spcAft>
                <a:spcPts val="1200"/>
              </a:spcAft>
              <a:buNone/>
            </a:pPr>
            <a:r>
              <a:rPr lang="en-US" b="1" i="0" dirty="0">
                <a:solidFill>
                  <a:srgbClr val="212529"/>
                </a:solidFill>
                <a:effectLst/>
                <a:highlight>
                  <a:srgbClr val="FFFF00"/>
                </a:highlight>
                <a:latin typeface="SSP Local"/>
              </a:rPr>
              <a:t>RDDs excel when you need</a:t>
            </a:r>
            <a:r>
              <a:rPr lang="en-US" b="0" i="0" dirty="0">
                <a:solidFill>
                  <a:srgbClr val="212529"/>
                </a:solidFill>
                <a:effectLst/>
                <a:highlight>
                  <a:srgbClr val="FFFF00"/>
                </a:highlight>
                <a:latin typeface="SSP Local"/>
              </a:rPr>
              <a:t>:</a:t>
            </a:r>
          </a:p>
          <a:p>
            <a:pPr algn="l">
              <a:spcAft>
                <a:spcPts val="1200"/>
              </a:spcAft>
              <a:buFont typeface="Arial" panose="020B0604020202020204" pitchFamily="34" charset="0"/>
              <a:buChar char="•"/>
            </a:pPr>
            <a:r>
              <a:rPr lang="en-US" b="1" i="0" dirty="0">
                <a:solidFill>
                  <a:srgbClr val="212529"/>
                </a:solidFill>
                <a:effectLst/>
                <a:latin typeface="SSP Local"/>
              </a:rPr>
              <a:t>Fine-grained control</a:t>
            </a:r>
            <a:r>
              <a:rPr lang="en-US" b="0" i="0" dirty="0">
                <a:solidFill>
                  <a:srgbClr val="212529"/>
                </a:solidFill>
                <a:effectLst/>
                <a:latin typeface="SSP Local"/>
              </a:rPr>
              <a:t> over data distribution and processing</a:t>
            </a:r>
          </a:p>
          <a:p>
            <a:pPr algn="l">
              <a:spcAft>
                <a:spcPts val="1200"/>
              </a:spcAft>
              <a:buFont typeface="Arial" panose="020B0604020202020204" pitchFamily="34" charset="0"/>
              <a:buChar char="•"/>
            </a:pPr>
            <a:r>
              <a:rPr lang="en-US" b="1" i="0" dirty="0">
                <a:solidFill>
                  <a:srgbClr val="212529"/>
                </a:solidFill>
                <a:effectLst/>
                <a:latin typeface="SSP Local"/>
              </a:rPr>
              <a:t>Custom transformations</a:t>
            </a:r>
            <a:r>
              <a:rPr lang="en-US" b="0" i="0" dirty="0">
                <a:solidFill>
                  <a:srgbClr val="212529"/>
                </a:solidFill>
                <a:effectLst/>
                <a:latin typeface="SSP Local"/>
              </a:rPr>
              <a:t> that don't map well to SQL-like operations</a:t>
            </a:r>
          </a:p>
          <a:p>
            <a:pPr algn="l">
              <a:spcAft>
                <a:spcPts val="1200"/>
              </a:spcAft>
              <a:buFont typeface="Arial" panose="020B0604020202020204" pitchFamily="34" charset="0"/>
              <a:buChar char="•"/>
            </a:pPr>
            <a:r>
              <a:rPr lang="en-US" b="1" i="0" dirty="0">
                <a:solidFill>
                  <a:srgbClr val="212529"/>
                </a:solidFill>
                <a:effectLst/>
                <a:latin typeface="SSP Local"/>
              </a:rPr>
              <a:t>Machine learning algorithms</a:t>
            </a:r>
            <a:r>
              <a:rPr lang="en-US" b="0" i="0" dirty="0">
                <a:solidFill>
                  <a:srgbClr val="212529"/>
                </a:solidFill>
                <a:effectLst/>
                <a:latin typeface="SSP Local"/>
              </a:rPr>
              <a:t> that require iterative processing</a:t>
            </a:r>
          </a:p>
          <a:p>
            <a:pPr algn="l">
              <a:spcAft>
                <a:spcPts val="1200"/>
              </a:spcAft>
              <a:buFont typeface="Arial" panose="020B0604020202020204" pitchFamily="34" charset="0"/>
              <a:buChar char="•"/>
            </a:pPr>
            <a:r>
              <a:rPr lang="en-US" b="1" i="0" dirty="0">
                <a:solidFill>
                  <a:srgbClr val="212529"/>
                </a:solidFill>
                <a:effectLst/>
                <a:latin typeface="SSP Local"/>
              </a:rPr>
              <a:t>Streaming data</a:t>
            </a:r>
            <a:r>
              <a:rPr lang="en-US" b="0" i="0" dirty="0">
                <a:solidFill>
                  <a:srgbClr val="212529"/>
                </a:solidFill>
                <a:effectLst/>
                <a:latin typeface="SSP Local"/>
              </a:rPr>
              <a:t> processing with complex event handling</a:t>
            </a:r>
          </a:p>
          <a:p>
            <a:pPr algn="l">
              <a:lnSpc>
                <a:spcPts val="1950"/>
              </a:lnSpc>
              <a:spcAft>
                <a:spcPts val="1200"/>
              </a:spcAft>
              <a:buNone/>
            </a:pPr>
            <a:r>
              <a:rPr lang="en-US" b="1" i="0" dirty="0" err="1">
                <a:solidFill>
                  <a:srgbClr val="212529"/>
                </a:solidFill>
                <a:effectLst/>
                <a:highlight>
                  <a:srgbClr val="FFFF00"/>
                </a:highlight>
                <a:latin typeface="SSP Local"/>
              </a:rPr>
              <a:t>DataFrames</a:t>
            </a:r>
            <a:r>
              <a:rPr lang="en-US" b="1" i="0" dirty="0">
                <a:solidFill>
                  <a:srgbClr val="212529"/>
                </a:solidFill>
                <a:effectLst/>
                <a:highlight>
                  <a:srgbClr val="FFFF00"/>
                </a:highlight>
                <a:latin typeface="SSP Local"/>
              </a:rPr>
              <a:t> are better for</a:t>
            </a:r>
            <a:r>
              <a:rPr lang="en-US" b="0" i="0" dirty="0">
                <a:solidFill>
                  <a:srgbClr val="212529"/>
                </a:solidFill>
                <a:effectLst/>
                <a:highlight>
                  <a:srgbClr val="FFFF00"/>
                </a:highlight>
                <a:latin typeface="SSP Local"/>
              </a:rPr>
              <a:t>:</a:t>
            </a:r>
          </a:p>
          <a:p>
            <a:pPr algn="l">
              <a:spcAft>
                <a:spcPts val="1200"/>
              </a:spcAft>
              <a:buFont typeface="Arial" panose="020B0604020202020204" pitchFamily="34" charset="0"/>
              <a:buChar char="•"/>
            </a:pPr>
            <a:r>
              <a:rPr lang="en-US" b="1" i="0" dirty="0">
                <a:solidFill>
                  <a:srgbClr val="212529"/>
                </a:solidFill>
                <a:effectLst/>
                <a:latin typeface="SSP Local"/>
              </a:rPr>
              <a:t>Structured data</a:t>
            </a:r>
            <a:r>
              <a:rPr lang="en-US" b="0" i="0" dirty="0">
                <a:solidFill>
                  <a:srgbClr val="212529"/>
                </a:solidFill>
                <a:effectLst/>
                <a:latin typeface="SSP Local"/>
              </a:rPr>
              <a:t> with known schemas</a:t>
            </a:r>
          </a:p>
          <a:p>
            <a:pPr algn="l">
              <a:spcAft>
                <a:spcPts val="1200"/>
              </a:spcAft>
              <a:buFont typeface="Arial" panose="020B0604020202020204" pitchFamily="34" charset="0"/>
              <a:buChar char="•"/>
            </a:pPr>
            <a:r>
              <a:rPr lang="en-US" b="1" i="0" dirty="0">
                <a:solidFill>
                  <a:srgbClr val="212529"/>
                </a:solidFill>
                <a:effectLst/>
                <a:latin typeface="SSP Local"/>
              </a:rPr>
              <a:t>SQL-like operations</a:t>
            </a:r>
            <a:r>
              <a:rPr lang="en-US" b="0" i="0" dirty="0">
                <a:solidFill>
                  <a:srgbClr val="212529"/>
                </a:solidFill>
                <a:effectLst/>
                <a:latin typeface="SSP Local"/>
              </a:rPr>
              <a:t> (filtering, grouping, joining)</a:t>
            </a:r>
          </a:p>
          <a:p>
            <a:pPr algn="l">
              <a:spcAft>
                <a:spcPts val="1200"/>
              </a:spcAft>
              <a:buFont typeface="Arial" panose="020B0604020202020204" pitchFamily="34" charset="0"/>
              <a:buChar char="•"/>
            </a:pPr>
            <a:r>
              <a:rPr lang="en-US" b="1" i="0" dirty="0">
                <a:solidFill>
                  <a:srgbClr val="212529"/>
                </a:solidFill>
                <a:effectLst/>
                <a:latin typeface="SSP Local"/>
              </a:rPr>
              <a:t>Automatic optimizations</a:t>
            </a:r>
            <a:r>
              <a:rPr lang="en-US" b="0" i="0" dirty="0">
                <a:solidFill>
                  <a:srgbClr val="212529"/>
                </a:solidFill>
                <a:effectLst/>
                <a:latin typeface="SSP Local"/>
              </a:rPr>
              <a:t> for query performance</a:t>
            </a:r>
          </a:p>
          <a:p>
            <a:pPr algn="l">
              <a:spcAft>
                <a:spcPts val="1200"/>
              </a:spcAft>
              <a:buFont typeface="Arial" panose="020B0604020202020204" pitchFamily="34" charset="0"/>
              <a:buChar char="•"/>
            </a:pPr>
            <a:r>
              <a:rPr lang="en-US" b="1" i="0" dirty="0">
                <a:solidFill>
                  <a:srgbClr val="212529"/>
                </a:solidFill>
                <a:effectLst/>
                <a:latin typeface="SSP Local"/>
              </a:rPr>
              <a:t>Integration</a:t>
            </a:r>
            <a:r>
              <a:rPr lang="en-US" b="0" i="0" dirty="0">
                <a:solidFill>
                  <a:srgbClr val="212529"/>
                </a:solidFill>
                <a:effectLst/>
                <a:latin typeface="SSP Local"/>
              </a:rPr>
              <a:t> with Spark SQL and </a:t>
            </a:r>
            <a:r>
              <a:rPr lang="en-US" b="0" i="0" dirty="0" err="1">
                <a:solidFill>
                  <a:srgbClr val="212529"/>
                </a:solidFill>
                <a:effectLst/>
                <a:latin typeface="SSP Local"/>
              </a:rPr>
              <a:t>MLlib</a:t>
            </a:r>
            <a:endParaRPr lang="en-US" b="0" i="0" dirty="0">
              <a:solidFill>
                <a:srgbClr val="212529"/>
              </a:solidFill>
              <a:effectLst/>
              <a:latin typeface="SSP Local"/>
            </a:endParaRPr>
          </a:p>
        </p:txBody>
      </p:sp>
    </p:spTree>
    <p:extLst>
      <p:ext uri="{BB962C8B-B14F-4D97-AF65-F5344CB8AC3E}">
        <p14:creationId xmlns:p14="http://schemas.microsoft.com/office/powerpoint/2010/main" val="1781335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1C3B-D18F-407D-C18D-ECCFA55EAD97}"/>
              </a:ext>
            </a:extLst>
          </p:cNvPr>
          <p:cNvSpPr>
            <a:spLocks noGrp="1"/>
          </p:cNvSpPr>
          <p:nvPr>
            <p:ph type="title"/>
          </p:nvPr>
        </p:nvSpPr>
        <p:spPr/>
        <p:txBody>
          <a:bodyPr/>
          <a:lstStyle/>
          <a:p>
            <a:r>
              <a:rPr lang="en-IN" dirty="0"/>
              <a:t>RDD vs Data Frame</a:t>
            </a:r>
          </a:p>
        </p:txBody>
      </p:sp>
      <p:graphicFrame>
        <p:nvGraphicFramePr>
          <p:cNvPr id="4" name="Content Placeholder 3">
            <a:extLst>
              <a:ext uri="{FF2B5EF4-FFF2-40B4-BE49-F238E27FC236}">
                <a16:creationId xmlns:a16="http://schemas.microsoft.com/office/drawing/2014/main" id="{075CAF1D-E917-041C-2D13-703ABFDF7DB9}"/>
              </a:ext>
            </a:extLst>
          </p:cNvPr>
          <p:cNvGraphicFramePr>
            <a:graphicFrameLocks noGrp="1"/>
          </p:cNvGraphicFramePr>
          <p:nvPr>
            <p:ph idx="1"/>
          </p:nvPr>
        </p:nvGraphicFramePr>
        <p:xfrm>
          <a:off x="838200" y="2583974"/>
          <a:ext cx="10515600" cy="2834640"/>
        </p:xfrm>
        <a:graphic>
          <a:graphicData uri="http://schemas.openxmlformats.org/drawingml/2006/table">
            <a:tbl>
              <a:tblPr/>
              <a:tblGrid>
                <a:gridCol w="3505200">
                  <a:extLst>
                    <a:ext uri="{9D8B030D-6E8A-4147-A177-3AD203B41FA5}">
                      <a16:colId xmlns:a16="http://schemas.microsoft.com/office/drawing/2014/main" val="2653424277"/>
                    </a:ext>
                  </a:extLst>
                </a:gridCol>
                <a:gridCol w="3505200">
                  <a:extLst>
                    <a:ext uri="{9D8B030D-6E8A-4147-A177-3AD203B41FA5}">
                      <a16:colId xmlns:a16="http://schemas.microsoft.com/office/drawing/2014/main" val="628041978"/>
                    </a:ext>
                  </a:extLst>
                </a:gridCol>
                <a:gridCol w="3505200">
                  <a:extLst>
                    <a:ext uri="{9D8B030D-6E8A-4147-A177-3AD203B41FA5}">
                      <a16:colId xmlns:a16="http://schemas.microsoft.com/office/drawing/2014/main" val="3826738946"/>
                    </a:ext>
                  </a:extLst>
                </a:gridCol>
              </a:tblGrid>
              <a:tr h="0">
                <a:tc>
                  <a:txBody>
                    <a:bodyPr/>
                    <a:lstStyle/>
                    <a:p>
                      <a:pPr>
                        <a:buNone/>
                      </a:pPr>
                      <a:r>
                        <a:rPr lang="en-IN"/>
                        <a:t>Aspect</a:t>
                      </a:r>
                    </a:p>
                  </a:txBody>
                  <a:tcPr anchor="ctr">
                    <a:lnL>
                      <a:noFill/>
                    </a:lnL>
                    <a:lnR>
                      <a:noFill/>
                    </a:lnR>
                    <a:lnT>
                      <a:noFill/>
                    </a:lnT>
                    <a:lnB>
                      <a:noFill/>
                    </a:lnB>
                    <a:noFill/>
                  </a:tcPr>
                </a:tc>
                <a:tc>
                  <a:txBody>
                    <a:bodyPr/>
                    <a:lstStyle/>
                    <a:p>
                      <a:pPr>
                        <a:buNone/>
                      </a:pPr>
                      <a:r>
                        <a:rPr lang="en-IN" b="1"/>
                        <a:t>RDD</a:t>
                      </a:r>
                      <a:endParaRPr lang="en-IN"/>
                    </a:p>
                  </a:txBody>
                  <a:tcPr anchor="ctr">
                    <a:lnL>
                      <a:noFill/>
                    </a:lnL>
                    <a:lnR>
                      <a:noFill/>
                    </a:lnR>
                    <a:lnT>
                      <a:noFill/>
                    </a:lnT>
                    <a:lnB>
                      <a:noFill/>
                    </a:lnB>
                    <a:noFill/>
                  </a:tcPr>
                </a:tc>
                <a:tc>
                  <a:txBody>
                    <a:bodyPr/>
                    <a:lstStyle/>
                    <a:p>
                      <a:pPr>
                        <a:buNone/>
                      </a:pPr>
                      <a:r>
                        <a:rPr lang="en-IN" b="1"/>
                        <a:t>DataFrame</a:t>
                      </a:r>
                      <a:endParaRPr lang="en-IN"/>
                    </a:p>
                  </a:txBody>
                  <a:tcPr anchor="ctr">
                    <a:lnL>
                      <a:noFill/>
                    </a:lnL>
                    <a:lnR>
                      <a:noFill/>
                    </a:lnR>
                    <a:lnT>
                      <a:noFill/>
                    </a:lnT>
                    <a:lnB>
                      <a:noFill/>
                    </a:lnB>
                    <a:noFill/>
                  </a:tcPr>
                </a:tc>
                <a:extLst>
                  <a:ext uri="{0D108BD9-81ED-4DB2-BD59-A6C34878D82A}">
                    <a16:rowId xmlns:a16="http://schemas.microsoft.com/office/drawing/2014/main" val="236839292"/>
                  </a:ext>
                </a:extLst>
              </a:tr>
              <a:tr h="0">
                <a:tc>
                  <a:txBody>
                    <a:bodyPr/>
                    <a:lstStyle/>
                    <a:p>
                      <a:pPr>
                        <a:buNone/>
                      </a:pPr>
                      <a:r>
                        <a:rPr lang="en-IN" b="1"/>
                        <a:t>Abstraction Level</a:t>
                      </a:r>
                      <a:endParaRPr lang="en-IN"/>
                    </a:p>
                  </a:txBody>
                  <a:tcPr anchor="ctr">
                    <a:lnL>
                      <a:noFill/>
                    </a:lnL>
                    <a:lnR>
                      <a:noFill/>
                    </a:lnR>
                    <a:lnT>
                      <a:noFill/>
                    </a:lnT>
                    <a:lnB>
                      <a:noFill/>
                    </a:lnB>
                    <a:noFill/>
                  </a:tcPr>
                </a:tc>
                <a:tc>
                  <a:txBody>
                    <a:bodyPr/>
                    <a:lstStyle/>
                    <a:p>
                      <a:pPr>
                        <a:buNone/>
                      </a:pPr>
                      <a:r>
                        <a:rPr lang="en-IN"/>
                        <a:t>Low-level</a:t>
                      </a:r>
                    </a:p>
                  </a:txBody>
                  <a:tcPr anchor="ctr">
                    <a:lnL>
                      <a:noFill/>
                    </a:lnL>
                    <a:lnR>
                      <a:noFill/>
                    </a:lnR>
                    <a:lnT>
                      <a:noFill/>
                    </a:lnT>
                    <a:lnB>
                      <a:noFill/>
                    </a:lnB>
                    <a:noFill/>
                  </a:tcPr>
                </a:tc>
                <a:tc>
                  <a:txBody>
                    <a:bodyPr/>
                    <a:lstStyle/>
                    <a:p>
                      <a:pPr>
                        <a:buNone/>
                      </a:pPr>
                      <a:r>
                        <a:rPr lang="en-IN"/>
                        <a:t>High-level</a:t>
                      </a:r>
                    </a:p>
                  </a:txBody>
                  <a:tcPr anchor="ctr">
                    <a:lnL>
                      <a:noFill/>
                    </a:lnL>
                    <a:lnR>
                      <a:noFill/>
                    </a:lnR>
                    <a:lnT>
                      <a:noFill/>
                    </a:lnT>
                    <a:lnB>
                      <a:noFill/>
                    </a:lnB>
                    <a:noFill/>
                  </a:tcPr>
                </a:tc>
                <a:extLst>
                  <a:ext uri="{0D108BD9-81ED-4DB2-BD59-A6C34878D82A}">
                    <a16:rowId xmlns:a16="http://schemas.microsoft.com/office/drawing/2014/main" val="2878542794"/>
                  </a:ext>
                </a:extLst>
              </a:tr>
              <a:tr h="0">
                <a:tc>
                  <a:txBody>
                    <a:bodyPr/>
                    <a:lstStyle/>
                    <a:p>
                      <a:pPr>
                        <a:buNone/>
                      </a:pPr>
                      <a:r>
                        <a:rPr lang="en-IN" b="1"/>
                        <a:t>Data Type</a:t>
                      </a:r>
                      <a:endParaRPr lang="en-IN"/>
                    </a:p>
                  </a:txBody>
                  <a:tcPr anchor="ctr">
                    <a:lnL>
                      <a:noFill/>
                    </a:lnL>
                    <a:lnR>
                      <a:noFill/>
                    </a:lnR>
                    <a:lnT>
                      <a:noFill/>
                    </a:lnT>
                    <a:lnB>
                      <a:noFill/>
                    </a:lnB>
                    <a:noFill/>
                  </a:tcPr>
                </a:tc>
                <a:tc>
                  <a:txBody>
                    <a:bodyPr/>
                    <a:lstStyle/>
                    <a:p>
                      <a:pPr>
                        <a:buNone/>
                      </a:pPr>
                      <a:r>
                        <a:rPr lang="en-IN"/>
                        <a:t>Objects</a:t>
                      </a:r>
                    </a:p>
                  </a:txBody>
                  <a:tcPr anchor="ctr">
                    <a:lnL>
                      <a:noFill/>
                    </a:lnL>
                    <a:lnR>
                      <a:noFill/>
                    </a:lnR>
                    <a:lnT>
                      <a:noFill/>
                    </a:lnT>
                    <a:lnB>
                      <a:noFill/>
                    </a:lnB>
                    <a:noFill/>
                  </a:tcPr>
                </a:tc>
                <a:tc>
                  <a:txBody>
                    <a:bodyPr/>
                    <a:lstStyle/>
                    <a:p>
                      <a:pPr>
                        <a:buNone/>
                      </a:pPr>
                      <a:r>
                        <a:rPr lang="en-IN"/>
                        <a:t>Structured (rows/columns)</a:t>
                      </a:r>
                    </a:p>
                  </a:txBody>
                  <a:tcPr anchor="ctr">
                    <a:lnL>
                      <a:noFill/>
                    </a:lnL>
                    <a:lnR>
                      <a:noFill/>
                    </a:lnR>
                    <a:lnT>
                      <a:noFill/>
                    </a:lnT>
                    <a:lnB>
                      <a:noFill/>
                    </a:lnB>
                    <a:noFill/>
                  </a:tcPr>
                </a:tc>
                <a:extLst>
                  <a:ext uri="{0D108BD9-81ED-4DB2-BD59-A6C34878D82A}">
                    <a16:rowId xmlns:a16="http://schemas.microsoft.com/office/drawing/2014/main" val="156220249"/>
                  </a:ext>
                </a:extLst>
              </a:tr>
              <a:tr h="0">
                <a:tc>
                  <a:txBody>
                    <a:bodyPr/>
                    <a:lstStyle/>
                    <a:p>
                      <a:pPr>
                        <a:buNone/>
                      </a:pPr>
                      <a:r>
                        <a:rPr lang="en-IN" b="1"/>
                        <a:t>Optimization</a:t>
                      </a:r>
                      <a:endParaRPr lang="en-IN"/>
                    </a:p>
                  </a:txBody>
                  <a:tcPr anchor="ctr">
                    <a:lnL>
                      <a:noFill/>
                    </a:lnL>
                    <a:lnR>
                      <a:noFill/>
                    </a:lnR>
                    <a:lnT>
                      <a:noFill/>
                    </a:lnT>
                    <a:lnB>
                      <a:noFill/>
                    </a:lnB>
                    <a:noFill/>
                  </a:tcPr>
                </a:tc>
                <a:tc>
                  <a:txBody>
                    <a:bodyPr/>
                    <a:lstStyle/>
                    <a:p>
                      <a:pPr>
                        <a:buNone/>
                      </a:pPr>
                      <a:r>
                        <a:rPr lang="en-IN"/>
                        <a:t>Manual</a:t>
                      </a:r>
                    </a:p>
                  </a:txBody>
                  <a:tcPr anchor="ctr">
                    <a:lnL>
                      <a:noFill/>
                    </a:lnL>
                    <a:lnR>
                      <a:noFill/>
                    </a:lnR>
                    <a:lnT>
                      <a:noFill/>
                    </a:lnT>
                    <a:lnB>
                      <a:noFill/>
                    </a:lnB>
                    <a:noFill/>
                  </a:tcPr>
                </a:tc>
                <a:tc>
                  <a:txBody>
                    <a:bodyPr/>
                    <a:lstStyle/>
                    <a:p>
                      <a:pPr>
                        <a:buNone/>
                      </a:pPr>
                      <a:r>
                        <a:rPr lang="en-IN"/>
                        <a:t>Automatic (Catalyst Optimizer)</a:t>
                      </a:r>
                    </a:p>
                  </a:txBody>
                  <a:tcPr anchor="ctr">
                    <a:lnL>
                      <a:noFill/>
                    </a:lnL>
                    <a:lnR>
                      <a:noFill/>
                    </a:lnR>
                    <a:lnT>
                      <a:noFill/>
                    </a:lnT>
                    <a:lnB>
                      <a:noFill/>
                    </a:lnB>
                    <a:noFill/>
                  </a:tcPr>
                </a:tc>
                <a:extLst>
                  <a:ext uri="{0D108BD9-81ED-4DB2-BD59-A6C34878D82A}">
                    <a16:rowId xmlns:a16="http://schemas.microsoft.com/office/drawing/2014/main" val="2551475158"/>
                  </a:ext>
                </a:extLst>
              </a:tr>
              <a:tr h="0">
                <a:tc>
                  <a:txBody>
                    <a:bodyPr/>
                    <a:lstStyle/>
                    <a:p>
                      <a:pPr>
                        <a:buNone/>
                      </a:pPr>
                      <a:r>
                        <a:rPr lang="en-IN" b="1"/>
                        <a:t>Ease of Use</a:t>
                      </a:r>
                      <a:endParaRPr lang="en-IN"/>
                    </a:p>
                  </a:txBody>
                  <a:tcPr anchor="ctr">
                    <a:lnL>
                      <a:noFill/>
                    </a:lnL>
                    <a:lnR>
                      <a:noFill/>
                    </a:lnR>
                    <a:lnT>
                      <a:noFill/>
                    </a:lnT>
                    <a:lnB>
                      <a:noFill/>
                    </a:lnB>
                    <a:noFill/>
                  </a:tcPr>
                </a:tc>
                <a:tc>
                  <a:txBody>
                    <a:bodyPr/>
                    <a:lstStyle/>
                    <a:p>
                      <a:pPr>
                        <a:buNone/>
                      </a:pPr>
                      <a:r>
                        <a:rPr lang="en-IN"/>
                        <a:t>Complex</a:t>
                      </a:r>
                    </a:p>
                  </a:txBody>
                  <a:tcPr anchor="ctr">
                    <a:lnL>
                      <a:noFill/>
                    </a:lnL>
                    <a:lnR>
                      <a:noFill/>
                    </a:lnR>
                    <a:lnT>
                      <a:noFill/>
                    </a:lnT>
                    <a:lnB>
                      <a:noFill/>
                    </a:lnB>
                    <a:noFill/>
                  </a:tcPr>
                </a:tc>
                <a:tc>
                  <a:txBody>
                    <a:bodyPr/>
                    <a:lstStyle/>
                    <a:p>
                      <a:pPr>
                        <a:buNone/>
                      </a:pPr>
                      <a:r>
                        <a:rPr lang="en-IN"/>
                        <a:t>Simple API</a:t>
                      </a:r>
                    </a:p>
                  </a:txBody>
                  <a:tcPr anchor="ctr">
                    <a:lnL>
                      <a:noFill/>
                    </a:lnL>
                    <a:lnR>
                      <a:noFill/>
                    </a:lnR>
                    <a:lnT>
                      <a:noFill/>
                    </a:lnT>
                    <a:lnB>
                      <a:noFill/>
                    </a:lnB>
                    <a:noFill/>
                  </a:tcPr>
                </a:tc>
                <a:extLst>
                  <a:ext uri="{0D108BD9-81ED-4DB2-BD59-A6C34878D82A}">
                    <a16:rowId xmlns:a16="http://schemas.microsoft.com/office/drawing/2014/main" val="859577697"/>
                  </a:ext>
                </a:extLst>
              </a:tr>
              <a:tr h="0">
                <a:tc>
                  <a:txBody>
                    <a:bodyPr/>
                    <a:lstStyle/>
                    <a:p>
                      <a:pPr>
                        <a:buNone/>
                      </a:pPr>
                      <a:r>
                        <a:rPr lang="en-IN" b="1"/>
                        <a:t>Performance</a:t>
                      </a:r>
                      <a:endParaRPr lang="en-IN"/>
                    </a:p>
                  </a:txBody>
                  <a:tcPr anchor="ctr">
                    <a:lnL>
                      <a:noFill/>
                    </a:lnL>
                    <a:lnR>
                      <a:noFill/>
                    </a:lnR>
                    <a:lnT>
                      <a:noFill/>
                    </a:lnT>
                    <a:lnB>
                      <a:noFill/>
                    </a:lnB>
                    <a:noFill/>
                  </a:tcPr>
                </a:tc>
                <a:tc>
                  <a:txBody>
                    <a:bodyPr/>
                    <a:lstStyle/>
                    <a:p>
                      <a:pPr>
                        <a:buNone/>
                      </a:pPr>
                      <a:r>
                        <a:rPr lang="en-IN"/>
                        <a:t>Slower</a:t>
                      </a:r>
                    </a:p>
                  </a:txBody>
                  <a:tcPr anchor="ctr">
                    <a:lnL>
                      <a:noFill/>
                    </a:lnL>
                    <a:lnR>
                      <a:noFill/>
                    </a:lnR>
                    <a:lnT>
                      <a:noFill/>
                    </a:lnT>
                    <a:lnB>
                      <a:noFill/>
                    </a:lnB>
                    <a:noFill/>
                  </a:tcPr>
                </a:tc>
                <a:tc>
                  <a:txBody>
                    <a:bodyPr/>
                    <a:lstStyle/>
                    <a:p>
                      <a:pPr>
                        <a:buNone/>
                      </a:pPr>
                      <a:r>
                        <a:rPr lang="en-IN"/>
                        <a:t>Faster (optimized execution plan)</a:t>
                      </a:r>
                    </a:p>
                  </a:txBody>
                  <a:tcPr anchor="ctr">
                    <a:lnL>
                      <a:noFill/>
                    </a:lnL>
                    <a:lnR>
                      <a:noFill/>
                    </a:lnR>
                    <a:lnT>
                      <a:noFill/>
                    </a:lnT>
                    <a:lnB>
                      <a:noFill/>
                    </a:lnB>
                    <a:noFill/>
                  </a:tcPr>
                </a:tc>
                <a:extLst>
                  <a:ext uri="{0D108BD9-81ED-4DB2-BD59-A6C34878D82A}">
                    <a16:rowId xmlns:a16="http://schemas.microsoft.com/office/drawing/2014/main" val="3817890778"/>
                  </a:ext>
                </a:extLst>
              </a:tr>
              <a:tr h="0">
                <a:tc>
                  <a:txBody>
                    <a:bodyPr/>
                    <a:lstStyle/>
                    <a:p>
                      <a:pPr>
                        <a:buNone/>
                      </a:pPr>
                      <a:r>
                        <a:rPr lang="en-IN" b="1"/>
                        <a:t>When to Use</a:t>
                      </a:r>
                      <a:endParaRPr lang="en-IN"/>
                    </a:p>
                  </a:txBody>
                  <a:tcPr anchor="ctr">
                    <a:lnL>
                      <a:noFill/>
                    </a:lnL>
                    <a:lnR>
                      <a:noFill/>
                    </a:lnR>
                    <a:lnT>
                      <a:noFill/>
                    </a:lnT>
                    <a:lnB>
                      <a:noFill/>
                    </a:lnB>
                    <a:noFill/>
                  </a:tcPr>
                </a:tc>
                <a:tc>
                  <a:txBody>
                    <a:bodyPr/>
                    <a:lstStyle/>
                    <a:p>
                      <a:pPr>
                        <a:buNone/>
                      </a:pPr>
                      <a:r>
                        <a:rPr lang="en-IN"/>
                        <a:t>Complex transformations, low-level control</a:t>
                      </a:r>
                    </a:p>
                  </a:txBody>
                  <a:tcPr anchor="ctr">
                    <a:lnL>
                      <a:noFill/>
                    </a:lnL>
                    <a:lnR>
                      <a:noFill/>
                    </a:lnR>
                    <a:lnT>
                      <a:noFill/>
                    </a:lnT>
                    <a:lnB>
                      <a:noFill/>
                    </a:lnB>
                    <a:noFill/>
                  </a:tcPr>
                </a:tc>
                <a:tc>
                  <a:txBody>
                    <a:bodyPr/>
                    <a:lstStyle/>
                    <a:p>
                      <a:pPr>
                        <a:buNone/>
                      </a:pPr>
                      <a:r>
                        <a:rPr lang="en-IN" dirty="0"/>
                        <a:t>SQL-style or structured operations</a:t>
                      </a:r>
                    </a:p>
                  </a:txBody>
                  <a:tcPr anchor="ctr">
                    <a:lnL>
                      <a:noFill/>
                    </a:lnL>
                    <a:lnR>
                      <a:noFill/>
                    </a:lnR>
                    <a:lnT>
                      <a:noFill/>
                    </a:lnT>
                    <a:lnB>
                      <a:noFill/>
                    </a:lnB>
                    <a:noFill/>
                  </a:tcPr>
                </a:tc>
                <a:extLst>
                  <a:ext uri="{0D108BD9-81ED-4DB2-BD59-A6C34878D82A}">
                    <a16:rowId xmlns:a16="http://schemas.microsoft.com/office/drawing/2014/main" val="4246028626"/>
                  </a:ext>
                </a:extLst>
              </a:tr>
            </a:tbl>
          </a:graphicData>
        </a:graphic>
      </p:graphicFrame>
    </p:spTree>
    <p:extLst>
      <p:ext uri="{BB962C8B-B14F-4D97-AF65-F5344CB8AC3E}">
        <p14:creationId xmlns:p14="http://schemas.microsoft.com/office/powerpoint/2010/main" val="1702505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1464</Words>
  <Application>Microsoft Office PowerPoint</Application>
  <PresentationFormat>Widescreen</PresentationFormat>
  <Paragraphs>203</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Courier New</vt:lpstr>
      <vt:lpstr>SSP Local</vt:lpstr>
      <vt:lpstr>Office Theme</vt:lpstr>
      <vt:lpstr>SPARK RDD</vt:lpstr>
      <vt:lpstr>PowerPoint Presentation</vt:lpstr>
      <vt:lpstr>Architecture of RDD</vt:lpstr>
      <vt:lpstr>What is an RDD?</vt:lpstr>
      <vt:lpstr>🧩 2. Key Features of RDD</vt:lpstr>
      <vt:lpstr>RDD Creation Methods</vt:lpstr>
      <vt:lpstr>RDD Operations</vt:lpstr>
      <vt:lpstr>RDD Transformations &amp; Lineage</vt:lpstr>
      <vt:lpstr>Narrow &amp; Wide Transformations</vt:lpstr>
      <vt:lpstr>PowerPoint Presentation</vt:lpstr>
      <vt:lpstr>PowerPoint Presentation</vt:lpstr>
      <vt:lpstr>Narrow</vt:lpstr>
      <vt:lpstr>Wide Transformations</vt:lpstr>
      <vt:lpstr>🧮 Common Actions</vt:lpstr>
      <vt:lpstr>RDD Persistence (Caching &amp; Checkpointing)</vt:lpstr>
      <vt:lpstr>Key-Value Pair RDDs</vt:lpstr>
      <vt:lpstr>PowerPoint Presentation</vt:lpstr>
      <vt:lpstr>RDD vs Data Frame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Data Engineering</dc:creator>
  <cp:lastModifiedBy>Data Engineering</cp:lastModifiedBy>
  <cp:revision>8</cp:revision>
  <dcterms:created xsi:type="dcterms:W3CDTF">2025-11-02T13:52:31Z</dcterms:created>
  <dcterms:modified xsi:type="dcterms:W3CDTF">2025-11-04T23:11:25Z</dcterms:modified>
</cp:coreProperties>
</file>