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87" r:id="rId3"/>
    <p:sldId id="257" r:id="rId4"/>
    <p:sldId id="28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DC06B-238A-4FA1-B0BF-ED7D1E8CF992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A93BC-ABD8-42C9-AD89-D4A53298C2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258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7A4EE-5211-5C47-25B6-3DCC60EE6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E8058-4F7F-4C1B-8AF4-1B3F0EAA5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19F81-5987-713F-3298-C5344691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DBADF-588B-4710-888D-29BA4D38D1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BFD13-6095-23D8-5780-0B756E78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64A5E-1EF8-06DA-650A-F0295079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E5A2C-A22E-42A1-8C54-52518BD34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326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E8FC0-8D0B-BA72-A8EE-9DCFF4F3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341D4-F14E-C0DD-2C2E-7159CDFFC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61F4E-7A9F-295C-4693-914F6D8D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DBADF-588B-4710-888D-29BA4D38D1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5B136-B59E-2C66-2B87-0E637BA69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F50C8-51F7-579F-CBF3-78536D140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E5A2C-A22E-42A1-8C54-52518BD34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846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3737-3D58-81E4-ABB1-8D51009D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42641-147C-39EB-D06D-A28D938C4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D51A-B029-34A6-1FA2-89FE2795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DBADF-588B-4710-888D-29BA4D38D1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9B6CB-D557-7098-DFB2-3FF697FA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0047A-14A3-280A-2EB1-13D7C2B8F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E5A2C-A22E-42A1-8C54-52518BD34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412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D69BC-DBE3-1EFD-759A-2119EF211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1A1B6-7FF2-6D40-6E88-951344494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E8CF1-A0D9-2037-625C-649AF6452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C574A-AD41-678A-880C-0100CC41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DBADF-588B-4710-888D-29BA4D38D1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41A90-FECA-B246-1A5C-2CEB6F5E5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94CA0-AFB8-1B21-EAA2-88DD57298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E5A2C-A22E-42A1-8C54-52518BD34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43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3AC6B-8416-8FA4-8396-04F67C1BF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94295-82E8-2367-91F2-B009B40F6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F80C2-0830-2781-101D-C0A06BB19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7F4D1-AA38-FFAD-53F5-91EF0CFE6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8EA16-1B87-D72E-CF38-82FF3263D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FF04E6-26D3-19E5-2C74-00FD6C623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DBADF-588B-4710-888D-29BA4D38D1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517F92-52DE-758F-A37A-B4933529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7A09B-5F31-075D-DB6E-1B04E170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E5A2C-A22E-42A1-8C54-52518BD34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20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E255F-18CA-EC2F-8CF6-C4203162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69CCB-25BB-E8F8-0323-CDD4E09C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DBADF-588B-4710-888D-29BA4D38D1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5A8E2A-C35A-C535-D92D-E973D989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4F796C-6C7E-BC4F-BB21-CF0EEC5D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E5A2C-A22E-42A1-8C54-52518BD34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85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4430F-1A20-2F0D-6BF3-B08E461C0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DBADF-588B-4710-888D-29BA4D38D1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333B77-E2C9-2604-CD9E-514F96E10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54BA3-B252-BB53-6D2A-DA39DE256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E5A2C-A22E-42A1-8C54-52518BD34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38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F1FFB-CBA9-80A6-D427-74BEB644A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90AAE-B803-DB90-0622-87416ACD9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DF9D7-8557-B934-B464-DD884C2FD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7E3C1-CD46-BFB8-8505-FB4317ED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DBADF-588B-4710-888D-29BA4D38D1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BC65B-F69B-9F1A-0ECD-5F9D161C4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3DA94-E9E9-984E-4530-45D1B184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E5A2C-A22E-42A1-8C54-52518BD34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53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50F14-100B-F569-8AD3-58E174B04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26B56-E695-B0A6-5B70-A8E6B1B4E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35B0C-F169-5D93-EAA5-D34E8F89B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11D5D-AC9E-0481-6C6C-079B9020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DBADF-588B-4710-888D-29BA4D38D1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B1AC1-718A-8BCF-3B80-DAC44314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7F7BB-A5D3-4159-6E61-402011E7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E5A2C-A22E-42A1-8C54-52518BD34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215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095F1-DE44-92F6-15FD-343F67F4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8A654-BAD7-6ECF-34D3-16EBABB84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C9E7C-FA00-AC14-64D2-A1042B2CC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DBADF-588B-4710-888D-29BA4D38D1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C99C8-C08C-D11B-6614-A194A921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EC134-EF44-75BC-0F2C-98604A838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E5A2C-A22E-42A1-8C54-52518BD34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56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C07BC2-7DA3-8DC0-B33E-318BA8859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771FE-242F-20E2-72CE-1DE0EAB19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86A60-140E-6217-82B3-B4748CFB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DBADF-588B-4710-888D-29BA4D38D1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B8947-E9F9-CE30-6133-9A2FCFD3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07577-FF50-124F-EBC7-C0264727F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E5A2C-A22E-42A1-8C54-52518BD34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63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4E7B2C-CD63-3474-D2AC-F2344C258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4B761-F429-19CE-1DBF-075BB536D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FE3AD-F0BB-C63E-A69E-863CE74CF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DBADF-588B-4710-888D-29BA4D38D170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44949-3F45-571C-0BA7-C09D88588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8CA26-0CC6-8B4E-88BA-E91E024FB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E5A2C-A22E-42A1-8C54-52518BD34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52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50E4B-93CF-36C2-DCF1-9F2385C8F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9457" y="1318306"/>
            <a:ext cx="9144000" cy="2387600"/>
          </a:xfrm>
        </p:spPr>
        <p:txBody>
          <a:bodyPr/>
          <a:lstStyle/>
          <a:p>
            <a:r>
              <a:rPr lang="en-IN" dirty="0"/>
              <a:t>Pyspark-Day1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A554CB-2233-492E-FC7C-F27BC9362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86" y="1868715"/>
            <a:ext cx="2600116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81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422C7-9640-DF1E-1A1A-1860EA14C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5343" y="0"/>
            <a:ext cx="10515600" cy="783771"/>
          </a:xfrm>
        </p:spPr>
        <p:txBody>
          <a:bodyPr/>
          <a:lstStyle/>
          <a:p>
            <a:r>
              <a:rPr lang="en-IN" b="1" dirty="0"/>
              <a:t>What is PySpark?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BDB72-878B-9C6C-53DD-C6F9C7B47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9311"/>
            <a:ext cx="11495314" cy="4351338"/>
          </a:xfrm>
        </p:spPr>
        <p:txBody>
          <a:bodyPr/>
          <a:lstStyle/>
          <a:p>
            <a:r>
              <a:rPr lang="en-US" dirty="0"/>
              <a:t>PySpark is the Python API for Apache Spark, an open-source unified analytics engine for large-scale data 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E28CE-FA92-231B-EF16-5C13768EB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07" y="4593772"/>
            <a:ext cx="104775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595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B1249-E192-63A5-13AD-24EBEEDAE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346654"/>
            <a:ext cx="11952514" cy="435133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Apache Spark ecosystem</a:t>
            </a:r>
            <a:r>
              <a:rPr lang="en-US" dirty="0"/>
              <a:t> is a collection of components and libraries that support </a:t>
            </a:r>
            <a:r>
              <a:rPr lang="en-US" b="1" dirty="0"/>
              <a:t>batch, streaming, SQL, graph, and machine learning workloads</a:t>
            </a:r>
            <a:r>
              <a:rPr lang="en-US" dirty="0"/>
              <a:t>, all built around the Spark Core engine.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4BB59-1B2D-B79D-07B4-E4AAE94CD7EE}"/>
              </a:ext>
            </a:extLst>
          </p:cNvPr>
          <p:cNvSpPr txBox="1"/>
          <p:nvPr/>
        </p:nvSpPr>
        <p:spPr>
          <a:xfrm>
            <a:off x="3799114" y="175185"/>
            <a:ext cx="67600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highlight>
                  <a:srgbClr val="FFFF00"/>
                </a:highlight>
              </a:rPr>
              <a:t>Apache Spark ecosystem</a:t>
            </a:r>
            <a:r>
              <a:rPr lang="en-US" sz="3600" dirty="0">
                <a:highlight>
                  <a:srgbClr val="FFFF00"/>
                </a:highlight>
              </a:rPr>
              <a:t> </a:t>
            </a:r>
            <a:endParaRPr lang="en-IN" sz="3600" dirty="0">
              <a:highlight>
                <a:srgbClr val="FFFF00"/>
              </a:highlight>
            </a:endParaRPr>
          </a:p>
        </p:txBody>
      </p:sp>
      <p:pic>
        <p:nvPicPr>
          <p:cNvPr id="2050" name="Picture 2" descr="Apache Spark Ecosystem Components - TechVidvan">
            <a:extLst>
              <a:ext uri="{FF2B5EF4-FFF2-40B4-BE49-F238E27FC236}">
                <a16:creationId xmlns:a16="http://schemas.microsoft.com/office/drawing/2014/main" id="{08B8F452-E417-56A9-D3C5-7F5015462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468" y="2736295"/>
            <a:ext cx="72961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205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25F72-2917-FE43-7426-CF29D7B1D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Spark SQL</a:t>
            </a:r>
            <a:r>
              <a:rPr lang="en-US" dirty="0"/>
              <a:t>: This component is designed for working with structured data and introduces </a:t>
            </a:r>
            <a:r>
              <a:rPr lang="en-US" dirty="0" err="1"/>
              <a:t>DataFrames</a:t>
            </a:r>
            <a:r>
              <a:rPr lang="en-US" dirty="0"/>
              <a:t>, which provide an optimized and developer-friendly API. Users can </a:t>
            </a:r>
            <a:r>
              <a:rPr lang="en-US" b="1" dirty="0"/>
              <a:t>query structured data using SQL or the </a:t>
            </a:r>
            <a:r>
              <a:rPr lang="en-US" b="1" dirty="0" err="1"/>
              <a:t>DataFrame</a:t>
            </a:r>
            <a:r>
              <a:rPr lang="en-US" b="1" dirty="0"/>
              <a:t> API</a:t>
            </a:r>
            <a:r>
              <a:rPr lang="en-US" dirty="0"/>
              <a:t>. </a:t>
            </a:r>
          </a:p>
          <a:p>
            <a:r>
              <a:rPr lang="en-US" b="1" dirty="0">
                <a:highlight>
                  <a:srgbClr val="FFFF00"/>
                </a:highlight>
              </a:rPr>
              <a:t>Spark Streaming: </a:t>
            </a:r>
            <a:r>
              <a:rPr lang="en-US" dirty="0"/>
              <a:t>This module makes it easier to build scalable and fault-tolerant streaming solutions by bringing the Spark API to stream processing. It supports both the </a:t>
            </a:r>
            <a:r>
              <a:rPr lang="en-US" dirty="0" err="1"/>
              <a:t>DStreams</a:t>
            </a:r>
            <a:r>
              <a:rPr lang="en-US" dirty="0"/>
              <a:t> and the newer Structured Streaming API. </a:t>
            </a:r>
          </a:p>
          <a:p>
            <a:r>
              <a:rPr lang="en-US" b="1" dirty="0" err="1">
                <a:highlight>
                  <a:srgbClr val="FFFF00"/>
                </a:highlight>
              </a:rPr>
              <a:t>MLlib</a:t>
            </a:r>
            <a:r>
              <a:rPr lang="en-US" b="1" dirty="0">
                <a:highlight>
                  <a:srgbClr val="FFFF00"/>
                </a:highlight>
              </a:rPr>
              <a:t>: </a:t>
            </a:r>
            <a:r>
              <a:rPr lang="en-US" dirty="0"/>
              <a:t>Spark's machine learning library provides scalable tools for common algorithms, including classification, regression, clustering, and recommendation. It is built on top of Spark's core and is designed to be fast.</a:t>
            </a:r>
          </a:p>
          <a:p>
            <a:r>
              <a:rPr lang="en-US" b="1" dirty="0" err="1">
                <a:highlight>
                  <a:srgbClr val="FFFF00"/>
                </a:highlight>
              </a:rPr>
              <a:t>GraphX</a:t>
            </a:r>
            <a:r>
              <a:rPr lang="en-US" b="1" dirty="0">
                <a:highlight>
                  <a:srgbClr val="FFFF00"/>
                </a:highlight>
              </a:rPr>
              <a:t>: </a:t>
            </a:r>
            <a:r>
              <a:rPr lang="en-US" dirty="0"/>
              <a:t>This is the API for performing graph and graph-parallel computations. It allows for flexible and scalable graph processing, including running common algorithms like pathfinding and clustering. </a:t>
            </a:r>
          </a:p>
          <a:p>
            <a:r>
              <a:rPr lang="en-US" b="1" dirty="0" err="1">
                <a:highlight>
                  <a:srgbClr val="FFFF00"/>
                </a:highlight>
              </a:rPr>
              <a:t>SparkR</a:t>
            </a:r>
            <a:r>
              <a:rPr lang="en-US" b="1" dirty="0">
                <a:highlight>
                  <a:srgbClr val="FFFF00"/>
                </a:highlight>
              </a:rPr>
              <a:t>: </a:t>
            </a:r>
            <a:r>
              <a:rPr lang="en-US" dirty="0"/>
              <a:t>This is the Spark package that provides the R programming language with the ability to use Spark's distributed processing capabilities. It allows R users to work with large datasets and perform operations like selection, filtering, and aggregation.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876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E773B-9DEC-0667-5DB5-13A888CB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559" y="279512"/>
            <a:ext cx="10515600" cy="45972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1. Spark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F98CD-DFE3-0D7F-7CC1-5E88767E9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37" y="904009"/>
            <a:ext cx="10515600" cy="585008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Foundation of the ecosystem — provides the basic functionality of Spark.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Handles:</a:t>
            </a:r>
          </a:p>
          <a:p>
            <a:endParaRPr lang="en-IN" dirty="0"/>
          </a:p>
          <a:p>
            <a:r>
              <a:rPr lang="en-IN" dirty="0"/>
              <a:t>Memory management</a:t>
            </a:r>
          </a:p>
          <a:p>
            <a:endParaRPr lang="en-IN" dirty="0"/>
          </a:p>
          <a:p>
            <a:r>
              <a:rPr lang="en-IN" dirty="0"/>
              <a:t>Task scheduling</a:t>
            </a:r>
          </a:p>
          <a:p>
            <a:endParaRPr lang="en-IN" dirty="0"/>
          </a:p>
          <a:p>
            <a:r>
              <a:rPr lang="en-IN" dirty="0"/>
              <a:t>Fault tolerance</a:t>
            </a:r>
          </a:p>
          <a:p>
            <a:endParaRPr lang="en-IN" dirty="0"/>
          </a:p>
          <a:p>
            <a:r>
              <a:rPr lang="en-IN" dirty="0"/>
              <a:t>Interaction with storage systems</a:t>
            </a:r>
          </a:p>
          <a:p>
            <a:endParaRPr lang="en-IN" dirty="0"/>
          </a:p>
          <a:p>
            <a:r>
              <a:rPr lang="en-IN" dirty="0"/>
              <a:t>Programming APIs: Scala, Python (PySpark), Java, R</a:t>
            </a:r>
          </a:p>
          <a:p>
            <a:endParaRPr lang="en-IN" dirty="0"/>
          </a:p>
          <a:p>
            <a:r>
              <a:rPr lang="en-IN" dirty="0"/>
              <a:t>RDD (Resilient Distributed Dataset): the fundamental data structure for distributed processing.</a:t>
            </a:r>
          </a:p>
        </p:txBody>
      </p:sp>
    </p:spTree>
    <p:extLst>
      <p:ext uri="{BB962C8B-B14F-4D97-AF65-F5344CB8AC3E}">
        <p14:creationId xmlns:p14="http://schemas.microsoft.com/office/powerpoint/2010/main" val="1213873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717D0-F659-11C7-8309-2B54338E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618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2. Spark SQL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E9941-F3EA-53C1-6F00-D88CEEEC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Enables working with structured and semi-structured data.</a:t>
            </a:r>
          </a:p>
          <a:p>
            <a:endParaRPr lang="en-IN" dirty="0"/>
          </a:p>
          <a:p>
            <a:r>
              <a:rPr lang="en-IN" dirty="0"/>
              <a:t>Supports SQL queries, </a:t>
            </a:r>
            <a:r>
              <a:rPr lang="en-IN" dirty="0" err="1"/>
              <a:t>DataFrames</a:t>
            </a:r>
            <a:r>
              <a:rPr lang="en-IN" dirty="0"/>
              <a:t>, and Datasets.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b="1" i="1" dirty="0"/>
              <a:t>Can integrate with data sources such as:</a:t>
            </a:r>
          </a:p>
          <a:p>
            <a:endParaRPr lang="en-IN" dirty="0"/>
          </a:p>
          <a:p>
            <a:r>
              <a:rPr lang="en-IN" dirty="0"/>
              <a:t>Hive, Parquet, ORC, JSON</a:t>
            </a:r>
          </a:p>
          <a:p>
            <a:endParaRPr lang="en-IN" dirty="0"/>
          </a:p>
          <a:p>
            <a:r>
              <a:rPr lang="en-IN" dirty="0"/>
              <a:t>Often used for ETL, data warehousing, and BI integrations.</a:t>
            </a:r>
          </a:p>
        </p:txBody>
      </p:sp>
    </p:spTree>
    <p:extLst>
      <p:ext uri="{BB962C8B-B14F-4D97-AF65-F5344CB8AC3E}">
        <p14:creationId xmlns:p14="http://schemas.microsoft.com/office/powerpoint/2010/main" val="1590295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296F-E4F5-91F2-C6E8-FCC8B9CB1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114" y="-81190"/>
            <a:ext cx="10515600" cy="864961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3. Spark Streaming / Structured Streaming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9C6B3-7A6F-E641-477E-F68E2A65A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368425"/>
            <a:ext cx="1197428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real-time data processing and event-driven applications.</a:t>
            </a:r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Structured Streaming: </a:t>
            </a:r>
            <a:r>
              <a:rPr lang="en-US" dirty="0"/>
              <a:t>modern API that treats streaming data as a continuous table (</a:t>
            </a:r>
            <a:r>
              <a:rPr lang="en-US" b="1" dirty="0" err="1">
                <a:highlight>
                  <a:srgbClr val="FFFF00"/>
                </a:highlight>
              </a:rPr>
              <a:t>DataFrame</a:t>
            </a:r>
            <a:r>
              <a:rPr lang="en-US" b="1" dirty="0">
                <a:highlight>
                  <a:srgbClr val="FFFF00"/>
                </a:highlight>
              </a:rPr>
              <a:t>-based</a:t>
            </a:r>
            <a:r>
              <a:rPr lang="en-US" dirty="0"/>
              <a:t>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Can process data from:</a:t>
            </a:r>
          </a:p>
          <a:p>
            <a:endParaRPr lang="en-US" dirty="0"/>
          </a:p>
          <a:p>
            <a:r>
              <a:rPr lang="en-US" dirty="0"/>
              <a:t>Kinesis.</a:t>
            </a:r>
          </a:p>
          <a:p>
            <a:endParaRPr lang="en-US" dirty="0"/>
          </a:p>
          <a:p>
            <a:r>
              <a:rPr lang="en-US" dirty="0"/>
              <a:t>Used for fraud detection, IoT analytics, real-time dashboards,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784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4797-19BD-092F-DE6A-8A0FC809D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8256"/>
            <a:ext cx="10515600" cy="765516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4. </a:t>
            </a:r>
            <a:r>
              <a:rPr lang="en-US" dirty="0" err="1">
                <a:highlight>
                  <a:srgbClr val="FFFF00"/>
                </a:highlight>
              </a:rPr>
              <a:t>MLlib</a:t>
            </a:r>
            <a:r>
              <a:rPr lang="en-US" dirty="0">
                <a:highlight>
                  <a:srgbClr val="FFFF00"/>
                </a:highlight>
              </a:rPr>
              <a:t> (Machine Learning Library)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50E00-E511-93F1-C1EF-413A43330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8" y="1455510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Spark’s built-in machine learning </a:t>
            </a:r>
            <a:r>
              <a:rPr lang="en-US" dirty="0"/>
              <a:t>and statistical analysis library.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Includes </a:t>
            </a:r>
            <a:r>
              <a:rPr lang="en-US" b="1" dirty="0">
                <a:highlight>
                  <a:srgbClr val="FFFF00"/>
                </a:highlight>
              </a:rPr>
              <a:t>algorithms</a:t>
            </a:r>
            <a:r>
              <a:rPr lang="en-US" dirty="0"/>
              <a:t> for:</a:t>
            </a:r>
          </a:p>
          <a:p>
            <a:endParaRPr lang="en-US" dirty="0"/>
          </a:p>
          <a:p>
            <a:r>
              <a:rPr lang="en-US" dirty="0"/>
              <a:t>Classification, regression, clustering, recommendation, etc.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Provides </a:t>
            </a:r>
            <a:r>
              <a:rPr lang="en-US" b="1" dirty="0">
                <a:highlight>
                  <a:srgbClr val="FFFF00"/>
                </a:highlight>
              </a:rPr>
              <a:t>utilities</a:t>
            </a:r>
            <a:r>
              <a:rPr lang="en-US" dirty="0"/>
              <a:t> for:</a:t>
            </a:r>
          </a:p>
          <a:p>
            <a:endParaRPr lang="en-US" dirty="0"/>
          </a:p>
          <a:p>
            <a:r>
              <a:rPr lang="en-US" dirty="0"/>
              <a:t>Feature extraction, transformation, model selection, and evaluation.</a:t>
            </a:r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Works with both </a:t>
            </a:r>
            <a:r>
              <a:rPr lang="en-US" b="1" dirty="0" err="1">
                <a:highlight>
                  <a:srgbClr val="FFFF00"/>
                </a:highlight>
              </a:rPr>
              <a:t>DataFrames</a:t>
            </a:r>
            <a:r>
              <a:rPr lang="en-US" b="1" dirty="0">
                <a:highlight>
                  <a:srgbClr val="FFFF00"/>
                </a:highlight>
              </a:rPr>
              <a:t> and Pipelines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5831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C69FA-90C2-E53F-CEDC-F694938C8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829" y="18256"/>
            <a:ext cx="8001000" cy="662782"/>
          </a:xfrm>
        </p:spPr>
        <p:txBody>
          <a:bodyPr>
            <a:normAutofit fontScale="90000"/>
          </a:bodyPr>
          <a:lstStyle/>
          <a:p>
            <a:r>
              <a:rPr lang="en-IN" dirty="0">
                <a:highlight>
                  <a:srgbClr val="FFFF00"/>
                </a:highlight>
              </a:rPr>
              <a:t> 5. </a:t>
            </a:r>
            <a:r>
              <a:rPr lang="en-IN" dirty="0" err="1">
                <a:highlight>
                  <a:srgbClr val="FFFF00"/>
                </a:highlight>
              </a:rPr>
              <a:t>GraphX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6C302-6AE2-E7A2-B785-AEC521A03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Library for </a:t>
            </a:r>
            <a:r>
              <a:rPr lang="en-IN" b="1" dirty="0">
                <a:highlight>
                  <a:srgbClr val="FFFF00"/>
                </a:highlight>
              </a:rPr>
              <a:t>graph processing and graph-parallel computations.</a:t>
            </a:r>
          </a:p>
          <a:p>
            <a:endParaRPr lang="en-IN" dirty="0"/>
          </a:p>
          <a:p>
            <a:r>
              <a:rPr lang="en-IN" dirty="0"/>
              <a:t>Allows representation of data as graphs (vertices and edges).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Provides </a:t>
            </a:r>
            <a:r>
              <a:rPr lang="en-IN" b="1" dirty="0">
                <a:highlight>
                  <a:srgbClr val="FFFF00"/>
                </a:highlight>
              </a:rPr>
              <a:t>algorithms</a:t>
            </a:r>
            <a:r>
              <a:rPr lang="en-IN" dirty="0"/>
              <a:t> for: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Useful for social network analysis, recommendation, and network topology.</a:t>
            </a:r>
          </a:p>
        </p:txBody>
      </p:sp>
    </p:spTree>
    <p:extLst>
      <p:ext uri="{BB962C8B-B14F-4D97-AF65-F5344CB8AC3E}">
        <p14:creationId xmlns:p14="http://schemas.microsoft.com/office/powerpoint/2010/main" val="1276608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327-BCE8-46F3-6D30-339253DC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771" y="18255"/>
            <a:ext cx="7010400" cy="1325563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6. </a:t>
            </a:r>
            <a:r>
              <a:rPr lang="en-US" dirty="0" err="1">
                <a:highlight>
                  <a:srgbClr val="FFFF00"/>
                </a:highlight>
              </a:rPr>
              <a:t>SparkR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568CD-ADAB-06DB-1890-5A378FA00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an </a:t>
            </a:r>
            <a:r>
              <a:rPr lang="en-US" b="1" dirty="0"/>
              <a:t>R interface</a:t>
            </a:r>
            <a:r>
              <a:rPr lang="en-US" dirty="0"/>
              <a:t> for Spark.</a:t>
            </a:r>
          </a:p>
          <a:p>
            <a:r>
              <a:rPr lang="en-US" dirty="0"/>
              <a:t>Enables R users to perform distributed data analysis using </a:t>
            </a:r>
            <a:r>
              <a:rPr lang="en-US" dirty="0" err="1"/>
              <a:t>DataFrames</a:t>
            </a:r>
            <a:r>
              <a:rPr lang="en-US" dirty="0"/>
              <a:t> and SQL queries.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6737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1AC1F-DD95-FCBC-B59D-BE696FD7C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771" y="18255"/>
            <a:ext cx="10515600" cy="1325563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7. PySpark</a:t>
            </a:r>
            <a:br>
              <a:rPr lang="en-US" dirty="0">
                <a:highlight>
                  <a:srgbClr val="FFFF00"/>
                </a:highlight>
              </a:rPr>
            </a:b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D1CA9-3909-BE51-6C0B-E640D90B5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API for Apache Spark.</a:t>
            </a:r>
          </a:p>
          <a:p>
            <a:r>
              <a:rPr lang="en-US" dirty="0"/>
              <a:t>Allows Python developers to use Spark’s features for distributed data processing and ML.</a:t>
            </a:r>
          </a:p>
          <a:p>
            <a:r>
              <a:rPr lang="en-US" dirty="0"/>
              <a:t>Integrates well with </a:t>
            </a:r>
            <a:r>
              <a:rPr lang="en-US" b="1" dirty="0"/>
              <a:t>Pandas</a:t>
            </a:r>
            <a:r>
              <a:rPr lang="en-US" dirty="0"/>
              <a:t>, </a:t>
            </a:r>
            <a:r>
              <a:rPr lang="en-US" b="1" dirty="0"/>
              <a:t>NumPy</a:t>
            </a:r>
            <a:r>
              <a:rPr lang="en-US" dirty="0"/>
              <a:t>, and </a:t>
            </a:r>
            <a:r>
              <a:rPr lang="en-US" b="1" dirty="0"/>
              <a:t>Scikit-learn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3264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2F3A0-D627-D96D-7A98-F5A3CC583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71" y="1825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8. Delta Lake (Modern Data Lake Storage Layer)</a:t>
            </a:r>
            <a:br>
              <a:rPr lang="en-IN" b="1" dirty="0">
                <a:highlight>
                  <a:srgbClr val="FFFF00"/>
                </a:highlight>
              </a:rPr>
            </a:b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9D312-DEA1-C6AB-B0EF-91960487F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Adds </a:t>
            </a:r>
            <a:r>
              <a:rPr lang="en-IN" b="1" dirty="0"/>
              <a:t>ACID transactions</a:t>
            </a:r>
            <a:r>
              <a:rPr lang="en-IN" dirty="0"/>
              <a:t>, </a:t>
            </a:r>
            <a:r>
              <a:rPr lang="en-IN" b="1" dirty="0"/>
              <a:t>schema enforcement</a:t>
            </a:r>
            <a:r>
              <a:rPr lang="en-IN" dirty="0"/>
              <a:t>, and </a:t>
            </a:r>
            <a:r>
              <a:rPr lang="en-IN" b="1" dirty="0"/>
              <a:t>time travel</a:t>
            </a:r>
            <a:r>
              <a:rPr lang="en-IN" dirty="0"/>
              <a:t> to data lakes.</a:t>
            </a:r>
          </a:p>
          <a:p>
            <a:r>
              <a:rPr lang="en-IN" dirty="0"/>
              <a:t>Unifies </a:t>
            </a:r>
            <a:r>
              <a:rPr lang="en-IN" b="1" dirty="0"/>
              <a:t>batch and streaming</a:t>
            </a:r>
            <a:r>
              <a:rPr lang="en-IN" dirty="0"/>
              <a:t> pipelines on Spark.</a:t>
            </a:r>
          </a:p>
          <a:p>
            <a:r>
              <a:rPr lang="en-IN" dirty="0"/>
              <a:t>Often used with </a:t>
            </a:r>
            <a:r>
              <a:rPr lang="en-IN" b="1" dirty="0"/>
              <a:t>Databricks</a:t>
            </a:r>
            <a:r>
              <a:rPr lang="en-IN" dirty="0"/>
              <a:t> or </a:t>
            </a:r>
            <a:r>
              <a:rPr lang="en-IN" b="1" dirty="0"/>
              <a:t>open-source Delta Lake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877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EAC9-49C5-5C19-6AEC-DEC502C47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825" y="153039"/>
            <a:ext cx="10515600" cy="60267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Hadoop vs Spark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7D34BD-73A9-116A-00A4-CC0375951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545" y="1059874"/>
            <a:ext cx="11191010" cy="42083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E99FF7-23B9-626A-8F2C-7B37B8509630}"/>
              </a:ext>
            </a:extLst>
          </p:cNvPr>
          <p:cNvSpPr txBox="1"/>
          <p:nvPr/>
        </p:nvSpPr>
        <p:spPr>
          <a:xfrm>
            <a:off x="932583" y="5480294"/>
            <a:ext cx="103649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In Simple Terms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Hadoop</a:t>
            </a:r>
            <a:r>
              <a:rPr lang="en-US" dirty="0"/>
              <a:t> = </a:t>
            </a:r>
            <a:r>
              <a:rPr lang="en-US" b="1" dirty="0">
                <a:highlight>
                  <a:srgbClr val="FFFF00"/>
                </a:highlight>
              </a:rPr>
              <a:t>Disk-based Storage + Processing → Reliable, slower, good for big batch ETL.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Spark</a:t>
            </a:r>
            <a:r>
              <a:rPr lang="en-US" dirty="0"/>
              <a:t> = </a:t>
            </a:r>
            <a:r>
              <a:rPr lang="en-US" b="1" dirty="0">
                <a:highlight>
                  <a:srgbClr val="FFFF00"/>
                </a:highlight>
              </a:rPr>
              <a:t>In-memory Compute Engine → Fast, versatile, ideal for analytics, ML, and streaming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8777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6F660-26E7-16C9-ABDF-4E4F5980B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109" y="2619952"/>
            <a:ext cx="10515600" cy="1325563"/>
          </a:xfrm>
        </p:spPr>
        <p:txBody>
          <a:bodyPr/>
          <a:lstStyle/>
          <a:p>
            <a:r>
              <a:rPr lang="en-IN" b="1" dirty="0"/>
              <a:t>Local vs Cluster Mode</a:t>
            </a:r>
            <a:br>
              <a:rPr lang="en-IN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7523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276E0B-0927-4A15-8695-91CF53F3A1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41174"/>
          <a:ext cx="10515600" cy="19202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1168841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03933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457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Local Mode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Spark runs </a:t>
                      </a:r>
                      <a:r>
                        <a:rPr lang="en-US" b="1" dirty="0"/>
                        <a:t>entirely on a single machine (your laptop/server)</a:t>
                      </a:r>
                      <a:r>
                        <a:rPr lang="en-US" dirty="0"/>
                        <a:t> — driver and executors all in one JVM process.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202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Cluster Mode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Spark runs on </a:t>
                      </a:r>
                      <a:r>
                        <a:rPr lang="en-US" b="1" dirty="0"/>
                        <a:t>multiple nodes (machines)</a:t>
                      </a:r>
                      <a:r>
                        <a:rPr lang="en-US" dirty="0"/>
                        <a:t> — the driver and executors are distributed across the cluster.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646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355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43DF-E4CA-E987-75DA-6C0039ABD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4057" y="0"/>
            <a:ext cx="10515600" cy="794657"/>
          </a:xfrm>
        </p:spPr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Local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51D4-93FF-A1D1-A29A-C395E1B77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1509939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What It Is:</a:t>
            </a:r>
          </a:p>
          <a:p>
            <a:r>
              <a:rPr lang="en-US" dirty="0"/>
              <a:t>Spark runs locally, using your computer’s CPU cores.</a:t>
            </a:r>
          </a:p>
          <a:p>
            <a:r>
              <a:rPr lang="en-US" dirty="0"/>
              <a:t>No cluster manager (like YARN, Kubernetes, or Mesos) is involved.</a:t>
            </a:r>
          </a:p>
          <a:p>
            <a:r>
              <a:rPr lang="en-US" dirty="0"/>
              <a:t>Ideal for </a:t>
            </a:r>
            <a:r>
              <a:rPr lang="en-US" b="1" dirty="0"/>
              <a:t>testing, development, or small datasets</a:t>
            </a:r>
            <a:r>
              <a:rPr lang="en-US" dirty="0"/>
              <a:t>.</a:t>
            </a:r>
          </a:p>
          <a:p>
            <a:r>
              <a:rPr lang="en-US" dirty="0"/>
              <a:t>spark-submit --master local[*] app.py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✅ Advantages:</a:t>
            </a:r>
          </a:p>
          <a:p>
            <a:r>
              <a:rPr lang="en-US" dirty="0"/>
              <a:t>Easy to set up (no cluster config).</a:t>
            </a:r>
          </a:p>
          <a:p>
            <a:r>
              <a:rPr lang="en-US" dirty="0"/>
              <a:t>Good for debugging or prototyping.</a:t>
            </a:r>
          </a:p>
          <a:p>
            <a:r>
              <a:rPr lang="en-US" dirty="0"/>
              <a:t>No need for distributed resources.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6170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98D0-D5C7-8F0B-703E-8A95612EB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882" y="0"/>
            <a:ext cx="10515600" cy="374073"/>
          </a:xfrm>
        </p:spPr>
        <p:txBody>
          <a:bodyPr>
            <a:normAutofit fontScale="90000"/>
          </a:bodyPr>
          <a:lstStyle/>
          <a:p>
            <a:r>
              <a:rPr lang="en-IN" dirty="0"/>
              <a:t>Cluster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14CE9-ECC5-C10D-62A3-60913F60A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18" y="1025525"/>
            <a:ext cx="11312237" cy="57077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What It Is:</a:t>
            </a:r>
          </a:p>
          <a:p>
            <a:r>
              <a:rPr lang="en-US" dirty="0"/>
              <a:t>Spark runs on </a:t>
            </a:r>
            <a:r>
              <a:rPr lang="en-US" b="1" dirty="0"/>
              <a:t>a distributed cluster of multiple nodes</a:t>
            </a:r>
            <a:r>
              <a:rPr lang="en-US" dirty="0"/>
              <a:t>.</a:t>
            </a:r>
          </a:p>
          <a:p>
            <a:r>
              <a:rPr lang="en-US" dirty="0"/>
              <a:t>The workload is distributed across </a:t>
            </a:r>
            <a:r>
              <a:rPr lang="en-US" b="1" dirty="0"/>
              <a:t>worker nodes</a:t>
            </a:r>
            <a:r>
              <a:rPr lang="en-US" dirty="0"/>
              <a:t>.</a:t>
            </a:r>
          </a:p>
          <a:p>
            <a:r>
              <a:rPr lang="en-US" dirty="0"/>
              <a:t>Managed by a </a:t>
            </a:r>
            <a:r>
              <a:rPr lang="en-US" b="1" dirty="0"/>
              <a:t>cluster manager</a:t>
            </a:r>
            <a:r>
              <a:rPr lang="en-US" dirty="0"/>
              <a:t> (YARN, Kubernetes, Mesos, or Spark Standalone).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spark-submit \</a:t>
            </a:r>
          </a:p>
          <a:p>
            <a:pPr marL="0" indent="0">
              <a:buNone/>
            </a:pPr>
            <a:r>
              <a:rPr lang="en-IN" dirty="0"/>
              <a:t>  --master spark://master-node:7077 \</a:t>
            </a:r>
          </a:p>
          <a:p>
            <a:pPr marL="0" indent="0">
              <a:buNone/>
            </a:pPr>
            <a:r>
              <a:rPr lang="en-IN" dirty="0"/>
              <a:t>  --deploy-mode cluster \</a:t>
            </a:r>
          </a:p>
          <a:p>
            <a:pPr marL="0" indent="0">
              <a:buNone/>
            </a:pPr>
            <a:r>
              <a:rPr lang="en-IN" dirty="0"/>
              <a:t>  app.py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on YARN:</a:t>
            </a:r>
          </a:p>
          <a:p>
            <a:pPr marL="0" indent="0">
              <a:buNone/>
            </a:pPr>
            <a:r>
              <a:rPr lang="en-US" dirty="0"/>
              <a:t>spark-submit --master yarn --deploy-mode cluster app.py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113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A43F8-BA01-DD1C-E9F8-EEA254BBD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1"/>
            <a:ext cx="10515600" cy="838200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Key Components in Cluster Mode</a:t>
            </a:r>
            <a:endParaRPr lang="en-IN" dirty="0">
              <a:highlight>
                <a:srgbClr val="FFFF00"/>
              </a:highligh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7B4422-D1F5-B893-88A9-77D24A615A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6473030"/>
              </p:ext>
            </p:extLst>
          </p:nvPr>
        </p:nvGraphicFramePr>
        <p:xfrm>
          <a:off x="457200" y="2240280"/>
          <a:ext cx="10515600" cy="23774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1413988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79513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45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Driver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Coordinates the Spark job; creates DAG, schedules tasks.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52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Executors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 tasks assigned by the driver; perform actual data processing.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094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Cluster Manager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Allocates resources and manages nodes.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395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Worker Nodes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Machines that host executors.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90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291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935B-C346-BADD-FE07-A020524C7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9657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Local vs Cluster Mode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DF0FA1-B4D0-AD9F-8D59-7C6644D669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5026374"/>
              </p:ext>
            </p:extLst>
          </p:nvPr>
        </p:nvGraphicFramePr>
        <p:xfrm>
          <a:off x="92529" y="797921"/>
          <a:ext cx="12006942" cy="5358211"/>
        </p:xfrm>
        <a:graphic>
          <a:graphicData uri="http://schemas.openxmlformats.org/drawingml/2006/table">
            <a:tbl>
              <a:tblPr/>
              <a:tblGrid>
                <a:gridCol w="4002314">
                  <a:extLst>
                    <a:ext uri="{9D8B030D-6E8A-4147-A177-3AD203B41FA5}">
                      <a16:colId xmlns:a16="http://schemas.microsoft.com/office/drawing/2014/main" val="1561199076"/>
                    </a:ext>
                  </a:extLst>
                </a:gridCol>
                <a:gridCol w="4002314">
                  <a:extLst>
                    <a:ext uri="{9D8B030D-6E8A-4147-A177-3AD203B41FA5}">
                      <a16:colId xmlns:a16="http://schemas.microsoft.com/office/drawing/2014/main" val="1066162639"/>
                    </a:ext>
                  </a:extLst>
                </a:gridCol>
                <a:gridCol w="4002314">
                  <a:extLst>
                    <a:ext uri="{9D8B030D-6E8A-4147-A177-3AD203B41FA5}">
                      <a16:colId xmlns:a16="http://schemas.microsoft.com/office/drawing/2014/main" val="867570036"/>
                    </a:ext>
                  </a:extLst>
                </a:gridCol>
              </a:tblGrid>
              <a:tr h="1268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solidFill>
                            <a:srgbClr val="FF0000"/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>
                          <a:solidFill>
                            <a:srgbClr val="FF0000"/>
                          </a:solidFill>
                        </a:rPr>
                        <a:t>Local Mode</a:t>
                      </a:r>
                      <a:endParaRPr lang="en-IN" sz="32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solidFill>
                            <a:srgbClr val="FF0000"/>
                          </a:solidFill>
                        </a:rPr>
                        <a:t>Cluster Mode</a:t>
                      </a:r>
                      <a:endParaRPr lang="en-IN" sz="3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43915"/>
                  </a:ext>
                </a:extLst>
              </a:tr>
              <a:tr h="52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machine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nodes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231795"/>
                  </a:ext>
                </a:extLst>
              </a:tr>
              <a:tr h="52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(needs cluster manager)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058065"/>
                  </a:ext>
                </a:extLst>
              </a:tr>
              <a:tr h="52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Highly scalable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405039"/>
                  </a:ext>
                </a:extLst>
              </a:tr>
              <a:tr h="52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by one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Distributed, faster for large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055254"/>
                  </a:ext>
                </a:extLst>
              </a:tr>
              <a:tr h="52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Development,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Production, big data workloads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426651"/>
                  </a:ext>
                </a:extLst>
              </a:tr>
              <a:tr h="527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Resource Allocation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CPU cores on one machine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Managed across nodes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573157"/>
                  </a:ext>
                </a:extLst>
              </a:tr>
              <a:tr h="923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Example 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--master local[*]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--master yarn</a:t>
                      </a:r>
                      <a:r>
                        <a:rPr lang="en-IN" dirty="0"/>
                        <a:t> /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--master spark://...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677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949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1BB78B-AF7A-1777-39E2-659B7F472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944954"/>
              </p:ext>
            </p:extLst>
          </p:nvPr>
        </p:nvGraphicFramePr>
        <p:xfrm>
          <a:off x="838200" y="381000"/>
          <a:ext cx="10515600" cy="46634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010955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1944910"/>
                    </a:ext>
                  </a:extLst>
                </a:gridCol>
              </a:tblGrid>
              <a:tr h="929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0" b="1" dirty="0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0" b="1" dirty="0"/>
                        <a:t>Recommended 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254212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FF0000"/>
                          </a:solidFill>
                        </a:rPr>
                        <a:t>Testing PySpark script locally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rgbClr val="FF0000"/>
                          </a:solidFill>
                        </a:rPr>
                        <a:t>Local Mode</a:t>
                      </a:r>
                      <a:endParaRPr lang="en-IN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806964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Developing a Spark ML pipeline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rgbClr val="FF0000"/>
                          </a:solidFill>
                        </a:rPr>
                        <a:t>Local Mode</a:t>
                      </a:r>
                      <a:endParaRPr lang="en-IN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929237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highlight>
                            <a:srgbClr val="FFFF00"/>
                          </a:highlight>
                        </a:rPr>
                        <a:t>Running ETL jobs on large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highlight>
                            <a:srgbClr val="FFFF00"/>
                          </a:highlight>
                        </a:rPr>
                        <a:t>Cluster Mode</a:t>
                      </a:r>
                      <a:endParaRPr lang="en-IN" sz="280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598905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highlight>
                            <a:srgbClr val="FFFF00"/>
                          </a:highlight>
                        </a:rPr>
                        <a:t>Real-time data streaming from kinesis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highlight>
                            <a:srgbClr val="FFFF00"/>
                          </a:highlight>
                        </a:rPr>
                        <a:t>Cluster Mode</a:t>
                      </a:r>
                      <a:endParaRPr lang="en-IN" sz="2800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19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3594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982</Words>
  <Application>Microsoft Office PowerPoint</Application>
  <PresentationFormat>Widescreen</PresentationFormat>
  <Paragraphs>160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Office Theme</vt:lpstr>
      <vt:lpstr>Pyspark-Day1</vt:lpstr>
      <vt:lpstr>What is PySpark?</vt:lpstr>
      <vt:lpstr>PowerPoint Presentation</vt:lpstr>
      <vt:lpstr>PowerPoint Presentation</vt:lpstr>
      <vt:lpstr>1. Spark Core</vt:lpstr>
      <vt:lpstr>2. Spark SQL</vt:lpstr>
      <vt:lpstr>3. Spark Streaming / Structured Streaming</vt:lpstr>
      <vt:lpstr>4. MLlib (Machine Learning Library)</vt:lpstr>
      <vt:lpstr> 5. GraphX</vt:lpstr>
      <vt:lpstr>6. SparkR </vt:lpstr>
      <vt:lpstr>7. PySpark </vt:lpstr>
      <vt:lpstr>8. Delta Lake (Modern Data Lake Storage Layer) </vt:lpstr>
      <vt:lpstr>Hadoop vs Spark</vt:lpstr>
      <vt:lpstr>Local vs Cluster Mode </vt:lpstr>
      <vt:lpstr>PowerPoint Presentation</vt:lpstr>
      <vt:lpstr>Local Mode</vt:lpstr>
      <vt:lpstr>Cluster Mode</vt:lpstr>
      <vt:lpstr>Key Components in Cluster Mode</vt:lpstr>
      <vt:lpstr>Local vs Cluster Mode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Engineering</dc:creator>
  <cp:lastModifiedBy>Rajesh Kumar Devabhaktuni</cp:lastModifiedBy>
  <cp:revision>15</cp:revision>
  <dcterms:created xsi:type="dcterms:W3CDTF">2025-10-26T02:44:31Z</dcterms:created>
  <dcterms:modified xsi:type="dcterms:W3CDTF">2026-02-23T03:56:37Z</dcterms:modified>
</cp:coreProperties>
</file>