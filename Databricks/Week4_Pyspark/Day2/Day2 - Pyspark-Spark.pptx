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87" r:id="rId4"/>
    <p:sldId id="269" r:id="rId5"/>
    <p:sldId id="260" r:id="rId6"/>
    <p:sldId id="261" r:id="rId7"/>
    <p:sldId id="268" r:id="rId8"/>
    <p:sldId id="262" r:id="rId9"/>
    <p:sldId id="288" r:id="rId10"/>
    <p:sldId id="263" r:id="rId11"/>
    <p:sldId id="270" r:id="rId12"/>
    <p:sldId id="283" r:id="rId13"/>
    <p:sldId id="284" r:id="rId14"/>
    <p:sldId id="264" r:id="rId15"/>
    <p:sldId id="266" r:id="rId16"/>
    <p:sldId id="272" r:id="rId17"/>
    <p:sldId id="265" r:id="rId18"/>
    <p:sldId id="267" r:id="rId19"/>
    <p:sldId id="28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CDC7-C40C-E0D7-FDAF-07F07BD53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82274-2B0C-4CCE-7126-D7BA6B3FB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C248D-4089-69CA-2818-5E8C55CD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2500-3051-4C1C-9B6B-5F37074E45F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7B81-056A-2879-293A-28179ABE7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5764A-515C-488B-13AD-4C319FF86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E362-0C5A-4E72-ABE9-5BB832181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7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694DD-C085-0521-4099-4B1B0A44C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8DDF1-EAFC-FB1B-8204-E83E982EA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C1D7-D937-3510-471A-8F9C58A82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2500-3051-4C1C-9B6B-5F37074E45F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0C459-149C-D69D-4052-71177C09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48B12-1E51-1266-FBDA-C899F783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E362-0C5A-4E72-ABE9-5BB832181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139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BDD1E-EADA-4A35-4AE9-ABF0974B9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BB90F-84B9-7458-55C8-4F6125D4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C5336-C1EB-CB9B-96E1-8CF793267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2500-3051-4C1C-9B6B-5F37074E45F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03DB6-2314-3DAD-45E3-1A7A0C47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D1BF3-42E0-2C6B-EFAA-76679639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E362-0C5A-4E72-ABE9-5BB832181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021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A9E4F-9FF4-CA4B-5B46-0C27A9DB2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1FDB7-B766-25AD-6E5D-31AB7D623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DC4BE-3D44-6A86-042D-6FE324303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87D3F-0D20-D1EF-EF07-EC9F8A84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2500-3051-4C1C-9B6B-5F37074E45F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473FD-7E17-6125-E756-BCB2AB04F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1731D-8B11-6519-CA59-FEAD6CFD3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E362-0C5A-4E72-ABE9-5BB832181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82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EE1E-3242-4C93-6CFE-8E6984CE1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4FBA3-9801-A7AA-D1F5-FAA33D10D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53D1C-CD08-D8B2-21AF-1620B93AA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304E1-33DF-21D7-3C9A-8A73BF649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FF758-DFAA-E9F3-08BA-A2BF8E35B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0EC2B7-1396-6360-96D4-FBAC5C850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2500-3051-4C1C-9B6B-5F37074E45F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DF752-3DB5-E053-399B-73593F58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D4FCEC-5C95-6341-5040-4BE0EC27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E362-0C5A-4E72-ABE9-5BB832181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5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E8296-88CA-37BB-9550-D482BEAB0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89012-C727-77CD-45A6-11E884B4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2500-3051-4C1C-9B6B-5F37074E45F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7724A3-D238-1AF1-49AE-A97A1A7D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4BDEC-94AB-57E0-3A5A-9955C81F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E362-0C5A-4E72-ABE9-5BB832181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959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B8BBD-85B9-9EE5-BA83-47AEDD74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2500-3051-4C1C-9B6B-5F37074E45F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85775C-D183-BCC8-BB93-ADE531859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A9A85-B8F4-0DDC-90B1-3CA9CA36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E362-0C5A-4E72-ABE9-5BB832181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262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A9956-E891-0A2D-FEB2-4912CA3F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8E638-A48A-1496-A246-899C64419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0A29F-2876-6AEB-9982-6449859EB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DBB2E-134B-EF32-F820-46F5F95BF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2500-3051-4C1C-9B6B-5F37074E45F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59120-FC13-F727-F68D-A38556331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2BB2F-B1D8-B868-5F98-8F9EC751C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E362-0C5A-4E72-ABE9-5BB832181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952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145C0-40B9-DE6D-5BE5-25011BC5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78423-8E30-1744-2F2D-8965438A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537FC-E3DB-2024-C5AD-67385673E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3FBF4-9583-D7A1-C25D-4A48286D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2500-3051-4C1C-9B6B-5F37074E45F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F7AEE-DE67-3BAA-96F3-6367B729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8AF48-8E5B-2A9A-2604-D488D63B5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E362-0C5A-4E72-ABE9-5BB832181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80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E4B6-13AD-5686-2F82-C6C560817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D9C07-E076-2DE5-3112-B4C8F21E8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21B08-E387-9C24-00CE-5333A9152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2500-3051-4C1C-9B6B-5F37074E45F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CB534-17A7-374F-164A-7BF669C22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86886-8CCF-C2A0-5A1A-CA60495DA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E362-0C5A-4E72-ABE9-5BB832181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417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C20691-54FA-A7F5-7CFA-CDFE940DE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E7B69-816E-3BF5-D277-D8C3BFED1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C7BDA-AA72-5DB2-4825-5EA4CDE5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2500-3051-4C1C-9B6B-5F37074E45F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B9D60-3BFF-0E2A-0A62-FFA16906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9DA1C-4592-36B9-E160-4CD54F23C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E362-0C5A-4E72-ABE9-5BB832181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940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3B4D6-5A43-2112-F441-E697B2A0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D12D6-C497-4296-7DAB-06E3025AC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46BD8-B0C4-350C-61DD-013DD06521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52500-3051-4C1C-9B6B-5F37074E45F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A867B-444F-E99D-3016-B9CEB567E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62D81-92A2-5433-C9D3-189F1F527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CE362-0C5A-4E72-ABE9-5BB832181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48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12FE-3261-D2A1-1627-96FF6828D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9028" y="2764971"/>
            <a:ext cx="6271655" cy="79051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Spark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18FAD4-9C5F-2514-3467-F8AA7941D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859" y="1652980"/>
            <a:ext cx="2600116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54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3B487-AB97-1370-3B2F-A72338FF8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670" y="532986"/>
            <a:ext cx="8015921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97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02F69-841C-F99E-0A80-DD05F9A0A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4351338"/>
          </a:xfrm>
        </p:spPr>
        <p:txBody>
          <a:bodyPr/>
          <a:lstStyle/>
          <a:p>
            <a:r>
              <a:rPr lang="en-US" dirty="0"/>
              <a:t>Apache Spark follows a master-slave architecture. </a:t>
            </a:r>
          </a:p>
          <a:p>
            <a:r>
              <a:rPr lang="en-US" dirty="0"/>
              <a:t>It distributes data and computation across multiple nodes to process large-scale data efficiently.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41DCCE-5334-9E34-432E-E17A28C72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86" y="1587397"/>
            <a:ext cx="10570028" cy="499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4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15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5B604-EE47-2BD2-9C05-9EC57AECD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57037"/>
            <a:ext cx="10905066" cy="414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46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5534-94C6-C7AC-5880-FDF8B19FF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Spark Cluster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45309-D2DD-6F50-728B-BEF8CB588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5" y="2533476"/>
            <a:ext cx="3443514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Cluster Manager</a:t>
            </a:r>
            <a:r>
              <a:rPr lang="en-US" sz="2000" dirty="0"/>
              <a:t> is responsible for managing cluster resources (CPU, Memory) and allocating them to Spark applications.</a:t>
            </a:r>
          </a:p>
          <a:p>
            <a:endParaRPr lang="en-US" sz="2000" dirty="0"/>
          </a:p>
          <a:p>
            <a:r>
              <a:rPr lang="en-US" sz="2000" dirty="0"/>
              <a:t>Types of Cluster Managers:</a:t>
            </a:r>
          </a:p>
          <a:p>
            <a:endParaRPr lang="en-US" sz="2000" dirty="0"/>
          </a:p>
          <a:p>
            <a:endParaRPr lang="en-US" sz="2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E2142B-6614-D9CF-EB59-486159F0A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111989"/>
              </p:ext>
            </p:extLst>
          </p:nvPr>
        </p:nvGraphicFramePr>
        <p:xfrm>
          <a:off x="787114" y="1072665"/>
          <a:ext cx="6449550" cy="4642030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2351551">
                  <a:extLst>
                    <a:ext uri="{9D8B030D-6E8A-4147-A177-3AD203B41FA5}">
                      <a16:colId xmlns:a16="http://schemas.microsoft.com/office/drawing/2014/main" val="3118224727"/>
                    </a:ext>
                  </a:extLst>
                </a:gridCol>
                <a:gridCol w="4097999">
                  <a:extLst>
                    <a:ext uri="{9D8B030D-6E8A-4147-A177-3AD203B41FA5}">
                      <a16:colId xmlns:a16="http://schemas.microsoft.com/office/drawing/2014/main" val="1212157961"/>
                    </a:ext>
                  </a:extLst>
                </a:gridCol>
              </a:tblGrid>
              <a:tr h="11577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Cluster Manager</a:t>
                      </a:r>
                    </a:p>
                  </a:txBody>
                  <a:tcPr marL="212987" marR="181060" marT="163836" marB="16383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Used For</a:t>
                      </a:r>
                    </a:p>
                  </a:txBody>
                  <a:tcPr marL="212987" marR="181060" marT="163836" marB="16383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769452"/>
                  </a:ext>
                </a:extLst>
              </a:tr>
              <a:tr h="7754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Standalone</a:t>
                      </a:r>
                      <a:endParaRPr lang="en-US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2987" marR="181060" marT="163836" marB="16383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Spark’s built-in manager</a:t>
                      </a:r>
                    </a:p>
                  </a:txBody>
                  <a:tcPr marL="212987" marR="181060" marT="163836" marB="16383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225316"/>
                  </a:ext>
                </a:extLst>
              </a:tr>
              <a:tr h="7754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YARN</a:t>
                      </a:r>
                      <a:endParaRPr lang="en-US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2987" marR="181060" marT="163836" marB="16383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Hadoop ecosystem</a:t>
                      </a:r>
                    </a:p>
                  </a:txBody>
                  <a:tcPr marL="212987" marR="181060" marT="163836" marB="16383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786607"/>
                  </a:ext>
                </a:extLst>
              </a:tr>
              <a:tr h="7754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Mesos</a:t>
                      </a:r>
                      <a:endParaRPr lang="en-US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2987" marR="181060" marT="163836" marB="16383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General cluster manager</a:t>
                      </a:r>
                    </a:p>
                  </a:txBody>
                  <a:tcPr marL="212987" marR="181060" marT="163836" marB="16383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13229"/>
                  </a:ext>
                </a:extLst>
              </a:tr>
              <a:tr h="11577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Kubernetes</a:t>
                      </a:r>
                      <a:endParaRPr lang="en-US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2987" marR="181060" marT="163836" marB="16383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Container-based deployment</a:t>
                      </a:r>
                    </a:p>
                  </a:txBody>
                  <a:tcPr marL="212987" marR="181060" marT="163836" marB="16383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950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4171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839B1C97-ECC8-2D79-7DB2-CE01ADEE9D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45" r="40456" b="-446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A1D8546-9833-13C3-EF8C-6A4F55AEA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/>
          </a:bodyPr>
          <a:lstStyle/>
          <a:p>
            <a:r>
              <a:rPr lang="en-US" sz="2000"/>
              <a:t>Architecture:</a:t>
            </a:r>
          </a:p>
          <a:p>
            <a:endParaRPr lang="en-US" sz="2000"/>
          </a:p>
          <a:p>
            <a:pPr marL="0" indent="0">
              <a:buNone/>
            </a:pPr>
            <a:r>
              <a:rPr lang="en-US" sz="2000"/>
              <a:t>Driver → Cluster Manager → Executors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Cluster manager decides:</a:t>
            </a:r>
          </a:p>
          <a:p>
            <a:r>
              <a:rPr lang="en-US" sz="2000"/>
              <a:t>How many executors</a:t>
            </a:r>
          </a:p>
          <a:p>
            <a:r>
              <a:rPr lang="en-US" sz="2000"/>
              <a:t>Memory per executor</a:t>
            </a:r>
          </a:p>
          <a:p>
            <a:r>
              <a:rPr lang="en-US" sz="2000"/>
              <a:t>CPU cores allocation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67683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2AAF8-4E59-9E0D-B6B4-DA3CB40A5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2. Driver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FE8970-B6E2-9EB2-741C-49625A005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45839"/>
            <a:ext cx="10905066" cy="42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3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9B9B6-51CE-D1EA-7D8E-E8F6B4551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Driver Class Configuration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81AB66F-26EE-9808-84EE-886077517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337" y="29116"/>
            <a:ext cx="7839615" cy="6251941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Important Driver Configurations:</a:t>
            </a:r>
          </a:p>
          <a:p>
            <a:pPr marL="0" indent="0">
              <a:buNone/>
            </a:pPr>
            <a:r>
              <a:rPr lang="en-US" b="1" dirty="0" err="1">
                <a:highlight>
                  <a:srgbClr val="FFFF00"/>
                </a:highlight>
              </a:rPr>
              <a:t>spark.driver.memory</a:t>
            </a:r>
            <a:endParaRPr lang="en-US" b="1" dirty="0">
              <a:highlight>
                <a:srgbClr val="FFFF00"/>
              </a:highlight>
            </a:endParaRPr>
          </a:p>
          <a:p>
            <a:r>
              <a:rPr lang="en-US" dirty="0"/>
              <a:t>Memory allocated to the driver.</a:t>
            </a:r>
          </a:p>
          <a:p>
            <a:r>
              <a:rPr lang="en-US" dirty="0"/>
              <a:t>Should be sufficient for collecting results</a:t>
            </a:r>
          </a:p>
          <a:p>
            <a:r>
              <a:rPr lang="en-US" dirty="0"/>
              <a:t>Increase when using collect(), broadcast variables, or large aggregations</a:t>
            </a:r>
          </a:p>
          <a:p>
            <a:pPr marL="0" indent="0">
              <a:buNone/>
            </a:pPr>
            <a:r>
              <a:rPr lang="en-US" b="1" dirty="0" err="1">
                <a:highlight>
                  <a:srgbClr val="FFFF00"/>
                </a:highlight>
              </a:rPr>
              <a:t>spark.driver.cores</a:t>
            </a:r>
            <a:endParaRPr lang="en-US" b="1" dirty="0">
              <a:highlight>
                <a:srgbClr val="FFFF00"/>
              </a:highlight>
            </a:endParaRPr>
          </a:p>
          <a:p>
            <a:r>
              <a:rPr lang="en-US" dirty="0"/>
              <a:t>Number of cores allocated to the driver process.</a:t>
            </a:r>
          </a:p>
          <a:p>
            <a:r>
              <a:rPr lang="en-US" dirty="0"/>
              <a:t>Often set equal to executor cores for balance</a:t>
            </a:r>
          </a:p>
          <a:p>
            <a:r>
              <a:rPr lang="en-US" dirty="0"/>
              <a:t>Increase for large scheduling workloads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--driver-memory 4G</a:t>
            </a:r>
          </a:p>
          <a:p>
            <a:pPr marL="0" indent="0">
              <a:buNone/>
            </a:pPr>
            <a:r>
              <a:rPr lang="en-US" b="1" dirty="0"/>
              <a:t>--driver-cores 2</a:t>
            </a:r>
          </a:p>
          <a:p>
            <a:pPr marL="0" indent="0">
              <a:buNone/>
            </a:pPr>
            <a:r>
              <a:rPr lang="en-US" b="1" dirty="0"/>
              <a:t>--conf </a:t>
            </a:r>
            <a:r>
              <a:rPr lang="en-US" b="1" dirty="0" err="1"/>
              <a:t>spark.driver.maxResultSize</a:t>
            </a:r>
            <a:r>
              <a:rPr lang="en-US" b="1" dirty="0"/>
              <a:t>=1g</a:t>
            </a:r>
          </a:p>
        </p:txBody>
      </p:sp>
    </p:spTree>
    <p:extLst>
      <p:ext uri="{BB962C8B-B14F-4D97-AF65-F5344CB8AC3E}">
        <p14:creationId xmlns:p14="http://schemas.microsoft.com/office/powerpoint/2010/main" val="3625935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81C47-801E-4F3C-21A0-2D57A6922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Spark submit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5B01E-15AD-BF8A-076D-1EE66CFAA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2" y="1162843"/>
            <a:ext cx="11843657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What is spark-submit?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spark-submit</a:t>
            </a:r>
            <a:r>
              <a:rPr lang="en-US" dirty="0"/>
              <a:t> is the command-line interface used to submit your Spark applications to a cluster (local, YARN, Standalone, Mesos, Kubernetes).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does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Launch the driver program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Communicate with the cluster manager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Allocate executors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Initiate task execution</a:t>
            </a:r>
          </a:p>
        </p:txBody>
      </p:sp>
    </p:spTree>
    <p:extLst>
      <p:ext uri="{BB962C8B-B14F-4D97-AF65-F5344CB8AC3E}">
        <p14:creationId xmlns:p14="http://schemas.microsoft.com/office/powerpoint/2010/main" val="3149837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DEBC1-14AD-77CF-A100-B31A438E1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757" y="13597"/>
            <a:ext cx="5458838" cy="488947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Spark-submit Overview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89777-AF43-F13F-4D14-921ACAD1F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562" y="1418386"/>
            <a:ext cx="6493723" cy="5211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spark-submit is used to submit Spark applications to cluster.</a:t>
            </a:r>
          </a:p>
          <a:p>
            <a:endParaRPr lang="en-US" sz="1500" dirty="0"/>
          </a:p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spark-submit \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--master yarn \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--deploy-mode cluster \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--driver-memory 4G \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--executor-memory 4G \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--num-executors 4 \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app.py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D9B62E-38C0-94A4-7146-75E1B933F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218090"/>
              </p:ext>
            </p:extLst>
          </p:nvPr>
        </p:nvGraphicFramePr>
        <p:xfrm>
          <a:off x="217715" y="1616957"/>
          <a:ext cx="4310742" cy="2953601"/>
        </p:xfrm>
        <a:graphic>
          <a:graphicData uri="http://schemas.openxmlformats.org/drawingml/2006/table">
            <a:tbl>
              <a:tblPr/>
              <a:tblGrid>
                <a:gridCol w="1499891">
                  <a:extLst>
                    <a:ext uri="{9D8B030D-6E8A-4147-A177-3AD203B41FA5}">
                      <a16:colId xmlns:a16="http://schemas.microsoft.com/office/drawing/2014/main" val="4073455074"/>
                    </a:ext>
                  </a:extLst>
                </a:gridCol>
                <a:gridCol w="2810851">
                  <a:extLst>
                    <a:ext uri="{9D8B030D-6E8A-4147-A177-3AD203B41FA5}">
                      <a16:colId xmlns:a16="http://schemas.microsoft.com/office/drawing/2014/main" val="3198753272"/>
                    </a:ext>
                  </a:extLst>
                </a:gridCol>
              </a:tblGrid>
              <a:tr h="676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1">
                          <a:solidFill>
                            <a:srgbClr val="FF0000"/>
                          </a:solidFill>
                        </a:rPr>
                        <a:t>Mode</a:t>
                      </a:r>
                    </a:p>
                  </a:txBody>
                  <a:tcPr marL="153833" marR="153833" marT="76917" marB="76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1" dirty="0">
                          <a:solidFill>
                            <a:srgbClr val="FF0000"/>
                          </a:solidFill>
                        </a:rPr>
                        <a:t>Driver Location</a:t>
                      </a:r>
                    </a:p>
                  </a:txBody>
                  <a:tcPr marL="153833" marR="153833" marT="76917" marB="76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491617"/>
                  </a:ext>
                </a:extLst>
              </a:tr>
              <a:tr h="1138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1" i="1"/>
                        <a:t>client</a:t>
                      </a:r>
                    </a:p>
                  </a:txBody>
                  <a:tcPr marL="153833" marR="153833" marT="76917" marB="76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1" i="1" dirty="0"/>
                        <a:t>Runs on local machine</a:t>
                      </a:r>
                    </a:p>
                  </a:txBody>
                  <a:tcPr marL="153833" marR="153833" marT="76917" marB="76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460017"/>
                  </a:ext>
                </a:extLst>
              </a:tr>
              <a:tr h="1138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1" i="1"/>
                        <a:t>cluster</a:t>
                      </a:r>
                    </a:p>
                  </a:txBody>
                  <a:tcPr marL="153833" marR="153833" marT="76917" marB="76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1" i="1" dirty="0"/>
                        <a:t>Runs inside cluster</a:t>
                      </a:r>
                    </a:p>
                  </a:txBody>
                  <a:tcPr marL="153833" marR="153833" marT="76917" marB="76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5851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A27FE42-15C8-87A2-E865-C371A76F461D}"/>
              </a:ext>
            </a:extLst>
          </p:cNvPr>
          <p:cNvSpPr txBox="1"/>
          <p:nvPr/>
        </p:nvSpPr>
        <p:spPr>
          <a:xfrm>
            <a:off x="217715" y="11040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highlight>
                  <a:srgbClr val="FFFF00"/>
                </a:highlight>
              </a:rPr>
              <a:t>Deploy Modes:</a:t>
            </a:r>
          </a:p>
        </p:txBody>
      </p:sp>
    </p:spTree>
    <p:extLst>
      <p:ext uri="{BB962C8B-B14F-4D97-AF65-F5344CB8AC3E}">
        <p14:creationId xmlns:p14="http://schemas.microsoft.com/office/powerpoint/2010/main" val="1945625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8E8739-344B-5A75-D105-1ADCFF0E1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82370"/>
            <a:ext cx="10905066" cy="509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51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508E-28A6-9DE3-30C9-2264DD2CC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Key Configuration Parameters-Executors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E3C71-2561-6AD2-8D8B-C3D8DB2EF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" y="839673"/>
            <a:ext cx="10515600" cy="611629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Spark.executor.cores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i="1" dirty="0"/>
              <a:t>	Defines the number of CPU cores per executor.</a:t>
            </a:r>
          </a:p>
          <a:p>
            <a:pPr marL="0" indent="0">
              <a:buNone/>
            </a:pPr>
            <a:r>
              <a:rPr lang="en-US" i="1" dirty="0"/>
              <a:t>	Default: 1</a:t>
            </a:r>
          </a:p>
          <a:p>
            <a:pPr marL="0" indent="0">
              <a:buNone/>
            </a:pPr>
            <a:r>
              <a:rPr lang="en-US" i="1" dirty="0"/>
              <a:t>	Recommended: 3--5 cores per executor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Spark.executor.memory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Defines memory allocated per executor.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Executor Memory</a:t>
            </a:r>
          </a:p>
          <a:p>
            <a:pPr marL="0" indent="0">
              <a:buNone/>
            </a:pPr>
            <a:r>
              <a:rPr lang="en-US" i="1" dirty="0"/>
              <a:t> 		├── Execution Memory (shuffle, joins)</a:t>
            </a:r>
          </a:p>
          <a:p>
            <a:pPr marL="0" indent="0">
              <a:buNone/>
            </a:pPr>
            <a:r>
              <a:rPr lang="en-US" i="1" dirty="0"/>
              <a:t> 		└── Storage Memory (cache)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Memory overhead is typically:</a:t>
            </a:r>
          </a:p>
          <a:p>
            <a:pPr marL="0" indent="0">
              <a:buNone/>
            </a:pPr>
            <a:r>
              <a:rPr lang="en-US" i="1" dirty="0"/>
              <a:t>		max(384MB, 10% of executor memory)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909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1F79-9742-F036-115E-521E306BB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Key Configuration Parameters-Executors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5B7D7-3F9D-5B89-F66B-EB6010DED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 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Spark.executor.instances</a:t>
            </a: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	Defines total number of executors in the cluster.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Number of Executors = Total Available Cores / 								</a:t>
            </a:r>
            <a:r>
              <a:rPr lang="en-US" dirty="0" err="1"/>
              <a:t>spark.executor.cores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02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AD8FF-D21D-4EA9-329A-701FBA91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Configure Memory (Driver + Executor)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B1332-CD98-3585-D6A5-17E59EFD0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022" y="29116"/>
            <a:ext cx="7904930" cy="6509796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0000"/>
                </a:solidFill>
              </a:rPr>
              <a:t>1. </a:t>
            </a:r>
            <a:r>
              <a:rPr lang="en-US" sz="3000" b="1" i="1" dirty="0" err="1">
                <a:solidFill>
                  <a:srgbClr val="FF0000"/>
                </a:solidFill>
              </a:rPr>
              <a:t>spark.driver.cores</a:t>
            </a:r>
            <a:endParaRPr lang="en-US" sz="30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000" b="1" i="1" dirty="0">
                <a:solidFill>
                  <a:srgbClr val="FF0000"/>
                </a:solidFill>
              </a:rPr>
              <a:t>2. </a:t>
            </a:r>
            <a:r>
              <a:rPr lang="en-US" sz="3000" b="1" i="1" dirty="0" err="1">
                <a:solidFill>
                  <a:srgbClr val="FF0000"/>
                </a:solidFill>
              </a:rPr>
              <a:t>spark.driver.memory</a:t>
            </a:r>
            <a:endParaRPr lang="en-US" sz="30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000" b="1" i="1" dirty="0">
                <a:solidFill>
                  <a:srgbClr val="FF0000"/>
                </a:solidFill>
              </a:rPr>
              <a:t>3. </a:t>
            </a:r>
            <a:r>
              <a:rPr lang="en-US" sz="3000" b="1" i="1" dirty="0" err="1">
                <a:solidFill>
                  <a:srgbClr val="FF0000"/>
                </a:solidFill>
              </a:rPr>
              <a:t>spark.executor.cores</a:t>
            </a:r>
            <a:endParaRPr lang="en-US" sz="30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000" b="1" i="1" dirty="0">
                <a:solidFill>
                  <a:srgbClr val="FF0000"/>
                </a:solidFill>
              </a:rPr>
              <a:t>4. </a:t>
            </a:r>
            <a:r>
              <a:rPr lang="en-US" sz="3000" b="1" i="1" dirty="0" err="1">
                <a:solidFill>
                  <a:srgbClr val="FF0000"/>
                </a:solidFill>
              </a:rPr>
              <a:t>spark.executor.instances</a:t>
            </a:r>
            <a:endParaRPr lang="en-US" sz="30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000" b="1" i="1" dirty="0">
                <a:solidFill>
                  <a:srgbClr val="FF0000"/>
                </a:solidFill>
              </a:rPr>
              <a:t>5. </a:t>
            </a:r>
            <a:r>
              <a:rPr lang="en-US" sz="3000" b="1" i="1" dirty="0" err="1">
                <a:solidFill>
                  <a:srgbClr val="FF0000"/>
                </a:solidFill>
              </a:rPr>
              <a:t>spark.executor.memory</a:t>
            </a:r>
            <a:endParaRPr lang="en-US" sz="30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Spark Memory is divided into: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--executor-memory 8G</a:t>
            </a:r>
          </a:p>
          <a:p>
            <a:pPr marL="0" indent="0">
              <a:buNone/>
            </a:pPr>
            <a:r>
              <a:rPr lang="en-US" i="1" dirty="0"/>
              <a:t>--conf </a:t>
            </a:r>
            <a:r>
              <a:rPr lang="en-US" i="1" dirty="0" err="1"/>
              <a:t>spark.memory.fraction</a:t>
            </a:r>
            <a:r>
              <a:rPr lang="en-US" i="1" dirty="0"/>
              <a:t>=0.6</a:t>
            </a:r>
          </a:p>
          <a:p>
            <a:pPr marL="0" indent="0">
              <a:buNone/>
            </a:pPr>
            <a:r>
              <a:rPr lang="en-US" i="1" dirty="0"/>
              <a:t>--conf </a:t>
            </a:r>
            <a:r>
              <a:rPr lang="en-US" i="1" dirty="0" err="1"/>
              <a:t>spark.memory.storageFraction</a:t>
            </a:r>
            <a:r>
              <a:rPr lang="en-US" i="1" dirty="0"/>
              <a:t>=0.5</a:t>
            </a:r>
          </a:p>
        </p:txBody>
      </p:sp>
    </p:spTree>
    <p:extLst>
      <p:ext uri="{BB962C8B-B14F-4D97-AF65-F5344CB8AC3E}">
        <p14:creationId xmlns:p14="http://schemas.microsoft.com/office/powerpoint/2010/main" val="4023296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0B2F9-71A9-7A31-110F-82FC8D72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Executors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A5BA2-2A20-2C02-5A07-70B12C918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8" y="1144588"/>
            <a:ext cx="10515600" cy="5892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Executors:</a:t>
            </a:r>
          </a:p>
          <a:p>
            <a:r>
              <a:rPr lang="en-US" dirty="0"/>
              <a:t>Run on worker nodes</a:t>
            </a:r>
          </a:p>
          <a:p>
            <a:r>
              <a:rPr lang="en-US" dirty="0"/>
              <a:t>Execute tasks</a:t>
            </a:r>
          </a:p>
          <a:p>
            <a:r>
              <a:rPr lang="en-US" dirty="0"/>
              <a:t>Store cached data</a:t>
            </a:r>
          </a:p>
          <a:p>
            <a:endParaRPr lang="en-US" dirty="0"/>
          </a:p>
          <a:p>
            <a:pPr marL="0" indent="0">
              <a:buNone/>
            </a:pPr>
            <a:r>
              <a:rPr lang="pt-BR" dirty="0"/>
              <a:t>--num-executors 5</a:t>
            </a:r>
          </a:p>
          <a:p>
            <a:pPr marL="0" indent="0">
              <a:buNone/>
            </a:pPr>
            <a:r>
              <a:rPr lang="pt-BR" dirty="0"/>
              <a:t>--executor-cores 4</a:t>
            </a:r>
          </a:p>
          <a:p>
            <a:pPr marL="0" indent="0">
              <a:buNone/>
            </a:pPr>
            <a:r>
              <a:rPr lang="pt-BR" dirty="0"/>
              <a:t>--executor-memory 8G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Total cores = num-executors × executor-cores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045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92F7DE-214C-3342-CE63-86E285F09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808" y="256714"/>
            <a:ext cx="2542306" cy="733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95AF2B-565B-0E65-E020-D9C719F5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04003"/>
            <a:ext cx="5421086" cy="19351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35FD7-6A15-3124-1D6D-077FA07F0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1086" y="1572482"/>
            <a:ext cx="6770914" cy="359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879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A671-E3DC-8150-850B-A7D2EBE1E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62000"/>
          </a:xfrm>
        </p:spPr>
        <p:txBody>
          <a:bodyPr/>
          <a:lstStyle/>
          <a:p>
            <a:r>
              <a:rPr lang="en-US" dirty="0"/>
              <a:t>Spark Jobs 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A567B-A60D-4D96-E7CC-0CA9883F8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26758"/>
            <a:ext cx="10669653" cy="593124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Common Issues:</a:t>
            </a:r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b="1" dirty="0"/>
              <a:t> 1. </a:t>
            </a:r>
            <a:r>
              <a:rPr lang="en-US" b="1" dirty="0" err="1"/>
              <a:t>OutOfMemoryError</a:t>
            </a:r>
            <a:endParaRPr lang="en-US" b="1" dirty="0"/>
          </a:p>
          <a:p>
            <a:r>
              <a:rPr lang="en-US" dirty="0"/>
              <a:t>Too many partitions</a:t>
            </a:r>
          </a:p>
          <a:p>
            <a:r>
              <a:rPr lang="en-US" dirty="0"/>
              <a:t>Large shuffle</a:t>
            </a:r>
          </a:p>
          <a:p>
            <a:r>
              <a:rPr lang="en-US" dirty="0"/>
              <a:t>collect() on huge data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2. Skewed Data</a:t>
            </a:r>
          </a:p>
          <a:p>
            <a:r>
              <a:rPr lang="en-US" dirty="0"/>
              <a:t>One partition much larger</a:t>
            </a:r>
          </a:p>
          <a:p>
            <a:r>
              <a:rPr lang="en-US" dirty="0"/>
              <a:t>One task takes long time</a:t>
            </a:r>
          </a:p>
          <a:p>
            <a:r>
              <a:rPr lang="en-US" dirty="0"/>
              <a:t>Solution:</a:t>
            </a:r>
          </a:p>
          <a:p>
            <a:r>
              <a:rPr lang="en-US" dirty="0"/>
              <a:t>Repartition</a:t>
            </a:r>
          </a:p>
          <a:p>
            <a:r>
              <a:rPr lang="en-US" dirty="0"/>
              <a:t>Salting</a:t>
            </a:r>
          </a:p>
          <a:p>
            <a:r>
              <a:rPr lang="en-US" dirty="0"/>
              <a:t>Broadcast join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3. Too Many Small Files</a:t>
            </a:r>
          </a:p>
          <a:p>
            <a:r>
              <a:rPr lang="en-US" dirty="0"/>
              <a:t>Use coalesce()</a:t>
            </a:r>
          </a:p>
          <a:p>
            <a:r>
              <a:rPr lang="en-US" dirty="0"/>
              <a:t>Increase partition size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880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915EB-A315-3D38-E534-AABF5398C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Spark Caching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0503B-5698-AB59-28B8-ECCE2C008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145" y="1038546"/>
            <a:ext cx="10515600" cy="4351338"/>
          </a:xfrm>
        </p:spPr>
        <p:txBody>
          <a:bodyPr/>
          <a:lstStyle/>
          <a:p>
            <a:r>
              <a:rPr lang="en-US" dirty="0"/>
              <a:t>Used to store data in memory for faster reuse.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>
                <a:highlight>
                  <a:srgbClr val="FFFF00"/>
                </a:highlight>
              </a:rPr>
              <a:t>df.cache</a:t>
            </a:r>
            <a:r>
              <a:rPr lang="en-US" b="1" dirty="0">
                <a:highlight>
                  <a:srgbClr val="FFFF00"/>
                </a:highlight>
              </a:rPr>
              <a:t>()</a:t>
            </a:r>
          </a:p>
          <a:p>
            <a:pPr marL="0" indent="0">
              <a:buNone/>
            </a:pPr>
            <a:r>
              <a:rPr lang="en-US" b="1" dirty="0" err="1">
                <a:highlight>
                  <a:srgbClr val="FFFF00"/>
                </a:highlight>
              </a:rPr>
              <a:t>df.persist</a:t>
            </a:r>
            <a:r>
              <a:rPr lang="en-US" b="1" dirty="0">
                <a:highlight>
                  <a:srgbClr val="FFFF00"/>
                </a:highlight>
              </a:rPr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caching only if reused multiple times.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Storage Levels: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7C48EA-C1EA-BB2E-DFA0-D601457CC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50636"/>
              </p:ext>
            </p:extLst>
          </p:nvPr>
        </p:nvGraphicFramePr>
        <p:xfrm>
          <a:off x="365155" y="5244473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1876450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3604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1"/>
                        <a:t>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177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MEMORY_ONLY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Fastest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928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MEMORY_AND_DISK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668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DISK_ONLY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47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774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42B1-3371-658B-D748-18D142AB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Use Case – ETL / ETL Data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64D64-A6A0-2EDE-FCB7-000C8EF04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number of executor instances</a:t>
            </a:r>
          </a:p>
          <a:p>
            <a:r>
              <a:rPr lang="en-US" dirty="0"/>
              <a:t>Moderate number of cores</a:t>
            </a:r>
          </a:p>
          <a:p>
            <a:r>
              <a:rPr lang="en-US" dirty="0"/>
              <a:t>Balanced memory allocation based on data shuffling happens</a:t>
            </a:r>
          </a:p>
        </p:txBody>
      </p:sp>
    </p:spTree>
    <p:extLst>
      <p:ext uri="{BB962C8B-B14F-4D97-AF65-F5344CB8AC3E}">
        <p14:creationId xmlns:p14="http://schemas.microsoft.com/office/powerpoint/2010/main" val="1091962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2599</TotalTime>
  <Words>618</Words>
  <Application>Microsoft Office PowerPoint</Application>
  <PresentationFormat>Widescreen</PresentationFormat>
  <Paragraphs>158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Aharoni</vt:lpstr>
      <vt:lpstr>Arial</vt:lpstr>
      <vt:lpstr>Calibri</vt:lpstr>
      <vt:lpstr>Calibri Light</vt:lpstr>
      <vt:lpstr>Wingdings</vt:lpstr>
      <vt:lpstr>Office Theme</vt:lpstr>
      <vt:lpstr>Spark</vt:lpstr>
      <vt:lpstr>PowerPoint Presentation</vt:lpstr>
      <vt:lpstr>PowerPoint Presentation</vt:lpstr>
      <vt:lpstr>PowerPoint Presentation</vt:lpstr>
      <vt:lpstr>Spark Cluster Manager</vt:lpstr>
      <vt:lpstr>PowerPoint Presentation</vt:lpstr>
      <vt:lpstr>2. Driver</vt:lpstr>
      <vt:lpstr>Driver Class Configuration</vt:lpstr>
      <vt:lpstr>Spark submit</vt:lpstr>
      <vt:lpstr>Spark-submit Overview</vt:lpstr>
      <vt:lpstr>PowerPoint Presentation</vt:lpstr>
      <vt:lpstr>Key Configuration Parameters-Executors </vt:lpstr>
      <vt:lpstr>Key Configuration Parameters-Executors </vt:lpstr>
      <vt:lpstr>Configure Memory (Driver + Executor)</vt:lpstr>
      <vt:lpstr>Executors</vt:lpstr>
      <vt:lpstr>PowerPoint Presentation</vt:lpstr>
      <vt:lpstr>Spark Jobs Troubleshooting</vt:lpstr>
      <vt:lpstr>Spark Caching Overview</vt:lpstr>
      <vt:lpstr>Use Case – ETL / ETL Data Pipelines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Rajesh Kumar Devabhaktuni</cp:lastModifiedBy>
  <cp:revision>36</cp:revision>
  <dcterms:created xsi:type="dcterms:W3CDTF">2025-10-26T04:15:46Z</dcterms:created>
  <dcterms:modified xsi:type="dcterms:W3CDTF">2026-02-23T12:47:01Z</dcterms:modified>
</cp:coreProperties>
</file>