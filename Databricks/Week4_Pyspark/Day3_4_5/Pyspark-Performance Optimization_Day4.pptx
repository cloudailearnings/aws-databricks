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20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2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3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0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0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9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0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5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63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23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gled shot of pen on a graph">
            <a:extLst>
              <a:ext uri="{FF2B5EF4-FFF2-40B4-BE49-F238E27FC236}">
                <a16:creationId xmlns:a16="http://schemas.microsoft.com/office/drawing/2014/main" id="{99E19111-10B0-5496-85A2-16D69A4E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3" b="320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D5544-139D-1C75-7F98-D288F20FF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Pyspark-Performance Optimization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726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E5F0-7D12-FD21-DAE0-94BCCC975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72144"/>
            <a:ext cx="10890929" cy="1097280"/>
          </a:xfrm>
        </p:spPr>
        <p:txBody>
          <a:bodyPr/>
          <a:lstStyle/>
          <a:p>
            <a:r>
              <a:rPr lang="en-US" dirty="0"/>
              <a:t>Bucketing in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F7A3-3330-FAD9-3D1F-E52148272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" y="1261871"/>
            <a:ext cx="10890928" cy="542195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Bucketing distributes data into a fixed number of files (buckets) based on a column (using hash function).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 use it?</a:t>
            </a:r>
          </a:p>
          <a:p>
            <a:r>
              <a:rPr lang="en-US" dirty="0"/>
              <a:t>Improves </a:t>
            </a:r>
            <a:r>
              <a:rPr lang="en-US" b="1" dirty="0"/>
              <a:t>join performance</a:t>
            </a:r>
            <a:endParaRPr lang="en-US" dirty="0"/>
          </a:p>
          <a:p>
            <a:r>
              <a:rPr lang="en-US" dirty="0"/>
              <a:t>Reduces shuffle during joins</a:t>
            </a:r>
          </a:p>
          <a:p>
            <a:r>
              <a:rPr lang="en-US" dirty="0"/>
              <a:t>Useful when joining large tables repeatedly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This creates 4 buckets based on </a:t>
            </a:r>
            <a:r>
              <a:rPr lang="en-US" dirty="0" err="1"/>
              <a:t>dept_id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100" b="1" dirty="0" err="1">
                <a:solidFill>
                  <a:srgbClr val="FF0000"/>
                </a:solidFill>
              </a:rPr>
              <a:t>df.write</a:t>
            </a:r>
            <a:r>
              <a:rPr lang="en-US" sz="2100" b="1" dirty="0">
                <a:solidFill>
                  <a:srgbClr val="FF0000"/>
                </a:solidFill>
              </a:rPr>
              <a:t> \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FF0000"/>
                </a:solidFill>
              </a:rPr>
              <a:t>  .</a:t>
            </a:r>
            <a:r>
              <a:rPr lang="en-US" sz="2100" b="1" dirty="0" err="1">
                <a:solidFill>
                  <a:srgbClr val="FF0000"/>
                </a:solidFill>
              </a:rPr>
              <a:t>bucketBy</a:t>
            </a:r>
            <a:r>
              <a:rPr lang="en-US" sz="2100" b="1" dirty="0">
                <a:solidFill>
                  <a:srgbClr val="FF0000"/>
                </a:solidFill>
              </a:rPr>
              <a:t>(4, "</a:t>
            </a:r>
            <a:r>
              <a:rPr lang="en-US" sz="2100" b="1" dirty="0" err="1">
                <a:solidFill>
                  <a:srgbClr val="FF0000"/>
                </a:solidFill>
              </a:rPr>
              <a:t>dept_id</a:t>
            </a:r>
            <a:r>
              <a:rPr lang="en-US" sz="2100" b="1" dirty="0">
                <a:solidFill>
                  <a:srgbClr val="FF0000"/>
                </a:solidFill>
              </a:rPr>
              <a:t>") \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FF0000"/>
                </a:solidFill>
              </a:rPr>
              <a:t>  .</a:t>
            </a:r>
            <a:r>
              <a:rPr lang="en-US" sz="2100" b="1" dirty="0" err="1">
                <a:solidFill>
                  <a:srgbClr val="FF0000"/>
                </a:solidFill>
              </a:rPr>
              <a:t>sortBy</a:t>
            </a:r>
            <a:r>
              <a:rPr lang="en-US" sz="2100" b="1" dirty="0">
                <a:solidFill>
                  <a:srgbClr val="FF0000"/>
                </a:solidFill>
              </a:rPr>
              <a:t>("</a:t>
            </a:r>
            <a:r>
              <a:rPr lang="en-US" sz="2100" b="1" dirty="0" err="1">
                <a:solidFill>
                  <a:srgbClr val="FF0000"/>
                </a:solidFill>
              </a:rPr>
              <a:t>dept_id</a:t>
            </a:r>
            <a:r>
              <a:rPr lang="en-US" sz="2100" b="1" dirty="0">
                <a:solidFill>
                  <a:srgbClr val="FF0000"/>
                </a:solidFill>
              </a:rPr>
              <a:t>") \</a:t>
            </a:r>
          </a:p>
          <a:p>
            <a:pPr marL="0" indent="0">
              <a:buNone/>
            </a:pPr>
            <a:r>
              <a:rPr lang="en-US" sz="2100" b="1" dirty="0">
                <a:solidFill>
                  <a:srgbClr val="FF0000"/>
                </a:solidFill>
              </a:rPr>
              <a:t>  .</a:t>
            </a:r>
            <a:r>
              <a:rPr lang="en-US" sz="2100" b="1" dirty="0" err="1">
                <a:solidFill>
                  <a:srgbClr val="FF0000"/>
                </a:solidFill>
              </a:rPr>
              <a:t>saveAsTable</a:t>
            </a:r>
            <a:r>
              <a:rPr lang="en-US" sz="2100" b="1" dirty="0">
                <a:solidFill>
                  <a:srgbClr val="FF0000"/>
                </a:solidFill>
              </a:rPr>
              <a:t>("</a:t>
            </a:r>
            <a:r>
              <a:rPr lang="en-US" sz="2100" b="1" dirty="0" err="1">
                <a:solidFill>
                  <a:srgbClr val="FF0000"/>
                </a:solidFill>
              </a:rPr>
              <a:t>employee_bucketed</a:t>
            </a:r>
            <a:r>
              <a:rPr lang="en-US" sz="2100" b="1" dirty="0">
                <a:solidFill>
                  <a:srgbClr val="FF0000"/>
                </a:solidFill>
              </a:rPr>
              <a:t>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9C32-8270-C025-E5DE-A2F931A2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0"/>
            <a:ext cx="10890929" cy="1097280"/>
          </a:xfrm>
        </p:spPr>
        <p:txBody>
          <a:bodyPr/>
          <a:lstStyle/>
          <a:p>
            <a:r>
              <a:rPr lang="en-US" dirty="0"/>
              <a:t>Bucketing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74C96-21EE-8868-C115-C333BB16C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327186"/>
            <a:ext cx="10890928" cy="514981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FF0000"/>
                </a:solidFill>
              </a:rPr>
              <a:t>df.write.bucketBy</a:t>
            </a:r>
            <a:r>
              <a:rPr lang="en-US" sz="2900" b="1" dirty="0">
                <a:solidFill>
                  <a:srgbClr val="FF0000"/>
                </a:solidFill>
              </a:rPr>
              <a:t>(8, "</a:t>
            </a:r>
            <a:r>
              <a:rPr lang="en-US" sz="2900" b="1" dirty="0" err="1">
                <a:solidFill>
                  <a:srgbClr val="FF0000"/>
                </a:solidFill>
              </a:rPr>
              <a:t>cust_id</a:t>
            </a:r>
            <a:r>
              <a:rPr lang="en-US" sz="2900" b="1" dirty="0">
                <a:solidFill>
                  <a:srgbClr val="FF0000"/>
                </a:solidFill>
              </a:rPr>
              <a:t>").</a:t>
            </a:r>
            <a:r>
              <a:rPr lang="en-US" sz="2900" b="1" dirty="0" err="1">
                <a:solidFill>
                  <a:srgbClr val="FF0000"/>
                </a:solidFill>
              </a:rPr>
              <a:t>sortBy</a:t>
            </a:r>
            <a:r>
              <a:rPr lang="en-US" sz="2900" b="1" dirty="0">
                <a:solidFill>
                  <a:srgbClr val="FF0000"/>
                </a:solidFill>
              </a:rPr>
              <a:t>("</a:t>
            </a:r>
            <a:r>
              <a:rPr lang="en-US" sz="2900" b="1" dirty="0" err="1">
                <a:solidFill>
                  <a:srgbClr val="FF0000"/>
                </a:solidFill>
              </a:rPr>
              <a:t>cust_id</a:t>
            </a:r>
            <a:r>
              <a:rPr lang="en-US" sz="2900" b="1" dirty="0">
                <a:solidFill>
                  <a:srgbClr val="FF0000"/>
                </a:solidFill>
              </a:rPr>
              <a:t>").</a:t>
            </a:r>
            <a:r>
              <a:rPr lang="en-US" sz="2900" b="1" dirty="0" err="1">
                <a:solidFill>
                  <a:srgbClr val="FF0000"/>
                </a:solidFill>
              </a:rPr>
              <a:t>saveAsTable</a:t>
            </a:r>
            <a:r>
              <a:rPr lang="en-US" sz="2900" b="1" dirty="0">
                <a:solidFill>
                  <a:srgbClr val="FF0000"/>
                </a:solidFill>
              </a:rPr>
              <a:t>("</a:t>
            </a:r>
            <a:r>
              <a:rPr lang="en-US" sz="2900" b="1" dirty="0" err="1">
                <a:solidFill>
                  <a:srgbClr val="FF0000"/>
                </a:solidFill>
              </a:rPr>
              <a:t>bucketed_sales</a:t>
            </a:r>
            <a:r>
              <a:rPr lang="en-US" sz="2900" b="1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endParaRPr lang="en-US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600" dirty="0"/>
              <a:t>Resulting files (same directory):</a:t>
            </a:r>
          </a:p>
          <a:p>
            <a:pPr marL="0" indent="0">
              <a:buNone/>
            </a:pPr>
            <a:endParaRPr lang="en-IN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.../bucket_00000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.../bucket_00001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.../bucket_00002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……..</a:t>
            </a:r>
          </a:p>
          <a:p>
            <a:pPr marL="0" indent="0">
              <a:buNone/>
            </a:pPr>
            <a:r>
              <a:rPr lang="en-IN" sz="2600" dirty="0">
                <a:solidFill>
                  <a:srgbClr val="FF0000"/>
                </a:solidFill>
              </a:rPr>
              <a:t>.../bucket_00007</a:t>
            </a:r>
          </a:p>
          <a:p>
            <a:pPr marL="0" indent="0">
              <a:buNone/>
            </a:pPr>
            <a:endParaRPr lang="en-IN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...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500" b="1" dirty="0">
                <a:highlight>
                  <a:srgbClr val="FFFF00"/>
                </a:highlight>
              </a:rPr>
              <a:t>Useful when joining two bucketed tables on </a:t>
            </a:r>
            <a:r>
              <a:rPr lang="en-US" sz="3500" b="1" dirty="0" err="1">
                <a:highlight>
                  <a:srgbClr val="FFFF00"/>
                </a:highlight>
              </a:rPr>
              <a:t>cust_id</a:t>
            </a:r>
            <a:r>
              <a:rPr lang="en-US" sz="3500" b="1" dirty="0">
                <a:highlight>
                  <a:srgbClr val="FFFF00"/>
                </a:highlight>
              </a:rPr>
              <a:t> — shuffle is avoided.</a:t>
            </a:r>
            <a:endParaRPr lang="en-IN" sz="35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3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5AF5-75B6-0923-B174-A5285D6B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65" y="109728"/>
            <a:ext cx="10890929" cy="1097280"/>
          </a:xfrm>
        </p:spPr>
        <p:txBody>
          <a:bodyPr/>
          <a:lstStyle/>
          <a:p>
            <a:r>
              <a:rPr lang="en-US" dirty="0"/>
              <a:t>2. Partitioning &amp;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6BB7-EDDF-FCA2-AB0B-F32D07C0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544899"/>
            <a:ext cx="10890928" cy="506272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>
                <a:highlight>
                  <a:srgbClr val="FFFF00"/>
                </a:highlight>
              </a:rPr>
              <a:t>Partitioning</a:t>
            </a:r>
          </a:p>
          <a:p>
            <a:r>
              <a:rPr lang="en-US" sz="3600" b="1" dirty="0"/>
              <a:t>Partitioning divides data into folders based on column values.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600" b="1" dirty="0" err="1">
                <a:highlight>
                  <a:srgbClr val="FFFF00"/>
                </a:highlight>
              </a:rPr>
              <a:t>df.write</a:t>
            </a:r>
            <a:r>
              <a:rPr lang="en-US" sz="4600" b="1" dirty="0">
                <a:highlight>
                  <a:srgbClr val="FFFF00"/>
                </a:highlight>
              </a:rPr>
              <a:t> \</a:t>
            </a:r>
          </a:p>
          <a:p>
            <a:pPr marL="0" indent="0">
              <a:buNone/>
            </a:pPr>
            <a:r>
              <a:rPr lang="en-US" sz="4600" b="1" dirty="0">
                <a:highlight>
                  <a:srgbClr val="FFFF00"/>
                </a:highlight>
              </a:rPr>
              <a:t>  .</a:t>
            </a:r>
            <a:r>
              <a:rPr lang="en-US" sz="4600" b="1" dirty="0" err="1">
                <a:highlight>
                  <a:srgbClr val="FFFF00"/>
                </a:highlight>
              </a:rPr>
              <a:t>partitionBy</a:t>
            </a:r>
            <a:r>
              <a:rPr lang="en-US" sz="4600" b="1" dirty="0">
                <a:highlight>
                  <a:srgbClr val="FFFF00"/>
                </a:highlight>
              </a:rPr>
              <a:t>("department") \</a:t>
            </a:r>
          </a:p>
          <a:p>
            <a:pPr marL="0" indent="0">
              <a:buNone/>
            </a:pPr>
            <a:r>
              <a:rPr lang="en-US" sz="4600" b="1" dirty="0">
                <a:highlight>
                  <a:srgbClr val="FFFF00"/>
                </a:highlight>
              </a:rPr>
              <a:t>  .mode("overwrite") \</a:t>
            </a:r>
          </a:p>
          <a:p>
            <a:pPr marL="0" indent="0">
              <a:buNone/>
            </a:pPr>
            <a:r>
              <a:rPr lang="en-US" sz="4600" b="1" dirty="0">
                <a:highlight>
                  <a:srgbClr val="FFFF00"/>
                </a:highlight>
              </a:rPr>
              <a:t>  .parquet("output/")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folders like: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800" b="1" i="1" dirty="0">
                <a:solidFill>
                  <a:srgbClr val="FF0000"/>
                </a:solidFill>
              </a:rPr>
              <a:t>output/department=HR/</a:t>
            </a:r>
          </a:p>
          <a:p>
            <a:pPr marL="0" indent="0">
              <a:buNone/>
            </a:pPr>
            <a:r>
              <a:rPr lang="en-US" sz="3800" b="1" i="1" dirty="0">
                <a:solidFill>
                  <a:srgbClr val="FF0000"/>
                </a:solidFill>
              </a:rPr>
              <a:t>output/department=IT/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4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778A-F425-9CC9-22E4-1DC07B6C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6A88-6986-C5B4-EFB7-B02EAEF5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Filtering on partition column</a:t>
            </a:r>
          </a:p>
          <a:p>
            <a:r>
              <a:rPr lang="en-US" dirty="0"/>
              <a:t>Large datasets</a:t>
            </a:r>
          </a:p>
          <a:p>
            <a:r>
              <a:rPr lang="en-US" dirty="0"/>
              <a:t>Improves read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09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5163-CA5C-2D73-B605-9B2DDD2C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79" y="109728"/>
            <a:ext cx="10890929" cy="1097280"/>
          </a:xfrm>
        </p:spPr>
        <p:txBody>
          <a:bodyPr/>
          <a:lstStyle/>
          <a:p>
            <a:r>
              <a:rPr lang="en-US" dirty="0"/>
              <a:t>Repartition vs Coalesce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452E9-56D2-25B7-F8FA-B0BDA0A14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534014"/>
            <a:ext cx="10890928" cy="5019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Repartition (Shuffle happens)</a:t>
            </a:r>
          </a:p>
          <a:p>
            <a:r>
              <a:rPr lang="en-US" dirty="0"/>
              <a:t>df2 = </a:t>
            </a:r>
            <a:r>
              <a:rPr lang="en-US" dirty="0" err="1"/>
              <a:t>df.repartition</a:t>
            </a:r>
            <a:r>
              <a:rPr lang="en-US" dirty="0"/>
              <a:t>(5)</a:t>
            </a:r>
          </a:p>
          <a:p>
            <a:r>
              <a:rPr lang="en-US" dirty="0">
                <a:highlight>
                  <a:srgbClr val="FFFF00"/>
                </a:highlight>
              </a:rPr>
              <a:t>Increases or decreases partitions</a:t>
            </a:r>
          </a:p>
          <a:p>
            <a:r>
              <a:rPr lang="en-US" dirty="0">
                <a:highlight>
                  <a:srgbClr val="FFFF00"/>
                </a:highlight>
              </a:rPr>
              <a:t>Causes full shuffle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Coalesce (No shuffle)</a:t>
            </a:r>
          </a:p>
          <a:p>
            <a:r>
              <a:rPr lang="en-US" dirty="0"/>
              <a:t>df2 = </a:t>
            </a:r>
            <a:r>
              <a:rPr lang="en-US" dirty="0" err="1"/>
              <a:t>df.coalesce</a:t>
            </a:r>
            <a:r>
              <a:rPr lang="en-US" dirty="0"/>
              <a:t>(2)</a:t>
            </a:r>
          </a:p>
          <a:p>
            <a:r>
              <a:rPr lang="en-US" b="1" dirty="0">
                <a:highlight>
                  <a:srgbClr val="FFFF00"/>
                </a:highlight>
              </a:rPr>
              <a:t>Only reduces partitions</a:t>
            </a:r>
          </a:p>
          <a:p>
            <a:r>
              <a:rPr lang="en-US" dirty="0"/>
              <a:t>More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E796-F270-CAB0-267A-C63D4FCE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93915"/>
            <a:ext cx="10890929" cy="1097280"/>
          </a:xfrm>
        </p:spPr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D6D8C-F9B4-D9A7-2989-FC98BBDE7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645919"/>
            <a:ext cx="10890928" cy="4733109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highlight>
                  <a:srgbClr val="FFFF00"/>
                </a:highlight>
              </a:rPr>
              <a:t>Global Sort</a:t>
            </a:r>
          </a:p>
          <a:p>
            <a:r>
              <a:rPr lang="en-US" sz="3600" dirty="0" err="1"/>
              <a:t>df.orderBy</a:t>
            </a:r>
            <a:r>
              <a:rPr lang="en-US" sz="3600" dirty="0"/>
              <a:t>("salary").show()</a:t>
            </a:r>
          </a:p>
          <a:p>
            <a:pPr marL="0" indent="0">
              <a:buNone/>
            </a:pPr>
            <a:r>
              <a:rPr lang="en-US" sz="3600" dirty="0"/>
              <a:t>⚠️ Expensive (full shuffle)</a:t>
            </a:r>
          </a:p>
          <a:p>
            <a:pPr marL="0" indent="0">
              <a:buNone/>
            </a:pPr>
            <a:r>
              <a:rPr lang="en-US" sz="3600" b="1" dirty="0">
                <a:highlight>
                  <a:srgbClr val="FFFF00"/>
                </a:highlight>
              </a:rPr>
              <a:t>Sort Within Partitions</a:t>
            </a:r>
          </a:p>
          <a:p>
            <a:r>
              <a:rPr lang="en-US" sz="3600" dirty="0" err="1"/>
              <a:t>df.sortWithinPartitions</a:t>
            </a:r>
            <a:r>
              <a:rPr lang="en-US" sz="3600" dirty="0"/>
              <a:t>("salary")</a:t>
            </a:r>
          </a:p>
          <a:p>
            <a:r>
              <a:rPr lang="en-US" sz="3600" dirty="0"/>
              <a:t>More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7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D1F2-6F1C-D897-9CE7-2F8E5D88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72143"/>
            <a:ext cx="10890929" cy="1097280"/>
          </a:xfrm>
        </p:spPr>
        <p:txBody>
          <a:bodyPr/>
          <a:lstStyle/>
          <a:p>
            <a:r>
              <a:rPr lang="en-US" dirty="0"/>
              <a:t>3. Caching in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2EA5-55BC-64A6-6E8F-3924F5EC4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8700"/>
            <a:ext cx="11716065" cy="538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Caching?</a:t>
            </a:r>
          </a:p>
          <a:p>
            <a:r>
              <a:rPr lang="en-US" dirty="0">
                <a:highlight>
                  <a:srgbClr val="FFFF00"/>
                </a:highlight>
              </a:rPr>
              <a:t>Stores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b="1" dirty="0">
                <a:highlight>
                  <a:srgbClr val="FFFF00"/>
                </a:highlight>
              </a:rPr>
              <a:t>in memory </a:t>
            </a:r>
            <a:r>
              <a:rPr lang="en-US" dirty="0"/>
              <a:t>to avoid </a:t>
            </a:r>
            <a:r>
              <a:rPr lang="en-US" dirty="0" err="1"/>
              <a:t>recomputation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 err="1"/>
              <a:t>df.cache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df.count</a:t>
            </a:r>
            <a:r>
              <a:rPr lang="en-US" dirty="0"/>
              <a:t>()  # triggers caching</a:t>
            </a:r>
          </a:p>
          <a:p>
            <a:r>
              <a:rPr lang="en-US" dirty="0"/>
              <a:t>Or:</a:t>
            </a:r>
          </a:p>
          <a:p>
            <a:r>
              <a:rPr lang="en-US" dirty="0" err="1"/>
              <a:t>df.persist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When to use?</a:t>
            </a:r>
          </a:p>
          <a:p>
            <a:r>
              <a:rPr lang="en-US" dirty="0"/>
              <a:t>When same </a:t>
            </a:r>
            <a:r>
              <a:rPr lang="en-US" dirty="0" err="1"/>
              <a:t>DataFrame</a:t>
            </a:r>
            <a:r>
              <a:rPr lang="en-US" dirty="0"/>
              <a:t> is used multiple times</a:t>
            </a:r>
          </a:p>
          <a:p>
            <a:r>
              <a:rPr lang="en-US" dirty="0"/>
              <a:t>Iterative algorithms</a:t>
            </a:r>
          </a:p>
          <a:p>
            <a:r>
              <a:rPr lang="en-US" dirty="0"/>
              <a:t>Multiple actions on same </a:t>
            </a:r>
            <a:r>
              <a:rPr lang="en-US" dirty="0" err="1"/>
              <a:t>DataFrame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7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E82C5-8A47-F410-C160-5D662ACE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When to Use What?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D976E-EECE-5187-5CFA-6EFEA22DC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452395"/>
              </p:ext>
            </p:extLst>
          </p:nvPr>
        </p:nvGraphicFramePr>
        <p:xfrm>
          <a:off x="640079" y="2761779"/>
          <a:ext cx="10890929" cy="3333408"/>
        </p:xfrm>
        <a:graphic>
          <a:graphicData uri="http://schemas.openxmlformats.org/drawingml/2006/table">
            <a:tbl>
              <a:tblPr/>
              <a:tblGrid>
                <a:gridCol w="7520022">
                  <a:extLst>
                    <a:ext uri="{9D8B030D-6E8A-4147-A177-3AD203B41FA5}">
                      <a16:colId xmlns:a16="http://schemas.microsoft.com/office/drawing/2014/main" val="173373142"/>
                    </a:ext>
                  </a:extLst>
                </a:gridCol>
                <a:gridCol w="3370907">
                  <a:extLst>
                    <a:ext uri="{9D8B030D-6E8A-4147-A177-3AD203B41FA5}">
                      <a16:colId xmlns:a16="http://schemas.microsoft.com/office/drawing/2014/main" val="2195161527"/>
                    </a:ext>
                  </a:extLst>
                </a:gridCol>
              </a:tblGrid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Best Option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170226"/>
                  </a:ext>
                </a:extLst>
              </a:tr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Repeated joins on same column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Bucketing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41969"/>
                  </a:ext>
                </a:extLst>
              </a:tr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Filtering on specific column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0" i="0" u="none" strike="noStrike">
                          <a:effectLst/>
                          <a:latin typeface="Arial" panose="020B0604020202020204" pitchFamily="34" charset="0"/>
                        </a:rPr>
                        <a:t>Partitioning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979327"/>
                  </a:ext>
                </a:extLst>
              </a:tr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Reusing</a:t>
                      </a:r>
                      <a:r>
                        <a:rPr lang="en-US" sz="25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2500" b="0" i="0" u="none" strike="noStrike" dirty="0" err="1">
                          <a:effectLst/>
                          <a:latin typeface="Arial" panose="020B0604020202020204" pitchFamily="34" charset="0"/>
                        </a:rPr>
                        <a:t>DataFrame</a:t>
                      </a:r>
                      <a:r>
                        <a:rPr lang="en-US" sz="2500" b="0" i="0" u="none" strike="noStrike" dirty="0">
                          <a:effectLst/>
                          <a:latin typeface="Arial" panose="020B0604020202020204" pitchFamily="34" charset="0"/>
                        </a:rPr>
                        <a:t> many times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Caching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200241"/>
                  </a:ext>
                </a:extLst>
              </a:tr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Reducing</a:t>
                      </a:r>
                      <a:r>
                        <a:rPr lang="en-US" sz="2500" b="0" i="0" u="none" strike="noStrike" dirty="0">
                          <a:effectLst/>
                          <a:latin typeface="Arial" panose="020B0604020202020204" pitchFamily="34" charset="0"/>
                        </a:rPr>
                        <a:t> partitions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Coalesce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411377"/>
                  </a:ext>
                </a:extLst>
              </a:tr>
              <a:tr h="555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Increasing partitions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Repartition</a:t>
                      </a:r>
                    </a:p>
                  </a:txBody>
                  <a:tcPr marL="126265" marR="126265" marT="63133" marB="63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932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62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D7BD4-F328-5A4F-05EE-19905160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4425406" cy="5021967"/>
          </a:xfrm>
        </p:spPr>
        <p:txBody>
          <a:bodyPr anchor="t">
            <a:normAutofit/>
          </a:bodyPr>
          <a:lstStyle/>
          <a:p>
            <a:r>
              <a:rPr lang="en-US" sz="4800"/>
              <a:t>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F866-1E22-CD57-5629-727B13E4C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197" y="0"/>
            <a:ext cx="6292803" cy="6945085"/>
          </a:xfrm>
        </p:spPr>
        <p:txBody>
          <a:bodyPr anchor="t"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Use Proper Partitioning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Cache &amp; Persist Strategically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Broadcast Small Datasets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Avoid Using collect() / count() Excessively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Use Map-Side Combine (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reduceByKey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 vs 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groupByKey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Optimize Joins &amp; Skew Handling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Column Pruning &amp; Predicate Pushdown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Coalesce after Filtering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Avoid UDFs When Possible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Monitor Spark Jobs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Optimize Data Formats</a:t>
            </a:r>
          </a:p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Shuffle Optimization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460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99414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432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Pyspark-Performance Optimization</vt:lpstr>
      <vt:lpstr>Bucketing in PySpark</vt:lpstr>
      <vt:lpstr>Bucketing</vt:lpstr>
      <vt:lpstr>2. Partitioning &amp; Sorting</vt:lpstr>
      <vt:lpstr>When to use? </vt:lpstr>
      <vt:lpstr>Repartition vs Coalesce</vt:lpstr>
      <vt:lpstr>Sorting</vt:lpstr>
      <vt:lpstr>3. Caching in PySpark</vt:lpstr>
      <vt:lpstr>When to Use What?</vt:lpstr>
      <vt:lpstr>Optimization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8</cp:revision>
  <dcterms:created xsi:type="dcterms:W3CDTF">2026-02-24T12:31:31Z</dcterms:created>
  <dcterms:modified xsi:type="dcterms:W3CDTF">2026-02-25T17:17:29Z</dcterms:modified>
</cp:coreProperties>
</file>