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B5776-3F9A-BEC2-924E-68F9120DC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BD524-53E9-CCFE-E452-494051871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E8BA-D088-F9F4-6E41-551B3065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C5F1C-7792-B050-839F-34270317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5CE1-384D-E8E4-8606-A0055E8C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1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C732-B446-6EFB-DE14-F5B24CC2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E6F2-9B91-6D9F-0DDF-9385AE941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E7C53-0AC4-2E3C-FBA9-40B4BE8A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BB723-08A9-2433-CCBE-1771A8E0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471D7-6401-BB28-C902-AE899566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19AB-0BAA-AE71-D2D8-730458FE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992AC-BCA6-746E-389A-147616E10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4E8E-69E8-DB3C-8A85-E25874F3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0346-0A26-7DB3-E65D-D0C579A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D14C-C691-CCD0-8AF6-4808BF64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566E-899C-0CB1-19D5-8898701A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BD55-11CE-DC5F-19DC-4A147EA7A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5D453-8CCA-7D24-C611-B23FDF079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F7FF9-9EF8-E6E7-FC5D-5EBFDB1F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B1F69-98FE-751D-FF98-ED5CC18D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72E3B-C473-4717-F3A2-80AB2E85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6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8CBD-ABF3-C3B4-0D41-683044AC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1AB81-B56A-415A-806E-99BAAF7C1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4C23B-49AC-ACF3-65AD-7F373BCF5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34162-DE54-BBD2-CFD7-32A8EDCAF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CB86B-6A7F-AE96-BF79-E2952EDFF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5EB7C-3353-6591-DF37-42755D35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C9DC91-D731-B6A3-99F4-4D8D9231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0B1ED-203D-C793-5AC8-519CCF70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78A8-2557-005C-A572-1796A9DC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2C29D-F76F-2ABF-BE68-917D5F18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DEEB9-7198-F350-C636-E76A9313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AFD1E-EDAF-E354-18F1-95D488A5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9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BAA0C-9A18-EEBA-8A20-9D5B9AAD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8493B-A0CE-F614-8CD0-B985BE38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BC4C2-2EED-E630-487C-80ED46DA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9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2C2B-E019-6BD5-F0F1-863DFF0C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47CB-60B4-D754-9002-2F1F773D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7438E-55A9-346F-00A9-8D5C900E9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A020-944A-8647-4E28-2772B037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E1C97-017B-F80D-16F4-3568DE7B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9AD92-C9D5-B89F-69A1-480B6DCB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1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4BDC-D0DB-A17C-B939-559ABE7C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CAE7B-F197-D4FD-0CE7-B8005D180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A22ED-0C3D-DBB4-39DF-79CA33567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AEF40-3514-0D06-E868-7A8C3A71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FF2F5-5340-332D-86F9-32D42FED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D2941-CA36-1BE5-3455-9D080C92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4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3128-D3B5-1859-0A88-8DE4359A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C0842-CA19-E6BB-E024-3BB84822F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0324B-3A0F-3F99-9AB0-7DE07170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594AF-3F8D-EBAA-AE27-B6CCFE4D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39CCD-25F1-FBFD-366E-0A5F0CA2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7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3C6D2-3FD3-06B2-31E5-FDF347E1B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AC715-1311-F07B-6027-4FEBF6D2E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864F-330C-A669-F7C6-CBD2A46F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A3949-D64E-A0EE-4E01-0A5836F8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804C-78B4-66B0-6C00-947F1B46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ED9C36-5222-351E-C8F8-81F71B02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30AD-4584-74C4-E395-E47FD9231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2D4BD-20E0-0D72-7A82-6FB2C018F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C658D-AF83-4E7C-86A0-202530D82BE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52AB0-275A-9798-F909-CD71C431D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93E11-5D71-E77E-40D2-BEE997DFF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FA6BB-13CA-47E4-948D-9E5E7341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2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3507-5B9E-D99E-EB3F-45792A509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Datasets in Spark</a:t>
            </a:r>
          </a:p>
        </p:txBody>
      </p:sp>
    </p:spTree>
    <p:extLst>
      <p:ext uri="{BB962C8B-B14F-4D97-AF65-F5344CB8AC3E}">
        <p14:creationId xmlns:p14="http://schemas.microsoft.com/office/powerpoint/2010/main" val="412557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7E19-34D8-A877-3EFF-373A7BA21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</a:t>
            </a:r>
            <a:r>
              <a:rPr lang="en-US" b="1" dirty="0"/>
              <a:t>Apache Spark</a:t>
            </a:r>
            <a:r>
              <a:rPr lang="en-US" dirty="0"/>
              <a:t>, a </a:t>
            </a:r>
            <a:r>
              <a:rPr lang="en-US" b="1" dirty="0"/>
              <a:t>Dataset</a:t>
            </a:r>
            <a:r>
              <a:rPr lang="en-US" dirty="0"/>
              <a:t> is a distributed collection of data with:</a:t>
            </a:r>
          </a:p>
          <a:p>
            <a:r>
              <a:rPr lang="en-US" dirty="0"/>
              <a:t>Strong typing</a:t>
            </a:r>
          </a:p>
          <a:p>
            <a:r>
              <a:rPr lang="en-US" dirty="0"/>
              <a:t>Compile-time type safety</a:t>
            </a:r>
          </a:p>
          <a:p>
            <a:r>
              <a:rPr lang="en-US" dirty="0"/>
              <a:t>Optimized execution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 combines the best of:</a:t>
            </a:r>
          </a:p>
          <a:p>
            <a:r>
              <a:rPr lang="en-US" b="1" dirty="0"/>
              <a:t>RDD</a:t>
            </a:r>
            <a:r>
              <a:rPr lang="en-US" dirty="0"/>
              <a:t> (type safety)</a:t>
            </a:r>
          </a:p>
          <a:p>
            <a:r>
              <a:rPr lang="en-US" b="1" dirty="0" err="1"/>
              <a:t>DataFrame</a:t>
            </a:r>
            <a:r>
              <a:rPr lang="en-US" dirty="0"/>
              <a:t> (optimized execution)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2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5F3C8-F95D-638B-580E-4D9AB841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Dataset[T]</a:t>
            </a:r>
            <a:r>
              <a:rPr lang="en-US" dirty="0"/>
              <a:t> is:</a:t>
            </a:r>
          </a:p>
          <a:p>
            <a:r>
              <a:rPr lang="en-US" dirty="0"/>
              <a:t>A strongly typed distributed collection of objects.</a:t>
            </a:r>
          </a:p>
          <a:p>
            <a:r>
              <a:rPr lang="en-US" dirty="0"/>
              <a:t>Available in:</a:t>
            </a:r>
          </a:p>
          <a:p>
            <a:r>
              <a:rPr lang="en-US" dirty="0"/>
              <a:t> Scala</a:t>
            </a:r>
          </a:p>
          <a:p>
            <a:r>
              <a:rPr lang="en-US" dirty="0"/>
              <a:t> 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58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D3EEB-B67C-57C2-88A1-3F7FDFC61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vs DataFrame vs RDD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4D5B57-CC83-E5FC-1A7E-B6FA8D0CD5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166582"/>
              </p:ext>
            </p:extLst>
          </p:nvPr>
        </p:nvGraphicFramePr>
        <p:xfrm>
          <a:off x="4038600" y="1416771"/>
          <a:ext cx="7188201" cy="40210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18994">
                  <a:extLst>
                    <a:ext uri="{9D8B030D-6E8A-4147-A177-3AD203B41FA5}">
                      <a16:colId xmlns:a16="http://schemas.microsoft.com/office/drawing/2014/main" val="630249763"/>
                    </a:ext>
                  </a:extLst>
                </a:gridCol>
                <a:gridCol w="1481790">
                  <a:extLst>
                    <a:ext uri="{9D8B030D-6E8A-4147-A177-3AD203B41FA5}">
                      <a16:colId xmlns:a16="http://schemas.microsoft.com/office/drawing/2014/main" val="2980202819"/>
                    </a:ext>
                  </a:extLst>
                </a:gridCol>
                <a:gridCol w="1896196">
                  <a:extLst>
                    <a:ext uri="{9D8B030D-6E8A-4147-A177-3AD203B41FA5}">
                      <a16:colId xmlns:a16="http://schemas.microsoft.com/office/drawing/2014/main" val="3961951615"/>
                    </a:ext>
                  </a:extLst>
                </a:gridCol>
                <a:gridCol w="1691221">
                  <a:extLst>
                    <a:ext uri="{9D8B030D-6E8A-4147-A177-3AD203B41FA5}">
                      <a16:colId xmlns:a16="http://schemas.microsoft.com/office/drawing/2014/main" val="3398259265"/>
                    </a:ext>
                  </a:extLst>
                </a:gridCol>
              </a:tblGrid>
              <a:tr h="68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RDD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DataFrame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Dataset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80581"/>
                  </a:ext>
                </a:extLst>
              </a:tr>
              <a:tr h="68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Type Safety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22368"/>
                  </a:ext>
                </a:extLst>
              </a:tr>
              <a:tr h="983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Compile-time check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42142"/>
                  </a:ext>
                </a:extLst>
              </a:tr>
              <a:tr h="983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Optimized (Catalyst)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29069"/>
                  </a:ext>
                </a:extLst>
              </a:tr>
              <a:tr h="68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Easy to use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Harder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Easy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Balanced</a:t>
                      </a:r>
                    </a:p>
                  </a:txBody>
                  <a:tcPr marL="320830" marR="166832" marT="166832" marB="1668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918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52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Datasets in Spark</vt:lpstr>
      <vt:lpstr>PowerPoint Presentation</vt:lpstr>
      <vt:lpstr>PowerPoint Presentation</vt:lpstr>
      <vt:lpstr>Dataset vs DataFrame vs RDD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2026-02-25T03:49:22Z</dcterms:created>
  <dcterms:modified xsi:type="dcterms:W3CDTF">2026-02-25T03:54:14Z</dcterms:modified>
</cp:coreProperties>
</file>