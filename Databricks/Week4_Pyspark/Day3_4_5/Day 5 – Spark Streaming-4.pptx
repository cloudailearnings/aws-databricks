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7" r:id="rId3"/>
    <p:sldId id="328" r:id="rId4"/>
    <p:sldId id="329" r:id="rId5"/>
    <p:sldId id="330" r:id="rId6"/>
    <p:sldId id="326" r:id="rId7"/>
    <p:sldId id="257" r:id="rId8"/>
    <p:sldId id="259" r:id="rId9"/>
    <p:sldId id="333" r:id="rId10"/>
    <p:sldId id="263" r:id="rId11"/>
    <p:sldId id="318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271" r:id="rId20"/>
    <p:sldId id="319" r:id="rId21"/>
    <p:sldId id="336" r:id="rId22"/>
    <p:sldId id="352" r:id="rId23"/>
    <p:sldId id="337" r:id="rId24"/>
    <p:sldId id="293" r:id="rId25"/>
    <p:sldId id="313" r:id="rId26"/>
    <p:sldId id="338" r:id="rId27"/>
    <p:sldId id="339" r:id="rId28"/>
    <p:sldId id="340" r:id="rId29"/>
    <p:sldId id="341" r:id="rId30"/>
    <p:sldId id="277" r:id="rId31"/>
    <p:sldId id="343" r:id="rId32"/>
    <p:sldId id="308" r:id="rId33"/>
    <p:sldId id="287" r:id="rId34"/>
    <p:sldId id="344" r:id="rId35"/>
    <p:sldId id="306" r:id="rId36"/>
    <p:sldId id="30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1B59-EBCA-68BC-C740-71BC0447B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C25ED-490D-000B-5264-5728FC9FB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F67EE-A914-2AEE-D985-BF05E74F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383FD-5B20-C08F-4E61-995EDE66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B567C-E1B1-F197-8C24-C987A0DA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7748-B4C4-6A60-BC51-EFA02B638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CF079-B617-062A-E985-8D8FAE7EA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C6E44-4487-A221-691F-ECE79106E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817D1-B94F-7E5F-48FB-48482C7A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6F9A-C1D7-A57D-0815-EED29576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1734-2613-6BBB-8DD9-1EC6892C7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0D42C-8885-4846-04E8-5C3F26D8C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142E4-8EFF-C097-FF30-B79FB891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D4921-521E-6679-7EF7-EEABD842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F4E3E-4CC8-A6EF-E20B-8D9ADF78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0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2531-EC8D-E778-22CC-FDBD5711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2A43-49A9-38AA-3E7F-8AD17D022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63A65-EB53-B6FC-0885-966A785C8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3C3BC-EEB4-DAA1-C030-0F104B6D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10179-9E7A-DD0E-1DD9-5BD05767F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2F483-ECD4-A320-DBF9-6D5379509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3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5124-4CF5-8F8B-997C-729AD2B62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C040C-0488-CDE2-C090-F0ECFF125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A64CC-3C05-42E1-7E6C-39E53F9F4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3C7EA-8FA7-C632-16A5-8611D389B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8F16E-9DE2-2290-BE2E-0F1BA30D7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0AE8D-E68C-A629-154A-2F120BC1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6A9F3-2DB2-1697-7D65-6C0B9549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9B23B-B06E-3488-F3E8-33A7E3BF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62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B772-7A9E-C0E0-2BB9-D09A4F67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B02AB-8504-8536-C91B-E15DBC17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C7AEC-5ABC-90AF-8431-607FEF53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8928-6BC6-FEB6-6F3F-A4C02130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39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B8707-AAFD-24C1-DAD9-100DF685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58D06-8A06-B498-D0B7-692D3A87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2977B-62C4-9D9A-BBE8-1BFA6F49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3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E8D7-BC6A-343D-311D-A594FE7B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CAACE-1643-C647-988C-172637F6E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E533B-7A23-4064-A1B6-44B2F08A4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580D4-E5BE-D699-B171-60309C23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3BBFE-79F2-9DE1-0DA0-57680607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4CF31-D401-9636-D88A-91CB9352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85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2607-95FF-B9BF-B38C-D4B2E12B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C27A3-5745-F66C-B567-65CFCB480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291E8-0CD5-B34E-DCDD-D66387897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964CC-DB92-D371-3B24-0A096284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39F0D-1A4D-CCE7-92B1-ECED998D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BC7FD-01E2-E823-DA85-9C652537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76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DF0A-DCEC-E633-8A47-0C165301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66DA3-528E-005F-D7C8-52D0C3275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7D11D-A5F1-F59F-DB9F-18FC526F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4022D-2FB4-6787-EDE7-F704928A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A8D88-951F-53CA-479C-2125EB87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18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9F184A-3652-DFA4-710A-94F428DE9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FC0EE-1A20-1735-715B-ADB0B2968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515F7-6148-3A15-6C63-3CEADD08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379EC-F18B-C636-05F6-409ACA57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A2066-6C4B-65FA-26AE-10293027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7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F1778-74AF-A9CC-F5CA-09B2D67D9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43C72-768E-667C-D9CD-D7315DFCE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78170-8CC4-6EEF-1B74-4E698E5BB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D7F42-9861-459E-AAFF-CF6FEF646B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E3D4A-5D5F-1662-E202-EBE7A553A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7F1E2-10AA-4B44-1D25-64AEAF84D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B1706-9A7E-417C-980C-6C2F122BD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05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F22D-3C7E-C45B-1A2F-946160DFFE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Day 5 – Spark Streaming</a:t>
            </a:r>
          </a:p>
        </p:txBody>
      </p:sp>
    </p:spTree>
    <p:extLst>
      <p:ext uri="{BB962C8B-B14F-4D97-AF65-F5344CB8AC3E}">
        <p14:creationId xmlns:p14="http://schemas.microsoft.com/office/powerpoint/2010/main" val="1992717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4E0E-6C9F-FCC4-5866-F2DAD008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What is Spark Optimization?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5E0C3-770C-1752-A57B-82729CC67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16732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Spark Optimization refers to techniques used to improve the performance, scalability, and resource utilization of Spark applications.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Optimization helps to:</a:t>
            </a:r>
          </a:p>
          <a:p>
            <a:r>
              <a:rPr lang="en-US" dirty="0"/>
              <a:t>Reduce execution time</a:t>
            </a:r>
          </a:p>
          <a:p>
            <a:r>
              <a:rPr lang="en-US" dirty="0"/>
              <a:t>Improve parallelism</a:t>
            </a:r>
          </a:p>
          <a:p>
            <a:r>
              <a:rPr lang="en-US" dirty="0"/>
              <a:t>Minimize shuffle overhead</a:t>
            </a:r>
          </a:p>
          <a:p>
            <a:r>
              <a:rPr lang="en-US" dirty="0"/>
              <a:t>Avoid memory errors</a:t>
            </a:r>
          </a:p>
          <a:p>
            <a:r>
              <a:rPr lang="en-US" dirty="0"/>
              <a:t>Efficiently utilize cluster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682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57FC-882E-CC9C-F729-D306F7739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075"/>
            <a:ext cx="10515600" cy="1325563"/>
          </a:xfrm>
        </p:spPr>
        <p:txBody>
          <a:bodyPr/>
          <a:lstStyle/>
          <a:p>
            <a:r>
              <a:rPr lang="en-US" b="1" dirty="0"/>
              <a:t>Common Performance Bottlenecks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3C20-8188-C969-6454-D8CD9B8C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52738"/>
            <a:ext cx="10515600" cy="58052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Too Few or Too Many Partitions</a:t>
            </a:r>
          </a:p>
          <a:p>
            <a:r>
              <a:rPr lang="en-US" dirty="0"/>
              <a:t>Too few → underutilized cluster</a:t>
            </a:r>
          </a:p>
          <a:p>
            <a:r>
              <a:rPr lang="en-US" dirty="0"/>
              <a:t>Too many → scheduling overhead</a:t>
            </a:r>
          </a:p>
          <a:p>
            <a:pPr marL="0" indent="0">
              <a:buNone/>
            </a:pPr>
            <a:r>
              <a:rPr lang="en-US" b="1" dirty="0"/>
              <a:t>2. Data Skew</a:t>
            </a:r>
          </a:p>
          <a:p>
            <a:r>
              <a:rPr lang="en-US" dirty="0"/>
              <a:t>Uneven distribution of data across partitions</a:t>
            </a:r>
          </a:p>
          <a:p>
            <a:r>
              <a:rPr lang="en-US" dirty="0"/>
              <a:t>Causes some tasks to run much longer</a:t>
            </a:r>
          </a:p>
          <a:p>
            <a:pPr marL="0" indent="0">
              <a:buNone/>
            </a:pPr>
            <a:r>
              <a:rPr lang="en-US" b="1" dirty="0"/>
              <a:t>3. Excessive Shuffle</a:t>
            </a:r>
          </a:p>
          <a:p>
            <a:r>
              <a:rPr lang="en-US" dirty="0" err="1"/>
              <a:t>groupByKey</a:t>
            </a:r>
            <a:r>
              <a:rPr lang="en-US" dirty="0"/>
              <a:t>(), join(), distinct() cause shuffle</a:t>
            </a:r>
          </a:p>
          <a:p>
            <a:r>
              <a:rPr lang="en-US" dirty="0"/>
              <a:t>Shuffle increases disk and network I/O</a:t>
            </a:r>
          </a:p>
          <a:p>
            <a:pPr marL="0" indent="0">
              <a:buNone/>
            </a:pPr>
            <a:r>
              <a:rPr lang="en-US" b="1" dirty="0"/>
              <a:t>4. Driver Bottleneck</a:t>
            </a:r>
          </a:p>
          <a:p>
            <a:r>
              <a:rPr lang="en-US" dirty="0"/>
              <a:t>Using collect() on large datasets</a:t>
            </a:r>
          </a:p>
          <a:p>
            <a:r>
              <a:rPr lang="en-US" dirty="0"/>
              <a:t>Large broadcast variables</a:t>
            </a:r>
          </a:p>
          <a:p>
            <a:pPr marL="0" indent="0">
              <a:buNone/>
            </a:pPr>
            <a:r>
              <a:rPr lang="en-US" b="1" dirty="0"/>
              <a:t>5. Improper Resource Configuration</a:t>
            </a:r>
          </a:p>
          <a:p>
            <a:r>
              <a:rPr lang="en-US" dirty="0"/>
              <a:t>Insufficient executor memory</a:t>
            </a:r>
          </a:p>
          <a:p>
            <a:r>
              <a:rPr lang="en-US" dirty="0"/>
              <a:t>Too many cores per executor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8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B4BCE-084D-23FF-30A4-0443DB6CF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0515600" cy="672737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Optimization Techniques</a:t>
            </a:r>
          </a:p>
          <a:p>
            <a:pPr marL="0" indent="0">
              <a:buNone/>
            </a:pPr>
            <a:r>
              <a:rPr lang="en-US" b="1" dirty="0"/>
              <a:t>1. Use </a:t>
            </a:r>
            <a:r>
              <a:rPr lang="en-US" b="1" dirty="0" err="1"/>
              <a:t>reduceByKey</a:t>
            </a:r>
            <a:r>
              <a:rPr lang="en-US" b="1" dirty="0"/>
              <a:t> Instead of </a:t>
            </a:r>
            <a:r>
              <a:rPr lang="en-US" b="1" dirty="0" err="1"/>
              <a:t>groupByKey</a:t>
            </a:r>
            <a:endParaRPr lang="en-US" b="1" dirty="0"/>
          </a:p>
          <a:p>
            <a:r>
              <a:rPr lang="en-US" dirty="0" err="1"/>
              <a:t>reduceByKey</a:t>
            </a:r>
            <a:r>
              <a:rPr lang="en-US" dirty="0"/>
              <a:t> performs map-side combine and reduces shuffle size.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2. Optimize Partitions</a:t>
            </a:r>
          </a:p>
          <a:p>
            <a:pPr marL="0" indent="0">
              <a:buNone/>
            </a:pPr>
            <a:r>
              <a:rPr lang="en-US" dirty="0"/>
              <a:t>Use:</a:t>
            </a:r>
          </a:p>
          <a:p>
            <a:r>
              <a:rPr lang="en-US" dirty="0"/>
              <a:t>repartition() to increase partitions</a:t>
            </a:r>
          </a:p>
          <a:p>
            <a:r>
              <a:rPr lang="en-US" dirty="0"/>
              <a:t>coalesce() to reduce partitions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 Cache Reused Data</a:t>
            </a:r>
          </a:p>
          <a:p>
            <a:r>
              <a:rPr lang="en-US" dirty="0"/>
              <a:t>Use cache() or persist() when dataset is reused multiple times.</a:t>
            </a:r>
          </a:p>
          <a:p>
            <a:pPr marL="0" indent="0">
              <a:buNone/>
            </a:pPr>
            <a:r>
              <a:rPr lang="en-US" b="1" dirty="0"/>
              <a:t>4. Avoid Large collect()</a:t>
            </a:r>
          </a:p>
          <a:p>
            <a:pPr marL="0" indent="0">
              <a:buNone/>
            </a:pPr>
            <a:r>
              <a:rPr lang="en-US" dirty="0"/>
              <a:t>Instead of:</a:t>
            </a:r>
          </a:p>
          <a:p>
            <a:r>
              <a:rPr lang="en-US" dirty="0" err="1"/>
              <a:t>large_df.collect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Use:</a:t>
            </a:r>
          </a:p>
          <a:p>
            <a:r>
              <a:rPr lang="en-US" dirty="0" err="1"/>
              <a:t>large_df.limit</a:t>
            </a:r>
            <a:r>
              <a:rPr lang="en-US" dirty="0"/>
              <a:t>(100).show()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5. Broadcast Small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2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41E2-CD58-0F52-C901-9831B0676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5. Broadcast Small Tables</a:t>
            </a:r>
          </a:p>
          <a:p>
            <a:pPr marL="0" indent="0">
              <a:buNone/>
            </a:pPr>
            <a:r>
              <a:rPr lang="en-US" dirty="0"/>
              <a:t>For joins:</a:t>
            </a:r>
          </a:p>
          <a:p>
            <a:r>
              <a:rPr lang="en-US" dirty="0"/>
              <a:t>from </a:t>
            </a:r>
            <a:r>
              <a:rPr lang="en-US" dirty="0" err="1"/>
              <a:t>pyspark.sql.functions</a:t>
            </a:r>
            <a:r>
              <a:rPr lang="en-US" dirty="0"/>
              <a:t> import broadcast</a:t>
            </a:r>
          </a:p>
          <a:p>
            <a:r>
              <a:rPr lang="en-US" dirty="0"/>
              <a:t>df1.join(broadcast(df2), "key")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6. Use Proper File Formats</a:t>
            </a:r>
          </a:p>
          <a:p>
            <a:pPr marL="0" indent="0">
              <a:buNone/>
            </a:pPr>
            <a:r>
              <a:rPr lang="en-US" dirty="0"/>
              <a:t>Prefer:</a:t>
            </a:r>
          </a:p>
          <a:p>
            <a:r>
              <a:rPr lang="en-US" dirty="0"/>
              <a:t>Parquet\</a:t>
            </a:r>
          </a:p>
          <a:p>
            <a:r>
              <a:rPr lang="en-US" dirty="0"/>
              <a:t>ORC</a:t>
            </a:r>
          </a:p>
          <a:p>
            <a:r>
              <a:rPr lang="en-US" dirty="0"/>
              <a:t>They are columnar and optimized.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7. Tune Shuffle Partitions</a:t>
            </a:r>
          </a:p>
          <a:p>
            <a:r>
              <a:rPr lang="en-US" dirty="0" err="1"/>
              <a:t>spark.sql.shuffle.partitions</a:t>
            </a:r>
            <a:r>
              <a:rPr lang="en-US" dirty="0"/>
              <a:t> controls shuffle parallelism.</a:t>
            </a:r>
          </a:p>
          <a:p>
            <a:r>
              <a:rPr lang="en-US" dirty="0"/>
              <a:t>Default: 200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8. Use Predicate Pushdown</a:t>
            </a:r>
          </a:p>
          <a:p>
            <a:r>
              <a:rPr lang="en-US" dirty="0"/>
              <a:t>Filter early before joins or aggregations.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26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2DB5-B7D5-6CBE-CE2A-72E8BF8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686" y="2766218"/>
            <a:ext cx="10515600" cy="1325563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Spark Streaming</a:t>
            </a: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25579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BD69-BF45-7306-43C2-3D9C03B4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91" y="18255"/>
            <a:ext cx="10515600" cy="968881"/>
          </a:xfrm>
        </p:spPr>
        <p:txBody>
          <a:bodyPr/>
          <a:lstStyle/>
          <a:p>
            <a:r>
              <a:rPr lang="en-IN" dirty="0"/>
              <a:t>What is Spark Streaming?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9F6C-C626-7CB0-7EB7-4DEA99271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1045"/>
            <a:ext cx="12192000" cy="5085918"/>
          </a:xfrm>
        </p:spPr>
        <p:txBody>
          <a:bodyPr>
            <a:normAutofit/>
          </a:bodyPr>
          <a:lstStyle/>
          <a:p>
            <a:r>
              <a:rPr lang="en-US" b="1" dirty="0"/>
              <a:t>Spark Streaming</a:t>
            </a:r>
            <a:r>
              <a:rPr lang="en-US" dirty="0"/>
              <a:t> is an </a:t>
            </a:r>
            <a:r>
              <a:rPr lang="en-US" b="1" dirty="0"/>
              <a:t>extension of Apache Spark</a:t>
            </a:r>
            <a:r>
              <a:rPr lang="en-US" dirty="0"/>
              <a:t> that allows you to process </a:t>
            </a:r>
            <a:r>
              <a:rPr lang="en-US" b="1" dirty="0"/>
              <a:t>real-time data streams</a:t>
            </a:r>
            <a:r>
              <a:rPr lang="en-US" dirty="0"/>
              <a:t> — i.e., data that arrives continuously from sources such as:</a:t>
            </a:r>
          </a:p>
          <a:p>
            <a:pPr marL="457200" lvl="1" indent="0">
              <a:buNone/>
            </a:pPr>
            <a:r>
              <a:rPr lang="en-US" dirty="0"/>
              <a:t>Kafka</a:t>
            </a:r>
          </a:p>
          <a:p>
            <a:pPr marL="457200" lvl="1" indent="0">
              <a:buNone/>
            </a:pPr>
            <a:r>
              <a:rPr lang="en-US" dirty="0"/>
              <a:t>Kinesis</a:t>
            </a:r>
          </a:p>
          <a:p>
            <a:r>
              <a:rPr lang="en-US" dirty="0"/>
              <a:t>It enables </a:t>
            </a:r>
            <a:r>
              <a:rPr lang="en-US" b="1" dirty="0"/>
              <a:t>near real-time analytics</a:t>
            </a:r>
            <a:r>
              <a:rPr lang="en-US" dirty="0"/>
              <a:t>, allowing you to react to data as it arrives.</a:t>
            </a:r>
          </a:p>
          <a:p>
            <a:endParaRPr lang="en-US" dirty="0"/>
          </a:p>
          <a:p>
            <a:r>
              <a:rPr lang="en-US" dirty="0"/>
              <a:t>Works with real-time data streams (like logs, social media feeds, or sensor data).</a:t>
            </a:r>
          </a:p>
          <a:p>
            <a:endParaRPr lang="en-US" dirty="0"/>
          </a:p>
          <a:p>
            <a:r>
              <a:rPr lang="en-US" dirty="0"/>
              <a:t>Data is processed in small batches called </a:t>
            </a:r>
            <a:r>
              <a:rPr lang="en-US" b="1" dirty="0">
                <a:highlight>
                  <a:srgbClr val="FFFF00"/>
                </a:highlight>
              </a:rPr>
              <a:t>micro-batches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196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0527-0EFE-0E1F-3A41-F8C7D94B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Structured Streaming Workflow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ED4A-D980-B0F0-65A4-6F6FE64E9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6102"/>
            <a:ext cx="11963400" cy="57318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Input (Source)     </a:t>
            </a:r>
            <a:r>
              <a:rPr lang="en-IN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IN" b="1" dirty="0">
                <a:solidFill>
                  <a:srgbClr val="FF0000"/>
                </a:solidFill>
              </a:rPr>
              <a:t>Processing (Transformations)  </a:t>
            </a:r>
            <a:r>
              <a:rPr lang="en-IN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IN" b="1" dirty="0">
                <a:solidFill>
                  <a:srgbClr val="FF0000"/>
                </a:solidFill>
              </a:rPr>
              <a:t>Output (Sink) 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Input (Source) → continuous data ingestion</a:t>
            </a:r>
          </a:p>
          <a:p>
            <a:r>
              <a:rPr lang="en-IN" dirty="0"/>
              <a:t>Example: </a:t>
            </a:r>
            <a:r>
              <a:rPr lang="en-IN" b="1" dirty="0" err="1">
                <a:solidFill>
                  <a:srgbClr val="FF0000"/>
                </a:solidFill>
              </a:rPr>
              <a:t>readStream</a:t>
            </a:r>
            <a:r>
              <a:rPr lang="en-IN" dirty="0"/>
              <a:t> from Kafka or Kinesis/sockets/file (e.g., .csv, .</a:t>
            </a:r>
            <a:r>
              <a:rPr lang="en-IN" dirty="0" err="1"/>
              <a:t>json</a:t>
            </a:r>
            <a:r>
              <a:rPr lang="en-IN" dirty="0"/>
              <a:t>, .parquet)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Processing (Transformations) → </a:t>
            </a:r>
            <a:r>
              <a:rPr lang="en-IN" b="1" dirty="0" err="1">
                <a:highlight>
                  <a:srgbClr val="FFFF00"/>
                </a:highlight>
              </a:rPr>
              <a:t>DataFrame</a:t>
            </a:r>
            <a:r>
              <a:rPr lang="en-IN" b="1" dirty="0">
                <a:highlight>
                  <a:srgbClr val="FFFF00"/>
                </a:highlight>
              </a:rPr>
              <a:t> operations</a:t>
            </a:r>
          </a:p>
          <a:p>
            <a:r>
              <a:rPr lang="en-IN" dirty="0"/>
              <a:t>Example: </a:t>
            </a:r>
            <a:r>
              <a:rPr lang="en-IN" dirty="0" err="1"/>
              <a:t>groupBy</a:t>
            </a:r>
            <a:r>
              <a:rPr lang="en-IN" dirty="0"/>
              <a:t>, </a:t>
            </a:r>
            <a:r>
              <a:rPr lang="en-IN" dirty="0" err="1"/>
              <a:t>agg</a:t>
            </a:r>
            <a:r>
              <a:rPr lang="en-IN" dirty="0"/>
              <a:t>, filter, select, etc.</a:t>
            </a:r>
          </a:p>
          <a:p>
            <a:endParaRPr lang="en-IN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Output (Sink) → continuous data output</a:t>
            </a:r>
          </a:p>
          <a:p>
            <a:r>
              <a:rPr lang="en-IN" dirty="0"/>
              <a:t>Example: </a:t>
            </a:r>
            <a:r>
              <a:rPr lang="en-IN" b="1" dirty="0" err="1">
                <a:solidFill>
                  <a:srgbClr val="FF0000"/>
                </a:solidFill>
              </a:rPr>
              <a:t>writeStream</a:t>
            </a:r>
            <a:r>
              <a:rPr lang="en-IN" dirty="0"/>
              <a:t> to console, Kafka, or file </a:t>
            </a:r>
            <a:r>
              <a:rPr lang="en-IN" dirty="0" err="1"/>
              <a:t>system,memory</a:t>
            </a:r>
            <a:r>
              <a:rPr lang="en-IN" dirty="0"/>
              <a:t> (for debugging)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38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7788-D719-4885-5615-5FB45301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43745"/>
          </a:xfrm>
        </p:spPr>
        <p:txBody>
          <a:bodyPr/>
          <a:lstStyle/>
          <a:p>
            <a:r>
              <a:rPr lang="en-US" dirty="0"/>
              <a:t>Spark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70E1-B51B-E250-0806-6DA9584B6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1411968"/>
            <a:ext cx="11908972" cy="544603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is the Spark Engine?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The Spark Engine is the core execution engine of Apache Spark.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 It is responsible for: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Task scheduling</a:t>
            </a:r>
          </a:p>
          <a:p>
            <a:r>
              <a:rPr lang="en-US" dirty="0"/>
              <a:t>Memory management</a:t>
            </a:r>
          </a:p>
          <a:p>
            <a:r>
              <a:rPr lang="en-US" dirty="0"/>
              <a:t>Fault recovery</a:t>
            </a:r>
          </a:p>
          <a:p>
            <a:r>
              <a:rPr lang="en-US" dirty="0"/>
              <a:t>Interaction with storage systems</a:t>
            </a:r>
          </a:p>
          <a:p>
            <a:r>
              <a:rPr lang="en-US" dirty="0"/>
              <a:t>Distributed computation</a:t>
            </a:r>
          </a:p>
          <a:p>
            <a:r>
              <a:rPr lang="en-US" dirty="0"/>
              <a:t>The Spark Engine executes transformations and actions across distributed executors.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4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BD02-4D4F-E200-0E93-B03F0DAB1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5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Real-Time Data Processing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E907-488E-9D3F-DD58-F1226D3F9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477282"/>
            <a:ext cx="11821886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stream processing pattern</a:t>
            </a:r>
            <a:r>
              <a:rPr lang="en-US" dirty="0"/>
              <a:t> describes a </a:t>
            </a:r>
            <a:r>
              <a:rPr lang="en-US" b="1" dirty="0"/>
              <a:t>common way to ingest, process, and react to continuous data</a:t>
            </a:r>
            <a:r>
              <a:rPr lang="en-US" dirty="0"/>
              <a:t> (events, logs, transactions, IoT signals, etc.) in real time.</a:t>
            </a:r>
          </a:p>
          <a:p>
            <a:r>
              <a:rPr lang="en-US" dirty="0"/>
              <a:t>These patterns help you design </a:t>
            </a:r>
            <a:r>
              <a:rPr lang="en-US" b="1" dirty="0"/>
              <a:t>scalable, fault-tolerant</a:t>
            </a:r>
            <a:r>
              <a:rPr lang="en-US" dirty="0"/>
              <a:t>, and </a:t>
            </a:r>
            <a:r>
              <a:rPr lang="en-US" b="1" dirty="0"/>
              <a:t>low-latency</a:t>
            </a:r>
            <a:r>
              <a:rPr lang="en-US" dirty="0"/>
              <a:t> data pipelines.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4884AF-6A73-CBAE-AD7D-712B6DC4B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88744"/>
              </p:ext>
            </p:extLst>
          </p:nvPr>
        </p:nvGraphicFramePr>
        <p:xfrm>
          <a:off x="838200" y="3964282"/>
          <a:ext cx="10515600" cy="20116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078913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884458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15833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27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Source (Ingestion)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Where data originates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Kafka, Kinesis, MQTT, socket,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6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Stream Processor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Applies transformations, aggregations, joins, 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Spark Structured Streaming, Flink, Beam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258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Sink (Output)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Where results are written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Console, Kafka topic, database, data lake,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39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209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2185-F069-70A5-EF05-21424E10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309" y="257741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Real time data processing Streaming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EAE2-CCEA-B7A0-05A3-85B75FE9C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Stateless Streaming Pattern</a:t>
            </a:r>
          </a:p>
          <a:p>
            <a:r>
              <a:rPr lang="en-US" dirty="0"/>
              <a:t>Window-Based Pattern</a:t>
            </a:r>
          </a:p>
          <a:p>
            <a:r>
              <a:rPr lang="en-US" dirty="0"/>
              <a:t>Event-Time Processing Pattern</a:t>
            </a:r>
          </a:p>
          <a:p>
            <a:r>
              <a:rPr lang="en-US" dirty="0"/>
              <a:t>Stateful Streaming Pattern</a:t>
            </a:r>
          </a:p>
          <a:p>
            <a:r>
              <a:rPr lang="en-US" dirty="0"/>
              <a:t>Micro-Batch Pattern</a:t>
            </a:r>
          </a:p>
          <a:p>
            <a:r>
              <a:rPr lang="en-US" dirty="0"/>
              <a:t>True Streaming (Record-by-Record)</a:t>
            </a:r>
          </a:p>
          <a:p>
            <a:r>
              <a:rPr lang="en-US" dirty="0"/>
              <a:t>Pub-Sub Pattern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72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25E9-0239-2820-DA0F-E424E943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61459"/>
          </a:xfrm>
        </p:spPr>
        <p:txBody>
          <a:bodyPr/>
          <a:lstStyle/>
          <a:p>
            <a:r>
              <a:rPr lang="en-US" dirty="0"/>
              <a:t>Stateless Streaming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1E092-E7BD-D144-F6BC-0F1A9D291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150709"/>
            <a:ext cx="10515600" cy="52718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What it is:</a:t>
            </a:r>
          </a:p>
          <a:p>
            <a:r>
              <a:rPr lang="en-US" dirty="0"/>
              <a:t>Each event is processed independently.</a:t>
            </a:r>
          </a:p>
          <a:p>
            <a:pPr marL="0" indent="0">
              <a:buNone/>
            </a:pPr>
            <a:r>
              <a:rPr lang="en-US" b="1" dirty="0"/>
              <a:t> Example:</a:t>
            </a:r>
          </a:p>
          <a:p>
            <a:r>
              <a:rPr lang="en-US" dirty="0"/>
              <a:t>Convert text to uppercase</a:t>
            </a:r>
          </a:p>
          <a:p>
            <a:r>
              <a:rPr lang="en-US" dirty="0"/>
              <a:t>Filter invalid records</a:t>
            </a:r>
          </a:p>
          <a:p>
            <a:r>
              <a:rPr lang="en-US" dirty="0"/>
              <a:t>Simple transformations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in Apache Spark: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streamDF.selectExpr</a:t>
            </a:r>
            <a:r>
              <a:rPr lang="en-US" dirty="0"/>
              <a:t>("value").filter("value IS NOT NULL")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Use When:</a:t>
            </a:r>
          </a:p>
          <a:p>
            <a:r>
              <a:rPr lang="en-US" dirty="0"/>
              <a:t>No dependency on previous events</a:t>
            </a:r>
          </a:p>
          <a:p>
            <a:r>
              <a:rPr lang="en-US" dirty="0"/>
              <a:t>Simple transformations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7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8538-B54C-F959-E905-9AEEF372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70857"/>
          </a:xfrm>
        </p:spPr>
        <p:txBody>
          <a:bodyPr/>
          <a:lstStyle/>
          <a:p>
            <a:r>
              <a:rPr lang="en-US" dirty="0"/>
              <a:t>Stateful Streaming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8D91-5154-3B7E-1B3F-35B823E37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Processing depends on previous events (maintains state).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Running count</a:t>
            </a:r>
          </a:p>
          <a:p>
            <a:r>
              <a:rPr lang="en-US" dirty="0"/>
              <a:t>Session tracking</a:t>
            </a:r>
          </a:p>
          <a:p>
            <a:r>
              <a:rPr lang="en-US" dirty="0"/>
              <a:t>Aggregations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84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833A-C3B5-B4D2-4BC4-09B3528E1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62000"/>
          </a:xfrm>
        </p:spPr>
        <p:txBody>
          <a:bodyPr/>
          <a:lstStyle/>
          <a:p>
            <a:r>
              <a:rPr lang="en-US" dirty="0"/>
              <a:t>Window-Based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B1CD1-AA0D-03C5-2F4D-F12AD1C01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2" y="116159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Processes data within a specific time window.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Types:</a:t>
            </a:r>
          </a:p>
          <a:p>
            <a:r>
              <a:rPr lang="en-US" dirty="0"/>
              <a:t>Tumbling Window</a:t>
            </a:r>
          </a:p>
          <a:p>
            <a:r>
              <a:rPr lang="en-US" dirty="0"/>
              <a:t>Sliding Window</a:t>
            </a:r>
          </a:p>
          <a:p>
            <a:r>
              <a:rPr lang="en-US" dirty="0"/>
              <a:t>Session Window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Count clicks every 5 minutes.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groupBy</a:t>
            </a:r>
            <a:r>
              <a:rPr lang="en-US" dirty="0"/>
              <a:t>(window("timestamp","5 minutes")).count()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83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91E7-6CB1-5ABB-88BD-2049E038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Event-Time Processing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4F97-492F-B727-F0A7-5BBC4FCCB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1445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Processes data based on event timestamp (not arrival time).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Uses:</a:t>
            </a:r>
          </a:p>
          <a:p>
            <a:r>
              <a:rPr lang="en-US" dirty="0"/>
              <a:t>Watermarks</a:t>
            </a:r>
          </a:p>
          <a:p>
            <a:r>
              <a:rPr lang="en-US" dirty="0"/>
              <a:t>Late data handling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Used in:</a:t>
            </a:r>
          </a:p>
          <a:p>
            <a:r>
              <a:rPr lang="en-US" dirty="0"/>
              <a:t>Apache Spark Structured Streaming</a:t>
            </a:r>
          </a:p>
          <a:p>
            <a:r>
              <a:rPr lang="en-US" dirty="0"/>
              <a:t>Apache Flink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43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8B16-606F-5FA9-5058-129F5259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41716"/>
          </a:xfrm>
        </p:spPr>
        <p:txBody>
          <a:bodyPr/>
          <a:lstStyle/>
          <a:p>
            <a:r>
              <a:rPr lang="en-US" dirty="0"/>
              <a:t>Micro-Batch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9912-9EB4-54DA-B97B-D705A5241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346654"/>
            <a:ext cx="10515600" cy="4351338"/>
          </a:xfrm>
        </p:spPr>
        <p:txBody>
          <a:bodyPr/>
          <a:lstStyle/>
          <a:p>
            <a:r>
              <a:rPr lang="en-US" dirty="0"/>
              <a:t>Data is processed in small batches (few seconds).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Used by:</a:t>
            </a:r>
          </a:p>
          <a:p>
            <a:r>
              <a:rPr lang="en-US" dirty="0"/>
              <a:t>Apache Spark Streaming</a:t>
            </a:r>
          </a:p>
          <a:p>
            <a:endParaRPr lang="en-US" dirty="0"/>
          </a:p>
          <a:p>
            <a:r>
              <a:rPr lang="en-US" dirty="0"/>
              <a:t> Good balance of latency &amp; throughput</a:t>
            </a:r>
            <a:br>
              <a:rPr lang="en-US" dirty="0"/>
            </a:br>
            <a:r>
              <a:rPr lang="en-US" dirty="0"/>
              <a:t>Not true real-time (few seconds delay)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245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AAED-520C-7BF9-CD89-4524D322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76402"/>
          </a:xfrm>
        </p:spPr>
        <p:txBody>
          <a:bodyPr/>
          <a:lstStyle/>
          <a:p>
            <a:r>
              <a:rPr lang="en-US" dirty="0"/>
              <a:t>True Streaming (Record-by-Record)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3DBC-C25B-7DFE-017A-4DD023194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53331"/>
            <a:ext cx="10515600" cy="4351338"/>
          </a:xfrm>
        </p:spPr>
        <p:txBody>
          <a:bodyPr/>
          <a:lstStyle/>
          <a:p>
            <a:r>
              <a:rPr lang="en-US" dirty="0"/>
              <a:t>Each event processed immediately.</a:t>
            </a:r>
          </a:p>
          <a:p>
            <a:r>
              <a:rPr lang="en-US" dirty="0"/>
              <a:t>Used by:</a:t>
            </a:r>
          </a:p>
          <a:p>
            <a:r>
              <a:rPr lang="en-US" dirty="0"/>
              <a:t>Apache Flink</a:t>
            </a:r>
          </a:p>
          <a:p>
            <a:r>
              <a:rPr lang="en-US" dirty="0"/>
              <a:t>Apache Kafka Streams</a:t>
            </a:r>
          </a:p>
          <a:p>
            <a:r>
              <a:rPr lang="en-US" dirty="0"/>
              <a:t>✔ Very low latency</a:t>
            </a:r>
            <a:br>
              <a:rPr lang="en-US" dirty="0"/>
            </a:br>
            <a:r>
              <a:rPr lang="en-US" dirty="0"/>
              <a:t>✔ Real-time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21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F64C-4708-E0E4-FE2C-6D1B42857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49086"/>
          </a:xfrm>
        </p:spPr>
        <p:txBody>
          <a:bodyPr/>
          <a:lstStyle/>
          <a:p>
            <a:r>
              <a:rPr lang="en-US" dirty="0"/>
              <a:t>Pub-Sub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F906-7DDE-4D3C-6456-475823F72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3901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Producers publish events → Consumers subscribe.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Used in:</a:t>
            </a:r>
          </a:p>
          <a:p>
            <a:r>
              <a:rPr lang="en-US" dirty="0"/>
              <a:t>Apache Kafka</a:t>
            </a:r>
          </a:p>
          <a:p>
            <a:r>
              <a:rPr lang="en-US" dirty="0"/>
              <a:t>Amazon Kinesis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13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7D1A-E307-AFB8-4D50-2946B75F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End-to-End Real-Time Streaming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7F9A1-BC69-7501-36B8-2EE8B594E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825625"/>
            <a:ext cx="11277600" cy="4351338"/>
          </a:xfrm>
        </p:spPr>
        <p:txBody>
          <a:bodyPr/>
          <a:lstStyle/>
          <a:p>
            <a:r>
              <a:rPr lang="en-IN" dirty="0"/>
              <a:t>IoT Devices → Kinesis → Spark Structured Streaming → Delta Lake → Power BI Dashboard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Patterns used to implement above flow:</a:t>
            </a:r>
            <a:endParaRPr lang="en-US" dirty="0"/>
          </a:p>
          <a:p>
            <a:r>
              <a:rPr lang="en-US" dirty="0"/>
              <a:t>Event Stream Processing (clean + transform)</a:t>
            </a:r>
          </a:p>
          <a:p>
            <a:r>
              <a:rPr lang="en-US" dirty="0"/>
              <a:t>Streaming Aggregation (compute hourly metrics)</a:t>
            </a:r>
          </a:p>
          <a:p>
            <a:r>
              <a:rPr lang="en-US" dirty="0"/>
              <a:t>Event-Time Windowing (handle delays)</a:t>
            </a:r>
          </a:p>
          <a:p>
            <a:r>
              <a:rPr lang="en-US" dirty="0"/>
              <a:t>Stream-to-Batch Merge (combine with history)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510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85D40-634F-FEDD-5DE2-E521F3EB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Spark Structural Streaming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3BD5F-C98D-F41E-1F22-295A2DBB4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Watermarking</a:t>
            </a:r>
          </a:p>
          <a:p>
            <a:r>
              <a:rPr lang="en-IN" dirty="0"/>
              <a:t>Windowing</a:t>
            </a:r>
          </a:p>
          <a:p>
            <a:r>
              <a:rPr lang="en-IN" dirty="0"/>
              <a:t>State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512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A664-3CD1-14B2-24DF-AB9BFA18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971" y="103869"/>
            <a:ext cx="10515600" cy="897618"/>
          </a:xfrm>
        </p:spPr>
        <p:txBody>
          <a:bodyPr/>
          <a:lstStyle/>
          <a:p>
            <a:r>
              <a:rPr lang="en-US" dirty="0"/>
              <a:t> State Management in Spark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307B9-300D-839D-6149-6F2612B45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State?</a:t>
            </a:r>
          </a:p>
          <a:p>
            <a:r>
              <a:rPr lang="en-US" dirty="0"/>
              <a:t>State means </a:t>
            </a:r>
            <a:r>
              <a:rPr lang="en-US" b="1" dirty="0"/>
              <a:t>remembering previous data across micro-batches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Counting total transactions per user</a:t>
            </a:r>
          </a:p>
          <a:p>
            <a:r>
              <a:rPr lang="en-US" dirty="0"/>
              <a:t>Running total</a:t>
            </a:r>
          </a:p>
          <a:p>
            <a:r>
              <a:rPr lang="en-US" dirty="0"/>
              <a:t>Session tracking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53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E7521-E2F6-E774-27B1-9998E3AED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Stateless vs Stateful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31DA37-95A0-1F60-DE16-4DD269636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045829"/>
              </p:ext>
            </p:extLst>
          </p:nvPr>
        </p:nvGraphicFramePr>
        <p:xfrm>
          <a:off x="1252775" y="2167428"/>
          <a:ext cx="9686451" cy="3409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05516">
                  <a:extLst>
                    <a:ext uri="{9D8B030D-6E8A-4147-A177-3AD203B41FA5}">
                      <a16:colId xmlns:a16="http://schemas.microsoft.com/office/drawing/2014/main" val="2433427528"/>
                    </a:ext>
                  </a:extLst>
                </a:gridCol>
                <a:gridCol w="7480935">
                  <a:extLst>
                    <a:ext uri="{9D8B030D-6E8A-4147-A177-3AD203B41FA5}">
                      <a16:colId xmlns:a16="http://schemas.microsoft.com/office/drawing/2014/main" val="3783591764"/>
                    </a:ext>
                  </a:extLst>
                </a:gridCol>
              </a:tblGrid>
              <a:tr h="11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0" marR="150876" marT="60350" marB="4526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0" marR="150876" marT="60350" marB="4526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87154"/>
                  </a:ext>
                </a:extLst>
              </a:tr>
              <a:tr h="11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Stateless</a:t>
                      </a:r>
                    </a:p>
                  </a:txBody>
                  <a:tcPr marL="0" marR="150876" marT="60350" marB="4526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Each record processed independently</a:t>
                      </a:r>
                    </a:p>
                  </a:txBody>
                  <a:tcPr marL="0" marR="150876" marT="60350" marB="4526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173738"/>
                  </a:ext>
                </a:extLst>
              </a:tr>
              <a:tr h="11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Stateful</a:t>
                      </a:r>
                    </a:p>
                  </a:txBody>
                  <a:tcPr marL="0" marR="150876" marT="60350" marB="4526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</a:rPr>
                        <a:t>Depends on previous data</a:t>
                      </a:r>
                    </a:p>
                  </a:txBody>
                  <a:tcPr marL="0" marR="150876" marT="60350" marB="4526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31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049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2B84D-ACDA-57BE-915D-4AC37ABBE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Types of Stateful Operations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35C07-BD82-BFC0-3FF7-C3BCD1F8E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1. Aggregations</a:t>
            </a:r>
          </a:p>
          <a:p>
            <a:r>
              <a:rPr lang="en-US" dirty="0" err="1"/>
              <a:t>df.groupBy</a:t>
            </a:r>
            <a:r>
              <a:rPr lang="en-US" dirty="0"/>
              <a:t>("</a:t>
            </a:r>
            <a:r>
              <a:rPr lang="en-US" dirty="0" err="1"/>
              <a:t>user_id</a:t>
            </a:r>
            <a:r>
              <a:rPr lang="en-US" dirty="0"/>
              <a:t>").count()</a:t>
            </a:r>
          </a:p>
          <a:p>
            <a:pPr marL="0" indent="0">
              <a:buNone/>
            </a:pPr>
            <a:r>
              <a:rPr lang="en-US" b="1" dirty="0"/>
              <a:t>2. Window Aggregations</a:t>
            </a:r>
          </a:p>
          <a:p>
            <a:r>
              <a:rPr lang="en-US" dirty="0" err="1"/>
              <a:t>df.groupBy</a:t>
            </a:r>
            <a:r>
              <a:rPr lang="en-US" dirty="0"/>
              <a:t>(window("timestamp", "10 minutes")).count()</a:t>
            </a:r>
          </a:p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 err="1"/>
              <a:t>mapGroupsWithState</a:t>
            </a:r>
            <a:r>
              <a:rPr lang="en-US" b="1" dirty="0"/>
              <a:t> (Advanced)</a:t>
            </a:r>
          </a:p>
          <a:p>
            <a:pPr marL="0" indent="0">
              <a:buNone/>
            </a:pPr>
            <a:r>
              <a:rPr lang="en-US" dirty="0"/>
              <a:t>Used for:</a:t>
            </a:r>
          </a:p>
          <a:p>
            <a:r>
              <a:rPr lang="en-US" dirty="0"/>
              <a:t>Custom session tracking</a:t>
            </a:r>
          </a:p>
          <a:p>
            <a:r>
              <a:rPr lang="en-US" dirty="0"/>
              <a:t>Fraud detection logic</a:t>
            </a:r>
          </a:p>
          <a:p>
            <a:r>
              <a:rPr lang="en-US" dirty="0"/>
              <a:t>Timeout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89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5426-A234-23AC-E8A1-B7744E95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114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02CB9-1852-56F3-9BAD-10D3BB97E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66397"/>
            <a:ext cx="1182188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When Spark processes streaming data, it may need to </a:t>
            </a:r>
            <a:r>
              <a:rPr lang="en-US" b="1" dirty="0"/>
              <a:t>remember</a:t>
            </a:r>
            <a:r>
              <a:rPr lang="en-US" dirty="0"/>
              <a:t> previous events:</a:t>
            </a:r>
          </a:p>
          <a:p>
            <a:r>
              <a:rPr lang="en-US" dirty="0"/>
              <a:t>Counting per user (aggregations)</a:t>
            </a:r>
          </a:p>
          <a:p>
            <a:r>
              <a:rPr lang="en-US" dirty="0"/>
              <a:t>Detecting patterns (CEP)</a:t>
            </a:r>
          </a:p>
          <a:p>
            <a:r>
              <a:rPr lang="en-US" dirty="0"/>
              <a:t>Joining streams (maintaining join state)</a:t>
            </a:r>
          </a:p>
          <a:p>
            <a:r>
              <a:rPr lang="en-US" dirty="0"/>
              <a:t>Deduplication</a:t>
            </a:r>
          </a:p>
          <a:p>
            <a:r>
              <a:rPr lang="en-US" dirty="0"/>
              <a:t>This memory of prior data = </a:t>
            </a:r>
            <a:r>
              <a:rPr lang="en-US" b="1" dirty="0"/>
              <a:t>state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State is stored in </a:t>
            </a:r>
            <a:r>
              <a:rPr lang="en-US" b="1" dirty="0" err="1"/>
              <a:t>checkpointLocation</a:t>
            </a:r>
            <a:r>
              <a:rPr lang="en-US" dirty="0"/>
              <a:t>, so it can recover after failure.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736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CF052-C9A9-19FE-1264-52FDDCB5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 kern="120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Windowing</a:t>
            </a:r>
          </a:p>
        </p:txBody>
      </p:sp>
    </p:spTree>
    <p:extLst>
      <p:ext uri="{BB962C8B-B14F-4D97-AF65-F5344CB8AC3E}">
        <p14:creationId xmlns:p14="http://schemas.microsoft.com/office/powerpoint/2010/main" val="289785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65A96-544E-2386-C2E9-F9F438F9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Windowing in Structured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FF21-071F-1322-DAB9-A86391BEC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Windowing means:</a:t>
            </a:r>
            <a:br>
              <a:rPr lang="en-US" dirty="0"/>
            </a:br>
            <a:r>
              <a:rPr lang="en-US" dirty="0"/>
              <a:t>👉 Grouping data based on time intervals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when processing </a:t>
            </a:r>
            <a:r>
              <a:rPr lang="en-US" b="1" dirty="0"/>
              <a:t>event-time data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51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69B4-BCF6-0B6E-0781-053734B2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4A61-AAD1-76CB-2BCD-BA552A3DB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1398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1️⃣ Tumbling Window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Fixed size, no overlap | Example: Every 5 minutes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df.groupBy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window("timestamp", “5 minutes")</a:t>
            </a:r>
          </a:p>
          <a:p>
            <a:pPr marL="0" indent="0">
              <a:buNone/>
            </a:pPr>
            <a:r>
              <a:rPr lang="en-US" dirty="0"/>
              <a:t>).count()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Example:</a:t>
            </a: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/>
              <a:t>0-5 | 5-10 | 10-15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50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A4E6-6BD4-7A19-720D-0C380C9C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Sliding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CD8E6-E925-31F1-1462-6F1E35DB6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Fixed size + overlap</a:t>
            </a:r>
          </a:p>
          <a:p>
            <a:r>
              <a:rPr lang="en-US" dirty="0" err="1"/>
              <a:t>df.groupBy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window("timestamp", "10 minutes", "5 minutes")</a:t>
            </a:r>
            <a:br>
              <a:rPr lang="en-US" dirty="0"/>
            </a:br>
            <a:r>
              <a:rPr lang="en-US" dirty="0"/>
              <a:t>).count()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10-min window sliding every 5 min</a:t>
            </a:r>
          </a:p>
          <a:p>
            <a:r>
              <a:rPr lang="en-US" dirty="0"/>
              <a:t>10:00–10:10</a:t>
            </a:r>
          </a:p>
          <a:p>
            <a:r>
              <a:rPr lang="en-US" dirty="0"/>
              <a:t>10:05–10:15</a:t>
            </a:r>
          </a:p>
          <a:p>
            <a:r>
              <a:rPr lang="en-US" dirty="0"/>
              <a:t>10:10–10:20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378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FF61-F52E-0FCB-428D-E8309626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Session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07F6-DFCA-BAD4-EC56-791442329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7086" y="1162843"/>
            <a:ext cx="10515600" cy="54121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Based on inactivity gap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Based on inactivity gap</a:t>
            </a:r>
          </a:p>
          <a:p>
            <a:r>
              <a:rPr lang="en-US" dirty="0" err="1"/>
              <a:t>df.groupBy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session_window</a:t>
            </a:r>
            <a:r>
              <a:rPr lang="en-US" dirty="0"/>
              <a:t>("timestamp", "10 minutes")</a:t>
            </a:r>
            <a:br>
              <a:rPr lang="en-US" dirty="0"/>
            </a:b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Used for:</a:t>
            </a:r>
          </a:p>
          <a:p>
            <a:r>
              <a:rPr lang="en-US" dirty="0"/>
              <a:t>User session tracking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When to Use?</a:t>
            </a:r>
          </a:p>
          <a:p>
            <a:r>
              <a:rPr lang="en-US" dirty="0"/>
              <a:t>Click count per 5 minutes</a:t>
            </a:r>
          </a:p>
          <a:p>
            <a:r>
              <a:rPr lang="en-US" dirty="0"/>
              <a:t>Transactions per hour</a:t>
            </a:r>
          </a:p>
          <a:p>
            <a:r>
              <a:rPr lang="en-US" dirty="0"/>
              <a:t>Log monitoring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036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66E21-6046-55CC-1B12-8DF38762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55"/>
            <a:ext cx="10515600" cy="1325563"/>
          </a:xfrm>
        </p:spPr>
        <p:txBody>
          <a:bodyPr/>
          <a:lstStyle/>
          <a:p>
            <a:r>
              <a:rPr lang="en-IN" b="1" dirty="0"/>
              <a:t>Watermarking &amp; Late Data Handling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8087-9C9A-7F77-B55E-4E53A82BD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88168"/>
            <a:ext cx="11745686" cy="4351338"/>
          </a:xfrm>
        </p:spPr>
        <p:txBody>
          <a:bodyPr>
            <a:normAutofit/>
          </a:bodyPr>
          <a:lstStyle/>
          <a:p>
            <a:r>
              <a:rPr lang="en-US" b="1" dirty="0"/>
              <a:t>Why Watermarking?</a:t>
            </a:r>
          </a:p>
          <a:p>
            <a:pPr marL="0" indent="0">
              <a:buNone/>
            </a:pPr>
            <a:r>
              <a:rPr lang="en-US" dirty="0"/>
              <a:t>In streaming systems:</a:t>
            </a:r>
          </a:p>
          <a:p>
            <a:r>
              <a:rPr lang="en-US" dirty="0"/>
              <a:t> Data may arrive late (network delay, retries)</a:t>
            </a:r>
          </a:p>
          <a:p>
            <a:pPr marL="0" indent="0">
              <a:buNone/>
            </a:pPr>
            <a:r>
              <a:rPr lang="en-US" dirty="0"/>
              <a:t>If we wait forever for late data:</a:t>
            </a:r>
          </a:p>
          <a:p>
            <a:r>
              <a:rPr lang="en-US" dirty="0"/>
              <a:t>Memory increases</a:t>
            </a:r>
          </a:p>
          <a:p>
            <a:r>
              <a:rPr lang="en-US" dirty="0"/>
              <a:t>State grows infinitely</a:t>
            </a:r>
          </a:p>
          <a:p>
            <a:r>
              <a:rPr lang="en-US" dirty="0"/>
              <a:t>Watermarking solves this.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67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5037-9B95-E07B-D4CA-14E25378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What is Watermark?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5AF6A-B731-022C-F845-5238BEB26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128939"/>
            <a:ext cx="10515600" cy="57108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Watermark tells Spark:</a:t>
            </a:r>
          </a:p>
          <a:p>
            <a:r>
              <a:rPr lang="en-US" dirty="0"/>
              <a:t>"Wait for late data only up to X time. After that, drop it and clean state.“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 err="1"/>
              <a:t>df.withWatermark</a:t>
            </a:r>
            <a:r>
              <a:rPr lang="en-US" dirty="0"/>
              <a:t>("timestamp", "10 minutes") \</a:t>
            </a:r>
            <a:br>
              <a:rPr lang="en-US" dirty="0"/>
            </a:br>
            <a:r>
              <a:rPr lang="en-US" dirty="0"/>
              <a:t>  .</a:t>
            </a:r>
            <a:r>
              <a:rPr lang="en-US" dirty="0" err="1"/>
              <a:t>groupBy</a:t>
            </a:r>
            <a:r>
              <a:rPr lang="en-US" dirty="0"/>
              <a:t>(window("timestamp", "5 minutes")) \</a:t>
            </a:r>
            <a:br>
              <a:rPr lang="en-US" dirty="0"/>
            </a:br>
            <a:r>
              <a:rPr lang="en-US" dirty="0"/>
              <a:t>  .count()</a:t>
            </a:r>
          </a:p>
          <a:p>
            <a:pPr marL="0" indent="0">
              <a:buNone/>
            </a:pPr>
            <a:r>
              <a:rPr lang="en-US" dirty="0"/>
              <a:t>Meaning:</a:t>
            </a:r>
          </a:p>
          <a:p>
            <a:r>
              <a:rPr lang="en-US" dirty="0"/>
              <a:t>Accept late data up to 10 minutes</a:t>
            </a:r>
          </a:p>
          <a:p>
            <a:r>
              <a:rPr lang="en-US" dirty="0"/>
              <a:t>After that, drop late records</a:t>
            </a:r>
          </a:p>
          <a:p>
            <a:r>
              <a:rPr lang="en-US" dirty="0"/>
              <a:t>Clean old state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300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455FD-E8A2-877B-A859-FE5D2FB55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Watermarking allows Structured Streaming to </a:t>
            </a:r>
            <a:r>
              <a:rPr lang="en-US" b="1" dirty="0"/>
              <a:t>handle late events</a:t>
            </a:r>
            <a:r>
              <a:rPr lang="en-US" dirty="0"/>
              <a:t> while maintaining </a:t>
            </a:r>
            <a:r>
              <a:rPr lang="en-US" b="1" dirty="0"/>
              <a:t>performance and accuracy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How It Works?</a:t>
            </a:r>
            <a:endParaRPr lang="en-US" dirty="0"/>
          </a:p>
          <a:p>
            <a:pPr fontAlgn="base"/>
            <a:r>
              <a:rPr lang="en-US" dirty="0"/>
              <a:t>If an event arrives </a:t>
            </a:r>
            <a:r>
              <a:rPr lang="en-US" b="1" dirty="0"/>
              <a:t>within 10 minutes</a:t>
            </a:r>
            <a:r>
              <a:rPr lang="en-US" dirty="0"/>
              <a:t> of the latest processed data → </a:t>
            </a:r>
            <a:r>
              <a:rPr lang="en-US" b="1" dirty="0"/>
              <a:t>It is included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If it arrives </a:t>
            </a:r>
            <a:r>
              <a:rPr lang="en-US" b="1" dirty="0"/>
              <a:t>later than 10 minutes</a:t>
            </a:r>
            <a:r>
              <a:rPr lang="en-US" dirty="0"/>
              <a:t> → </a:t>
            </a:r>
            <a:r>
              <a:rPr lang="en-US" b="1" dirty="0"/>
              <a:t>It is ignored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584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3ADC5-F99C-1554-1110-02D5B558D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3" y="796924"/>
            <a:ext cx="10515600" cy="56038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Conceptually:</a:t>
            </a:r>
          </a:p>
          <a:p>
            <a:r>
              <a:rPr lang="en-US" b="1" dirty="0"/>
              <a:t>Event Time</a:t>
            </a:r>
            <a:r>
              <a:rPr lang="en-US" dirty="0"/>
              <a:t>: When the event </a:t>
            </a:r>
            <a:r>
              <a:rPr lang="en-US" i="1" dirty="0"/>
              <a:t>actually happened</a:t>
            </a:r>
            <a:endParaRPr lang="en-US" dirty="0"/>
          </a:p>
          <a:p>
            <a:r>
              <a:rPr lang="en-US" b="1" dirty="0"/>
              <a:t>Processing Time</a:t>
            </a:r>
            <a:r>
              <a:rPr lang="en-US" dirty="0"/>
              <a:t>: When the event </a:t>
            </a:r>
            <a:r>
              <a:rPr lang="en-US" i="1" dirty="0"/>
              <a:t>arrives</a:t>
            </a:r>
            <a:r>
              <a:rPr lang="en-US" dirty="0"/>
              <a:t> at Spark</a:t>
            </a:r>
          </a:p>
          <a:p>
            <a:r>
              <a:rPr lang="en-US" b="1" dirty="0"/>
              <a:t>Watermark</a:t>
            </a:r>
            <a:r>
              <a:rPr lang="en-US" dirty="0"/>
              <a:t>: A moving cutoff for how long Spark waits for late data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US" dirty="0" err="1"/>
              <a:t>stream_df.withWatermark</a:t>
            </a:r>
            <a:r>
              <a:rPr lang="en-US" dirty="0"/>
              <a:t>("</a:t>
            </a:r>
            <a:r>
              <a:rPr lang="en-US" dirty="0" err="1"/>
              <a:t>event_time_column</a:t>
            </a:r>
            <a:r>
              <a:rPr lang="en-US" dirty="0"/>
              <a:t>", "</a:t>
            </a:r>
            <a:r>
              <a:rPr lang="en-US" dirty="0" err="1"/>
              <a:t>delay_threshold</a:t>
            </a:r>
            <a:r>
              <a:rPr lang="en-US" dirty="0"/>
              <a:t>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Where:</a:t>
            </a:r>
          </a:p>
          <a:p>
            <a:r>
              <a:rPr lang="en-US" dirty="0"/>
              <a:t>"</a:t>
            </a:r>
            <a:r>
              <a:rPr lang="en-US" dirty="0" err="1"/>
              <a:t>event_time_column</a:t>
            </a:r>
            <a:r>
              <a:rPr lang="en-US" dirty="0"/>
              <a:t>" → timestamp column for event time</a:t>
            </a:r>
          </a:p>
          <a:p>
            <a:r>
              <a:rPr lang="en-US" dirty="0"/>
              <a:t>"</a:t>
            </a:r>
            <a:r>
              <a:rPr lang="en-US" dirty="0" err="1"/>
              <a:t>delay_threshold</a:t>
            </a:r>
            <a:r>
              <a:rPr lang="en-US" dirty="0"/>
              <a:t>" → max time Spark will wait for late data</a:t>
            </a:r>
            <a:br>
              <a:rPr lang="en-US" dirty="0"/>
            </a:br>
            <a:r>
              <a:rPr lang="en-US" dirty="0"/>
              <a:t>(e.g., "10 minutes", "2 hours")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810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F413-0007-54BE-822F-7DD0976D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+ Window + Watermark Together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4931-4223-EF66-75A8-2F7B9959A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df.withWatermark</a:t>
            </a:r>
            <a:r>
              <a:rPr lang="en-US" dirty="0"/>
              <a:t>("</a:t>
            </a:r>
            <a:r>
              <a:rPr lang="en-US" dirty="0" err="1"/>
              <a:t>event_time</a:t>
            </a:r>
            <a:r>
              <a:rPr lang="en-US" dirty="0"/>
              <a:t>", "15 minutes") \</a:t>
            </a:r>
          </a:p>
          <a:p>
            <a:pPr marL="0" indent="0">
              <a:buNone/>
            </a:pPr>
            <a:r>
              <a:rPr lang="en-US" dirty="0"/>
              <a:t>  .</a:t>
            </a:r>
            <a:r>
              <a:rPr lang="en-US" dirty="0" err="1"/>
              <a:t>groupBy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window("</a:t>
            </a:r>
            <a:r>
              <a:rPr lang="en-US" dirty="0" err="1"/>
              <a:t>event_time</a:t>
            </a:r>
            <a:r>
              <a:rPr lang="en-US" dirty="0"/>
              <a:t>", "10 minutes"),</a:t>
            </a:r>
          </a:p>
          <a:p>
            <a:pPr marL="0" indent="0">
              <a:buNone/>
            </a:pPr>
            <a:r>
              <a:rPr lang="en-US" dirty="0"/>
              <a:t>      "</a:t>
            </a:r>
            <a:r>
              <a:rPr lang="en-US" dirty="0" err="1"/>
              <a:t>user_id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).count()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Used in:</a:t>
            </a:r>
          </a:p>
          <a:p>
            <a:r>
              <a:rPr lang="en-US" dirty="0"/>
              <a:t>Payment fraud detection</a:t>
            </a:r>
          </a:p>
          <a:p>
            <a:r>
              <a:rPr lang="en-US" dirty="0"/>
              <a:t>Real-time dashboard</a:t>
            </a:r>
          </a:p>
          <a:p>
            <a:r>
              <a:rPr lang="en-US" dirty="0"/>
              <a:t>IoT processing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66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82A8-8A4E-D04E-4E34-B3842A38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445" y="2103437"/>
            <a:ext cx="10515600" cy="1325563"/>
          </a:xfrm>
        </p:spPr>
        <p:txBody>
          <a:bodyPr/>
          <a:lstStyle/>
          <a:p>
            <a:r>
              <a:rPr lang="en-IN" b="1" dirty="0"/>
              <a:t>Spark Streaming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864161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819A-F778-D65F-7E3A-35192BE0E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Reliability and Fault Tolerance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b="1" dirty="0"/>
              <a:t>Performance Optimization</a:t>
            </a:r>
          </a:p>
          <a:p>
            <a:pPr marL="0" indent="0">
              <a:buNone/>
            </a:pPr>
            <a:r>
              <a:rPr lang="en-IN" dirty="0"/>
              <a:t>3. </a:t>
            </a:r>
            <a:r>
              <a:rPr lang="en-IN" b="1" dirty="0"/>
              <a:t>Data Management</a:t>
            </a:r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IN" b="1" dirty="0"/>
              <a:t>Monitoring and Debugging</a:t>
            </a:r>
          </a:p>
          <a:p>
            <a:pPr marL="0" indent="0">
              <a:buNone/>
            </a:pPr>
            <a:r>
              <a:rPr lang="en-IN" dirty="0"/>
              <a:t>5. </a:t>
            </a:r>
            <a:r>
              <a:rPr lang="en-IN" b="1" dirty="0"/>
              <a:t>Scalability and Deployment</a:t>
            </a:r>
          </a:p>
          <a:p>
            <a:pPr marL="0" indent="0">
              <a:buNone/>
            </a:pPr>
            <a:r>
              <a:rPr lang="en-IN" dirty="0"/>
              <a:t>6. </a:t>
            </a:r>
            <a:r>
              <a:rPr lang="en-IN" b="1" dirty="0"/>
              <a:t>Integration Patterns</a:t>
            </a:r>
          </a:p>
          <a:p>
            <a:pPr marL="0" indent="0">
              <a:buNone/>
            </a:pPr>
            <a:r>
              <a:rPr lang="en-IN" dirty="0"/>
              <a:t>7. </a:t>
            </a:r>
            <a:r>
              <a:rPr lang="en-IN" b="1" dirty="0"/>
              <a:t>Coding Patterns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94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</TotalTime>
  <Words>1588</Words>
  <Application>Microsoft Office PowerPoint</Application>
  <PresentationFormat>Widescreen</PresentationFormat>
  <Paragraphs>319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Wingdings</vt:lpstr>
      <vt:lpstr>Office Theme</vt:lpstr>
      <vt:lpstr>Day 5 – Spark Streaming</vt:lpstr>
      <vt:lpstr>What is Spark Optimization? </vt:lpstr>
      <vt:lpstr>Common Performance Bottlenecks </vt:lpstr>
      <vt:lpstr>PowerPoint Presentation</vt:lpstr>
      <vt:lpstr>PowerPoint Presentation</vt:lpstr>
      <vt:lpstr>Spark Streaming</vt:lpstr>
      <vt:lpstr>What is Spark Streaming?</vt:lpstr>
      <vt:lpstr>Structured Streaming Workflow </vt:lpstr>
      <vt:lpstr>Spark Engine</vt:lpstr>
      <vt:lpstr>Real-Time Data Processing Pattern</vt:lpstr>
      <vt:lpstr>Real time data processing Streaming Patterns</vt:lpstr>
      <vt:lpstr>Stateless Streaming Pattern</vt:lpstr>
      <vt:lpstr>Stateful Streaming Pattern</vt:lpstr>
      <vt:lpstr>Window-Based Pattern</vt:lpstr>
      <vt:lpstr>Event-Time Processing Pattern</vt:lpstr>
      <vt:lpstr>Micro-Batch Pattern</vt:lpstr>
      <vt:lpstr>True Streaming (Record-by-Record)</vt:lpstr>
      <vt:lpstr>Pub-Sub Pattern</vt:lpstr>
      <vt:lpstr>End-to-End Real-Time Streaming Flow</vt:lpstr>
      <vt:lpstr>Spark Structural Streaming solutions</vt:lpstr>
      <vt:lpstr> State Management in Spark Streaming</vt:lpstr>
      <vt:lpstr>Stateless vs Stateful</vt:lpstr>
      <vt:lpstr>Types of Stateful Operations</vt:lpstr>
      <vt:lpstr>STATE MANAGEMENT</vt:lpstr>
      <vt:lpstr>Windowing</vt:lpstr>
      <vt:lpstr>Windowing in Structured Streaming</vt:lpstr>
      <vt:lpstr>Types of Windows</vt:lpstr>
      <vt:lpstr>2️⃣ Sliding Window</vt:lpstr>
      <vt:lpstr>3️⃣ Session Window</vt:lpstr>
      <vt:lpstr>Watermarking &amp; Late Data Handling </vt:lpstr>
      <vt:lpstr>What is Watermark? </vt:lpstr>
      <vt:lpstr>PowerPoint Presentation</vt:lpstr>
      <vt:lpstr>PowerPoint Presentation</vt:lpstr>
      <vt:lpstr>State + Window + Watermark Together </vt:lpstr>
      <vt:lpstr>Spark Streaming Best Practices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Rajesh Kumar Devabhaktuni</cp:lastModifiedBy>
  <cp:revision>37</cp:revision>
  <dcterms:created xsi:type="dcterms:W3CDTF">2025-11-06T01:39:30Z</dcterms:created>
  <dcterms:modified xsi:type="dcterms:W3CDTF">2026-02-26T04:33:47Z</dcterms:modified>
</cp:coreProperties>
</file>