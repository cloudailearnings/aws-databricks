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6B2D8-7921-68C3-3C12-144E840EF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2D5874-6F06-679A-985D-7F9E89731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1CE92-7D0C-33F8-E41B-4533943DA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56B2-9E7D-4DFF-AB05-871317E8EC29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8801-EDC4-1F5F-269B-22EC531FC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2687E-E078-30CD-81B3-CD64A3F1F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BAC7-B276-486B-8D20-45A888DD6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202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68D80-D847-66B2-A270-8395F107C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D621E-0A01-625F-D8A8-B90262EC7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01739-1B46-50D4-693A-C1770276D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56B2-9E7D-4DFF-AB05-871317E8EC29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8C221-CC4D-5FCC-DBF8-759FE2B4C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53187-618B-8868-7953-28086EC8E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BAC7-B276-486B-8D20-45A888DD6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647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DDF4C-58BD-430D-F8B6-79E6D9E5C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545B3-E8AE-FC18-DBBD-DEBEE84C8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88ABA-70BF-237E-A28E-8EBF95EF9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56B2-9E7D-4DFF-AB05-871317E8EC29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15BC4-9BC2-7AFC-6355-4E0B3E82A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1AD48-327A-1B01-C089-CCCA4680F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BAC7-B276-486B-8D20-45A888DD6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226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1BD9A-9BE8-7EB5-CE72-3DEEEB9B2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12522-018D-541E-5DFD-760903E3C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3080BE-BEF3-B7B0-E356-F2EC92777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FB969-A411-58F7-D674-E8895D572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56B2-9E7D-4DFF-AB05-871317E8EC29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3E0DD-9764-972F-BF4F-94D70FA20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06E98-2F34-DE90-CAF0-9ED84CFE9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BAC7-B276-486B-8D20-45A888DD6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634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06406-A117-875F-A88B-966EEA4FF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BAA4C-6E5C-47E5-4AED-2B8364C1C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488B10-1B45-8856-E526-92C7C4D4F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A0BDE-0DFC-72FC-4B52-354BC60A85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7E2E57-ACFC-F17D-CC5A-DB10A4782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BB0128-3E7E-41AD-0C78-16C2BD4B5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56B2-9E7D-4DFF-AB05-871317E8EC29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FECBA7-9748-458D-DEB2-911D0A04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A2C71F-E098-8504-AD78-1D58C4AE9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BAC7-B276-486B-8D20-45A888DD6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600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3AEBA-E90A-2ED1-8A61-B6DC2A76A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65A302-1529-0AB3-03B9-4DB80FCEB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56B2-9E7D-4DFF-AB05-871317E8EC29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CDD84E-805E-E275-1443-E8FAD035D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9DA801-1236-DAE8-D5C8-CE3BFF023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BAC7-B276-486B-8D20-45A888DD6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608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9C0B8B-8598-A37C-2E46-7EE83F3AB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56B2-9E7D-4DFF-AB05-871317E8EC29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204517-2FE1-E608-FBC4-CEB1B9935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70303-ACD5-2977-8DCB-F70A221FF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BAC7-B276-486B-8D20-45A888DD6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219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B9F95-F06D-DE3A-4DC7-F7873AD1E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A6F7A-538F-E2CA-288D-8D7D03AB3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F4B8A4-5D69-3318-0758-077D947F4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B7724F-459A-263F-796F-F333D98E5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56B2-9E7D-4DFF-AB05-871317E8EC29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518D2-EE7B-F1A2-8E20-DAB3CA900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4A3D0A-3C56-61D8-8DBD-0F853B153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BAC7-B276-486B-8D20-45A888DD6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38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C236B-7505-D8CD-14F2-ACA61C1E5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5616F5-6B60-A8F2-D3B8-33D4ED8FE1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AACAE-6EBD-106E-C44E-4AC20E73C7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E5431-80A4-2927-6992-BD2461137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56B2-9E7D-4DFF-AB05-871317E8EC29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56C99-5A33-3388-04C2-617BBCCE2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40AE16-0E31-923C-8F91-D1837D477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BAC7-B276-486B-8D20-45A888DD6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624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EA43C-D33D-46AE-7B0A-7D2D4283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34C8B0-10CA-F53C-3671-938DB095DE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F02D6-A56C-5E21-F297-B0169CAF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56B2-9E7D-4DFF-AB05-871317E8EC29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35508-E211-4344-15A1-8A3651C5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96BA4-F348-29FC-808F-4F7610881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BAC7-B276-486B-8D20-45A888DD6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109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B300E6-63BC-687C-A496-3EE96AAA98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DEFFDF-6DE6-D2D7-E31A-E777BD8B2A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0BE14-9F4D-8E76-CFDC-36ED2DC41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56B2-9E7D-4DFF-AB05-871317E8EC29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2C1A0-E06C-FC19-024D-8909D5D65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E47D1-742D-926E-918C-CBF8E7E7E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BAC7-B276-486B-8D20-45A888DD6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55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83D974-13B0-CA8E-8B14-C6555DCE1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35A4A-2723-FBC0-B36B-C6E3696D5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61278-8FAC-C0E2-BBAC-E1D7C125F8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0D56B2-9E7D-4DFF-AB05-871317E8EC29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F3795-2DD6-067B-9385-E7BA21D1F2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A63A4-EFB5-314D-AB77-24E44A0D5E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98BAC7-B276-486B-8D20-45A888DD6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91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28750-C16C-4CC0-3A9E-BEE1DA151B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SDLC</a:t>
            </a:r>
          </a:p>
        </p:txBody>
      </p:sp>
    </p:spTree>
    <p:extLst>
      <p:ext uri="{BB962C8B-B14F-4D97-AF65-F5344CB8AC3E}">
        <p14:creationId xmlns:p14="http://schemas.microsoft.com/office/powerpoint/2010/main" val="3505796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2BD1D-4FE5-7BD6-FBC3-0B496252B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770914"/>
          </a:xfrm>
        </p:spPr>
        <p:txBody>
          <a:bodyPr>
            <a:normAutofit/>
          </a:bodyPr>
          <a:lstStyle/>
          <a:p>
            <a:r>
              <a:rPr lang="en-US" b="1" dirty="0"/>
              <a:t>SDLC</a:t>
            </a:r>
            <a:r>
              <a:rPr lang="en-US" dirty="0"/>
              <a:t> is a structured process used to </a:t>
            </a:r>
            <a:r>
              <a:rPr lang="en-US" b="1" dirty="0"/>
              <a:t>plan, build, test, deploy, and maintain software</a:t>
            </a:r>
            <a:r>
              <a:rPr lang="en-US" dirty="0"/>
              <a:t> with high quality and low risk.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Phases of SDLC:</a:t>
            </a:r>
          </a:p>
          <a:p>
            <a:pPr marL="0" indent="0">
              <a:buNone/>
            </a:pPr>
            <a:endParaRPr lang="en-US" b="1" dirty="0">
              <a:highlight>
                <a:srgbClr val="FFFF00"/>
              </a:highlight>
            </a:endParaRPr>
          </a:p>
          <a:p>
            <a:pPr marL="514350" indent="-514350">
              <a:buAutoNum type="arabicPeriod"/>
            </a:pPr>
            <a:r>
              <a:rPr lang="en-US" dirty="0"/>
              <a:t>Requirement Analysis : Gather business &amp; technical requirements </a:t>
            </a:r>
          </a:p>
          <a:p>
            <a:pPr marL="0" indent="0">
              <a:buNone/>
            </a:pPr>
            <a:r>
              <a:rPr lang="en-US" dirty="0"/>
              <a:t>	Output: </a:t>
            </a:r>
            <a:r>
              <a:rPr lang="en-US" b="1" dirty="0"/>
              <a:t>BRD / SRS</a:t>
            </a:r>
          </a:p>
          <a:p>
            <a:pPr marL="514350" indent="-514350">
              <a:buAutoNum type="arabicPeriod" startAt="2"/>
            </a:pPr>
            <a:r>
              <a:rPr lang="en-US" dirty="0"/>
              <a:t>Planning: Project scope, cost, timeline, resources  Output: </a:t>
            </a:r>
            <a:r>
              <a:rPr lang="en-US" b="1" dirty="0"/>
              <a:t>Project plan</a:t>
            </a:r>
          </a:p>
          <a:p>
            <a:pPr marL="514350" indent="-514350">
              <a:buAutoNum type="arabicPeriod" startAt="2"/>
            </a:pPr>
            <a:r>
              <a:rPr lang="en-US" dirty="0"/>
              <a:t>Design: Database / UI/UX  design Output: </a:t>
            </a:r>
            <a:r>
              <a:rPr lang="en-US" b="1" dirty="0"/>
              <a:t>HLD &amp; LLD</a:t>
            </a:r>
          </a:p>
          <a:p>
            <a:pPr marL="514350" indent="-514350">
              <a:buAutoNum type="arabicPeriod" startAt="2"/>
            </a:pPr>
            <a:r>
              <a:rPr lang="en-US" dirty="0"/>
              <a:t>Development (Implementation): develop Spark jobs, SQL</a:t>
            </a:r>
          </a:p>
          <a:p>
            <a:pPr marL="514350" indent="-514350">
              <a:buAutoNum type="arabicPeriod" startAt="2"/>
            </a:pPr>
            <a:r>
              <a:rPr lang="en-US" dirty="0"/>
              <a:t>Testing : Verify quality and correctness Unit / Integration / System  Testing</a:t>
            </a:r>
          </a:p>
          <a:p>
            <a:pPr marL="514350" indent="-514350">
              <a:buAutoNum type="arabicPeriod" startAt="2"/>
            </a:pPr>
            <a:r>
              <a:rPr lang="en-US" dirty="0"/>
              <a:t>Deployment: Release CI/CD pipelines to production</a:t>
            </a:r>
          </a:p>
          <a:p>
            <a:pPr marL="514350" indent="-514350">
              <a:buAutoNum type="arabicPeriod" startAt="2"/>
            </a:pPr>
            <a:r>
              <a:rPr lang="en-US" dirty="0"/>
              <a:t>Maintenance &amp; Support : Bug fixes/Enhancements</a:t>
            </a:r>
          </a:p>
          <a:p>
            <a:pPr marL="514350" indent="-514350">
              <a:buAutoNum type="arabicPeriod"/>
            </a:pPr>
            <a:endParaRPr lang="en-US" b="1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58416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A62ED-7509-B860-7AB6-8D7FF0E3D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83771"/>
          </a:xfrm>
        </p:spPr>
        <p:txBody>
          <a:bodyPr/>
          <a:lstStyle/>
          <a:p>
            <a:r>
              <a:rPr lang="en-US" dirty="0"/>
              <a:t>Waterfall vs Agile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C446F-10B6-7955-E5C8-C5E2B7D78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70" y="1041854"/>
            <a:ext cx="12028715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FF0000"/>
                </a:solidFill>
              </a:rPr>
              <a:t>linear, sequential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model where each phase must finish before the next starts.</a:t>
            </a:r>
          </a:p>
          <a:p>
            <a:r>
              <a:rPr lang="en-US" dirty="0"/>
              <a:t>Requirements → Design → Development → Testing → Deployment → Maintenance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Demerits: Difficult to handle changing requirements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Agile Model: An </a:t>
            </a:r>
            <a:r>
              <a:rPr lang="en-US" b="1" dirty="0">
                <a:solidFill>
                  <a:srgbClr val="FF0000"/>
                </a:solidFill>
              </a:rPr>
              <a:t>iterative &amp; incremental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approach with frequent releases.</a:t>
            </a:r>
          </a:p>
          <a:p>
            <a:pPr marL="0" indent="0">
              <a:buNone/>
            </a:pPr>
            <a:r>
              <a:rPr lang="en-US" dirty="0"/>
              <a:t>Sprint:  Plan → Design → Build → Test → Review → Deploy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Merits: Handles changing requirements well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048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6131AD6-B63A-5105-BF40-0B0FD12220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498756"/>
              </p:ext>
            </p:extLst>
          </p:nvPr>
        </p:nvGraphicFramePr>
        <p:xfrm>
          <a:off x="359229" y="463437"/>
          <a:ext cx="10515600" cy="5530554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09119202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8817725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1004040"/>
                    </a:ext>
                  </a:extLst>
                </a:gridCol>
              </a:tblGrid>
              <a:tr h="606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</a:rPr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solidFill>
                            <a:srgbClr val="FF0000"/>
                          </a:solidFill>
                        </a:rPr>
                        <a:t>Waterfall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</a:rPr>
                        <a:t>Agile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240740"/>
                  </a:ext>
                </a:extLst>
              </a:tr>
              <a:tr h="606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highlight>
                            <a:srgbClr val="FFFF00"/>
                          </a:highlight>
                        </a:rPr>
                        <a:t>Approach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Sequential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Iterative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919624"/>
                  </a:ext>
                </a:extLst>
              </a:tr>
              <a:tr h="60679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28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Requirement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Difficult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Easy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058057"/>
                  </a:ext>
                </a:extLst>
              </a:tr>
              <a:tr h="606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highlight>
                            <a:srgbClr val="FFFF00"/>
                          </a:highlight>
                        </a:rPr>
                        <a:t>Customer involvement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Minimal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Continuous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529386"/>
                  </a:ext>
                </a:extLst>
              </a:tr>
              <a:tr h="606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highlight>
                            <a:srgbClr val="FFFF00"/>
                          </a:highlight>
                        </a:rPr>
                        <a:t>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After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Every sprint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6480525"/>
                  </a:ext>
                </a:extLst>
              </a:tr>
              <a:tr h="606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highlight>
                            <a:srgbClr val="FFFF00"/>
                          </a:highlight>
                        </a:rPr>
                        <a:t>Delivery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End of project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Frequent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4181399"/>
                  </a:ext>
                </a:extLst>
              </a:tr>
              <a:tr h="606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highlight>
                            <a:srgbClr val="FFFF00"/>
                          </a:highlight>
                        </a:rPr>
                        <a:t>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804427"/>
                  </a:ext>
                </a:extLst>
              </a:tr>
              <a:tr h="606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highlight>
                            <a:srgbClr val="FFFF00"/>
                          </a:highlight>
                        </a:rPr>
                        <a:t>Documentation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Heavy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Light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77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2280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EA748-AC2C-8635-1BCD-1F9E66819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Story Pointing &amp; Burn-down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F3059-059E-2088-7734-A1355DECD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41854"/>
            <a:ext cx="12192000" cy="572906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Story pointing is a </a:t>
            </a:r>
            <a:r>
              <a:rPr lang="en-US" b="1" dirty="0"/>
              <a:t>relative estimation technique</a:t>
            </a:r>
            <a:r>
              <a:rPr lang="en-US" dirty="0"/>
              <a:t> used in Agile to estimate </a:t>
            </a:r>
            <a:r>
              <a:rPr lang="en-US" b="1" dirty="0"/>
              <a:t>effort, complexity, risk, and uncertainty</a:t>
            </a:r>
            <a:r>
              <a:rPr lang="en-US" dirty="0"/>
              <a:t> of a user story.</a:t>
            </a:r>
          </a:p>
          <a:p>
            <a:endParaRPr lang="en-US" dirty="0"/>
          </a:p>
          <a:p>
            <a:r>
              <a:rPr lang="en-US" dirty="0"/>
              <a:t>Simple change → 1 point / Medium feature → 5 points / Complex feature → 13 points.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Burn-down Chart: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Shows </a:t>
            </a:r>
            <a:r>
              <a:rPr lang="en-US" b="1" dirty="0"/>
              <a:t>remaining work vs time</a:t>
            </a:r>
            <a:r>
              <a:rPr lang="en-US" dirty="0"/>
              <a:t> in a sprint.</a:t>
            </a:r>
          </a:p>
          <a:p>
            <a:r>
              <a:rPr lang="en-US" dirty="0"/>
              <a:t>X-axis → Time (days)</a:t>
            </a:r>
          </a:p>
          <a:p>
            <a:r>
              <a:rPr lang="en-US" dirty="0"/>
              <a:t>Y-axis → Remaining story points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What it tells you</a:t>
            </a:r>
          </a:p>
          <a:p>
            <a:r>
              <a:rPr lang="en-US" dirty="0"/>
              <a:t>Are we on track?</a:t>
            </a:r>
          </a:p>
          <a:p>
            <a:r>
              <a:rPr lang="en-US" dirty="0"/>
              <a:t>Are we falling behind?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717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F8CDB-594B-42F0-B780-95809D95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526031"/>
          </a:xfrm>
        </p:spPr>
        <p:txBody>
          <a:bodyPr>
            <a:normAutofit fontScale="90000"/>
          </a:bodyPr>
          <a:lstStyle/>
          <a:p>
            <a:r>
              <a:rPr lang="en-US" dirty="0"/>
              <a:t>Scrum Ceremonies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C4243-283E-E84D-950E-5DA2E8DA8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3882"/>
            <a:ext cx="12192000" cy="591411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Scrum ceremonies are </a:t>
            </a:r>
            <a:r>
              <a:rPr lang="en-US" b="1" dirty="0"/>
              <a:t>time-boxed meetings</a:t>
            </a:r>
            <a:r>
              <a:rPr lang="en-US" dirty="0"/>
              <a:t> that help the team </a:t>
            </a:r>
            <a:r>
              <a:rPr lang="en-US" b="1" dirty="0"/>
              <a:t>plan, execute, inspect, and improve</a:t>
            </a:r>
            <a:r>
              <a:rPr lang="en-US" dirty="0"/>
              <a:t> work during a sprint.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1️⃣ Sprint Planning: Start of sprint ⏱ </a:t>
            </a:r>
            <a:r>
              <a:rPr lang="en-US" b="1" dirty="0"/>
              <a:t>Time-box: </a:t>
            </a:r>
            <a:r>
              <a:rPr lang="en-US" dirty="0"/>
              <a:t>2 weeks sprint → max </a:t>
            </a:r>
            <a:r>
              <a:rPr lang="en-US" b="1" dirty="0"/>
              <a:t>4 hours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2️⃣ Daily Scrum (Daily Stand-up) 📅 </a:t>
            </a:r>
            <a:r>
              <a:rPr lang="en-US" b="1" dirty="0"/>
              <a:t>When:</a:t>
            </a:r>
            <a:r>
              <a:rPr lang="en-US" dirty="0"/>
              <a:t> Every day ⏱ </a:t>
            </a:r>
            <a:r>
              <a:rPr lang="en-US" b="1" dirty="0"/>
              <a:t>Time-box:</a:t>
            </a:r>
            <a:r>
              <a:rPr lang="en-US" dirty="0"/>
              <a:t> </a:t>
            </a:r>
            <a:r>
              <a:rPr lang="en-US" b="1" dirty="0"/>
              <a:t>15 mins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3️⃣ Backlog Refinement 		📅 </a:t>
            </a:r>
            <a:r>
              <a:rPr lang="en-US" b="1" dirty="0"/>
              <a:t>When:</a:t>
            </a:r>
            <a:r>
              <a:rPr lang="en-US" dirty="0"/>
              <a:t> Ongoing (once or twice per sprint)</a:t>
            </a:r>
            <a:br>
              <a:rPr lang="en-US" dirty="0"/>
            </a:br>
            <a:r>
              <a:rPr lang="en-US" dirty="0"/>
              <a:t>                                                   		⏱ </a:t>
            </a:r>
            <a:r>
              <a:rPr lang="en-US" b="1" dirty="0"/>
              <a:t>Time-box:</a:t>
            </a:r>
            <a:r>
              <a:rPr lang="en-US" dirty="0"/>
              <a:t> ~ </a:t>
            </a:r>
            <a:r>
              <a:rPr lang="en-US" b="1" dirty="0"/>
              <a:t>1–2 hours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4️⃣ Sprint Review 			📅 </a:t>
            </a:r>
            <a:r>
              <a:rPr lang="en-US" b="1" dirty="0"/>
              <a:t>When:</a:t>
            </a:r>
            <a:r>
              <a:rPr lang="en-US" dirty="0"/>
              <a:t> End of sprint</a:t>
            </a:r>
            <a:br>
              <a:rPr lang="en-US" dirty="0"/>
            </a:br>
            <a:r>
              <a:rPr lang="en-US" dirty="0"/>
              <a:t>			   		⏱ </a:t>
            </a:r>
            <a:r>
              <a:rPr lang="en-US" b="1" dirty="0"/>
              <a:t>Time-box: </a:t>
            </a:r>
            <a:r>
              <a:rPr lang="en-US" dirty="0"/>
              <a:t>2 weeks sprint → </a:t>
            </a:r>
            <a:r>
              <a:rPr lang="en-US" b="1" dirty="0"/>
              <a:t>2 hours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5️⃣ Sprint Retrospective 	📅 </a:t>
            </a:r>
            <a:r>
              <a:rPr lang="en-US" b="1" dirty="0"/>
              <a:t>When:</a:t>
            </a:r>
            <a:r>
              <a:rPr lang="en-US" dirty="0"/>
              <a:t> After Sprint Review</a:t>
            </a:r>
            <a:br>
              <a:rPr lang="en-US" dirty="0"/>
            </a:br>
            <a:r>
              <a:rPr lang="en-US" dirty="0"/>
              <a:t>				 	⏱ </a:t>
            </a:r>
            <a:r>
              <a:rPr lang="en-US" b="1" dirty="0"/>
              <a:t>Time-box: </a:t>
            </a:r>
            <a:r>
              <a:rPr lang="en-US" dirty="0"/>
              <a:t>2 weeks sprint → </a:t>
            </a:r>
            <a:r>
              <a:rPr lang="en-US" b="1" dirty="0"/>
              <a:t>1.5 hours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661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430</Words>
  <Application>Microsoft Office PowerPoint</Application>
  <PresentationFormat>Widescreen</PresentationFormat>
  <Paragraphs>77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SDLC</vt:lpstr>
      <vt:lpstr>PowerPoint Presentation</vt:lpstr>
      <vt:lpstr>Waterfall vs Agile Model</vt:lpstr>
      <vt:lpstr>PowerPoint Presentation</vt:lpstr>
      <vt:lpstr>Story Pointing &amp; Burn-down Chart</vt:lpstr>
      <vt:lpstr>Scrum Ceremonies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2</cp:revision>
  <dcterms:created xsi:type="dcterms:W3CDTF">2026-01-31T23:09:22Z</dcterms:created>
  <dcterms:modified xsi:type="dcterms:W3CDTF">2026-01-31T23:35:45Z</dcterms:modified>
</cp:coreProperties>
</file>