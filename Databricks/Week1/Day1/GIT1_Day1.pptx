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96" r:id="rId8"/>
    <p:sldId id="265" r:id="rId9"/>
    <p:sldId id="266" r:id="rId10"/>
    <p:sldId id="269" r:id="rId11"/>
    <p:sldId id="29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3" r:id="rId21"/>
    <p:sldId id="284" r:id="rId22"/>
    <p:sldId id="285" r:id="rId23"/>
    <p:sldId id="286" r:id="rId24"/>
    <p:sldId id="290" r:id="rId25"/>
    <p:sldId id="291" r:id="rId26"/>
    <p:sldId id="292" r:id="rId27"/>
    <p:sldId id="294" r:id="rId28"/>
    <p:sldId id="29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574B-8F89-3E03-7A43-25E65FCB9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437E9-3559-4575-9C17-28E1F8BD6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47C62-7BD6-FDAD-0915-8670915F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C4A16-CC65-B03B-D32E-8F39E724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DA78C-D7D9-E101-57EE-00BE62CDE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88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438F-C200-194C-50CD-577B135D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1BDBD-7693-EAB7-1916-AB73D5E15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37ECD-3740-7213-DC5E-6E3CEC6A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38EB-940C-8E93-71FD-2D11ECA6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147F3-0469-686B-7520-3E900ADA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07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460A-A525-30FB-943C-F82F346B9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B0ABD-34C7-F23C-02BE-BB278094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20251-F9E4-21E4-4B62-314BDCC0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69D91-E9A0-E410-40D7-E8DBB2E7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ED92B-1DC7-3B59-4429-EB4B9ADD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D25E-9A83-3464-230C-176D29ED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B7CA-320E-FAE1-7E88-85C3D84CD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E7047-5BFD-40E7-F7D6-8D741B121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7A4B-71E0-D06C-7CB7-EF1EE20E2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89145-F83C-63EA-F309-5A78B5D6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8C62B-DC83-C689-E17E-6764DD72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802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9EC6-C4F4-8614-90A4-6D9AE388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5D14D-089D-A8FF-A28D-997FA4CDA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39354-B44A-1621-3A78-6DF03C06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3EC53-4EC7-8B40-312B-81BE0C7E9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43FDC-BD0B-1132-02E8-8274E43E7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7C235F-0D11-E14A-7CA7-39112FA4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6180F-B9FF-CE04-9FB6-37024BF8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302B5-1985-D807-1F86-D23B2359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AF7DC-1422-68B5-E58C-6C55263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DFC6A-0BF3-EEBE-26AC-B5BB167B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4CB919-29A8-79AB-72B4-82094EB09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94DED-D247-2007-F3EC-66E0D15F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10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E29DD-05FA-AF2C-07F9-497F88A2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38080-AF82-4D53-F400-2CA331EC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57263-33FD-09DE-D301-CC00242E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336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8218-AB82-C2C3-2859-83BFF426E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03ED-8551-6AF4-FCFC-989DBFFDF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0BBC2-B145-02A5-19F9-4165E4EE7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0B013-BE33-2EAD-498E-2AAF1BF9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DC451-F14D-F09F-FA0A-F47330F7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E2EA7-718B-29D1-743F-BD175236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67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D385-FF62-6F84-EFC8-B90240A2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6E4BB2-59C7-1DE6-DB7B-C8C72ED31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69FA3-97B3-CE95-3BAA-53A794CD4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14CCA-BDF4-381E-7006-596E6B5F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8A83E-D5E0-9255-346B-5E14C248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3CCB4-C950-3285-1898-7F4704F9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5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27A66-040F-A69C-A489-0D78D95A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19947-5020-7741-54CE-B30686E4D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839AC-161F-639D-0544-93C3E6B6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BA80-4E52-45B9-B1E9-13D48AAF8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E23C8-B2CC-2860-07EE-63CA912B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3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AC54E-008D-68A6-089B-1C665F99EE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D4E45-AE57-EA2E-63AD-DB0D84F9F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4AFA-512B-3D80-4662-9654C748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03A96-CB9F-7059-B75B-B6A7550E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8FA53-CCC7-1DC0-AF1D-3295DA51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EBAB7-123A-632A-8D2B-5E94CA0DD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7A0EB-3FB1-D97B-00C3-2E17DA61F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CA8D2-0F7A-5F99-AAE9-E5879F6C5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44AE5-8647-4C99-A7B4-AE782F9B5B77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E310A-4F01-8A5E-D92B-DDDEE2A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7532-3203-E416-8FA9-88360A764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78299-A922-4E3F-AB21-C3F1FD0F3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64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1AE0F-9CAF-FE61-5F2A-0A3E49F48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20196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D888E-5FF6-3878-E91D-DF206690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09" y="1253331"/>
            <a:ext cx="11828318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Git</a:t>
            </a:r>
            <a:r>
              <a:rPr lang="en-US" dirty="0"/>
              <a:t> is the most widely used modern Version Control System (VCS). It's essential for tracking changes in source code during software development, enabling collaboration, and maintaining a history of your project.</a:t>
            </a:r>
          </a:p>
          <a:p>
            <a:endParaRPr lang="en-US" dirty="0"/>
          </a:p>
          <a:p>
            <a:r>
              <a:rPr lang="en-US" dirty="0"/>
              <a:t>Git is a </a:t>
            </a:r>
            <a:r>
              <a:rPr lang="en-US" b="1" dirty="0"/>
              <a:t>distributed version control system</a:t>
            </a:r>
            <a:r>
              <a:rPr lang="en-US" dirty="0"/>
              <a:t>. This means:</a:t>
            </a:r>
          </a:p>
          <a:p>
            <a:r>
              <a:rPr lang="en-US" b="1" dirty="0"/>
              <a:t>Version Control:</a:t>
            </a:r>
            <a:r>
              <a:rPr lang="en-US" dirty="0"/>
              <a:t> It tracks changes to your files over time. You can see who made what changes and revert to any previous state.</a:t>
            </a:r>
          </a:p>
          <a:p>
            <a:r>
              <a:rPr lang="en-US" b="1" dirty="0"/>
              <a:t>Distributed:</a:t>
            </a:r>
            <a:r>
              <a:rPr lang="en-US" dirty="0"/>
              <a:t> Every developer has a full copy of the entire project history (the "repository") on their own local machine. This allows you to work offline and provides redundancy.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572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F2E5-B176-D1FC-8DE4-B4A66145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1528" y="27662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SOURCE CONTROL MANAGEMENT</a:t>
            </a:r>
            <a:br>
              <a:rPr lang="en-IN" b="1" dirty="0"/>
            </a:br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82170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D31B0-24CE-ECAE-B964-E4F82CB84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389207"/>
            <a:ext cx="12046528" cy="4351338"/>
          </a:xfrm>
        </p:spPr>
        <p:txBody>
          <a:bodyPr>
            <a:normAutofit/>
          </a:bodyPr>
          <a:lstStyle/>
          <a:p>
            <a:r>
              <a:rPr lang="en-US" dirty="0"/>
              <a:t>SCM is a system that records changes to a file or set of files over time 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95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C32D-2ED0-1EE2-51AC-46D01D0A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273" y="294207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GIT, VCS, CVCS, DVCS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487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B18E-FDEA-33B7-8550-38F9FCE9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118" y="0"/>
            <a:ext cx="10515600" cy="789709"/>
          </a:xfrm>
        </p:spPr>
        <p:txBody>
          <a:bodyPr/>
          <a:lstStyle/>
          <a:p>
            <a:r>
              <a:rPr lang="en-IN" b="1" dirty="0"/>
              <a:t>VCS (Version Control System)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B2B2-D0E1-3070-F32F-1CA21AFC6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4" y="1170998"/>
            <a:ext cx="11977255" cy="4351338"/>
          </a:xfrm>
        </p:spPr>
        <p:txBody>
          <a:bodyPr/>
          <a:lstStyle/>
          <a:p>
            <a:r>
              <a:rPr lang="en-US" dirty="0"/>
              <a:t>Version control, also known as revision control or source control management (SCM), is a process that manages a collection of source code and changes</a:t>
            </a:r>
          </a:p>
          <a:p>
            <a:endParaRPr lang="en-US" dirty="0"/>
          </a:p>
          <a:p>
            <a:r>
              <a:rPr lang="en-US" dirty="0"/>
              <a:t>VCS is split into two main eras: </a:t>
            </a:r>
            <a:r>
              <a:rPr lang="en-US" b="1" dirty="0"/>
              <a:t>Centralized (CVCS)</a:t>
            </a:r>
            <a:r>
              <a:rPr lang="en-US" dirty="0"/>
              <a:t> and </a:t>
            </a:r>
            <a:r>
              <a:rPr lang="en-US" b="1" dirty="0"/>
              <a:t>Distributed (DVCS)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427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5EF860-9A32-12C8-F03E-3A93B7B21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48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9BDE-6D62-D89F-4A70-BE9D6F3BB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91" y="18255"/>
            <a:ext cx="10515600" cy="1325563"/>
          </a:xfrm>
        </p:spPr>
        <p:txBody>
          <a:bodyPr/>
          <a:lstStyle/>
          <a:p>
            <a:r>
              <a:rPr lang="en-IN" b="1" dirty="0"/>
              <a:t>Centralized VCS (CVCS)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24251-B8C8-0DF1-F368-361BF7239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119043"/>
            <a:ext cx="11776364" cy="5863647"/>
          </a:xfrm>
        </p:spPr>
        <p:txBody>
          <a:bodyPr>
            <a:normAutofit/>
          </a:bodyPr>
          <a:lstStyle/>
          <a:p>
            <a:r>
              <a:rPr lang="en-US" b="1" dirty="0"/>
              <a:t>CVCS (Centralized Version Control System)</a:t>
            </a:r>
            <a:br>
              <a:rPr lang="en-US" dirty="0"/>
            </a:br>
            <a:r>
              <a:rPr lang="en-US" dirty="0"/>
              <a:t>This model uses a </a:t>
            </a:r>
            <a:r>
              <a:rPr lang="en-US" b="1" dirty="0"/>
              <a:t>single, central server</a:t>
            </a:r>
            <a:r>
              <a:rPr lang="en-US" dirty="0"/>
              <a:t> that holds the complete history and version database. </a:t>
            </a:r>
          </a:p>
          <a:p>
            <a:r>
              <a:rPr lang="en-US" dirty="0"/>
              <a:t>All users connect to this server to get the latest code and save their changes.</a:t>
            </a:r>
          </a:p>
          <a:p>
            <a:r>
              <a:rPr lang="en-US" b="1" dirty="0"/>
              <a:t>Core Concept:</a:t>
            </a:r>
            <a:r>
              <a:rPr lang="en-US" dirty="0"/>
              <a:t> One central "source of truth." Developers have a "working copy" on their machine, but to see history or save snapshots, they must communicate with the central server.</a:t>
            </a:r>
          </a:p>
          <a:p>
            <a:r>
              <a:rPr lang="en-US" b="1" dirty="0"/>
              <a:t>Common Examples:</a:t>
            </a:r>
            <a:r>
              <a:rPr lang="en-US" dirty="0"/>
              <a:t> </a:t>
            </a:r>
            <a:r>
              <a:rPr lang="en-US" b="1" i="1" dirty="0">
                <a:highlight>
                  <a:srgbClr val="FFFF00"/>
                </a:highlight>
              </a:rPr>
              <a:t>Subversion (SVN), Perforce, CVS.</a:t>
            </a:r>
          </a:p>
          <a:p>
            <a:pPr marL="0" indent="0">
              <a:buNone/>
            </a:pPr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You checkout a working copy from the central server.</a:t>
            </a:r>
          </a:p>
          <a:p>
            <a:r>
              <a:rPr lang="en-US" dirty="0"/>
              <a:t>You make changes to your local files.</a:t>
            </a:r>
          </a:p>
          <a:p>
            <a:r>
              <a:rPr lang="en-US" dirty="0"/>
              <a:t>You commit your changes directly back to the central server.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2745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D236-E704-ABE1-224B-7665C024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72" y="18255"/>
            <a:ext cx="10515600" cy="1325563"/>
          </a:xfrm>
        </p:spPr>
        <p:txBody>
          <a:bodyPr/>
          <a:lstStyle/>
          <a:p>
            <a:r>
              <a:rPr lang="en-IN" b="1" dirty="0"/>
              <a:t>Distributed VCS (DVCS)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10AFB-CB1E-9955-DFA3-5B5FABDA4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92000" cy="5586414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DVCS (Distributed Version Control System)</a:t>
            </a:r>
            <a:br>
              <a:rPr lang="en-US" dirty="0"/>
            </a:br>
            <a:r>
              <a:rPr lang="en-US" dirty="0"/>
              <a:t>This model does not rely on a central server in the same way. Every developer </a:t>
            </a:r>
            <a:r>
              <a:rPr lang="en-US" b="1" dirty="0"/>
              <a:t>clones</a:t>
            </a:r>
            <a:r>
              <a:rPr lang="en-US" dirty="0"/>
              <a:t> a full copy of the entire repository, including its complete history.</a:t>
            </a:r>
          </a:p>
          <a:p>
            <a:r>
              <a:rPr lang="en-US" b="1" dirty="0"/>
              <a:t>Core Concept:</a:t>
            </a:r>
            <a:r>
              <a:rPr lang="en-US" dirty="0"/>
              <a:t> Every clone is a full backup of the repository. There is no single point of failure.</a:t>
            </a:r>
          </a:p>
          <a:p>
            <a:r>
              <a:rPr lang="en-US" b="1" dirty="0"/>
              <a:t>Dominant Example:</a:t>
            </a:r>
            <a:r>
              <a:rPr lang="en-US" dirty="0"/>
              <a:t> </a:t>
            </a:r>
            <a:r>
              <a:rPr lang="en-US" b="1" dirty="0"/>
              <a:t>Git</a:t>
            </a:r>
            <a:r>
              <a:rPr lang="en-US" dirty="0"/>
              <a:t>. Others include Mercurial and Bazaar.</a:t>
            </a:r>
          </a:p>
          <a:p>
            <a:pPr marL="0" indent="0">
              <a:buNone/>
            </a:pPr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You clone a repository from a source (e.g., GitHub). This gives you a full local repository with the entire history.</a:t>
            </a:r>
          </a:p>
          <a:p>
            <a:r>
              <a:rPr lang="en-US" dirty="0"/>
              <a:t>You work on your local machine: you can commit, branch, and view history completely offline.</a:t>
            </a:r>
          </a:p>
          <a:p>
            <a:r>
              <a:rPr lang="en-US" dirty="0"/>
              <a:t>When ready, you push your changes to a remote repository (like GitHub) or pull others' changes from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415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CA44-E0A4-2147-284A-21C2A3F7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845" y="2349789"/>
            <a:ext cx="10515600" cy="1325563"/>
          </a:xfrm>
        </p:spPr>
        <p:txBody>
          <a:bodyPr/>
          <a:lstStyle/>
          <a:p>
            <a:r>
              <a:rPr lang="en-IN" b="1" dirty="0"/>
              <a:t>GIT FUNDAMENTALS</a:t>
            </a:r>
          </a:p>
        </p:txBody>
      </p:sp>
    </p:spTree>
    <p:extLst>
      <p:ext uri="{BB962C8B-B14F-4D97-AF65-F5344CB8AC3E}">
        <p14:creationId xmlns:p14="http://schemas.microsoft.com/office/powerpoint/2010/main" val="4117494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3FE487-F97B-3A24-8177-71232CCA1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217"/>
            <a:ext cx="12192000" cy="485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5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AC52-A390-6119-598F-DDCBF980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345" y="0"/>
            <a:ext cx="10515600" cy="1325563"/>
          </a:xfrm>
        </p:spPr>
        <p:txBody>
          <a:bodyPr/>
          <a:lstStyle/>
          <a:p>
            <a:r>
              <a:rPr lang="en-US" b="1" dirty="0"/>
              <a:t>The Three States of Git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37C71-A12D-D4CC-7024-1530208CD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18239"/>
            <a:ext cx="7232072" cy="5199434"/>
          </a:xfrm>
        </p:spPr>
        <p:txBody>
          <a:bodyPr>
            <a:normAutofit/>
          </a:bodyPr>
          <a:lstStyle/>
          <a:p>
            <a:r>
              <a:rPr lang="en-US" b="1" dirty="0"/>
              <a:t>Modified (Working Directory):</a:t>
            </a:r>
            <a:endParaRPr lang="en-US" dirty="0"/>
          </a:p>
          <a:p>
            <a:pPr lvl="1"/>
            <a:r>
              <a:rPr lang="en-US" dirty="0"/>
              <a:t>You have changed the file but have not yet committed it to your database.</a:t>
            </a:r>
          </a:p>
          <a:p>
            <a:pPr lvl="1"/>
            <a:r>
              <a:rPr lang="en-US" dirty="0"/>
              <a:t>The changes exist only in your working folder.</a:t>
            </a:r>
          </a:p>
          <a:p>
            <a:r>
              <a:rPr lang="en-US" b="1" dirty="0"/>
              <a:t>Staged (Staging Area):</a:t>
            </a:r>
            <a:endParaRPr lang="en-US" dirty="0"/>
          </a:p>
          <a:p>
            <a:pPr lvl="1"/>
            <a:r>
              <a:rPr lang="en-US" dirty="0"/>
              <a:t>You have marked a modified file in its current version to go into your next commit.</a:t>
            </a:r>
          </a:p>
          <a:p>
            <a:pPr lvl="1"/>
            <a:r>
              <a:rPr lang="en-US" dirty="0"/>
              <a:t>The staging area is a file (also called the "index") that stores what will go into your next commit.</a:t>
            </a:r>
          </a:p>
          <a:p>
            <a:r>
              <a:rPr lang="en-US" b="1" dirty="0"/>
              <a:t>Committed (Repository):</a:t>
            </a:r>
            <a:endParaRPr lang="en-US" dirty="0"/>
          </a:p>
          <a:p>
            <a:pPr lvl="1"/>
            <a:r>
              <a:rPr lang="en-US" dirty="0"/>
              <a:t>The data is safely stored in your local database.</a:t>
            </a:r>
          </a:p>
          <a:p>
            <a:pPr lvl="1"/>
            <a:r>
              <a:rPr lang="en-US" dirty="0"/>
              <a:t>The file is snapshotted in its current state as part of the project's history.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5BDAB-B3BE-9A04-1A24-6C5C1990B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840" y="1118239"/>
            <a:ext cx="5068159" cy="512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08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8211-5821-8DA4-1AF0-D6B3F924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63" y="0"/>
            <a:ext cx="10515600" cy="1325563"/>
          </a:xfrm>
        </p:spPr>
        <p:txBody>
          <a:bodyPr/>
          <a:lstStyle/>
          <a:p>
            <a:r>
              <a:rPr lang="en-IN" b="1" dirty="0"/>
              <a:t>Fundamental Concepts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E2D4-533A-F11C-E9DF-580DD5ACB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873" y="1325563"/>
            <a:ext cx="11632870" cy="5335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Repository (Repo)</a:t>
            </a:r>
          </a:p>
          <a:p>
            <a:r>
              <a:rPr lang="en-US" dirty="0"/>
              <a:t>The .git folder inside your project directory. It's where Git stores all the metadata and object database for your project. It's what makes a directory a Git repository.</a:t>
            </a:r>
          </a:p>
          <a:p>
            <a:pPr marL="0" indent="0">
              <a:buNone/>
            </a:pPr>
            <a:r>
              <a:rPr lang="en-US" b="1" dirty="0"/>
              <a:t>2. Commit</a:t>
            </a:r>
          </a:p>
          <a:p>
            <a:r>
              <a:rPr lang="en-US" dirty="0"/>
              <a:t>A </a:t>
            </a:r>
            <a:r>
              <a:rPr lang="en-US" b="1" dirty="0"/>
              <a:t>snapshot</a:t>
            </a:r>
            <a:r>
              <a:rPr lang="en-US" dirty="0"/>
              <a:t> of your project at a point in time. It's like a save point in a game. Each commit has:</a:t>
            </a:r>
          </a:p>
          <a:p>
            <a:r>
              <a:rPr lang="en-US" dirty="0"/>
              <a:t>A unique 40-character hash (e.g., a1b2c3d...) that identifies it.</a:t>
            </a:r>
          </a:p>
          <a:p>
            <a:r>
              <a:rPr lang="en-US" dirty="0"/>
              <a:t>The author and timestamp.</a:t>
            </a:r>
          </a:p>
          <a:p>
            <a:r>
              <a:rPr lang="en-US" dirty="0"/>
              <a:t>A commit message describing </a:t>
            </a:r>
            <a:r>
              <a:rPr lang="en-US" i="1" dirty="0"/>
              <a:t>why</a:t>
            </a:r>
            <a:r>
              <a:rPr lang="en-US" dirty="0"/>
              <a:t> the change was made.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404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939C-5FDB-A8D4-76B1-914EA4685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Branch</a:t>
            </a:r>
          </a:p>
          <a:p>
            <a:r>
              <a:rPr lang="en-US" dirty="0"/>
              <a:t>A </a:t>
            </a:r>
            <a:r>
              <a:rPr lang="en-US" b="1" dirty="0"/>
              <a:t>movable pointer</a:t>
            </a:r>
            <a:r>
              <a:rPr lang="en-US" dirty="0"/>
              <a:t> to a specific commit. The default branch is usually called main or master.</a:t>
            </a:r>
          </a:p>
          <a:p>
            <a:r>
              <a:rPr lang="en-US" dirty="0"/>
              <a:t>Creating a branch is like creating a separate timeline for your work. It's cheap and fast.</a:t>
            </a:r>
          </a:p>
          <a:p>
            <a:r>
              <a:rPr lang="en-US" dirty="0"/>
              <a:t>You always work on a branch. Your HEAD is a pointer that indicates what branch you are currently on.</a:t>
            </a:r>
          </a:p>
          <a:p>
            <a:pPr marL="0" indent="0">
              <a:buNone/>
            </a:pPr>
            <a:r>
              <a:rPr lang="en-US" b="1" dirty="0"/>
              <a:t>4. Remote</a:t>
            </a:r>
          </a:p>
          <a:p>
            <a:r>
              <a:rPr lang="en-US" dirty="0"/>
              <a:t>A </a:t>
            </a:r>
            <a:r>
              <a:rPr lang="en-US" b="1" dirty="0"/>
              <a:t>shared repository</a:t>
            </a:r>
            <a:r>
              <a:rPr lang="en-US" dirty="0"/>
              <a:t> hosted on the internet or network (e.g., on GitHub, GitLab). It's a common point for collaboration. The default name for a remote is origin.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856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11CFC-E236-BBE6-74D1-6CA22234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482" y="27662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INITIALIZING REPOSITORY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336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5972E-1FC9-03A0-59C0-F2AED1E4F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Initializing a repository</a:t>
            </a:r>
            <a:r>
              <a:rPr lang="en-US" dirty="0"/>
              <a:t> is the first step in starting a new project with Git. It's the process of creating that all-important .git folder that turns a regular directory into a version-controlled Git repository.</a:t>
            </a:r>
          </a:p>
          <a:p>
            <a:endParaRPr lang="en-US" dirty="0"/>
          </a:p>
          <a:p>
            <a:r>
              <a:rPr lang="en-US" dirty="0"/>
              <a:t>There are two primary ways to initialize a Git repository, depending on whether you're starting from scratch or working with an existing project on a server like GitHub.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642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9FAE-A0BA-2937-8B1A-C544BC994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927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Starting </a:t>
            </a:r>
            <a:r>
              <a:rPr lang="en-US" b="1" dirty="0"/>
              <a:t> a New Local Project ( git </a:t>
            </a:r>
            <a:r>
              <a:rPr lang="en-US" b="1" dirty="0" err="1"/>
              <a:t>init</a:t>
            </a:r>
            <a:r>
              <a:rPr lang="en-US" b="1" dirty="0"/>
              <a:t>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47982-F90B-54A8-DEF9-17C7C9BA3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90" y="932007"/>
            <a:ext cx="12140045" cy="59077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1.Create your project directory: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atinLnBrk="1"/>
            <a:r>
              <a:rPr lang="en-US" dirty="0" err="1"/>
              <a:t>mkdir</a:t>
            </a:r>
            <a:r>
              <a:rPr lang="en-US" dirty="0"/>
              <a:t> my-new-project</a:t>
            </a:r>
          </a:p>
          <a:p>
            <a:pPr latinLnBrk="1"/>
            <a:r>
              <a:rPr lang="en-US" dirty="0"/>
              <a:t>cd my-new-project</a:t>
            </a:r>
          </a:p>
          <a:p>
            <a:pPr marL="0" indent="0">
              <a:buNone/>
            </a:pPr>
            <a:r>
              <a:rPr lang="en-US" b="1" dirty="0"/>
              <a:t>2.Initialize the Git repository: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atinLnBrk="1"/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r>
              <a:rPr lang="en-US" dirty="0"/>
              <a:t>This is the core command. It creates a hidden .git subdirectory where all the repository metadata (history, config, etc.) is stored.</a:t>
            </a:r>
          </a:p>
          <a:p>
            <a:r>
              <a:rPr lang="en-US" b="1" dirty="0"/>
              <a:t>Output:</a:t>
            </a:r>
            <a:r>
              <a:rPr lang="en-US" dirty="0"/>
              <a:t> Initialized empty Git repository in /path/to/your/my-new-project/.git/</a:t>
            </a:r>
          </a:p>
          <a:p>
            <a:pPr marL="0" indent="0">
              <a:buNone/>
            </a:pPr>
            <a:r>
              <a:rPr lang="en-US" b="1" dirty="0"/>
              <a:t>3.(Optional) Check the status:</a:t>
            </a:r>
            <a:endParaRPr lang="en-US" dirty="0"/>
          </a:p>
          <a:p>
            <a:endParaRPr lang="en-US" dirty="0"/>
          </a:p>
          <a:p>
            <a:pPr latinLnBrk="1"/>
            <a:r>
              <a:rPr lang="en-US" dirty="0"/>
              <a:t>git status</a:t>
            </a:r>
          </a:p>
          <a:p>
            <a:r>
              <a:rPr lang="en-US" dirty="0"/>
              <a:t>You'll see a message like "On branch main" and "No commits yet". This confirms the repo is active.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66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FA06-B183-F701-C6F1-D9E046DB2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0"/>
            <a:ext cx="10515600" cy="579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Add your files and make the first commit: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latinLnBrk="1">
              <a:buNone/>
            </a:pPr>
            <a:r>
              <a:rPr lang="en-US" dirty="0"/>
              <a:t># Create your first file</a:t>
            </a:r>
          </a:p>
          <a:p>
            <a:pPr latinLnBrk="1"/>
            <a:r>
              <a:rPr lang="en-US" dirty="0"/>
              <a:t>echo "# My New Project" &gt; README.md</a:t>
            </a:r>
          </a:p>
          <a:p>
            <a:pPr latinLnBrk="1"/>
            <a:endParaRPr lang="en-US" dirty="0"/>
          </a:p>
          <a:p>
            <a:pPr marL="0" indent="0" latinLnBrk="1">
              <a:buNone/>
            </a:pPr>
            <a:r>
              <a:rPr lang="en-US" dirty="0"/>
              <a:t># Stage all files in the current directory</a:t>
            </a:r>
          </a:p>
          <a:p>
            <a:pPr latinLnBrk="1"/>
            <a:r>
              <a:rPr lang="en-US" dirty="0"/>
              <a:t>git add .</a:t>
            </a:r>
          </a:p>
          <a:p>
            <a:pPr latinLnBrk="1"/>
            <a:endParaRPr lang="en-US" dirty="0"/>
          </a:p>
          <a:p>
            <a:pPr marL="0" indent="0" latinLnBrk="1">
              <a:buNone/>
            </a:pPr>
            <a:r>
              <a:rPr lang="en-US" dirty="0"/>
              <a:t># Commit the snapshot to the repository's history</a:t>
            </a:r>
          </a:p>
          <a:p>
            <a:pPr latinLnBrk="1"/>
            <a:r>
              <a:rPr lang="en-US" dirty="0"/>
              <a:t>git commit -m "Initial commit"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728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09FF-F27E-FB8C-045E-DDD6A83D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 git </a:t>
            </a:r>
            <a:r>
              <a:rPr lang="en-US" b="1" dirty="0" err="1"/>
              <a:t>init</a:t>
            </a:r>
            <a:r>
              <a:rPr lang="en-US" b="1" dirty="0"/>
              <a:t> Actually Does: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97443-6FC1-627A-3606-1820F3879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the .git directory with subdirectories like objects, refs/heads, refs/tags.</a:t>
            </a:r>
          </a:p>
          <a:p>
            <a:r>
              <a:rPr lang="en-US" dirty="0"/>
              <a:t>Creates an initial HEAD file that points to the initial branch (usually main).</a:t>
            </a:r>
          </a:p>
          <a:p>
            <a:r>
              <a:rPr lang="en-US" dirty="0"/>
              <a:t>Sets up the basic configuration for the repository.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79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397B-B0D0-51DB-4190-4C1CDD97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410" y="26303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PUSHING TO A GIT REPOSITORY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543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8CCCA-87B1-F096-F5D2-7FA54C276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Pushing to a Git repository</a:t>
            </a:r>
            <a:r>
              <a:rPr lang="en-US" dirty="0"/>
              <a:t> is the act of uploading your local commits to a remote repository (like GitHub, GitLab, or Bitbucket). </a:t>
            </a:r>
          </a:p>
          <a:p>
            <a:r>
              <a:rPr lang="en-US" dirty="0"/>
              <a:t>This is how you share your work with others, back up your code, and collaborate.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640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05EE-F2BA-D330-843A-A1490859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Prerequisites for Pushing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B78C-C76B-2C87-A2B4-3E06AB74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you can push, you must have:</a:t>
            </a:r>
          </a:p>
          <a:p>
            <a:r>
              <a:rPr lang="en-US" b="1" dirty="0"/>
              <a:t>A Local Git Repository:</a:t>
            </a:r>
            <a:r>
              <a:rPr lang="en-US" dirty="0"/>
              <a:t> A project folder initialized with git </a:t>
            </a:r>
            <a:r>
              <a:rPr lang="en-US" dirty="0" err="1"/>
              <a:t>init</a:t>
            </a:r>
            <a:r>
              <a:rPr lang="en-US" dirty="0"/>
              <a:t> or cloned with git clone.</a:t>
            </a:r>
          </a:p>
          <a:p>
            <a:r>
              <a:rPr lang="en-US" b="1" dirty="0"/>
              <a:t>Commits to Send:</a:t>
            </a:r>
            <a:r>
              <a:rPr lang="en-US" dirty="0"/>
              <a:t> You must have made at least one commit in your local repository. Git pushes </a:t>
            </a:r>
            <a:r>
              <a:rPr lang="en-US" i="1" dirty="0"/>
              <a:t>commits</a:t>
            </a:r>
            <a:r>
              <a:rPr lang="en-US" dirty="0"/>
              <a:t>, not just files.</a:t>
            </a:r>
          </a:p>
          <a:p>
            <a:r>
              <a:rPr lang="en-US" b="1" dirty="0"/>
              <a:t>A Remote Repository Configured:</a:t>
            </a:r>
            <a:r>
              <a:rPr lang="en-US" dirty="0"/>
              <a:t> A connection to a remote server. If you used git clone, this is already set up (named origin). If you used git </a:t>
            </a:r>
            <a:r>
              <a:rPr lang="en-US" dirty="0" err="1"/>
              <a:t>init</a:t>
            </a:r>
            <a:r>
              <a:rPr lang="en-US" dirty="0"/>
              <a:t>, you need to add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791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318E-FFF7-6D4B-DFB9-B18563BF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445" y="18255"/>
            <a:ext cx="10515600" cy="1325563"/>
          </a:xfrm>
        </p:spPr>
        <p:txBody>
          <a:bodyPr/>
          <a:lstStyle/>
          <a:p>
            <a:r>
              <a:rPr lang="en-US" b="1" dirty="0"/>
              <a:t>The Core Command: git push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742F7-AF3D-335B-C350-D74BEB171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72" y="1253330"/>
            <a:ext cx="11911445" cy="5604669"/>
          </a:xfrm>
        </p:spPr>
        <p:txBody>
          <a:bodyPr>
            <a:normAutofit/>
          </a:bodyPr>
          <a:lstStyle/>
          <a:p>
            <a:r>
              <a:rPr lang="en-IN" dirty="0"/>
              <a:t>git push &lt;remote-name&gt; &lt;branch-name&gt;</a:t>
            </a:r>
          </a:p>
          <a:p>
            <a:r>
              <a:rPr lang="en-US" dirty="0"/>
              <a:t>&lt;remote-name&gt;</a:t>
            </a:r>
            <a:r>
              <a:rPr lang="en-US" b="1" dirty="0"/>
              <a:t>:</a:t>
            </a:r>
            <a:r>
              <a:rPr lang="en-US" dirty="0"/>
              <a:t> The shorthand name for the remote repository. The default is origin.</a:t>
            </a:r>
          </a:p>
          <a:p>
            <a:r>
              <a:rPr lang="en-US" dirty="0"/>
              <a:t>&lt;branch-name&gt;</a:t>
            </a:r>
            <a:r>
              <a:rPr lang="en-US" b="1" dirty="0"/>
              <a:t>:</a:t>
            </a:r>
            <a:r>
              <a:rPr lang="en-US" dirty="0"/>
              <a:t> The name of the branch you want to push. The default in modern Git is main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git push origin main/master</a:t>
            </a:r>
          </a:p>
          <a:p>
            <a:pPr marL="0" indent="0">
              <a:buNone/>
            </a:pPr>
            <a:r>
              <a:rPr lang="en-US" i="1" dirty="0"/>
              <a:t>This means: "Take my local </a:t>
            </a:r>
            <a:r>
              <a:rPr lang="en-US" dirty="0"/>
              <a:t>main</a:t>
            </a:r>
            <a:r>
              <a:rPr lang="en-US" i="1" dirty="0"/>
              <a:t> branch and its new commits, and update the </a:t>
            </a:r>
            <a:r>
              <a:rPr lang="en-US" dirty="0"/>
              <a:t>main</a:t>
            </a:r>
            <a:r>
              <a:rPr lang="en-US" i="1" dirty="0"/>
              <a:t> branch on the </a:t>
            </a:r>
            <a:r>
              <a:rPr lang="en-US" dirty="0"/>
              <a:t>origin</a:t>
            </a:r>
            <a:r>
              <a:rPr lang="en-US" i="1" dirty="0"/>
              <a:t> remote."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8997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C048CB-375C-0C2F-E1FC-927A772D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473"/>
            <a:ext cx="12063845" cy="660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06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074A-FB88-91F8-9533-FAF9B0D8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163" y="258878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GIT COMMIT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989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2D1EF-AF5F-14DB-7D5F-4D06DB28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6" y="486682"/>
            <a:ext cx="11876314" cy="6295118"/>
          </a:xfrm>
        </p:spPr>
        <p:txBody>
          <a:bodyPr>
            <a:normAutofit/>
          </a:bodyPr>
          <a:lstStyle/>
          <a:p>
            <a:r>
              <a:rPr lang="en-US" dirty="0"/>
              <a:t>git commit is one of the most fundamental and critical commands in Git. It's the act of creating a permanent snapshot of the changes you've staged in your repository's history.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Does git commit Do?</a:t>
            </a:r>
          </a:p>
          <a:p>
            <a:r>
              <a:rPr lang="en-US" dirty="0"/>
              <a:t>When you run git commit, you are:</a:t>
            </a:r>
          </a:p>
          <a:p>
            <a:r>
              <a:rPr lang="en-US" dirty="0"/>
              <a:t>Taking all the changes currently in the </a:t>
            </a:r>
            <a:r>
              <a:rPr lang="en-US" b="1" dirty="0"/>
              <a:t>Staging Area (Index)</a:t>
            </a:r>
            <a:r>
              <a:rPr lang="en-US" dirty="0"/>
              <a:t>.</a:t>
            </a:r>
          </a:p>
          <a:p>
            <a:r>
              <a:rPr lang="en-US" dirty="0"/>
              <a:t>Creating a new, permanent </a:t>
            </a:r>
            <a:r>
              <a:rPr lang="en-US" b="1" dirty="0"/>
              <a:t>snapshot</a:t>
            </a:r>
            <a:r>
              <a:rPr lang="en-US" dirty="0"/>
              <a:t> of the project in that state.</a:t>
            </a:r>
          </a:p>
          <a:p>
            <a:r>
              <a:rPr lang="en-US" dirty="0"/>
              <a:t>Storing that snapshot in the local </a:t>
            </a:r>
            <a:r>
              <a:rPr lang="en-US" b="1" dirty="0"/>
              <a:t>Repository (the .git directory)</a:t>
            </a:r>
            <a:r>
              <a:rPr lang="en-US" dirty="0"/>
              <a:t>.</a:t>
            </a:r>
          </a:p>
          <a:p>
            <a:r>
              <a:rPr lang="en-US" dirty="0"/>
              <a:t>Creating a </a:t>
            </a:r>
            <a:r>
              <a:rPr lang="en-US" b="1" dirty="0"/>
              <a:t>commit object</a:t>
            </a:r>
            <a:r>
              <a:rPr lang="en-US" dirty="0"/>
              <a:t> with a unique ID (hash), your name, timestamp, and your commit message</a:t>
            </a:r>
          </a:p>
          <a:p>
            <a:r>
              <a:rPr lang="en-US" dirty="0"/>
              <a:t>git commit -m "Your descriptive commit message here"</a:t>
            </a:r>
          </a:p>
          <a:p>
            <a:r>
              <a:rPr lang="en-US" dirty="0"/>
              <a:t>The -m flag allows you to write the commit message directly in the command.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2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FB4D-3CEB-3CA8-763F-65C93BFB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8255"/>
            <a:ext cx="10515600" cy="1325563"/>
          </a:xfrm>
        </p:spPr>
        <p:txBody>
          <a:bodyPr/>
          <a:lstStyle/>
          <a:p>
            <a:r>
              <a:rPr lang="en-US" b="1" dirty="0"/>
              <a:t>The Complete Workflow: Add -&gt; Commit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ADFD6-5EE4-61B2-F869-6208332E4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08" y="1253331"/>
            <a:ext cx="11901055" cy="55864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# 1. Check what you've changed (optional but recommended)</a:t>
            </a:r>
          </a:p>
          <a:p>
            <a:r>
              <a:rPr lang="en-US" dirty="0"/>
              <a:t>git status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2. Stage the changes you want to commit</a:t>
            </a:r>
          </a:p>
          <a:p>
            <a:r>
              <a:rPr lang="en-US" dirty="0"/>
              <a:t>git add .                          # Stage all changes</a:t>
            </a:r>
          </a:p>
          <a:p>
            <a:r>
              <a:rPr lang="en-US" dirty="0"/>
              <a:t># OR</a:t>
            </a:r>
          </a:p>
          <a:p>
            <a:r>
              <a:rPr lang="en-US" dirty="0"/>
              <a:t>git add specific-file.txt          # Stage a specific file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3. Create the commit with a message</a:t>
            </a:r>
          </a:p>
          <a:p>
            <a:r>
              <a:rPr lang="en-US" dirty="0"/>
              <a:t>git commit -m "Add user login functionality"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4. Push your commit to the remote repository (to share it)</a:t>
            </a:r>
          </a:p>
          <a:p>
            <a:r>
              <a:rPr lang="en-US" dirty="0"/>
              <a:t>git push origin main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751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A1742A-8D12-093C-AE19-2B688F1F0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5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2726</TotalTime>
  <Words>1507</Words>
  <Application>Microsoft Office PowerPoint</Application>
  <PresentationFormat>Widescreen</PresentationFormat>
  <Paragraphs>130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GIT</vt:lpstr>
      <vt:lpstr>PowerPoint Presentation</vt:lpstr>
      <vt:lpstr>SOURCE CONTROL MANAGEMENT  </vt:lpstr>
      <vt:lpstr>PowerPoint Presentation</vt:lpstr>
      <vt:lpstr>GIT, VCS, CVCS, DVCS  </vt:lpstr>
      <vt:lpstr>VCS (Version Control System)</vt:lpstr>
      <vt:lpstr>PowerPoint Presentation</vt:lpstr>
      <vt:lpstr>Centralized VCS (CVCS) </vt:lpstr>
      <vt:lpstr>Distributed VCS (DVCS) </vt:lpstr>
      <vt:lpstr>GIT FUNDAMENTALS</vt:lpstr>
      <vt:lpstr>PowerPoint Presentation</vt:lpstr>
      <vt:lpstr>The Three States of Git </vt:lpstr>
      <vt:lpstr>Fundamental Concepts </vt:lpstr>
      <vt:lpstr>PowerPoint Presentation</vt:lpstr>
      <vt:lpstr>INITIALIZING REPOSITORY  </vt:lpstr>
      <vt:lpstr>PowerPoint Presentation</vt:lpstr>
      <vt:lpstr>Starting  a New Local Project ( git init) </vt:lpstr>
      <vt:lpstr>PowerPoint Presentation</vt:lpstr>
      <vt:lpstr>What git init Actually Does: </vt:lpstr>
      <vt:lpstr>PUSHING TO A GIT REPOSITORY  </vt:lpstr>
      <vt:lpstr>PowerPoint Presentation</vt:lpstr>
      <vt:lpstr>Prerequisites for Pushing </vt:lpstr>
      <vt:lpstr>The Core Command: git push </vt:lpstr>
      <vt:lpstr>PowerPoint Presentation</vt:lpstr>
      <vt:lpstr>GIT COMMIT  </vt:lpstr>
      <vt:lpstr>PowerPoint Presentation</vt:lpstr>
      <vt:lpstr>The Complete Workflow: Add -&gt; Commit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Rajesh Kumar Devabhaktuni</cp:lastModifiedBy>
  <cp:revision>22</cp:revision>
  <dcterms:created xsi:type="dcterms:W3CDTF">2025-10-04T00:40:48Z</dcterms:created>
  <dcterms:modified xsi:type="dcterms:W3CDTF">2026-02-03T09:05:43Z</dcterms:modified>
</cp:coreProperties>
</file>