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5DD36-ABA0-08E7-FA02-6932BE9BC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FFE00-A49A-0AC6-F00D-566C2816C3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053F9-2683-6A08-596E-EBC7AB641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1CE3-C029-455A-BE11-E5863507390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97351-AB79-8ED6-6243-6B23BE36E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287FC-D2D7-0EFE-83DE-8FF463851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88B19-6E47-47A2-881B-EFDCB1C0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671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E55E8-C6B4-1100-562D-B26E062D4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FB3A2-CA1B-2CCA-9EBC-853AB4AD8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5B315-DB48-F765-EC2B-18F0AD633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1CE3-C029-455A-BE11-E5863507390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B48B6-A4CA-6D7B-003B-1FF11C08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3B534-570B-EC28-209D-D89EC163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88B19-6E47-47A2-881B-EFDCB1C0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97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7C943-B48A-A005-7ADC-920E145CD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22C11-CCE8-B669-A577-CABD04D55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D4255-A6FB-9851-8E8B-B739FC900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1CE3-C029-455A-BE11-E5863507390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1249F-29DB-A16A-F44B-8927B60D0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7B2D3-FC53-CA81-E65E-DCAAD0266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88B19-6E47-47A2-881B-EFDCB1C0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96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3F8A7-9611-5961-97EA-6CC470315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0F3C5-A1BD-6CD8-D541-6F788856A2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9E887D-D124-68AE-DD03-926914E73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2156D-9768-A1DB-9EEA-02926F1BE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1CE3-C029-455A-BE11-E5863507390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FD4DB-A82E-A9F8-8999-3B85E3797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FF3848-61F7-786C-2EDE-EFF90D140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88B19-6E47-47A2-881B-EFDCB1C0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03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AD6A9-F5A0-8ED3-42C3-2B2E4D138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66922-C89E-A03E-0E43-F11AE9331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EE618-809D-3DC1-6A6E-B57CF7F70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541894-9F40-CB14-9BB3-4B972EE2A2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445C18-DC55-5FD9-9A36-7940DE5753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BA98BD-91B6-5669-B0D0-F3018969F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1CE3-C029-455A-BE11-E5863507390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F42F4D-3260-6E21-B5FF-DBDFB57B2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8D06D4-B1AA-9623-2A1E-93E1A15B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88B19-6E47-47A2-881B-EFDCB1C0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565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5530F-405E-A1D7-0432-855BAA937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1CD48C-47A3-2472-A509-191B440B6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1CE3-C029-455A-BE11-E5863507390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FD6249-9E59-E4D2-7DB2-3DAAD51E6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AD4507-7B36-E48B-F39D-520AA0E3B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88B19-6E47-47A2-881B-EFDCB1C0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941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8B5A13-331E-39D1-A125-87DCBA67E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1CE3-C029-455A-BE11-E5863507390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7951FC-DA18-7449-338A-AD438F919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EC05A-5199-C7B8-BB08-D206698B9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88B19-6E47-47A2-881B-EFDCB1C0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44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7319C-65ED-6C3A-4B5C-0384A3D9C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43003-60A4-B420-1752-545DA1D39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840FA-407F-AE73-65DE-0927A8047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58518-034E-9ED9-3AEE-676D71877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1CE3-C029-455A-BE11-E5863507390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C2C19-B9DF-28B1-AC02-498D2563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E9D551-DFE7-2F04-7878-080D424EF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88B19-6E47-47A2-881B-EFDCB1C0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71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62AC6-0BD6-A127-0666-54DE32995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E259C-7C02-5B27-1C57-203FF95E00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1A2E1C-8CC5-41BE-8D48-F4CE41938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02508-95BA-68ED-73CC-090442A9A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1CE3-C029-455A-BE11-E5863507390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065C8-C8B6-E263-FACB-4074520E3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9F289-3DEE-ED55-410D-B0DA67BE7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88B19-6E47-47A2-881B-EFDCB1C0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280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562E-35C2-3D22-FEBC-680B71CA8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E391E-E9D1-4A71-7119-FF726DD86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7976A-9C9E-EEF9-80FB-014951C8F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1CE3-C029-455A-BE11-E5863507390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78E6D-300A-72B3-5B70-005B8653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0EEB9-09AA-839B-9394-73975F857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88B19-6E47-47A2-881B-EFDCB1C0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447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696894-D187-724E-5220-76D308F5F5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7CF08-BA22-00F8-7B41-FB138F73F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29DA-9693-0848-5946-537C4D6E5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1CE3-C029-455A-BE11-E5863507390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D74AA-8568-D8E3-9660-8B7001F09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B6D83-E930-0300-FC8C-33961F51D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88B19-6E47-47A2-881B-EFDCB1C0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1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2E5A89-9DF3-F605-40BA-D09FC03D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594FA-0D47-FBF4-E43D-C0CC309CA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37F26-70A2-4BCE-FE91-1E0E5F4A36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A01CE3-C029-455A-BE11-E5863507390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3D31C-B830-52D3-68CD-80247E93C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44762-929E-E581-0CDA-3F17DB0948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088B19-6E47-47A2-881B-EFDCB1C0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69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243B9-DEE4-3336-6C8A-E3ECE59A39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BUILD TOOL(DBT)</a:t>
            </a:r>
          </a:p>
        </p:txBody>
      </p:sp>
    </p:spTree>
    <p:extLst>
      <p:ext uri="{BB962C8B-B14F-4D97-AF65-F5344CB8AC3E}">
        <p14:creationId xmlns:p14="http://schemas.microsoft.com/office/powerpoint/2010/main" val="501742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D4651-4E58-4B75-676E-731EE40E1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500743"/>
            <a:ext cx="5352907" cy="5274416"/>
          </a:xfrm>
        </p:spPr>
        <p:txBody>
          <a:bodyPr anchor="t">
            <a:noAutofit/>
          </a:bodyPr>
          <a:lstStyle/>
          <a:p>
            <a:r>
              <a:rPr lang="en-US" sz="2400" b="1" dirty="0" err="1">
                <a:solidFill>
                  <a:schemeClr val="tx2"/>
                </a:solidFill>
              </a:rPr>
              <a:t>dbt</a:t>
            </a:r>
            <a:r>
              <a:rPr lang="en-US" sz="2400" b="1" dirty="0">
                <a:solidFill>
                  <a:schemeClr val="tx2"/>
                </a:solidFill>
              </a:rPr>
              <a:t> (Data Build Tool)</a:t>
            </a:r>
            <a:r>
              <a:rPr lang="en-US" sz="2400" dirty="0">
                <a:solidFill>
                  <a:schemeClr val="tx2"/>
                </a:solidFill>
              </a:rPr>
              <a:t> is an </a:t>
            </a:r>
            <a:r>
              <a:rPr lang="en-US" sz="2400" b="1" dirty="0">
                <a:solidFill>
                  <a:schemeClr val="tx2"/>
                </a:solidFill>
              </a:rPr>
              <a:t>analytics engineering framework</a:t>
            </a:r>
            <a:r>
              <a:rPr lang="en-US" sz="2400" dirty="0">
                <a:solidFill>
                  <a:schemeClr val="tx2"/>
                </a:solidFill>
              </a:rPr>
              <a:t> used to </a:t>
            </a:r>
            <a:r>
              <a:rPr lang="en-US" sz="2400" b="1" dirty="0">
                <a:solidFill>
                  <a:schemeClr val="tx2"/>
                </a:solidFill>
              </a:rPr>
              <a:t>transform raw data in a data warehouse into clean, analytics-ready datasets using SQL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Instead of moving data,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   </a:t>
            </a:r>
            <a:r>
              <a:rPr lang="en-US" sz="2400" dirty="0" err="1">
                <a:solidFill>
                  <a:schemeClr val="tx2"/>
                </a:solidFill>
              </a:rPr>
              <a:t>dbt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b="1" dirty="0">
                <a:solidFill>
                  <a:schemeClr val="tx2"/>
                </a:solidFill>
              </a:rPr>
              <a:t>runs SQL transformations   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   directly inside the warehouse</a:t>
            </a:r>
            <a:r>
              <a:rPr lang="en-US" sz="2400" dirty="0">
                <a:solidFill>
                  <a:schemeClr val="tx2"/>
                </a:solidFill>
              </a:rPr>
              <a:t> like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   Databricks, Snowflake, or Google 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   </a:t>
            </a:r>
            <a:r>
              <a:rPr lang="en-US" sz="2400" dirty="0" err="1">
                <a:solidFill>
                  <a:schemeClr val="tx2"/>
                </a:solidFill>
              </a:rPr>
              <a:t>BigQuery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Raw Data → </a:t>
            </a:r>
            <a:r>
              <a:rPr lang="en-US" sz="2400" dirty="0" err="1">
                <a:solidFill>
                  <a:schemeClr val="tx2"/>
                </a:solidFill>
              </a:rPr>
              <a:t>dbt</a:t>
            </a:r>
            <a:r>
              <a:rPr lang="en-US" sz="2400" dirty="0">
                <a:solidFill>
                  <a:schemeClr val="tx2"/>
                </a:solidFill>
              </a:rPr>
              <a:t> Transformations → Clean Analytics Tables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EF01340-F7C1-9281-23FE-0885939BE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2358146"/>
            <a:ext cx="4142232" cy="306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67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D1E6B-A55E-4E20-F00C-4A1E51CF6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Key Features of </a:t>
            </a:r>
            <a:r>
              <a:rPr lang="en-US" dirty="0" err="1"/>
              <a:t>dbt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98248-B22E-2B0C-D289-E90D66BD6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3588"/>
            <a:ext cx="1210491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1️⃣ SQL-Based Transformations</a:t>
            </a:r>
          </a:p>
          <a:p>
            <a:r>
              <a:rPr lang="en-US" dirty="0" err="1"/>
              <a:t>dbt</a:t>
            </a:r>
            <a:r>
              <a:rPr lang="en-US" dirty="0"/>
              <a:t> allows data engineers and analysts to write </a:t>
            </a:r>
            <a:r>
              <a:rPr lang="en-US" b="1" dirty="0"/>
              <a:t>pure SQL transformations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</a:t>
            </a:r>
          </a:p>
          <a:p>
            <a:pPr marL="0" indent="0">
              <a:buNone/>
            </a:pPr>
            <a:r>
              <a:rPr lang="en-US" dirty="0" err="1"/>
              <a:t>customer_id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SUM(amount) AS </a:t>
            </a:r>
            <a:r>
              <a:rPr lang="en-US" dirty="0" err="1"/>
              <a:t>total_revenue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orders</a:t>
            </a:r>
          </a:p>
          <a:p>
            <a:pPr marL="0" indent="0">
              <a:buNone/>
            </a:pPr>
            <a:r>
              <a:rPr lang="en-US" dirty="0"/>
              <a:t>GROUP BY </a:t>
            </a:r>
            <a:r>
              <a:rPr lang="en-US" dirty="0" err="1"/>
              <a:t>customer_id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421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B04D4-0257-9FD6-7110-98A3EE8FB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4657"/>
          </a:xfrm>
        </p:spPr>
        <p:txBody>
          <a:bodyPr/>
          <a:lstStyle/>
          <a:p>
            <a:r>
              <a:rPr lang="en-US" dirty="0"/>
              <a:t>2️⃣ Modular Data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477DE-E5B1-2861-C401-741A24CA4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transformation is written as a </a:t>
            </a:r>
            <a:r>
              <a:rPr lang="en-US" b="1" dirty="0"/>
              <a:t>separate SQL model file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models/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stg_customers.sql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stg_orders.sql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city_revenue.sql</a:t>
            </a:r>
            <a:endParaRPr lang="en-US" dirty="0"/>
          </a:p>
          <a:p>
            <a:r>
              <a:rPr lang="en-US" dirty="0"/>
              <a:t>Models are connected using:</a:t>
            </a:r>
          </a:p>
          <a:p>
            <a:r>
              <a:rPr lang="en-US" dirty="0"/>
              <a:t>{{ ref('</a:t>
            </a:r>
            <a:r>
              <a:rPr lang="en-US" dirty="0" err="1"/>
              <a:t>model_name</a:t>
            </a:r>
            <a:r>
              <a:rPr lang="en-US" dirty="0"/>
              <a:t>') }}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115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6EB15-2AAD-353C-0543-0284AED2E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3️⃣ Dependency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97D0E-87A1-508C-1C7B-3087B90FF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dbt</a:t>
            </a:r>
            <a:r>
              <a:rPr lang="en-US" dirty="0"/>
              <a:t> automatically builds a </a:t>
            </a:r>
            <a:r>
              <a:rPr lang="en-US" b="1" dirty="0"/>
              <a:t>DAG (Directed Acyclic Graph)</a:t>
            </a:r>
            <a:r>
              <a:rPr lang="en-US" dirty="0"/>
              <a:t> of transformations.</a:t>
            </a:r>
          </a:p>
          <a:p>
            <a:r>
              <a:rPr lang="en-US" dirty="0"/>
              <a:t>Example pipeline:</a:t>
            </a:r>
          </a:p>
          <a:p>
            <a:r>
              <a:rPr lang="en-US" dirty="0" err="1"/>
              <a:t>customers_raw</a:t>
            </a:r>
            <a:br>
              <a:rPr lang="en-US" dirty="0"/>
            </a:br>
            <a:r>
              <a:rPr lang="en-US" dirty="0"/>
              <a:t>      │</a:t>
            </a:r>
            <a:br>
              <a:rPr lang="en-US" dirty="0"/>
            </a:br>
            <a:r>
              <a:rPr lang="en-US" dirty="0"/>
              <a:t>      ▼</a:t>
            </a:r>
            <a:br>
              <a:rPr lang="en-US" dirty="0"/>
            </a:br>
            <a:r>
              <a:rPr lang="en-US" dirty="0" err="1"/>
              <a:t>stg_customers</a:t>
            </a:r>
            <a:br>
              <a:rPr lang="en-US" dirty="0"/>
            </a:br>
            <a:r>
              <a:rPr lang="en-US" dirty="0"/>
              <a:t>      │</a:t>
            </a:r>
            <a:br>
              <a:rPr lang="en-US" dirty="0"/>
            </a:br>
            <a:r>
              <a:rPr lang="en-US" dirty="0"/>
              <a:t>      ▼</a:t>
            </a:r>
            <a:br>
              <a:rPr lang="en-US" dirty="0"/>
            </a:br>
            <a:r>
              <a:rPr lang="en-US" dirty="0" err="1"/>
              <a:t>customer_summary</a:t>
            </a:r>
            <a:endParaRPr lang="en-US" dirty="0"/>
          </a:p>
          <a:p>
            <a:r>
              <a:rPr lang="en-US" dirty="0" err="1"/>
              <a:t>dbt</a:t>
            </a:r>
            <a:r>
              <a:rPr lang="en-US" dirty="0"/>
              <a:t> ensures correct execution order.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58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FA0B8-1F13-D0DD-5BF6-E5D842C0A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4️⃣ Incremental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5D926-494E-FFD3-E356-65A81F902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6" y="1144588"/>
            <a:ext cx="12028714" cy="5713412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dbt</a:t>
            </a:r>
            <a:r>
              <a:rPr lang="en-US" dirty="0"/>
              <a:t> supports </a:t>
            </a:r>
            <a:r>
              <a:rPr lang="en-US" b="1" dirty="0"/>
              <a:t>incremental models</a:t>
            </a:r>
            <a:r>
              <a:rPr lang="en-US" dirty="0"/>
              <a:t> to process only new data.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{{ config(materialized='incremental') }}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SELECT *</a:t>
            </a:r>
            <a:br>
              <a:rPr lang="en-US" dirty="0"/>
            </a:br>
            <a:r>
              <a:rPr lang="en-US" dirty="0"/>
              <a:t>FROM orders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{% if </a:t>
            </a:r>
            <a:r>
              <a:rPr lang="en-US" dirty="0" err="1"/>
              <a:t>is_incremental</a:t>
            </a:r>
            <a:r>
              <a:rPr lang="en-US" dirty="0"/>
              <a:t>() %}</a:t>
            </a:r>
            <a:br>
              <a:rPr lang="en-US" dirty="0"/>
            </a:br>
            <a:r>
              <a:rPr lang="en-US" dirty="0"/>
              <a:t>WHERE </a:t>
            </a:r>
            <a:r>
              <a:rPr lang="en-US" dirty="0" err="1"/>
              <a:t>order_date</a:t>
            </a:r>
            <a:r>
              <a:rPr lang="en-US" dirty="0"/>
              <a:t> &gt; (SELECT MAX(</a:t>
            </a:r>
            <a:r>
              <a:rPr lang="en-US" dirty="0" err="1"/>
              <a:t>order_date</a:t>
            </a:r>
            <a:r>
              <a:rPr lang="en-US" dirty="0"/>
              <a:t>) FROM {{ this }})</a:t>
            </a:r>
            <a:br>
              <a:rPr lang="en-US" dirty="0"/>
            </a:br>
            <a:r>
              <a:rPr lang="en-US" dirty="0"/>
              <a:t>{% endif %}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Benefits:</a:t>
            </a:r>
          </a:p>
          <a:p>
            <a:r>
              <a:rPr lang="en-US" dirty="0"/>
              <a:t>Faster processing</a:t>
            </a:r>
          </a:p>
          <a:p>
            <a:r>
              <a:rPr lang="en-US" dirty="0"/>
              <a:t>Lower compute cost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723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7F767-A3F8-DAAF-0E47-E50C124D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74374"/>
          </a:xfrm>
        </p:spPr>
        <p:txBody>
          <a:bodyPr/>
          <a:lstStyle/>
          <a:p>
            <a:r>
              <a:rPr lang="en-US" dirty="0"/>
              <a:t>Components of </a:t>
            </a:r>
            <a:r>
              <a:rPr lang="en-US" dirty="0" err="1"/>
              <a:t>dbt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8D4C3-E286-9342-E140-066DD0031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15" y="156436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1️⃣ Models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Core transformation SQL files.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models/</a:t>
            </a:r>
            <a:r>
              <a:rPr lang="en-US" dirty="0" err="1"/>
              <a:t>stg_orders.sql</a:t>
            </a:r>
            <a:endParaRPr lang="en-US" dirty="0"/>
          </a:p>
          <a:p>
            <a:r>
              <a:rPr lang="en-US" dirty="0"/>
              <a:t>Creates tables or views in the warehouse.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755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7B34E-FF2A-6176-3832-15AC9C169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2️⃣ Sources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Defines </a:t>
            </a:r>
            <a:r>
              <a:rPr lang="en-US" b="1" dirty="0"/>
              <a:t>raw data sources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sources:</a:t>
            </a:r>
            <a:br>
              <a:rPr lang="en-US" dirty="0"/>
            </a:br>
            <a:r>
              <a:rPr lang="en-US" dirty="0"/>
              <a:t>  - name: raw</a:t>
            </a:r>
            <a:br>
              <a:rPr lang="en-US" dirty="0"/>
            </a:br>
            <a:r>
              <a:rPr lang="en-US" dirty="0"/>
              <a:t>    schema: bronze</a:t>
            </a:r>
            <a:br>
              <a:rPr lang="en-US" dirty="0"/>
            </a:br>
            <a:r>
              <a:rPr lang="en-US" dirty="0"/>
              <a:t>    tables:</a:t>
            </a:r>
            <a:br>
              <a:rPr lang="en-US" dirty="0"/>
            </a:br>
            <a:r>
              <a:rPr lang="en-US" dirty="0"/>
              <a:t>      - name: customers</a:t>
            </a:r>
          </a:p>
          <a:p>
            <a:r>
              <a:rPr lang="en-US" dirty="0"/>
              <a:t>Used in models:</a:t>
            </a:r>
          </a:p>
          <a:p>
            <a:r>
              <a:rPr lang="en-US" dirty="0"/>
              <a:t>{{ source('</a:t>
            </a:r>
            <a:r>
              <a:rPr lang="en-US" dirty="0" err="1"/>
              <a:t>raw','customers</a:t>
            </a:r>
            <a:r>
              <a:rPr lang="en-US" dirty="0"/>
              <a:t>') }}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80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91440-09BD-375C-3649-B4482C237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3️⃣ Seeds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60C20-B9E2-1748-123C-15A90EA14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data stored as </a:t>
            </a:r>
            <a:r>
              <a:rPr lang="en-US" b="1" dirty="0"/>
              <a:t>CSV files</a:t>
            </a:r>
            <a:r>
              <a:rPr lang="en-US" dirty="0"/>
              <a:t> and loaded into warehouse tables.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seeds/country_codes.csv</a:t>
            </a:r>
          </a:p>
          <a:p>
            <a:r>
              <a:rPr lang="en-US" dirty="0"/>
              <a:t>Run:</a:t>
            </a:r>
          </a:p>
          <a:p>
            <a:r>
              <a:rPr lang="en-US" dirty="0" err="1"/>
              <a:t>dbt</a:t>
            </a:r>
            <a:r>
              <a:rPr lang="en-US" dirty="0"/>
              <a:t> seed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642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F24C4-7C5F-BEF3-9E89-2C31AD7E9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4️⃣ Snapshots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5A586-9C64-586D-CF77-66E7305A4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for </a:t>
            </a:r>
            <a:r>
              <a:rPr lang="en-US" b="1" dirty="0"/>
              <a:t>Slowly Changing Dimensions (SCD Type 2)</a:t>
            </a:r>
            <a:r>
              <a:rPr lang="en-US" dirty="0"/>
              <a:t>.</a:t>
            </a:r>
          </a:p>
          <a:p>
            <a:r>
              <a:rPr lang="en-US" dirty="0"/>
              <a:t>Tracks historical changes.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snapshots/</a:t>
            </a:r>
            <a:r>
              <a:rPr lang="en-US" dirty="0" err="1"/>
              <a:t>customer_snapshot.sql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940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31FED-261A-9FCD-10EA-45B9CCEF4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5️⃣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A9A92-A81F-29D5-E194-85EDC73A9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Validate data quality.</a:t>
            </a:r>
          </a:p>
          <a:p>
            <a:r>
              <a:rPr lang="en-US" dirty="0"/>
              <a:t>Types:</a:t>
            </a:r>
          </a:p>
          <a:p>
            <a:r>
              <a:rPr lang="en-US" b="1" dirty="0"/>
              <a:t>Generic tests</a:t>
            </a:r>
            <a:r>
              <a:rPr lang="en-US" dirty="0"/>
              <a:t> (unique, </a:t>
            </a:r>
            <a:r>
              <a:rPr lang="en-US" dirty="0" err="1"/>
              <a:t>not_null</a:t>
            </a:r>
            <a:r>
              <a:rPr lang="en-US" dirty="0"/>
              <a:t>)</a:t>
            </a:r>
          </a:p>
          <a:p>
            <a:r>
              <a:rPr lang="en-US" b="1" dirty="0"/>
              <a:t>Custom SQL tests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022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90B39-6C0B-E5A5-5F61-3450BE29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6️⃣ Macros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ED31A-52B2-C113-B31F-4B3AAFB66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Reusable SQL logic written using </a:t>
            </a:r>
            <a:r>
              <a:rPr lang="en-US" b="1" dirty="0"/>
              <a:t>Jinja templating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{% macro </a:t>
            </a:r>
            <a:r>
              <a:rPr lang="en-US" dirty="0" err="1"/>
              <a:t>calculate_discount</a:t>
            </a:r>
            <a:r>
              <a:rPr lang="en-US" dirty="0"/>
              <a:t>(price) %}</a:t>
            </a:r>
            <a:br>
              <a:rPr lang="en-US" dirty="0"/>
            </a:br>
            <a:r>
              <a:rPr lang="en-US" dirty="0"/>
              <a:t>price * 0.9</a:t>
            </a:r>
            <a:br>
              <a:rPr lang="en-US" dirty="0"/>
            </a:br>
            <a:r>
              <a:rPr lang="en-US" dirty="0"/>
              <a:t>{% </a:t>
            </a:r>
            <a:r>
              <a:rPr lang="en-US" dirty="0" err="1"/>
              <a:t>endmacro</a:t>
            </a:r>
            <a:r>
              <a:rPr lang="en-US" dirty="0"/>
              <a:t> %}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163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99B1-2BEA-2FBA-A249-B4B75744A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7️⃣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00ED8-47A3-611A-923D-99B7C7366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dbt</a:t>
            </a:r>
            <a:r>
              <a:rPr lang="en-US" dirty="0"/>
              <a:t> generates </a:t>
            </a:r>
            <a:r>
              <a:rPr lang="en-US" b="1" dirty="0"/>
              <a:t>interactive documentation websites</a:t>
            </a:r>
            <a:r>
              <a:rPr lang="en-US" dirty="0"/>
              <a:t> for your data models.</a:t>
            </a:r>
          </a:p>
        </p:txBody>
      </p:sp>
    </p:spTree>
    <p:extLst>
      <p:ext uri="{BB962C8B-B14F-4D97-AF65-F5344CB8AC3E}">
        <p14:creationId xmlns:p14="http://schemas.microsoft.com/office/powerpoint/2010/main" val="4261981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D68AC-21C9-6F75-B32D-5949E72D8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dbt</a:t>
            </a:r>
            <a:r>
              <a:rPr lang="en-US" dirty="0"/>
              <a:t>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D9815-5B36-B94E-5713-0A54CD162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Raw Data Sources</a:t>
            </a:r>
          </a:p>
          <a:p>
            <a:pPr marL="0" indent="0">
              <a:buNone/>
            </a:pPr>
            <a:r>
              <a:rPr lang="en-US" dirty="0"/>
              <a:t>        │</a:t>
            </a:r>
          </a:p>
          <a:p>
            <a:pPr marL="0" indent="0">
              <a:buNone/>
            </a:pPr>
            <a:r>
              <a:rPr lang="en-US" dirty="0"/>
              <a:t>        ▼</a:t>
            </a:r>
          </a:p>
          <a:p>
            <a:pPr marL="0" indent="0">
              <a:buNone/>
            </a:pPr>
            <a:r>
              <a:rPr lang="en-US" dirty="0"/>
              <a:t>Sources (</a:t>
            </a:r>
            <a:r>
              <a:rPr lang="en-US" dirty="0" err="1"/>
              <a:t>dbt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│</a:t>
            </a:r>
          </a:p>
          <a:p>
            <a:pPr marL="0" indent="0">
              <a:buNone/>
            </a:pPr>
            <a:r>
              <a:rPr lang="en-US" dirty="0"/>
              <a:t>        ▼</a:t>
            </a:r>
          </a:p>
          <a:p>
            <a:pPr marL="0" indent="0">
              <a:buNone/>
            </a:pPr>
            <a:r>
              <a:rPr lang="en-US" dirty="0"/>
              <a:t>Staging Models</a:t>
            </a:r>
          </a:p>
          <a:p>
            <a:pPr marL="0" indent="0">
              <a:buNone/>
            </a:pPr>
            <a:r>
              <a:rPr lang="en-US" dirty="0"/>
              <a:t>        │</a:t>
            </a:r>
          </a:p>
          <a:p>
            <a:pPr marL="0" indent="0">
              <a:buNone/>
            </a:pPr>
            <a:r>
              <a:rPr lang="en-US" dirty="0"/>
              <a:t>        ▼</a:t>
            </a:r>
          </a:p>
          <a:p>
            <a:pPr marL="0" indent="0">
              <a:buNone/>
            </a:pPr>
            <a:r>
              <a:rPr lang="en-US" dirty="0"/>
              <a:t>Intermediate Models</a:t>
            </a:r>
          </a:p>
          <a:p>
            <a:pPr marL="0" indent="0">
              <a:buNone/>
            </a:pPr>
            <a:r>
              <a:rPr lang="en-US" dirty="0"/>
              <a:t>        │</a:t>
            </a:r>
          </a:p>
          <a:p>
            <a:pPr marL="0" indent="0">
              <a:buNone/>
            </a:pPr>
            <a:r>
              <a:rPr lang="en-US" dirty="0"/>
              <a:t>        ▼</a:t>
            </a:r>
          </a:p>
          <a:p>
            <a:pPr marL="0" indent="0">
              <a:buNone/>
            </a:pPr>
            <a:r>
              <a:rPr lang="en-US" dirty="0"/>
              <a:t>Mart / Analytics Models	</a:t>
            </a:r>
          </a:p>
        </p:txBody>
      </p:sp>
    </p:spTree>
    <p:extLst>
      <p:ext uri="{BB962C8B-B14F-4D97-AF65-F5344CB8AC3E}">
        <p14:creationId xmlns:p14="http://schemas.microsoft.com/office/powerpoint/2010/main" val="3279706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DC256-1A03-3C25-CC0F-6AFBEF26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09059"/>
          </a:xfrm>
        </p:spPr>
        <p:txBody>
          <a:bodyPr/>
          <a:lstStyle/>
          <a:p>
            <a:r>
              <a:rPr lang="en-US" dirty="0" err="1"/>
              <a:t>dbt</a:t>
            </a:r>
            <a:r>
              <a:rPr lang="en-US" dirty="0"/>
              <a:t> Project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876A1-EF14-76EB-613B-FDDE112B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9" y="1253330"/>
            <a:ext cx="10515600" cy="5604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 err="1"/>
              <a:t>dbt_project</a:t>
            </a:r>
            <a:r>
              <a:rPr lang="en-US" b="1" dirty="0"/>
              <a:t>/</a:t>
            </a:r>
          </a:p>
          <a:p>
            <a:pPr marL="0" indent="0">
              <a:buNone/>
            </a:pPr>
            <a:r>
              <a:rPr lang="en-US" b="1" dirty="0"/>
              <a:t>│</a:t>
            </a:r>
          </a:p>
          <a:p>
            <a:pPr marL="0" indent="0">
              <a:buNone/>
            </a:pPr>
            <a:r>
              <a:rPr lang="en-US" b="1" dirty="0"/>
              <a:t>├── models</a:t>
            </a:r>
          </a:p>
          <a:p>
            <a:pPr marL="0" indent="0">
              <a:buNone/>
            </a:pPr>
            <a:r>
              <a:rPr lang="en-US" b="1" dirty="0"/>
              <a:t>│   ├── staging</a:t>
            </a:r>
          </a:p>
          <a:p>
            <a:pPr marL="0" indent="0">
              <a:buNone/>
            </a:pPr>
            <a:r>
              <a:rPr lang="en-US" b="1" dirty="0"/>
              <a:t>│   │   </a:t>
            </a:r>
            <a:r>
              <a:rPr lang="en-US" b="1" dirty="0" err="1"/>
              <a:t>stg_customers.sql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│   │   </a:t>
            </a:r>
            <a:r>
              <a:rPr lang="en-US" b="1" dirty="0" err="1"/>
              <a:t>stg_orders.sql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│   │</a:t>
            </a:r>
          </a:p>
          <a:p>
            <a:pPr marL="0" indent="0">
              <a:buNone/>
            </a:pPr>
            <a:r>
              <a:rPr lang="en-US" b="1" dirty="0"/>
              <a:t>│   ├── marts</a:t>
            </a:r>
          </a:p>
          <a:p>
            <a:pPr marL="0" indent="0">
              <a:buNone/>
            </a:pPr>
            <a:r>
              <a:rPr lang="en-US" b="1" dirty="0"/>
              <a:t>│   │   </a:t>
            </a:r>
            <a:r>
              <a:rPr lang="en-US" b="1" dirty="0" err="1"/>
              <a:t>city_revenue.sql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│</a:t>
            </a:r>
          </a:p>
          <a:p>
            <a:pPr marL="0" indent="0">
              <a:buNone/>
            </a:pPr>
            <a:r>
              <a:rPr lang="en-US" b="1" dirty="0"/>
              <a:t>├── seeds</a:t>
            </a:r>
          </a:p>
          <a:p>
            <a:pPr marL="0" indent="0">
              <a:buNone/>
            </a:pPr>
            <a:r>
              <a:rPr lang="en-US" b="1" dirty="0"/>
              <a:t>│</a:t>
            </a:r>
          </a:p>
          <a:p>
            <a:pPr marL="0" indent="0">
              <a:buNone/>
            </a:pPr>
            <a:r>
              <a:rPr lang="en-US" b="1" dirty="0"/>
              <a:t>├── snapshots</a:t>
            </a:r>
          </a:p>
          <a:p>
            <a:pPr marL="0" indent="0">
              <a:buNone/>
            </a:pPr>
            <a:r>
              <a:rPr lang="en-US" b="1" dirty="0"/>
              <a:t>│</a:t>
            </a:r>
          </a:p>
          <a:p>
            <a:pPr marL="0" indent="0">
              <a:buNone/>
            </a:pPr>
            <a:r>
              <a:rPr lang="en-US" b="1" dirty="0"/>
              <a:t>├── macros</a:t>
            </a:r>
          </a:p>
          <a:p>
            <a:pPr marL="0" indent="0">
              <a:buNone/>
            </a:pPr>
            <a:r>
              <a:rPr lang="en-US" b="1" dirty="0"/>
              <a:t>│</a:t>
            </a:r>
          </a:p>
          <a:p>
            <a:pPr marL="0" indent="0">
              <a:buNone/>
            </a:pPr>
            <a:r>
              <a:rPr lang="en-US" b="1" dirty="0"/>
              <a:t>├── tests</a:t>
            </a:r>
          </a:p>
          <a:p>
            <a:pPr marL="0" indent="0">
              <a:buNone/>
            </a:pPr>
            <a:r>
              <a:rPr lang="en-US" b="1" dirty="0"/>
              <a:t>│</a:t>
            </a:r>
          </a:p>
          <a:p>
            <a:pPr marL="0" indent="0">
              <a:buNone/>
            </a:pPr>
            <a:r>
              <a:rPr lang="en-US" b="1" dirty="0"/>
              <a:t>└── </a:t>
            </a:r>
            <a:r>
              <a:rPr lang="en-US" b="1" dirty="0" err="1"/>
              <a:t>dbt_project.yml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76700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EACBB-0D88-28BB-F4FD-8753FD551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93511"/>
            <a:ext cx="11658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💡 </a:t>
            </a:r>
            <a:r>
              <a:rPr lang="en-US" b="1" dirty="0"/>
              <a:t>In modern data platforms</a:t>
            </a:r>
            <a:r>
              <a:rPr lang="en-US" dirty="0"/>
              <a:t>, </a:t>
            </a:r>
            <a:r>
              <a:rPr lang="en-US" dirty="0" err="1"/>
              <a:t>dbt</a:t>
            </a:r>
            <a:r>
              <a:rPr lang="en-US" dirty="0"/>
              <a:t> is often used with:</a:t>
            </a:r>
          </a:p>
          <a:p>
            <a:r>
              <a:rPr lang="en-US" dirty="0"/>
              <a:t>Databricks</a:t>
            </a:r>
          </a:p>
          <a:p>
            <a:r>
              <a:rPr lang="en-US" dirty="0"/>
              <a:t>Apache Airflow</a:t>
            </a:r>
          </a:p>
          <a:p>
            <a:r>
              <a:rPr lang="en-US" dirty="0"/>
              <a:t>AWS S3</a:t>
            </a:r>
          </a:p>
          <a:p>
            <a:r>
              <a:rPr lang="en-US" dirty="0"/>
              <a:t>to build </a:t>
            </a:r>
            <a:r>
              <a:rPr lang="en-US" b="1" dirty="0"/>
              <a:t>end-to-end data pipelines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42DB2F-D7F4-7E03-1D54-FD195483EDE3}"/>
              </a:ext>
            </a:extLst>
          </p:cNvPr>
          <p:cNvSpPr txBox="1"/>
          <p:nvPr/>
        </p:nvSpPr>
        <p:spPr>
          <a:xfrm>
            <a:off x="5170714" y="3302167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AWS S3 / Kafka</a:t>
            </a:r>
          </a:p>
          <a:p>
            <a:r>
              <a:rPr lang="en-US" b="1" dirty="0">
                <a:highlight>
                  <a:srgbClr val="FFFF00"/>
                </a:highlight>
              </a:rPr>
              <a:t>      │</a:t>
            </a:r>
          </a:p>
          <a:p>
            <a:r>
              <a:rPr lang="en-US" b="1" dirty="0">
                <a:highlight>
                  <a:srgbClr val="FFFF00"/>
                </a:highlight>
              </a:rPr>
              <a:t>      ▼</a:t>
            </a:r>
          </a:p>
          <a:p>
            <a:r>
              <a:rPr lang="en-US" b="1" dirty="0">
                <a:highlight>
                  <a:srgbClr val="FFFF00"/>
                </a:highlight>
              </a:rPr>
              <a:t>Delta Live Tables (Bronze → Silver)</a:t>
            </a:r>
          </a:p>
          <a:p>
            <a:r>
              <a:rPr lang="en-US" b="1" dirty="0">
                <a:highlight>
                  <a:srgbClr val="FFFF00"/>
                </a:highlight>
              </a:rPr>
              <a:t>      │</a:t>
            </a:r>
          </a:p>
          <a:p>
            <a:r>
              <a:rPr lang="en-US" b="1" dirty="0">
                <a:highlight>
                  <a:srgbClr val="FFFF00"/>
                </a:highlight>
              </a:rPr>
              <a:t>      ▼</a:t>
            </a:r>
          </a:p>
          <a:p>
            <a:r>
              <a:rPr lang="en-US" b="1" dirty="0" err="1">
                <a:highlight>
                  <a:srgbClr val="FFFF00"/>
                </a:highlight>
              </a:rPr>
              <a:t>dbt</a:t>
            </a:r>
            <a:r>
              <a:rPr lang="en-US" b="1" dirty="0">
                <a:highlight>
                  <a:srgbClr val="FFFF00"/>
                </a:highlight>
              </a:rPr>
              <a:t> Transformations (Gold Analytics)</a:t>
            </a:r>
          </a:p>
          <a:p>
            <a:r>
              <a:rPr lang="en-US" b="1" dirty="0">
                <a:highlight>
                  <a:srgbClr val="FFFF00"/>
                </a:highlight>
              </a:rPr>
              <a:t>      │</a:t>
            </a:r>
          </a:p>
          <a:p>
            <a:r>
              <a:rPr lang="en-US" b="1" dirty="0">
                <a:highlight>
                  <a:srgbClr val="FFFF00"/>
                </a:highlight>
              </a:rPr>
              <a:t>      ▼</a:t>
            </a:r>
          </a:p>
          <a:p>
            <a:r>
              <a:rPr lang="en-US" b="1" dirty="0">
                <a:highlight>
                  <a:srgbClr val="FFFF00"/>
                </a:highlight>
              </a:rPr>
              <a:t>BI Dashboards</a:t>
            </a:r>
          </a:p>
        </p:txBody>
      </p:sp>
    </p:spTree>
    <p:extLst>
      <p:ext uri="{BB962C8B-B14F-4D97-AF65-F5344CB8AC3E}">
        <p14:creationId xmlns:p14="http://schemas.microsoft.com/office/powerpoint/2010/main" val="1364463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608</Words>
  <Application>Microsoft Office PowerPoint</Application>
  <PresentationFormat>Widescreen</PresentationFormat>
  <Paragraphs>123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DATA BUILD TOOL(DBT)</vt:lpstr>
      <vt:lpstr>PowerPoint Presentation</vt:lpstr>
      <vt:lpstr>Key Features of dbt</vt:lpstr>
      <vt:lpstr>2️⃣ Modular Data Models</vt:lpstr>
      <vt:lpstr>3️⃣ Dependency Management</vt:lpstr>
      <vt:lpstr>4️⃣ Incremental Processing</vt:lpstr>
      <vt:lpstr>Components of dbt</vt:lpstr>
      <vt:lpstr>PowerPoint Presentation</vt:lpstr>
      <vt:lpstr>3️⃣ Seeds</vt:lpstr>
      <vt:lpstr>4️⃣ Snapshots</vt:lpstr>
      <vt:lpstr>5️⃣ Tests</vt:lpstr>
      <vt:lpstr>6️⃣ Macros</vt:lpstr>
      <vt:lpstr>7️⃣ Documentation</vt:lpstr>
      <vt:lpstr>dbt Architecture</vt:lpstr>
      <vt:lpstr>dbt Project Structure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3</cp:revision>
  <dcterms:created xsi:type="dcterms:W3CDTF">2026-03-05T15:36:26Z</dcterms:created>
  <dcterms:modified xsi:type="dcterms:W3CDTF">2026-03-06T03:57:29Z</dcterms:modified>
</cp:coreProperties>
</file>