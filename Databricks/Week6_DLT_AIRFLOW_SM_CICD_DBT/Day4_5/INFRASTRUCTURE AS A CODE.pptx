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36C0-B1EC-040C-0BEC-DDA340E00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67CBE-DCB0-C38D-C2B3-1A7FCDA6F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F47F9-D0CC-DBBB-0343-E821793B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3138E-8B3E-4B30-5534-D9C96691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4B045-F7FF-2DB1-E7BD-16D585EB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0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CFE5-797D-8753-3DCB-729E7B31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C7DE7-15D4-0FCD-7217-1BA074F3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7781-5F63-C6B0-94D3-36DD20ED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86A12-569E-1C0E-EF8E-51F0D18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E575F-0457-555A-57A5-1DA6898C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8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B40B-0FC0-4C78-ACE0-061DE0E3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E784B-0832-043B-67CA-EE429EEC4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D90DC-04B7-BA7E-C724-74FFCCC3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63394-4429-9298-2E18-2684ED81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DFC78-03BE-59F5-4679-915BE332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5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7D8B-E175-62ED-BF40-2701B8B80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F94B-C924-3848-67AE-E67351FD9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980F1-548B-7B96-212D-6B9ED3ABA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F6D4-062D-367A-E633-F48F363B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5162F-0D9B-6449-5936-2BCB2973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6735B-2F75-5C53-D336-B2C42221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2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0E9F-0E6A-16E1-7248-5A540A06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46155-F1C8-46AD-F450-43E85CE92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5E2ED-41ED-B0E0-DA2A-5BB12DB0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399EF-CDC0-D2D7-2799-6A47C59D2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B2309-DBAF-8663-3388-AFF698A3F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1FAAF-481B-6899-6938-4EA8CDE7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A9EC2-7E3C-E90A-59EB-742AF478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A724E-3A73-D6BE-4346-F9D57B40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3F56-4A41-F2B8-CE06-345B823B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E326D-36DB-D316-FE77-4FECB4DD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80593-A66C-6648-6597-DD54910C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CCB73-3080-1B19-632A-23CE4517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7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5EBF3-EE74-458D-40B2-87F0F38A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90EE5-BF34-352F-9283-F3516D06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B2F0-6855-F10A-1139-4420AFD5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2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E88F-9ACF-973A-45F8-E37D0239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CDBB-8EE8-415D-CBE7-E749CE3B5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46894-F1B2-4D0A-CBD3-866EA0045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04727-B8C7-B25E-9345-007CBF45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5EF4E-6224-2549-4EFC-153DAAEA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869BF-2CBF-5FB2-15FB-097855E8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2F8C-F83C-7C9C-F0B0-FE7AB3D1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88CE0-19F8-C333-873D-55EADE747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A4302-1144-590B-7601-32825D57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EA60-5158-1DB8-5BEA-984D9073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1EAD-4302-4005-998C-6432AFA3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375F1-3586-1057-F100-EEB3B5DF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1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994C-3AC5-B879-3CDB-EA0DF3D4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C6B50-F5A4-0A79-2645-0EFA515DB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7E785-33DD-90C2-747D-1E8561F7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E2214-3502-D1E0-759C-FB7E258F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2BD04-811F-BE17-380D-E4D55D41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7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FF1E4-FDA7-F706-606D-3901F8ECB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1D2CB-8621-E500-C8F8-E9D8FD766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A30E6-7832-4846-0B3F-ADF19B9E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37D7-800D-3042-971B-5219A273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3E60-19DF-8BB9-95B0-AC319EB6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173E0-24B2-A13B-3CB5-BEB55C95D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390A1-5507-7703-77D6-A1AC6C72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0654-A1F2-231A-1EEE-7F7A34AEB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3243E-9880-4717-9229-3577B3CBB02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8049C-3D55-19CE-9AAC-E9CC69DB1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C2C52-6401-BFCC-D4EA-261747EA9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E4CFA-476E-4C50-A3C5-ABA12A1D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2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FA3B-A7EB-63FB-26B8-16D68CC5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00114" cy="805543"/>
          </a:xfrm>
        </p:spPr>
        <p:txBody>
          <a:bodyPr>
            <a:normAutofit/>
          </a:bodyPr>
          <a:lstStyle/>
          <a:p>
            <a:r>
              <a:rPr lang="en-US" sz="2800" b="1" dirty="0"/>
              <a:t>Infrastructure as Code (</a:t>
            </a:r>
            <a:r>
              <a:rPr lang="en-US" sz="2800" b="1" dirty="0" err="1"/>
              <a:t>IaC</a:t>
            </a:r>
            <a:r>
              <a:rPr lang="en-US" sz="2800" b="1" dirty="0"/>
              <a:t>) with AWS CDK / CloudFormation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6C18-148E-0A73-1D55-A13BDB5B7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0082"/>
            <a:ext cx="1180011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1️⃣ Infrastructure as Code (</a:t>
            </a:r>
            <a:r>
              <a:rPr lang="fr-FR" dirty="0" err="1"/>
              <a:t>IaC</a:t>
            </a:r>
            <a:r>
              <a:rPr lang="fr-FR" dirty="0"/>
              <a:t>)</a:t>
            </a:r>
          </a:p>
          <a:p>
            <a:r>
              <a:rPr lang="en-US" b="1" dirty="0"/>
              <a:t>Infrastructure as Code</a:t>
            </a:r>
            <a:r>
              <a:rPr lang="en-US" dirty="0"/>
              <a:t> means </a:t>
            </a:r>
            <a:r>
              <a:rPr lang="en-US" b="1" dirty="0"/>
              <a:t>managing and provisioning infrastructure using code instead of manual configuration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Instead of creating resources manually in the console, you define them in configuration files.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resources:</a:t>
            </a:r>
          </a:p>
          <a:p>
            <a:r>
              <a:rPr lang="en-US" dirty="0"/>
              <a:t>Servers</a:t>
            </a:r>
          </a:p>
          <a:p>
            <a:r>
              <a:rPr lang="en-US" dirty="0"/>
              <a:t>Storage</a:t>
            </a:r>
          </a:p>
          <a:p>
            <a:r>
              <a:rPr lang="en-US" dirty="0"/>
              <a:t>Networks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Data platforms</a:t>
            </a:r>
          </a:p>
          <a:p>
            <a:r>
              <a:rPr lang="en-US" dirty="0" err="1"/>
              <a:t>IaC</a:t>
            </a:r>
            <a:r>
              <a:rPr lang="en-US" dirty="0"/>
              <a:t> is widely used in cloud environments like Amazon Web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5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D2B-99AB-63BC-7387-85FB8477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41716"/>
          </a:xfrm>
        </p:spPr>
        <p:txBody>
          <a:bodyPr/>
          <a:lstStyle/>
          <a:p>
            <a:r>
              <a:rPr lang="en-US" dirty="0"/>
              <a:t>2️⃣ AWS Tools for Infrastructure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DE74-53D9-A70B-8D2E-17D0CB693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139824"/>
            <a:ext cx="10515600" cy="5576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AWS CloudFormation</a:t>
            </a:r>
          </a:p>
          <a:p>
            <a:r>
              <a:rPr lang="en-US" dirty="0"/>
              <a:t>AWS CloudFormation Uses </a:t>
            </a:r>
            <a:r>
              <a:rPr lang="en-US" b="1" dirty="0"/>
              <a:t>JSON or YAML templates</a:t>
            </a:r>
            <a:endParaRPr lang="en-US" dirty="0"/>
          </a:p>
          <a:p>
            <a:r>
              <a:rPr lang="en-US" dirty="0"/>
              <a:t>Automatically creates and manages AWS resources.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Example:</a:t>
            </a:r>
          </a:p>
          <a:p>
            <a:r>
              <a:rPr lang="en-US" dirty="0"/>
              <a:t>Resources: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MyBucket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Type: AWS::S3::Bucket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Creates:</a:t>
            </a:r>
          </a:p>
          <a:p>
            <a:r>
              <a:rPr lang="en-US" dirty="0"/>
              <a:t>Amazon S3 bucket.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21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80A4-1B6F-C36F-13A9-E9604090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AWS CDK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309B6-68F9-5F3D-5680-C5AB741F5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144588"/>
            <a:ext cx="10515600" cy="5931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AWS Cloud Development Kit</a:t>
            </a:r>
          </a:p>
          <a:p>
            <a:r>
              <a:rPr lang="en-US" dirty="0"/>
              <a:t>Allows writing infrastructure using programming languages like: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TypeScript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C#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(Python):</a:t>
            </a:r>
          </a:p>
          <a:p>
            <a:r>
              <a:rPr lang="en-US" dirty="0"/>
              <a:t>s3.Bucket(self, "</a:t>
            </a:r>
            <a:r>
              <a:rPr lang="en-US" dirty="0" err="1"/>
              <a:t>DataBucket</a:t>
            </a:r>
            <a:r>
              <a:rPr lang="en-US" dirty="0"/>
              <a:t>")</a:t>
            </a:r>
          </a:p>
          <a:p>
            <a:r>
              <a:rPr lang="en-US" dirty="0"/>
              <a:t>CDK automatically converts code to </a:t>
            </a:r>
            <a:r>
              <a:rPr lang="en-US" b="1" dirty="0"/>
              <a:t>CloudFormation templates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3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AA70-2BCC-7B56-6165-4E0A980F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5516"/>
          </a:xfrm>
        </p:spPr>
        <p:txBody>
          <a:bodyPr/>
          <a:lstStyle/>
          <a:p>
            <a:r>
              <a:rPr lang="en-US" dirty="0"/>
              <a:t>3️⃣ Databricks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0E91-7150-7958-371B-2B589FD4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0" y="1150711"/>
            <a:ext cx="12017829" cy="4351338"/>
          </a:xfrm>
        </p:spPr>
        <p:txBody>
          <a:bodyPr/>
          <a:lstStyle/>
          <a:p>
            <a:r>
              <a:rPr lang="en-US" dirty="0"/>
              <a:t>Infrastructure as Code can manage resources for Databricks environments.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 of resources managed:</a:t>
            </a:r>
          </a:p>
          <a:p>
            <a:r>
              <a:rPr lang="en-US" dirty="0"/>
              <a:t>Databricks Workspaces</a:t>
            </a:r>
          </a:p>
          <a:p>
            <a:r>
              <a:rPr lang="en-US" dirty="0"/>
              <a:t>Clusters</a:t>
            </a:r>
          </a:p>
          <a:p>
            <a:r>
              <a:rPr lang="en-US" dirty="0"/>
              <a:t>Jobs</a:t>
            </a:r>
          </a:p>
          <a:p>
            <a:r>
              <a:rPr lang="en-US" dirty="0"/>
              <a:t>Notebooks</a:t>
            </a:r>
          </a:p>
          <a:p>
            <a:r>
              <a:rPr lang="en-US" dirty="0"/>
              <a:t>Permissions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70290-9298-22EB-AC9D-0E2BA60C90F0}"/>
              </a:ext>
            </a:extLst>
          </p:cNvPr>
          <p:cNvSpPr txBox="1"/>
          <p:nvPr/>
        </p:nvSpPr>
        <p:spPr>
          <a:xfrm>
            <a:off x="4623707" y="3470724"/>
            <a:ext cx="62211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IaC</a:t>
            </a:r>
            <a:r>
              <a:rPr lang="en-US" dirty="0"/>
              <a:t> Script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CloudFormation / CDK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AWS Infrastructure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Databricks Workspace</a:t>
            </a:r>
          </a:p>
        </p:txBody>
      </p:sp>
    </p:spTree>
    <p:extLst>
      <p:ext uri="{BB962C8B-B14F-4D97-AF65-F5344CB8AC3E}">
        <p14:creationId xmlns:p14="http://schemas.microsoft.com/office/powerpoint/2010/main" val="3013862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F5DD-305B-6371-3AC2-B348B2C20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98174"/>
          </a:xfrm>
        </p:spPr>
        <p:txBody>
          <a:bodyPr/>
          <a:lstStyle/>
          <a:p>
            <a:r>
              <a:rPr lang="en-US" dirty="0"/>
              <a:t>4️⃣ Environment Provisioning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96A26-0F5C-6662-AE35-A0429CA6B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253331"/>
            <a:ext cx="11800114" cy="4351338"/>
          </a:xfrm>
        </p:spPr>
        <p:txBody>
          <a:bodyPr/>
          <a:lstStyle/>
          <a:p>
            <a:r>
              <a:rPr lang="en-US" dirty="0"/>
              <a:t>Environment provisioning means </a:t>
            </a:r>
            <a:r>
              <a:rPr lang="en-US" b="1" dirty="0"/>
              <a:t>automatically creating infrastructure environments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0FDD48-5229-C06F-E274-413F4B5B5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249447"/>
              </p:ext>
            </p:extLst>
          </p:nvPr>
        </p:nvGraphicFramePr>
        <p:xfrm>
          <a:off x="0" y="2314008"/>
          <a:ext cx="4876800" cy="182880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4526073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3363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7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31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05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Pre-production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708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6447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B879B1-ADE4-259A-5BC4-0C25F72D3891}"/>
              </a:ext>
            </a:extLst>
          </p:cNvPr>
          <p:cNvSpPr txBox="1"/>
          <p:nvPr/>
        </p:nvSpPr>
        <p:spPr>
          <a:xfrm>
            <a:off x="5742216" y="2212745"/>
            <a:ext cx="62211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Developer commits code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CI/CD pipeline runs </a:t>
            </a:r>
            <a:r>
              <a:rPr lang="en-US" dirty="0" err="1"/>
              <a:t>IaC</a:t>
            </a:r>
            <a:endParaRPr lang="en-US" dirty="0"/>
          </a:p>
          <a:p>
            <a:r>
              <a:rPr lang="en-US" dirty="0"/>
              <a:t>      ↓</a:t>
            </a:r>
          </a:p>
          <a:p>
            <a:r>
              <a:rPr lang="en-US" dirty="0"/>
              <a:t>Infrastructure automatically created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Application deployed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8A586-0B31-A1E2-9425-AD2F25607192}"/>
              </a:ext>
            </a:extLst>
          </p:cNvPr>
          <p:cNvSpPr txBox="1"/>
          <p:nvPr/>
        </p:nvSpPr>
        <p:spPr>
          <a:xfrm>
            <a:off x="693965" y="4717056"/>
            <a:ext cx="62211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Services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CodePipeline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CloudFormation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DE8CD-12BC-E73E-BB03-5DB93D65E3D7}"/>
              </a:ext>
            </a:extLst>
          </p:cNvPr>
          <p:cNvSpPr txBox="1"/>
          <p:nvPr/>
        </p:nvSpPr>
        <p:spPr>
          <a:xfrm>
            <a:off x="3940629" y="4701589"/>
            <a:ext cx="76336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Infrastructure as Code with AWS CDK or CloudFormation allows developers to </a:t>
            </a:r>
            <a:r>
              <a:rPr lang="en-US" b="1" dirty="0"/>
              <a:t>define and manage cloud infrastructure using code</a:t>
            </a:r>
            <a:r>
              <a:rPr lang="en-US" dirty="0"/>
              <a:t>, enabling automated provisioning, consistent environments, and easier infrastructure management.</a:t>
            </a:r>
          </a:p>
        </p:txBody>
      </p:sp>
    </p:spTree>
    <p:extLst>
      <p:ext uri="{BB962C8B-B14F-4D97-AF65-F5344CB8AC3E}">
        <p14:creationId xmlns:p14="http://schemas.microsoft.com/office/powerpoint/2010/main" val="2426210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4F6A-6A15-1D27-8FF2-221A6C60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74373"/>
          </a:xfrm>
        </p:spPr>
        <p:txBody>
          <a:bodyPr>
            <a:normAutofit/>
          </a:bodyPr>
          <a:lstStyle/>
          <a:p>
            <a:r>
              <a:rPr lang="en-US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1C38-646C-F375-2C6E-8E2EA4A99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253331"/>
            <a:ext cx="118110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Observability</a:t>
            </a:r>
            <a:r>
              <a:rPr lang="en-US" dirty="0"/>
              <a:t> is the ability to </a:t>
            </a:r>
            <a:r>
              <a:rPr lang="en-US" b="1" dirty="0"/>
              <a:t>understand the internal state of a system by analyzing its outputs such as logs, metrics, and traces</a:t>
            </a:r>
            <a:r>
              <a:rPr lang="en-US" dirty="0"/>
              <a:t>.</a:t>
            </a:r>
          </a:p>
          <a:p>
            <a:r>
              <a:rPr lang="en-US" dirty="0"/>
              <a:t>It enables effective logging, monitoring, alerting, and performance troubleshooting in modern distributed systems.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 helps engineers:</a:t>
            </a:r>
          </a:p>
          <a:p>
            <a:r>
              <a:rPr lang="en-US" dirty="0"/>
              <a:t>Detect system failures</a:t>
            </a:r>
          </a:p>
          <a:p>
            <a:r>
              <a:rPr lang="en-US" dirty="0"/>
              <a:t>Monitor performance</a:t>
            </a:r>
          </a:p>
          <a:p>
            <a:r>
              <a:rPr lang="en-US" dirty="0"/>
              <a:t>Debug production issues</a:t>
            </a:r>
          </a:p>
          <a:p>
            <a:r>
              <a:rPr lang="en-US" dirty="0"/>
              <a:t>Improve system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9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F466-3ECB-7132-3A4A-8847CC67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1️⃣ Logging Strategies &amp;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5CF6-75FD-6F59-F2FE-54106F9E6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444624"/>
            <a:ext cx="10515600" cy="5413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Logging</a:t>
            </a:r>
            <a:r>
              <a:rPr lang="en-US" dirty="0"/>
              <a:t> records events that happen inside an application or system.</a:t>
            </a:r>
          </a:p>
          <a:p>
            <a:pPr marL="0" indent="0">
              <a:buNone/>
            </a:pPr>
            <a:r>
              <a:rPr lang="en-US" dirty="0"/>
              <a:t>Example logs include: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Errors</a:t>
            </a:r>
          </a:p>
          <a:p>
            <a:r>
              <a:rPr lang="en-US" dirty="0"/>
              <a:t>Warnings</a:t>
            </a:r>
          </a:p>
          <a:p>
            <a:r>
              <a:rPr lang="en-US" dirty="0"/>
              <a:t>System events</a:t>
            </a:r>
          </a:p>
          <a:p>
            <a:r>
              <a:rPr lang="en-US" dirty="0"/>
              <a:t>Data processing details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Common logging frameworks:</a:t>
            </a:r>
          </a:p>
          <a:p>
            <a:r>
              <a:rPr lang="en-US" dirty="0"/>
              <a:t>Log4j</a:t>
            </a:r>
          </a:p>
          <a:p>
            <a:r>
              <a:rPr lang="en-US" dirty="0"/>
              <a:t>SLF4J</a:t>
            </a:r>
          </a:p>
          <a:p>
            <a:r>
              <a:rPr lang="en-US" dirty="0" err="1"/>
              <a:t>Logback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 cloud environments, logs are often stored and analyzed using:</a:t>
            </a:r>
          </a:p>
          <a:p>
            <a:r>
              <a:rPr lang="en-US" dirty="0"/>
              <a:t>Amazon CloudWatch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3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9CE2-EA6B-13DC-4681-D0908C96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04259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Monitoring &amp; Alerting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33B1-1723-4809-030E-11ACBDBC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321365"/>
            <a:ext cx="10515600" cy="54386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Monitoring</a:t>
            </a:r>
            <a:r>
              <a:rPr lang="en-US" dirty="0"/>
              <a:t> continuously tracks system metrics to detect abnormal behavior.</a:t>
            </a:r>
          </a:p>
          <a:p>
            <a:pPr marL="0" indent="0">
              <a:buNone/>
            </a:pPr>
            <a:r>
              <a:rPr lang="en-US" dirty="0"/>
              <a:t>Metrics monitored:</a:t>
            </a:r>
          </a:p>
          <a:p>
            <a:r>
              <a:rPr lang="en-US" dirty="0"/>
              <a:t>CPU usage</a:t>
            </a:r>
          </a:p>
          <a:p>
            <a:r>
              <a:rPr lang="en-US" dirty="0"/>
              <a:t>Memory usage</a:t>
            </a:r>
          </a:p>
          <a:p>
            <a:r>
              <a:rPr lang="en-US" dirty="0"/>
              <a:t>Job failures</a:t>
            </a:r>
          </a:p>
          <a:p>
            <a:r>
              <a:rPr lang="en-US" dirty="0"/>
              <a:t>API response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monitoring service:</a:t>
            </a:r>
          </a:p>
          <a:p>
            <a:r>
              <a:rPr lang="en-US" dirty="0"/>
              <a:t>Amazon CloudWatch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workflow:</a:t>
            </a:r>
          </a:p>
          <a:p>
            <a:r>
              <a:rPr lang="en-US" dirty="0"/>
              <a:t>Application → Metrics → Monitoring System → Alerts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Alerting</a:t>
            </a:r>
            <a:r>
              <a:rPr lang="en-US" dirty="0"/>
              <a:t> notifies engineers when something goes wrong.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FAAB7-FB17-49EE-F435-EA619B2DE078}"/>
              </a:ext>
            </a:extLst>
          </p:cNvPr>
          <p:cNvSpPr txBox="1"/>
          <p:nvPr/>
        </p:nvSpPr>
        <p:spPr>
          <a:xfrm>
            <a:off x="5823858" y="2464752"/>
            <a:ext cx="6204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Alert channels: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PagerDuty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CPU usage &gt; 90% → Send alert</a:t>
            </a:r>
          </a:p>
        </p:txBody>
      </p:sp>
    </p:spTree>
    <p:extLst>
      <p:ext uri="{BB962C8B-B14F-4D97-AF65-F5344CB8AC3E}">
        <p14:creationId xmlns:p14="http://schemas.microsoft.com/office/powerpoint/2010/main" val="312352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51DE-9FB9-30B5-54FB-7EC3FCE5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085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Performance Troubleshooting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DD129-850C-270F-15D2-3F11F7651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253330"/>
            <a:ext cx="10515600" cy="56046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Observability helps diagnose performance issues.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Common troubleshooting areas:</a:t>
            </a:r>
          </a:p>
          <a:p>
            <a:r>
              <a:rPr lang="en-US" dirty="0"/>
              <a:t>Slow queries</a:t>
            </a:r>
          </a:p>
          <a:p>
            <a:r>
              <a:rPr lang="en-US" dirty="0"/>
              <a:t>Data pipeline delays</a:t>
            </a:r>
          </a:p>
          <a:p>
            <a:r>
              <a:rPr lang="en-US" dirty="0"/>
              <a:t>Memory bottlenecks</a:t>
            </a:r>
          </a:p>
          <a:p>
            <a:r>
              <a:rPr lang="en-US" dirty="0"/>
              <a:t>Network latency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in big data systems like Apache Spark: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Problems detected: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Skewed partitions</a:t>
            </a:r>
          </a:p>
          <a:p>
            <a:r>
              <a:rPr lang="en-US" dirty="0"/>
              <a:t>Large shuffles</a:t>
            </a:r>
          </a:p>
          <a:p>
            <a:r>
              <a:rPr lang="en-US" dirty="0"/>
              <a:t>Too many small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9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277C3-D0E1-D8B0-515E-4303FEB8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Three Pillars of Observability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307A1E-A354-1BAA-A70C-EC3DE8761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36118"/>
              </p:ext>
            </p:extLst>
          </p:nvPr>
        </p:nvGraphicFramePr>
        <p:xfrm>
          <a:off x="1642227" y="2733749"/>
          <a:ext cx="8931487" cy="2950464"/>
        </p:xfrm>
        <a:graphic>
          <a:graphicData uri="http://schemas.openxmlformats.org/drawingml/2006/table">
            <a:tbl>
              <a:tblPr/>
              <a:tblGrid>
                <a:gridCol w="1927860">
                  <a:extLst>
                    <a:ext uri="{9D8B030D-6E8A-4147-A177-3AD203B41FA5}">
                      <a16:colId xmlns:a16="http://schemas.microsoft.com/office/drawing/2014/main" val="1078350370"/>
                    </a:ext>
                  </a:extLst>
                </a:gridCol>
                <a:gridCol w="7003627">
                  <a:extLst>
                    <a:ext uri="{9D8B030D-6E8A-4147-A177-3AD203B41FA5}">
                      <a16:colId xmlns:a16="http://schemas.microsoft.com/office/drawing/2014/main" val="212102515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>
                          <a:highlight>
                            <a:srgbClr val="FFFF00"/>
                          </a:highlight>
                        </a:rPr>
                        <a:t>Pillar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dirty="0"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7906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Logs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Record system events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43876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Metrics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Track system performance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31849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Traces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Track request flow across services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9817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0BA916-B34B-1CE4-186F-6626DC9D443C}"/>
              </a:ext>
            </a:extLst>
          </p:cNvPr>
          <p:cNvSpPr txBox="1"/>
          <p:nvPr/>
        </p:nvSpPr>
        <p:spPr>
          <a:xfrm>
            <a:off x="7112428" y="204204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Prometheus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Grafana</a:t>
            </a:r>
          </a:p>
        </p:txBody>
      </p:sp>
    </p:spTree>
    <p:extLst>
      <p:ext uri="{BB962C8B-B14F-4D97-AF65-F5344CB8AC3E}">
        <p14:creationId xmlns:p14="http://schemas.microsoft.com/office/powerpoint/2010/main" val="313102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517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Infrastructure as Code (IaC) with AWS CDK / CloudFormation </vt:lpstr>
      <vt:lpstr>2️⃣ AWS Tools for Infrastructure as Code</vt:lpstr>
      <vt:lpstr>AWS CDK</vt:lpstr>
      <vt:lpstr>3️⃣ Databricks Resource Management</vt:lpstr>
      <vt:lpstr>4️⃣ Environment Provisioning</vt:lpstr>
      <vt:lpstr>Observability</vt:lpstr>
      <vt:lpstr>1️⃣ Logging Strategies &amp; Frameworks</vt:lpstr>
      <vt:lpstr>2️⃣ Monitoring &amp; Alerting Setup</vt:lpstr>
      <vt:lpstr>3️⃣ Performance Troubleshooting</vt:lpstr>
      <vt:lpstr>Three Pillars of Observability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7</cp:revision>
  <dcterms:created xsi:type="dcterms:W3CDTF">2026-03-06T16:49:33Z</dcterms:created>
  <dcterms:modified xsi:type="dcterms:W3CDTF">2026-03-10T15:17:38Z</dcterms:modified>
</cp:coreProperties>
</file>