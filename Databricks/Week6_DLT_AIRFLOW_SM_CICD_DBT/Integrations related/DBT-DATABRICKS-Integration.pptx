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9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7A6D43-3565-9BD7-D5FC-DD170489B8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B003CF-F7AA-C6C5-ADF0-51C66EF04E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C86750-D4B8-090E-F7E0-29B50ED343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A6629-BC80-4C45-823F-D6FB6024695C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7AB565-A56D-93A9-C0A6-2B8ABD4650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49E0EB-9C20-BC20-9D4E-59483F7534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2D524-E95C-46DA-8033-D9582E40BA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03545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D9B73F-4577-5FF5-0C66-51EB3F19E9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767A93-F1EF-844F-6214-3B9E957517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B23854-532A-5667-F007-B6F70EF73E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A6629-BC80-4C45-823F-D6FB6024695C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90D4AB-5235-8A41-BF49-B57ED205E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DD6366-ACF3-4ACE-FDF3-D3945FC26D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2D524-E95C-46DA-8033-D9582E40BA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35768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5D3621-BC81-1024-6EE3-EF1182C127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9810C7-35FE-4ABE-A6B7-1222A0E03A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7C402C-7F35-1D5A-D39B-85F108DE33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A6629-BC80-4C45-823F-D6FB6024695C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EE4E0E-3E37-E7F3-11B1-AFCC7BD394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E0B74A-F108-163C-CC7E-590FE6A8C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2D524-E95C-46DA-8033-D9582E40BA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99595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70AC37-EC7B-A9C7-C303-90D7DF3142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64F018-EAA5-3CD9-9353-6247FC7EBA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46286F-90AD-AB0F-77EC-9002DCE1B4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5C75BD-7119-538D-C9E2-08E330ACDA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A6629-BC80-4C45-823F-D6FB6024695C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8D2B81-2F51-F5D5-5F10-40B7D579B0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C6B652-075A-CE30-2E43-F3803BDD08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2D524-E95C-46DA-8033-D9582E40BA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74340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2DD88C-D109-EDC4-4EAB-4ABE97DF24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681B6C-C3AF-9172-6993-0384D54236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F16BA8-4E5B-475C-ABF7-BB3DD518CC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98C6F34-0F43-91B7-9039-2D36B73FB0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A82AADB-218E-ACD7-A866-79F676F3DF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E0DCFBE-2B87-743F-99E0-3053DE97DD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A6629-BC80-4C45-823F-D6FB6024695C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E87F266-6380-22ED-8996-27A38B5C3D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33C34B-9A73-30CC-1401-88A4236B24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2D524-E95C-46DA-8033-D9582E40BA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20457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E45C8-5FD4-D230-73BC-C3324EB7EE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933108-80D4-B844-9643-968E05154E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A6629-BC80-4C45-823F-D6FB6024695C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C17504-02D6-6AAE-09B2-DA9A69DBAD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835B69-3531-7F00-3A9D-1B5FEA11E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2D524-E95C-46DA-8033-D9582E40BA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2748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E440069-7CAD-26C8-DAE2-CA44775180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A6629-BC80-4C45-823F-D6FB6024695C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4D938F9-DD00-8CDA-8258-426ACF5D1F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B40077-84FD-239D-EEA3-E7CF8D1AA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2D524-E95C-46DA-8033-D9582E40BA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78723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A95AC4-9767-68E5-0261-26B8F826E7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F35C4A-6F62-94FD-2CD4-DF2AE2FE32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488500-06FD-EEAC-7C33-63FBF3B10B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4E218A-9093-7E6E-5042-36001E7419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A6629-BC80-4C45-823F-D6FB6024695C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7BC34A-25B0-7B2A-7C48-C82D76B126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2EBC56-EC1B-1DFD-4D6F-AF4595A0BD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2D524-E95C-46DA-8033-D9582E40BA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57741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3BB1D6-F0CB-74AD-C3A4-23EDB6EA56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89BF297-7EAC-D45A-1399-2E2D335FFA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F98115-FB59-1DA0-6743-A84E4EABE6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062EFD-F2A1-FD0D-5314-EC01F7C180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A6629-BC80-4C45-823F-D6FB6024695C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5F1E64-810E-4BD6-EEAD-6A496F4119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C98060-D6FA-9677-D8DB-10BF84F588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2D524-E95C-46DA-8033-D9582E40BA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02223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D33D6-91FA-F38F-806C-B3145A03FB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AAF612-5B2F-25E2-8F1A-4EA0F37353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18DE4F-829F-B0CF-62B1-912397E908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A6629-BC80-4C45-823F-D6FB6024695C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7B1831-7F61-3991-078A-ADF8A17AEB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FB77A9-4815-40F7-6325-4C9FE5070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2D524-E95C-46DA-8033-D9582E40BA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3286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05C25ED-B4E6-161D-9ADA-1D74433527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0FF79D-36CC-3CEC-581D-FCEF7CC088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E5F8E-FE3F-C4AC-4FFE-B8E33CF554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A6629-BC80-4C45-823F-D6FB6024695C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F1369-DDF2-3ED7-17F8-325A412616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978A27-59DF-620A-742E-F53B989DE0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2D524-E95C-46DA-8033-D9582E40BA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38573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434BBE7-3BD7-2FCD-3B54-C6CC6A1AD2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7486DA-8CD8-ECFA-4CBF-C9B12AC927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F8C854-A812-38D7-B6FC-BC4F39EB1E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38A6629-BC80-4C45-823F-D6FB6024695C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2B90C8-AFC0-9DDF-287D-C3834482C4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0A29F5-5B1B-4287-39C5-37908D935B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22D524-E95C-46DA-8033-D9582E40BA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47635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159D5F-AF17-4FAE-2818-CE94171B1C4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DBT-DATABRICKS</a:t>
            </a:r>
          </a:p>
        </p:txBody>
      </p:sp>
    </p:spTree>
    <p:extLst>
      <p:ext uri="{BB962C8B-B14F-4D97-AF65-F5344CB8AC3E}">
        <p14:creationId xmlns:p14="http://schemas.microsoft.com/office/powerpoint/2010/main" val="19199695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770293E-5DD3-95D0-9035-EA9299135D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0" y="368142"/>
            <a:ext cx="12040219" cy="6121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65833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D90C827-4877-6A62-A9AF-47F656737F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38244"/>
            <a:ext cx="12192000" cy="5781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07778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12CCCA0-C4BE-2AD9-6609-FD993C9B4A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7" y="437996"/>
            <a:ext cx="12179926" cy="5982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56653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C8BD5D3-E398-307D-FCA9-96D6470659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88" y="599929"/>
            <a:ext cx="12116423" cy="5658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22362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622360-3FF2-3EA3-382B-209AFFB269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791737"/>
          </a:xfrm>
        </p:spPr>
        <p:txBody>
          <a:bodyPr/>
          <a:lstStyle/>
          <a:p>
            <a:r>
              <a:rPr lang="en-US" dirty="0"/>
              <a:t>Start  server warehouse and add catalog with schema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78F6802-1CDE-B903-429E-0645DCFF17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76" y="875993"/>
            <a:ext cx="12141824" cy="5982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79428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CE4452A-BD56-3668-BA80-DD93E8EEFD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7" y="339566"/>
            <a:ext cx="12179926" cy="6178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67569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A66934B-89CF-707A-69F5-81BA73ED9A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7" y="472923"/>
            <a:ext cx="12179926" cy="5912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33422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F15FC95-2223-FE11-33F2-2C793E227C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40404"/>
            <a:ext cx="12192000" cy="5777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33421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643A22C-821F-3A7E-FB4C-5FC6C44E2C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04899"/>
            <a:ext cx="12192000" cy="6048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46868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7E72CEB-A738-834E-01D5-539101A01E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7" y="253837"/>
            <a:ext cx="12179926" cy="6350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27651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B670E5-B70D-9CBA-3E43-42015E9109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dbt</a:t>
            </a:r>
            <a:r>
              <a:rPr lang="en-US" dirty="0"/>
              <a:t> + Databricks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F4787D-DDB7-CCA9-EF45-0D268325E3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🟢 Databricks = Compute + Storage (Delta tables)</a:t>
            </a:r>
          </a:p>
          <a:p>
            <a:r>
              <a:rPr lang="en-US" dirty="0"/>
              <a:t>🟠 </a:t>
            </a:r>
            <a:r>
              <a:rPr lang="en-US" dirty="0" err="1"/>
              <a:t>dbt</a:t>
            </a:r>
            <a:r>
              <a:rPr lang="en-US" dirty="0"/>
              <a:t> = Transformation layer (SQL-based modeling)</a:t>
            </a:r>
          </a:p>
          <a:p>
            <a:r>
              <a:rPr lang="en-US" dirty="0" err="1"/>
              <a:t>dbt</a:t>
            </a:r>
            <a:r>
              <a:rPr lang="en-US" dirty="0"/>
              <a:t> creates </a:t>
            </a:r>
            <a:r>
              <a:rPr lang="en-US" b="1" dirty="0"/>
              <a:t>models (tables/views)</a:t>
            </a:r>
            <a:r>
              <a:rPr lang="en-US" dirty="0"/>
              <a:t> in Databricks.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91505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25C878-D618-0195-A682-4CDECB5043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1: Check Databricks Connection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A1D737-9A5B-27A9-D25F-E0CDC8A0C2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your screenshot bottom right shows:</a:t>
            </a:r>
          </a:p>
          <a:p>
            <a:r>
              <a:rPr lang="en-US" dirty="0"/>
              <a:t>👉 Checking connection...</a:t>
            </a:r>
          </a:p>
          <a:p>
            <a:r>
              <a:rPr lang="en-US" dirty="0"/>
              <a:t>Wait until it shows:</a:t>
            </a:r>
          </a:p>
          <a:p>
            <a:r>
              <a:rPr lang="en-US" dirty="0"/>
              <a:t>Connected</a:t>
            </a:r>
          </a:p>
          <a:p>
            <a:r>
              <a:rPr lang="en-US" dirty="0"/>
              <a:t>If it fails:</a:t>
            </a:r>
            <a:br>
              <a:rPr lang="en-US" dirty="0"/>
            </a:br>
            <a:r>
              <a:rPr lang="en-US" dirty="0"/>
              <a:t>Go to:</a:t>
            </a:r>
          </a:p>
          <a:p>
            <a:r>
              <a:rPr lang="en-US" dirty="0"/>
              <a:t>👉 Deploy → Environments → Check Databricks credentials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93311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8AE4CA-18FA-C07B-B896-CA17787B6A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662782"/>
          </a:xfrm>
        </p:spPr>
        <p:txBody>
          <a:bodyPr>
            <a:normAutofit fontScale="90000"/>
          </a:bodyPr>
          <a:lstStyle/>
          <a:p>
            <a:r>
              <a:rPr lang="en-US" dirty="0"/>
              <a:t>✅ STEP 2: Create Your First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696C88-BDFE-7029-6C10-D81CDCEE62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3914" y="1253331"/>
            <a:ext cx="10515600" cy="4351338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Inside models/ folder:</a:t>
            </a:r>
          </a:p>
          <a:p>
            <a:pPr marL="0" indent="0">
              <a:buNone/>
            </a:pPr>
            <a:r>
              <a:rPr lang="en-US" b="1" dirty="0"/>
              <a:t>Click:</a:t>
            </a:r>
          </a:p>
          <a:p>
            <a:pPr marL="0" indent="0">
              <a:buNone/>
            </a:pPr>
            <a:r>
              <a:rPr lang="en-US" b="1" dirty="0"/>
              <a:t>models → Create new file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Name it:</a:t>
            </a:r>
          </a:p>
          <a:p>
            <a:pPr marL="0" indent="0">
              <a:buNone/>
            </a:pPr>
            <a:r>
              <a:rPr lang="en-US" b="1" dirty="0" err="1"/>
              <a:t>customers.sql</a:t>
            </a:r>
            <a:endParaRPr lang="en-US" b="1" dirty="0"/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Add example transformation:</a:t>
            </a:r>
          </a:p>
          <a:p>
            <a:pPr marL="0" indent="0">
              <a:buNone/>
            </a:pPr>
            <a:r>
              <a:rPr lang="en-US" dirty="0"/>
              <a:t>select</a:t>
            </a:r>
            <a:br>
              <a:rPr lang="en-US" dirty="0"/>
            </a:br>
            <a:r>
              <a:rPr lang="en-US" dirty="0"/>
              <a:t>    </a:t>
            </a:r>
            <a:r>
              <a:rPr lang="en-US" dirty="0" err="1"/>
              <a:t>customer_id</a:t>
            </a:r>
            <a:r>
              <a:rPr lang="en-US" dirty="0"/>
              <a:t>,</a:t>
            </a:r>
            <a:br>
              <a:rPr lang="en-US" dirty="0"/>
            </a:br>
            <a:r>
              <a:rPr lang="en-US" dirty="0"/>
              <a:t>    upper(</a:t>
            </a:r>
            <a:r>
              <a:rPr lang="en-US" dirty="0" err="1"/>
              <a:t>customer_name</a:t>
            </a:r>
            <a:r>
              <a:rPr lang="en-US" dirty="0"/>
              <a:t>) as </a:t>
            </a:r>
            <a:r>
              <a:rPr lang="en-US" dirty="0" err="1"/>
              <a:t>customer_name</a:t>
            </a:r>
            <a:r>
              <a:rPr lang="en-US" dirty="0"/>
              <a:t>,</a:t>
            </a:r>
            <a:br>
              <a:rPr lang="en-US" dirty="0"/>
            </a:br>
            <a:r>
              <a:rPr lang="en-US" dirty="0"/>
              <a:t>    country,</a:t>
            </a:r>
            <a:br>
              <a:rPr lang="en-US" dirty="0"/>
            </a:br>
            <a:r>
              <a:rPr lang="en-US" dirty="0"/>
              <a:t>    </a:t>
            </a:r>
            <a:r>
              <a:rPr lang="en-US" dirty="0" err="1"/>
              <a:t>current_timestamp</a:t>
            </a:r>
            <a:r>
              <a:rPr lang="en-US" dirty="0"/>
              <a:t>() as </a:t>
            </a:r>
            <a:r>
              <a:rPr lang="en-US" dirty="0" err="1"/>
              <a:t>load_time</a:t>
            </a:r>
            <a:br>
              <a:rPr lang="en-US" dirty="0"/>
            </a:br>
            <a:r>
              <a:rPr lang="en-US" dirty="0"/>
              <a:t>from {{ source('bronze', '</a:t>
            </a:r>
            <a:r>
              <a:rPr lang="en-US" dirty="0" err="1"/>
              <a:t>customers_raw</a:t>
            </a:r>
            <a:r>
              <a:rPr lang="en-US" dirty="0"/>
              <a:t>') }}</a:t>
            </a:r>
          </a:p>
          <a:p>
            <a:pPr marL="0" indent="0">
              <a:buNone/>
            </a:pPr>
            <a:r>
              <a:rPr lang="en-US" b="1" dirty="0">
                <a:highlight>
                  <a:srgbClr val="FFFF00"/>
                </a:highlight>
              </a:rPr>
              <a:t>Save file.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88672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28322A-A952-8A2B-BB02-859431391F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✅ STEP 3: Define Source (Very Important)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418D9C-A5AC-5525-6C3F-B737E736AB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In models folder create:</a:t>
            </a:r>
          </a:p>
          <a:p>
            <a:r>
              <a:rPr lang="en-US" dirty="0" err="1"/>
              <a:t>sources.yml</a:t>
            </a:r>
            <a:endParaRPr lang="en-US" dirty="0"/>
          </a:p>
          <a:p>
            <a:r>
              <a:rPr lang="en-US" dirty="0"/>
              <a:t>Add:</a:t>
            </a:r>
          </a:p>
          <a:p>
            <a:r>
              <a:rPr lang="en-US" dirty="0"/>
              <a:t>version: 2</a:t>
            </a:r>
            <a:br>
              <a:rPr lang="en-US" dirty="0"/>
            </a:br>
            <a:br>
              <a:rPr lang="en-US" dirty="0"/>
            </a:br>
            <a:r>
              <a:rPr lang="en-US" dirty="0"/>
              <a:t>sources:</a:t>
            </a:r>
            <a:br>
              <a:rPr lang="en-US" dirty="0"/>
            </a:br>
            <a:r>
              <a:rPr lang="en-US" dirty="0"/>
              <a:t>  - name: bronze</a:t>
            </a:r>
            <a:br>
              <a:rPr lang="en-US" dirty="0"/>
            </a:br>
            <a:r>
              <a:rPr lang="en-US" dirty="0"/>
              <a:t>    database: </a:t>
            </a:r>
            <a:r>
              <a:rPr lang="en-US" dirty="0" err="1"/>
              <a:t>your_catalog_name</a:t>
            </a:r>
            <a:br>
              <a:rPr lang="en-US" dirty="0"/>
            </a:br>
            <a:r>
              <a:rPr lang="en-US" dirty="0"/>
              <a:t>    schema: </a:t>
            </a:r>
            <a:r>
              <a:rPr lang="en-US" dirty="0" err="1"/>
              <a:t>bronze_schema</a:t>
            </a:r>
            <a:br>
              <a:rPr lang="en-US" dirty="0"/>
            </a:br>
            <a:r>
              <a:rPr lang="en-US" dirty="0"/>
              <a:t>    tables:</a:t>
            </a:r>
            <a:br>
              <a:rPr lang="en-US" dirty="0"/>
            </a:br>
            <a:r>
              <a:rPr lang="en-US" dirty="0"/>
              <a:t>      - name: </a:t>
            </a:r>
            <a:r>
              <a:rPr lang="en-US" dirty="0" err="1"/>
              <a:t>customers_raw</a:t>
            </a:r>
            <a:endParaRPr lang="en-US" dirty="0"/>
          </a:p>
          <a:p>
            <a:r>
              <a:rPr lang="en-US" dirty="0"/>
              <a:t>⚠ Replace:</a:t>
            </a:r>
          </a:p>
          <a:p>
            <a:r>
              <a:rPr lang="en-US" dirty="0" err="1"/>
              <a:t>your_catalog_name</a:t>
            </a:r>
            <a:endParaRPr lang="en-US" dirty="0"/>
          </a:p>
          <a:p>
            <a:r>
              <a:rPr lang="en-US" dirty="0" err="1"/>
              <a:t>bronze_schema</a:t>
            </a:r>
            <a:endParaRPr lang="en-US" dirty="0"/>
          </a:p>
          <a:p>
            <a:r>
              <a:rPr lang="en-US" dirty="0"/>
              <a:t>With your Databricks Unity Catalog values.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57278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6FBBDE-0F75-6EF9-C727-F3D857364A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✅ STEP 4: Run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363D65-D73D-0962-2943-5BCC299CCE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bottom command bar type:</a:t>
            </a:r>
          </a:p>
          <a:p>
            <a:r>
              <a:rPr lang="en-US" dirty="0" err="1"/>
              <a:t>dbt</a:t>
            </a:r>
            <a:r>
              <a:rPr lang="en-US" dirty="0"/>
              <a:t> run</a:t>
            </a:r>
          </a:p>
          <a:p>
            <a:r>
              <a:rPr lang="en-US" dirty="0"/>
              <a:t>Or only that model:</a:t>
            </a:r>
          </a:p>
          <a:p>
            <a:r>
              <a:rPr lang="en-US" dirty="0" err="1"/>
              <a:t>dbt</a:t>
            </a:r>
            <a:r>
              <a:rPr lang="en-US" dirty="0"/>
              <a:t> run --select customers</a:t>
            </a:r>
          </a:p>
          <a:p>
            <a:r>
              <a:rPr lang="en-US" dirty="0"/>
              <a:t>If successful:</a:t>
            </a:r>
          </a:p>
          <a:p>
            <a:r>
              <a:rPr lang="en-US" dirty="0"/>
              <a:t>✔ Table/View created in Databricks</a:t>
            </a:r>
          </a:p>
          <a:p>
            <a:r>
              <a:rPr lang="en-US" dirty="0"/>
              <a:t>Go to:</a:t>
            </a:r>
          </a:p>
          <a:p>
            <a:r>
              <a:rPr lang="en-US" dirty="0"/>
              <a:t>👉 Databricks → Catalog → Check table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71054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2582B3-48DE-6F37-C039-BB6EDF5FB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Transformations You Can Do in </a:t>
            </a:r>
            <a:r>
              <a:rPr lang="en-US" dirty="0" err="1"/>
              <a:t>dbt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3E8A49-7DAA-46C9-8E48-BD37FF5D83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1️⃣ Basic Cleaning (Silver Layer)</a:t>
            </a:r>
          </a:p>
          <a:p>
            <a:r>
              <a:rPr lang="en-US" dirty="0"/>
              <a:t>select</a:t>
            </a:r>
            <a:br>
              <a:rPr lang="en-US" dirty="0"/>
            </a:br>
            <a:r>
              <a:rPr lang="en-US" dirty="0"/>
              <a:t>    id,</a:t>
            </a:r>
            <a:br>
              <a:rPr lang="en-US" dirty="0"/>
            </a:br>
            <a:r>
              <a:rPr lang="en-US" dirty="0"/>
              <a:t>    trim(name) as name,</a:t>
            </a:r>
            <a:br>
              <a:rPr lang="en-US" dirty="0"/>
            </a:br>
            <a:r>
              <a:rPr lang="en-US" dirty="0"/>
              <a:t>    cast(amount as double) as amount</a:t>
            </a:r>
            <a:br>
              <a:rPr lang="en-US" dirty="0"/>
            </a:br>
            <a:r>
              <a:rPr lang="en-US" dirty="0"/>
              <a:t>from {{ ref('</a:t>
            </a:r>
            <a:r>
              <a:rPr lang="en-US" dirty="0" err="1"/>
              <a:t>raw_orders</a:t>
            </a:r>
            <a:r>
              <a:rPr lang="en-US" dirty="0"/>
              <a:t>') }}</a:t>
            </a:r>
            <a:br>
              <a:rPr lang="en-US" dirty="0"/>
            </a:br>
            <a:r>
              <a:rPr lang="en-US" dirty="0"/>
              <a:t>where amount is not null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29164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2B4FB3-74C6-8131-5A7B-D645B9C079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D50C1C-5227-2159-E239-CC914E0D16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2️⃣ Joins</a:t>
            </a:r>
          </a:p>
          <a:p>
            <a:r>
              <a:rPr lang="en-US" dirty="0"/>
              <a:t>select</a:t>
            </a:r>
            <a:br>
              <a:rPr lang="en-US" dirty="0"/>
            </a:br>
            <a:r>
              <a:rPr lang="en-US" dirty="0"/>
              <a:t>    </a:t>
            </a:r>
            <a:r>
              <a:rPr lang="en-US" dirty="0" err="1"/>
              <a:t>o.order_id</a:t>
            </a:r>
            <a:r>
              <a:rPr lang="en-US" dirty="0"/>
              <a:t>,</a:t>
            </a:r>
            <a:br>
              <a:rPr lang="en-US" dirty="0"/>
            </a:br>
            <a:r>
              <a:rPr lang="en-US" dirty="0"/>
              <a:t>    </a:t>
            </a:r>
            <a:r>
              <a:rPr lang="en-US" dirty="0" err="1"/>
              <a:t>c.customer_name</a:t>
            </a:r>
            <a:r>
              <a:rPr lang="en-US" dirty="0"/>
              <a:t>,</a:t>
            </a:r>
            <a:br>
              <a:rPr lang="en-US" dirty="0"/>
            </a:br>
            <a:r>
              <a:rPr lang="en-US" dirty="0"/>
              <a:t>    </a:t>
            </a:r>
            <a:r>
              <a:rPr lang="en-US" dirty="0" err="1"/>
              <a:t>o.amount</a:t>
            </a:r>
            <a:br>
              <a:rPr lang="en-US" dirty="0"/>
            </a:br>
            <a:r>
              <a:rPr lang="en-US" dirty="0"/>
              <a:t>from {{ ref('orders') }} o</a:t>
            </a:r>
            <a:br>
              <a:rPr lang="en-US" dirty="0"/>
            </a:br>
            <a:r>
              <a:rPr lang="en-US" dirty="0"/>
              <a:t>left join {{ ref('customers') }} c</a:t>
            </a:r>
            <a:br>
              <a:rPr lang="en-US" dirty="0"/>
            </a:br>
            <a:r>
              <a:rPr lang="en-US" dirty="0"/>
              <a:t>    on </a:t>
            </a:r>
            <a:r>
              <a:rPr lang="en-US" dirty="0" err="1"/>
              <a:t>o.customer_id</a:t>
            </a:r>
            <a:r>
              <a:rPr lang="en-US" dirty="0"/>
              <a:t> = </a:t>
            </a:r>
            <a:r>
              <a:rPr lang="en-US" dirty="0" err="1"/>
              <a:t>c.customer_id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6895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C7A711-97B2-DF31-A7A6-05668B6F9F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938FE2-782B-E6AD-6385-14D0070D52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3️⃣ Aggregations (Gold Layer)</a:t>
            </a:r>
          </a:p>
          <a:p>
            <a:endParaRPr lang="en-US" dirty="0"/>
          </a:p>
          <a:p>
            <a:r>
              <a:rPr lang="en-US" dirty="0"/>
              <a:t>select</a:t>
            </a:r>
          </a:p>
          <a:p>
            <a:r>
              <a:rPr lang="en-US" dirty="0"/>
              <a:t>    </a:t>
            </a:r>
            <a:r>
              <a:rPr lang="en-US" dirty="0" err="1"/>
              <a:t>customer_id</a:t>
            </a:r>
            <a:r>
              <a:rPr lang="en-US" dirty="0"/>
              <a:t>,</a:t>
            </a:r>
          </a:p>
          <a:p>
            <a:r>
              <a:rPr lang="en-US" dirty="0"/>
              <a:t>    sum(amount) as </a:t>
            </a:r>
            <a:r>
              <a:rPr lang="en-US" dirty="0" err="1"/>
              <a:t>total_spent</a:t>
            </a:r>
            <a:r>
              <a:rPr lang="en-US" dirty="0"/>
              <a:t>,</a:t>
            </a:r>
          </a:p>
          <a:p>
            <a:r>
              <a:rPr lang="en-US" dirty="0"/>
              <a:t>    count(</a:t>
            </a:r>
            <a:r>
              <a:rPr lang="en-US" dirty="0" err="1"/>
              <a:t>order_id</a:t>
            </a:r>
            <a:r>
              <a:rPr lang="en-US" dirty="0"/>
              <a:t>) as </a:t>
            </a:r>
            <a:r>
              <a:rPr lang="en-US" dirty="0" err="1"/>
              <a:t>total_orders</a:t>
            </a:r>
            <a:endParaRPr lang="en-US" dirty="0"/>
          </a:p>
          <a:p>
            <a:r>
              <a:rPr lang="en-US" dirty="0"/>
              <a:t>from {{ ref('</a:t>
            </a:r>
            <a:r>
              <a:rPr lang="en-US" dirty="0" err="1"/>
              <a:t>orders_clean</a:t>
            </a:r>
            <a:r>
              <a:rPr lang="en-US" dirty="0"/>
              <a:t>') }}</a:t>
            </a:r>
          </a:p>
          <a:p>
            <a:r>
              <a:rPr lang="en-US" dirty="0"/>
              <a:t>group by </a:t>
            </a:r>
            <a:r>
              <a:rPr lang="en-US" dirty="0" err="1"/>
              <a:t>customer_id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25727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4E978A-C80D-6E4A-2B8C-A5AFAB734E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4️⃣ Incremental Models (Very Important in Databricks)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799B87-D81C-B850-A7FD-31F3E5A5E9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In model file:</a:t>
            </a:r>
          </a:p>
          <a:p>
            <a:r>
              <a:rPr lang="en-US" dirty="0"/>
              <a:t>{{ config(</a:t>
            </a:r>
            <a:br>
              <a:rPr lang="en-US" dirty="0"/>
            </a:br>
            <a:r>
              <a:rPr lang="en-US" dirty="0"/>
              <a:t>    materialized='incremental',</a:t>
            </a:r>
            <a:br>
              <a:rPr lang="en-US" dirty="0"/>
            </a:br>
            <a:r>
              <a:rPr lang="en-US" dirty="0"/>
              <a:t>    </a:t>
            </a:r>
            <a:r>
              <a:rPr lang="en-US" dirty="0" err="1"/>
              <a:t>unique_key</a:t>
            </a:r>
            <a:r>
              <a:rPr lang="en-US" dirty="0"/>
              <a:t>='</a:t>
            </a:r>
            <a:r>
              <a:rPr lang="en-US" dirty="0" err="1"/>
              <a:t>order_id</a:t>
            </a:r>
            <a:r>
              <a:rPr lang="en-US" dirty="0"/>
              <a:t>'</a:t>
            </a:r>
            <a:br>
              <a:rPr lang="en-US" dirty="0"/>
            </a:br>
            <a:r>
              <a:rPr lang="en-US" dirty="0"/>
              <a:t>) }}</a:t>
            </a:r>
            <a:br>
              <a:rPr lang="en-US" dirty="0"/>
            </a:br>
            <a:br>
              <a:rPr lang="en-US" dirty="0"/>
            </a:br>
            <a:r>
              <a:rPr lang="en-US" dirty="0"/>
              <a:t>select *</a:t>
            </a:r>
            <a:br>
              <a:rPr lang="en-US" dirty="0"/>
            </a:br>
            <a:r>
              <a:rPr lang="en-US" dirty="0"/>
              <a:t>from {{ source('bronze', '</a:t>
            </a:r>
            <a:r>
              <a:rPr lang="en-US" dirty="0" err="1"/>
              <a:t>orders_raw</a:t>
            </a:r>
            <a:r>
              <a:rPr lang="en-US" dirty="0"/>
              <a:t>') }}</a:t>
            </a:r>
            <a:br>
              <a:rPr lang="en-US" dirty="0"/>
            </a:br>
            <a:br>
              <a:rPr lang="en-US" dirty="0"/>
            </a:br>
            <a:r>
              <a:rPr lang="en-US" dirty="0"/>
              <a:t>{% if </a:t>
            </a:r>
            <a:r>
              <a:rPr lang="en-US" dirty="0" err="1"/>
              <a:t>is_incremental</a:t>
            </a:r>
            <a:r>
              <a:rPr lang="en-US" dirty="0"/>
              <a:t>() %}</a:t>
            </a:r>
            <a:br>
              <a:rPr lang="en-US" dirty="0"/>
            </a:br>
            <a:r>
              <a:rPr lang="en-US" dirty="0"/>
              <a:t>where </a:t>
            </a:r>
            <a:r>
              <a:rPr lang="en-US" dirty="0" err="1"/>
              <a:t>updated_at</a:t>
            </a:r>
            <a:r>
              <a:rPr lang="en-US" dirty="0"/>
              <a:t> &gt; (select max(</a:t>
            </a:r>
            <a:r>
              <a:rPr lang="en-US" dirty="0" err="1"/>
              <a:t>updated_at</a:t>
            </a:r>
            <a:r>
              <a:rPr lang="en-US" dirty="0"/>
              <a:t>) from {{ this }})</a:t>
            </a:r>
            <a:br>
              <a:rPr lang="en-US" dirty="0"/>
            </a:br>
            <a:r>
              <a:rPr lang="en-US" dirty="0"/>
              <a:t>{% endif %}</a:t>
            </a:r>
          </a:p>
          <a:p>
            <a:r>
              <a:rPr lang="en-US" dirty="0"/>
              <a:t>This avoids full reload every time.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77574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8E5232-8BC8-5D1A-4E3E-BCE601497B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🔷 Materializations (Important)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D64524-D455-7EEF-04F1-7288D8E2E0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</a:t>
            </a:r>
            <a:r>
              <a:rPr lang="en-US" dirty="0" err="1"/>
              <a:t>dbt</a:t>
            </a:r>
            <a:r>
              <a:rPr lang="en-US" dirty="0"/>
              <a:t> + Databricks you can choose:</a:t>
            </a:r>
          </a:p>
          <a:p>
            <a:r>
              <a:rPr lang="en-US" dirty="0"/>
              <a:t>{{ config(materialized='table') }}</a:t>
            </a:r>
            <a:br>
              <a:rPr lang="en-US" dirty="0"/>
            </a:br>
            <a:r>
              <a:rPr lang="en-US" dirty="0"/>
              <a:t>{{ config(materialized='view') }}</a:t>
            </a:r>
            <a:br>
              <a:rPr lang="en-US" dirty="0"/>
            </a:br>
            <a:r>
              <a:rPr lang="en-US" dirty="0"/>
              <a:t>{{ config(materialized='incremental') }}</a:t>
            </a:r>
          </a:p>
          <a:p>
            <a:r>
              <a:rPr lang="en-US" dirty="0"/>
              <a:t>Default is view.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242450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48130B-26C1-E9A8-9AC3-969110366E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🔷 Production Structure (Recommended)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240E91-7A51-BC60-2421-E83162D0FC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models/</a:t>
            </a:r>
          </a:p>
          <a:p>
            <a:r>
              <a:rPr lang="en-US" dirty="0"/>
              <a:t> ├── bronze/</a:t>
            </a:r>
          </a:p>
          <a:p>
            <a:r>
              <a:rPr lang="en-US" dirty="0"/>
              <a:t> ├── silver/</a:t>
            </a:r>
          </a:p>
          <a:p>
            <a:r>
              <a:rPr lang="en-US" dirty="0"/>
              <a:t> ├── gold/</a:t>
            </a:r>
          </a:p>
          <a:p>
            <a:endParaRPr lang="en-US" dirty="0"/>
          </a:p>
          <a:p>
            <a:r>
              <a:rPr lang="en-US" dirty="0"/>
              <a:t>Example:</a:t>
            </a:r>
          </a:p>
          <a:p>
            <a:r>
              <a:rPr lang="en-US" dirty="0"/>
              <a:t>bronze → raw reference models</a:t>
            </a:r>
          </a:p>
          <a:p>
            <a:r>
              <a:rPr lang="en-US" dirty="0"/>
              <a:t>silver → cleaned joins</a:t>
            </a:r>
          </a:p>
          <a:p>
            <a:r>
              <a:rPr lang="en-US" dirty="0"/>
              <a:t>gold → aggregated reporting tables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395633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8F8363-7DEB-DE4C-BD70-C8AF7C6A86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5B16F7-229B-E5DF-13C4-CEABFC46E9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🔷 After Running Models</a:t>
            </a:r>
          </a:p>
          <a:p>
            <a:r>
              <a:rPr lang="en-US" dirty="0"/>
              <a:t>In Databricks you can:</a:t>
            </a:r>
          </a:p>
          <a:p>
            <a:r>
              <a:rPr lang="en-US" dirty="0"/>
              <a:t>SELECT * FROM </a:t>
            </a:r>
            <a:r>
              <a:rPr lang="en-US" dirty="0" err="1"/>
              <a:t>catalog.schema.customers</a:t>
            </a:r>
            <a:r>
              <a:rPr lang="en-US" dirty="0"/>
              <a:t>;</a:t>
            </a:r>
          </a:p>
          <a:p>
            <a:r>
              <a:rPr lang="en-US" dirty="0"/>
              <a:t>You will see transformed data.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084950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8005E0BD-805E-8A96-E79C-DEF601FD301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Load raw data to Databricks (Delta table)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Define source in dbt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Create transformation SQL model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Run 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dbt run</a:t>
            </a:r>
            <a:endParaRPr kumimoji="0" lang="en-US" altLang="en-US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Validate in Databricks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Add tests (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dbt test</a:t>
            </a:r>
            <a:r>
              <a:rPr kumimoji="0" lang="en-US" altLang="en-US" sz="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Schedule job in dbt Cloud</a:t>
            </a:r>
          </a:p>
        </p:txBody>
      </p:sp>
    </p:spTree>
    <p:extLst>
      <p:ext uri="{BB962C8B-B14F-4D97-AF65-F5344CB8AC3E}">
        <p14:creationId xmlns:p14="http://schemas.microsoft.com/office/powerpoint/2010/main" val="243070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819</TotalTime>
  <Words>668</Words>
  <Application>Microsoft Office PowerPoint</Application>
  <PresentationFormat>Widescreen</PresentationFormat>
  <Paragraphs>82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Aptos</vt:lpstr>
      <vt:lpstr>Aptos Display</vt:lpstr>
      <vt:lpstr>Arial</vt:lpstr>
      <vt:lpstr>Arial Unicode MS</vt:lpstr>
      <vt:lpstr>Office Theme</vt:lpstr>
      <vt:lpstr>DBT-DATABRICKS</vt:lpstr>
      <vt:lpstr>PowerPoint Presentation</vt:lpstr>
      <vt:lpstr>PowerPoint Presentation</vt:lpstr>
      <vt:lpstr>PowerPoint Presentation</vt:lpstr>
      <vt:lpstr>PowerPoint Presentation</vt:lpstr>
      <vt:lpstr>Start  server warehouse and add catalog with schema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dbt + Databricks</vt:lpstr>
      <vt:lpstr>STEP 1: Check Databricks Connection</vt:lpstr>
      <vt:lpstr>✅ STEP 2: Create Your First Model</vt:lpstr>
      <vt:lpstr>✅ STEP 3: Define Source (Very Important)</vt:lpstr>
      <vt:lpstr>✅ STEP 4: Run Model</vt:lpstr>
      <vt:lpstr>Types of Transformations You Can Do in dbt</vt:lpstr>
      <vt:lpstr>PowerPoint Presentation</vt:lpstr>
      <vt:lpstr>PowerPoint Presentation</vt:lpstr>
      <vt:lpstr>4️⃣ Incremental Models (Very Important in Databricks)</vt:lpstr>
      <vt:lpstr>🔷 Materializations (Important)</vt:lpstr>
      <vt:lpstr>🔷 Production Structure (Recommended)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Rajesh Kumar Devabhaktuni</dc:creator>
  <cp:lastModifiedBy>Rajesh Kumar Devabhaktuni</cp:lastModifiedBy>
  <cp:revision>2</cp:revision>
  <dcterms:created xsi:type="dcterms:W3CDTF">2026-03-02T17:51:16Z</dcterms:created>
  <dcterms:modified xsi:type="dcterms:W3CDTF">2026-03-06T05:53:30Z</dcterms:modified>
</cp:coreProperties>
</file>