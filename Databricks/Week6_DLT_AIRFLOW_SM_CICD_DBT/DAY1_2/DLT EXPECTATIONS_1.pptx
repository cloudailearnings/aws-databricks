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D3D7-16F5-0807-6279-0DC544B0E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63D40-CF9D-51A8-E84F-51E766FA9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F1817-6964-0FA6-7534-8933FE8E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2A838-FD76-47A4-973F-EA341954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72DDE-44CA-656E-8EA9-37597BF8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9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DFF4-33F8-84A0-1F87-0A31E5FDF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00B0-E44F-921F-A9D2-FDC3A971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CD54-EC87-9D5D-A18D-519E6BBC7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DDC43-5E63-F73C-7EC5-3C0AFF89E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3574-F5D1-FB21-F0A6-FF749793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49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E7B75-2071-D8F8-07DB-6ED810CB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63289-4391-6B12-F877-751C66A2E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8E88C-1E56-2D76-A185-2C67C7B5F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94641-8D86-DAD6-F159-1CE1614A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D5EAF-40D3-976A-C76A-6C8C690B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5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8B05-F8AF-BE33-6A07-32C25E22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EACE1-BA5C-C1C2-1625-2517EDFC9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0BF3C-A1D6-0781-281D-748F16AB4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928DB-0347-3C30-5039-06ED66C5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757D6-36AE-3BB2-5A68-3EF3EDCD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CA761-14BE-909E-DB80-2DF33CE6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6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0F6D-A6C2-A6D3-462E-982BDD1B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B1F11-35E3-13F8-EDFA-8C68AD25E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977A4-24DB-B14B-9B70-731C76686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20EB0B-B22D-90B8-B0B6-C97612CB5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46E858-47AF-2E0A-1DBE-E61FBAC47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BBC0EA-18D4-557C-4850-BA3E9CBC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0ADD98-FD29-7D1C-EB56-FB289355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9D3BA-43F9-D5B6-02EC-7A45C71C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8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8804-5EA9-3EDD-78C8-9171597D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3094E-5AC9-201A-5E51-35A23B30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895F4-17C1-6C1B-33BF-40F397EA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50A89-82BC-7662-B526-7F0E266A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32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53522-DC5F-1C20-3B9A-00AD2A41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B26E12-DD4A-B0C8-C090-B4E88B7D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800ED-FC3A-207B-EE7D-00952EDE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0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9778-DAC6-583A-4759-A0C56CAB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0E695-3A85-B372-2765-1399E468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28D5E-3DA8-8DC0-E134-A81EFC0F2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001E-1EE8-87C5-5BED-6800949C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78D54-C887-EE09-7075-70C202C8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0780E-BA31-8CFF-DCBD-363C61F1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6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EC63-6E3B-5D95-07CE-B9D00C96D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F15F7D-9CF8-4413-D81E-411FF0E4F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95C79-56B3-BE28-4389-D6A89E3D8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286D4-7AC6-62A5-1453-8A9D7F16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60F50-B639-77C6-1FBA-4FF8B7B05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798ED-7D02-4460-E6A6-E96BE2B6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6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926C-F8F0-E2E1-F4E6-2E9E5469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F04D0-0B92-BE58-035A-E0FEF1086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D4D3B-7F6A-EA89-14DC-95023373B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5C444-EFB1-80E5-086C-9EE00A546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45DE9-4038-F971-F343-46481FA2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28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C2C3F8-8776-94A0-96E2-4AD4DFEF4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C8DDA-D6C2-3E10-6738-CB2908CAA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F8031-5E6A-8D99-2476-5757C5FE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1E4AA-958B-8F82-13A9-0006316EA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ABC2A-4DFE-E5A8-45C1-9E2BDAFE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7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B394CA-BE28-65DB-CCAB-4F170DB9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64F37-9278-A534-BDA0-A5AB6770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1708-99B9-797F-CC3D-8907D319F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BB639-3CF4-49A9-8080-1093B9D503F1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BD26C-392C-2364-EFEA-F1AD5079F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FAFA1-7439-7959-EEEE-DB14AB647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A3752-7713-4B7F-A3AA-3CF04342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9D985-B8FC-5055-4A90-35967E7E5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DLT EXPECTATIONS_1</a:t>
            </a:r>
          </a:p>
        </p:txBody>
      </p:sp>
    </p:spTree>
    <p:extLst>
      <p:ext uri="{BB962C8B-B14F-4D97-AF65-F5344CB8AC3E}">
        <p14:creationId xmlns:p14="http://schemas.microsoft.com/office/powerpoint/2010/main" val="2396960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4BB078C7-19ED-7FD5-6448-10629B7075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1671" y="902795"/>
            <a:ext cx="91486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Bronze ingestion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Silver cleansing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Gold business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12 Data Quality Expectations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Deduplication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Enterprise-level comments</a:t>
            </a:r>
          </a:p>
        </p:txBody>
      </p:sp>
    </p:spTree>
    <p:extLst>
      <p:ext uri="{BB962C8B-B14F-4D97-AF65-F5344CB8AC3E}">
        <p14:creationId xmlns:p14="http://schemas.microsoft.com/office/powerpoint/2010/main" val="235423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04DA5-0271-F88F-30F3-627EE6C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A7B9-EBF5-CDB1-D053-150271739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Architecture</a:t>
            </a:r>
          </a:p>
          <a:p>
            <a:r>
              <a:rPr lang="en-US" dirty="0"/>
              <a:t>S3 → Bronze → Silver → Gold</a:t>
            </a:r>
            <a:br>
              <a:rPr lang="en-US" dirty="0"/>
            </a:br>
            <a:r>
              <a:rPr lang="en-US" dirty="0"/>
              <a:t>Using </a:t>
            </a:r>
            <a:r>
              <a:rPr lang="en-US" b="1" dirty="0"/>
              <a:t>Auto Loader + DLT Expectations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21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0B34F-08ED-5336-08BA-A078532B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798174"/>
          </a:xfrm>
        </p:spPr>
        <p:txBody>
          <a:bodyPr/>
          <a:lstStyle/>
          <a:p>
            <a:r>
              <a:rPr lang="en-US" dirty="0"/>
              <a:t>🥉 1️⃣ Bronze Layer – Raw Ingestion + Basic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BFE86-F54D-E9C5-D36F-1BD2DB0AA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172482"/>
            <a:ext cx="10515600" cy="566726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CREATE STREAMING TABLE </a:t>
            </a:r>
            <a:r>
              <a:rPr lang="en-US" dirty="0" err="1"/>
              <a:t>bronze_customers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CONSTRAINT </a:t>
            </a:r>
            <a:r>
              <a:rPr lang="en-US" dirty="0" err="1"/>
              <a:t>valid_customer_id</a:t>
            </a:r>
            <a:r>
              <a:rPr lang="en-US" dirty="0"/>
              <a:t> EXPECT (</a:t>
            </a:r>
            <a:r>
              <a:rPr lang="en-US" dirty="0" err="1"/>
              <a:t>customer_id</a:t>
            </a:r>
            <a:r>
              <a:rPr lang="en-US" dirty="0"/>
              <a:t> IS NOT NULL),</a:t>
            </a:r>
          </a:p>
          <a:p>
            <a:pPr marL="0" indent="0">
              <a:buNone/>
            </a:pPr>
            <a:r>
              <a:rPr lang="en-US" dirty="0"/>
              <a:t>  CONSTRAINT </a:t>
            </a:r>
            <a:r>
              <a:rPr lang="en-US" dirty="0" err="1"/>
              <a:t>valid_updated_at</a:t>
            </a:r>
            <a:r>
              <a:rPr lang="en-US" dirty="0"/>
              <a:t> EXPECT (</a:t>
            </a:r>
            <a:r>
              <a:rPr lang="en-US" dirty="0" err="1"/>
              <a:t>updated_at</a:t>
            </a:r>
            <a:r>
              <a:rPr lang="en-US" dirty="0"/>
              <a:t> IS NOT NULL),</a:t>
            </a:r>
          </a:p>
          <a:p>
            <a:pPr marL="0" indent="0">
              <a:buNone/>
            </a:pPr>
            <a:r>
              <a:rPr lang="en-US" dirty="0"/>
              <a:t>  CONSTRAINT </a:t>
            </a:r>
            <a:r>
              <a:rPr lang="en-US" dirty="0" err="1"/>
              <a:t>valid_schema</a:t>
            </a:r>
            <a:r>
              <a:rPr lang="en-US" dirty="0"/>
              <a:t> EXPECT (email IS NOT NULL)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AS</a:t>
            </a:r>
          </a:p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cloud_files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's3://glue1235/’, </a:t>
            </a:r>
          </a:p>
          <a:p>
            <a:pPr marL="0" indent="0">
              <a:buNone/>
            </a:pPr>
            <a:r>
              <a:rPr lang="en-US" dirty="0"/>
              <a:t>  'csv',</a:t>
            </a:r>
          </a:p>
          <a:p>
            <a:pPr marL="0" indent="0">
              <a:buNone/>
            </a:pPr>
            <a:r>
              <a:rPr lang="en-US" dirty="0"/>
              <a:t>  map(</a:t>
            </a:r>
          </a:p>
          <a:p>
            <a:pPr marL="0" indent="0">
              <a:buNone/>
            </a:pPr>
            <a:r>
              <a:rPr lang="en-US" dirty="0"/>
              <a:t>    '</a:t>
            </a:r>
            <a:r>
              <a:rPr lang="en-US" dirty="0" err="1"/>
              <a:t>header','true</a:t>
            </a:r>
            <a:r>
              <a:rPr lang="en-US" dirty="0"/>
              <a:t>',</a:t>
            </a:r>
          </a:p>
          <a:p>
            <a:pPr marL="0" indent="0">
              <a:buNone/>
            </a:pPr>
            <a:r>
              <a:rPr lang="en-US" dirty="0"/>
              <a:t>    '</a:t>
            </a:r>
            <a:r>
              <a:rPr lang="en-US" dirty="0" err="1"/>
              <a:t>inferSchema</a:t>
            </a:r>
            <a:r>
              <a:rPr lang="en-US" dirty="0"/>
              <a:t>','true',</a:t>
            </a:r>
          </a:p>
          <a:p>
            <a:pPr marL="0" indent="0">
              <a:buNone/>
            </a:pPr>
            <a:r>
              <a:rPr lang="en-US" dirty="0"/>
              <a:t>    'cloudFiles.schemaLocation','s3://glue1235/'</a:t>
            </a:r>
          </a:p>
          <a:p>
            <a:pPr marL="0" indent="0">
              <a:buNone/>
            </a:pPr>
            <a:r>
              <a:rPr lang="en-US" dirty="0"/>
              <a:t>  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4F5EB-5742-AC33-94CF-477F4913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657" y="3155011"/>
            <a:ext cx="1943200" cy="124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9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00E8-AAA4-3233-1849-F6EE86A66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04914" cy="482488"/>
          </a:xfrm>
        </p:spPr>
        <p:txBody>
          <a:bodyPr>
            <a:normAutofit fontScale="90000"/>
          </a:bodyPr>
          <a:lstStyle/>
          <a:p>
            <a:r>
              <a:rPr lang="en-US" dirty="0"/>
              <a:t>🥈 2️⃣ Silver Layer – Cleansing + Strong Data 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C5BE-40FC-9522-50D7-B32D734FA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856796"/>
            <a:ext cx="10515600" cy="600120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CREATE MATERIALIZED VIEW </a:t>
            </a:r>
            <a:r>
              <a:rPr lang="en-US" b="1" dirty="0" err="1">
                <a:solidFill>
                  <a:srgbClr val="FF0000"/>
                </a:solidFill>
              </a:rPr>
              <a:t>silver_customers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not_null_customer_id</a:t>
            </a:r>
            <a:r>
              <a:rPr lang="en-US" b="1" dirty="0">
                <a:solidFill>
                  <a:srgbClr val="FF0000"/>
                </a:solidFill>
              </a:rPr>
              <a:t> EXPECT OR DROP (</a:t>
            </a:r>
            <a:r>
              <a:rPr lang="en-US" b="1" dirty="0" err="1">
                <a:solidFill>
                  <a:srgbClr val="FF0000"/>
                </a:solidFill>
              </a:rPr>
              <a:t>customer_id</a:t>
            </a:r>
            <a:r>
              <a:rPr lang="en-US" b="1" dirty="0">
                <a:solidFill>
                  <a:srgbClr val="FF0000"/>
                </a:solidFill>
              </a:rPr>
              <a:t> IS NOT NULL),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valid_email_format</a:t>
            </a:r>
            <a:r>
              <a:rPr lang="en-US" b="1" dirty="0">
                <a:solidFill>
                  <a:srgbClr val="FF0000"/>
                </a:solidFill>
              </a:rPr>
              <a:t> EXPECT OR DROP (email RLIKE '^[A-Za-z0-9+_.-]+@(.+)$'),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valid_phone</a:t>
            </a:r>
            <a:r>
              <a:rPr lang="en-US" b="1" dirty="0">
                <a:solidFill>
                  <a:srgbClr val="FF0000"/>
                </a:solidFill>
              </a:rPr>
              <a:t> EXPECT (length(phone) &gt;= 10),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valid_signup_date</a:t>
            </a:r>
            <a:r>
              <a:rPr lang="en-US" b="1" dirty="0">
                <a:solidFill>
                  <a:srgbClr val="FF0000"/>
                </a:solidFill>
              </a:rPr>
              <a:t> EXPECT OR DROP (</a:t>
            </a:r>
            <a:r>
              <a:rPr lang="en-US" b="1" dirty="0" err="1">
                <a:solidFill>
                  <a:srgbClr val="FF0000"/>
                </a:solidFill>
              </a:rPr>
              <a:t>signup_date</a:t>
            </a:r>
            <a:r>
              <a:rPr lang="en-US" b="1" dirty="0">
                <a:solidFill>
                  <a:srgbClr val="FF0000"/>
                </a:solidFill>
              </a:rPr>
              <a:t> IS NOT NULL),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no_future_signup</a:t>
            </a:r>
            <a:r>
              <a:rPr lang="en-US" b="1" dirty="0">
                <a:solidFill>
                  <a:srgbClr val="FF0000"/>
                </a:solidFill>
              </a:rPr>
              <a:t> EXPECT OR DROP (</a:t>
            </a:r>
            <a:r>
              <a:rPr lang="en-US" b="1" dirty="0" err="1">
                <a:solidFill>
                  <a:srgbClr val="FF0000"/>
                </a:solidFill>
              </a:rPr>
              <a:t>signup_date</a:t>
            </a:r>
            <a:r>
              <a:rPr lang="en-US" b="1" dirty="0">
                <a:solidFill>
                  <a:srgbClr val="FF0000"/>
                </a:solidFill>
              </a:rPr>
              <a:t> &lt;= </a:t>
            </a:r>
            <a:r>
              <a:rPr lang="en-US" b="1" dirty="0" err="1">
                <a:solidFill>
                  <a:srgbClr val="FF0000"/>
                </a:solidFill>
              </a:rPr>
              <a:t>current_date</a:t>
            </a:r>
            <a:r>
              <a:rPr lang="en-US" b="1" dirty="0">
                <a:solidFill>
                  <a:srgbClr val="FF0000"/>
                </a:solidFill>
              </a:rPr>
              <a:t>()),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valid_city</a:t>
            </a:r>
            <a:r>
              <a:rPr lang="en-US" b="1" dirty="0">
                <a:solidFill>
                  <a:srgbClr val="FF0000"/>
                </a:solidFill>
              </a:rPr>
              <a:t> EXPECT (city IS NOT NULL),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valid_updated_at</a:t>
            </a:r>
            <a:r>
              <a:rPr lang="en-US" b="1" dirty="0">
                <a:solidFill>
                  <a:srgbClr val="FF0000"/>
                </a:solidFill>
              </a:rPr>
              <a:t> EXPECT OR DROP (</a:t>
            </a:r>
            <a:r>
              <a:rPr lang="en-US" b="1" dirty="0" err="1">
                <a:solidFill>
                  <a:srgbClr val="FF0000"/>
                </a:solidFill>
              </a:rPr>
              <a:t>updated_at</a:t>
            </a:r>
            <a:r>
              <a:rPr lang="en-US" b="1" dirty="0">
                <a:solidFill>
                  <a:srgbClr val="FF0000"/>
                </a:solidFill>
              </a:rPr>
              <a:t> IS NOT NULL),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no_future_update</a:t>
            </a:r>
            <a:r>
              <a:rPr lang="en-US" b="1" dirty="0">
                <a:solidFill>
                  <a:srgbClr val="FF0000"/>
                </a:solidFill>
              </a:rPr>
              <a:t> EXPECT OR DROP (</a:t>
            </a:r>
            <a:r>
              <a:rPr lang="en-US" b="1" dirty="0" err="1">
                <a:solidFill>
                  <a:srgbClr val="FF0000"/>
                </a:solidFill>
              </a:rPr>
              <a:t>updated_at</a:t>
            </a:r>
            <a:r>
              <a:rPr lang="en-US" b="1" dirty="0">
                <a:solidFill>
                  <a:srgbClr val="FF0000"/>
                </a:solidFill>
              </a:rPr>
              <a:t> &lt;= </a:t>
            </a:r>
            <a:r>
              <a:rPr lang="en-US" b="1" dirty="0" err="1">
                <a:solidFill>
                  <a:srgbClr val="FF0000"/>
                </a:solidFill>
              </a:rPr>
              <a:t>current_timestamp</a:t>
            </a:r>
            <a:r>
              <a:rPr lang="en-US" b="1" dirty="0">
                <a:solidFill>
                  <a:srgbClr val="FF0000"/>
                </a:solidFill>
              </a:rPr>
              <a:t>()),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valid_status</a:t>
            </a:r>
            <a:r>
              <a:rPr lang="en-US" b="1" dirty="0">
                <a:solidFill>
                  <a:srgbClr val="FF0000"/>
                </a:solidFill>
              </a:rPr>
              <a:t> EXPECT OR DROP (status IN ('ACTIVE','INACTIVE')),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CONSTRAINT </a:t>
            </a:r>
            <a:r>
              <a:rPr lang="en-US" b="1" dirty="0" err="1">
                <a:solidFill>
                  <a:srgbClr val="FF0000"/>
                </a:solidFill>
              </a:rPr>
              <a:t>valid_age</a:t>
            </a:r>
            <a:r>
              <a:rPr lang="en-US" b="1" dirty="0">
                <a:solidFill>
                  <a:srgbClr val="FF0000"/>
                </a:solidFill>
              </a:rPr>
              <a:t> EXPECT (age BETWEEN 18 AND 100)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SELECT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CAST(</a:t>
            </a:r>
            <a:r>
              <a:rPr lang="en-US" b="1" dirty="0" err="1">
                <a:solidFill>
                  <a:srgbClr val="FF0000"/>
                </a:solidFill>
              </a:rPr>
              <a:t>customer_id</a:t>
            </a:r>
            <a:r>
              <a:rPr lang="en-US" b="1" dirty="0">
                <a:solidFill>
                  <a:srgbClr val="FF0000"/>
                </a:solidFill>
              </a:rPr>
              <a:t> AS INT)                    AS </a:t>
            </a:r>
            <a:r>
              <a:rPr lang="en-US" b="1" dirty="0" err="1">
                <a:solidFill>
                  <a:srgbClr val="FF0000"/>
                </a:solidFill>
              </a:rPr>
              <a:t>customer_id</a:t>
            </a:r>
            <a:r>
              <a:rPr lang="en-US" b="1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INITCAP(TRIM(</a:t>
            </a:r>
            <a:r>
              <a:rPr lang="en-US" b="1" dirty="0" err="1">
                <a:solidFill>
                  <a:srgbClr val="FF0000"/>
                </a:solidFill>
              </a:rPr>
              <a:t>first_name</a:t>
            </a:r>
            <a:r>
              <a:rPr lang="en-US" b="1" dirty="0">
                <a:solidFill>
                  <a:srgbClr val="FF0000"/>
                </a:solidFill>
              </a:rPr>
              <a:t>))                   AS </a:t>
            </a:r>
            <a:r>
              <a:rPr lang="en-US" b="1" dirty="0" err="1">
                <a:solidFill>
                  <a:srgbClr val="FF0000"/>
                </a:solidFill>
              </a:rPr>
              <a:t>first_name</a:t>
            </a:r>
            <a:r>
              <a:rPr lang="en-US" b="1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INITCAP(TRIM(</a:t>
            </a:r>
            <a:r>
              <a:rPr lang="en-US" b="1" dirty="0" err="1">
                <a:solidFill>
                  <a:srgbClr val="FF0000"/>
                </a:solidFill>
              </a:rPr>
              <a:t>last_name</a:t>
            </a:r>
            <a:r>
              <a:rPr lang="en-US" b="1" dirty="0">
                <a:solidFill>
                  <a:srgbClr val="FF0000"/>
                </a:solidFill>
              </a:rPr>
              <a:t>))                    AS </a:t>
            </a:r>
            <a:r>
              <a:rPr lang="en-US" b="1" dirty="0" err="1">
                <a:solidFill>
                  <a:srgbClr val="FF0000"/>
                </a:solidFill>
              </a:rPr>
              <a:t>last_name</a:t>
            </a:r>
            <a:r>
              <a:rPr lang="en-US" b="1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LOWER(TRIM(email))                          AS email,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REGEXP_REPLACE(phone, '[^0-9]', '')         AS phone,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INITCAP(TRIM(city))                         AS city,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TO_DATE(</a:t>
            </a:r>
            <a:r>
              <a:rPr lang="en-US" b="1" dirty="0" err="1">
                <a:solidFill>
                  <a:srgbClr val="FF0000"/>
                </a:solidFill>
              </a:rPr>
              <a:t>signup_date</a:t>
            </a:r>
            <a:r>
              <a:rPr lang="en-US" b="1" dirty="0">
                <a:solidFill>
                  <a:srgbClr val="FF0000"/>
                </a:solidFill>
              </a:rPr>
              <a:t>)                        AS </a:t>
            </a:r>
            <a:r>
              <a:rPr lang="en-US" b="1" dirty="0" err="1">
                <a:solidFill>
                  <a:srgbClr val="FF0000"/>
                </a:solidFill>
              </a:rPr>
              <a:t>signup_date</a:t>
            </a:r>
            <a:r>
              <a:rPr lang="en-US" b="1" dirty="0">
                <a:solidFill>
                  <a:srgbClr val="FF0000"/>
                </a:solidFill>
              </a:rPr>
              <a:t>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CAST(age AS INT)                            AS age,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UPPER(TRIM(status))                         AS status,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TO_TIMESTAMP(</a:t>
            </a:r>
            <a:r>
              <a:rPr lang="en-US" b="1" dirty="0" err="1">
                <a:solidFill>
                  <a:srgbClr val="FF0000"/>
                </a:solidFill>
              </a:rPr>
              <a:t>updated_at</a:t>
            </a:r>
            <a:r>
              <a:rPr lang="en-US" b="1" dirty="0">
                <a:solidFill>
                  <a:srgbClr val="FF0000"/>
                </a:solidFill>
              </a:rPr>
              <a:t>)                    AS </a:t>
            </a:r>
            <a:r>
              <a:rPr lang="en-US" b="1" dirty="0" err="1">
                <a:solidFill>
                  <a:srgbClr val="FF0000"/>
                </a:solidFill>
              </a:rPr>
              <a:t>updated_at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FROM </a:t>
            </a:r>
            <a:r>
              <a:rPr lang="en-US" b="1" dirty="0" err="1">
                <a:solidFill>
                  <a:srgbClr val="FF0000"/>
                </a:solidFill>
              </a:rPr>
              <a:t>bronze_customers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638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4877-0ECF-68EA-B7A4-A427B9EB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Deduplication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88104-42BB-486E-3143-CA900B1E1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86" y="845910"/>
            <a:ext cx="10515600" cy="59938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Add row-level dedupe: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MATERIALIZED VIEW </a:t>
            </a:r>
            <a:r>
              <a:rPr lang="en-US" dirty="0" err="1"/>
              <a:t>silver_customers_dedup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AS</a:t>
            </a:r>
          </a:p>
          <a:p>
            <a:pPr marL="0" indent="0">
              <a:buNone/>
            </a:pPr>
            <a:r>
              <a:rPr lang="en-US" dirty="0"/>
              <a:t>SELECT *</a:t>
            </a:r>
          </a:p>
          <a:p>
            <a:pPr marL="0" indent="0">
              <a:buNone/>
            </a:pPr>
            <a:r>
              <a:rPr lang="en-US" dirty="0"/>
              <a:t>FROM (</a:t>
            </a:r>
          </a:p>
          <a:p>
            <a:pPr marL="0" indent="0">
              <a:buNone/>
            </a:pPr>
            <a:r>
              <a:rPr lang="en-US" dirty="0"/>
              <a:t>    SELECT *,</a:t>
            </a:r>
          </a:p>
          <a:p>
            <a:pPr marL="0" indent="0">
              <a:buNone/>
            </a:pPr>
            <a:r>
              <a:rPr lang="en-US" dirty="0"/>
              <a:t>           ROW_NUMBER() OVER (</a:t>
            </a:r>
          </a:p>
          <a:p>
            <a:pPr marL="0" indent="0">
              <a:buNone/>
            </a:pPr>
            <a:r>
              <a:rPr lang="en-US" dirty="0"/>
              <a:t>               PARTITION BY </a:t>
            </a:r>
            <a:r>
              <a:rPr lang="en-US" dirty="0" err="1"/>
              <a:t>customer_id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ORDER BY </a:t>
            </a:r>
            <a:r>
              <a:rPr lang="en-US" dirty="0" err="1"/>
              <a:t>updated_at</a:t>
            </a:r>
            <a:r>
              <a:rPr lang="en-US" dirty="0"/>
              <a:t> DESC</a:t>
            </a:r>
          </a:p>
          <a:p>
            <a:pPr marL="0" indent="0">
              <a:buNone/>
            </a:pPr>
            <a:r>
              <a:rPr lang="en-US" dirty="0"/>
              <a:t>           ) AS </a:t>
            </a:r>
            <a:r>
              <a:rPr lang="en-US" dirty="0" err="1"/>
              <a:t>rn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FROM </a:t>
            </a:r>
            <a:r>
              <a:rPr lang="en-US" dirty="0" err="1"/>
              <a:t>silver_customers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rn</a:t>
            </a:r>
            <a:r>
              <a:rPr lang="en-US" dirty="0"/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277976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C78D-1AFB-47E3-DAFC-0208EA2F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19945"/>
          </a:xfrm>
        </p:spPr>
        <p:txBody>
          <a:bodyPr/>
          <a:lstStyle/>
          <a:p>
            <a:r>
              <a:rPr lang="en-US" dirty="0"/>
              <a:t>Quarantine Table (Enterprise Pattern)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90CE5-76DB-12E9-4B38-F25AA91EF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096282"/>
            <a:ext cx="10515600" cy="4351338"/>
          </a:xfrm>
        </p:spPr>
        <p:txBody>
          <a:bodyPr/>
          <a:lstStyle/>
          <a:p>
            <a:r>
              <a:rPr lang="en-US" dirty="0"/>
              <a:t>Capture invalid records separately: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CREATE MATERIALIZED VIEW </a:t>
            </a:r>
            <a:r>
              <a:rPr lang="en-US" dirty="0" err="1"/>
              <a:t>silver_customers_quarantine</a:t>
            </a:r>
            <a:br>
              <a:rPr lang="en-US" dirty="0"/>
            </a:br>
            <a:r>
              <a:rPr lang="en-US" dirty="0"/>
              <a:t>AS</a:t>
            </a:r>
            <a:br>
              <a:rPr lang="en-US" dirty="0"/>
            </a:br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bronze_customers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customer_id</a:t>
            </a:r>
            <a:r>
              <a:rPr lang="en-US" dirty="0"/>
              <a:t> IS NULL</a:t>
            </a:r>
            <a:br>
              <a:rPr lang="en-US" dirty="0"/>
            </a:br>
            <a:r>
              <a:rPr lang="en-US" dirty="0"/>
              <a:t>OR email NOT RLIKE '^[A-Za-z0-9+_.-]+@(.+)$'</a:t>
            </a:r>
            <a:br>
              <a:rPr lang="en-US" dirty="0"/>
            </a:br>
            <a:r>
              <a:rPr lang="en-US" dirty="0"/>
              <a:t>OR </a:t>
            </a:r>
            <a:r>
              <a:rPr lang="en-US" dirty="0" err="1"/>
              <a:t>signup_date</a:t>
            </a:r>
            <a:r>
              <a:rPr lang="en-US" dirty="0"/>
              <a:t> &gt; </a:t>
            </a:r>
            <a:r>
              <a:rPr lang="en-US" dirty="0" err="1"/>
              <a:t>current_date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OR </a:t>
            </a:r>
            <a:r>
              <a:rPr lang="en-US" dirty="0" err="1"/>
              <a:t>updated_at</a:t>
            </a:r>
            <a:r>
              <a:rPr lang="en-US" dirty="0"/>
              <a:t> &gt; </a:t>
            </a:r>
            <a:r>
              <a:rPr lang="en-US" dirty="0" err="1"/>
              <a:t>current_timestamp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06532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4F78-D2F1-8627-CDA9-D9189BFA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7057"/>
          </a:xfrm>
        </p:spPr>
        <p:txBody>
          <a:bodyPr/>
          <a:lstStyle/>
          <a:p>
            <a:r>
              <a:rPr lang="en-US" dirty="0"/>
              <a:t>🥇 4️⃣ Gold Layer – Business-Level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7633-7838-A8CA-405E-1A50CE633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947057"/>
            <a:ext cx="11821885" cy="600891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CREATE MATERIALIZED VIEW </a:t>
            </a:r>
            <a:r>
              <a:rPr lang="en-US" dirty="0" err="1"/>
              <a:t>gold_active_customers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CONSTRAINT </a:t>
            </a:r>
            <a:r>
              <a:rPr lang="en-US" dirty="0" err="1"/>
              <a:t>active_recently</a:t>
            </a:r>
            <a:r>
              <a:rPr lang="en-US" dirty="0"/>
              <a:t> EXPECT OR FAIL (    </a:t>
            </a:r>
            <a:r>
              <a:rPr lang="en-US" dirty="0" err="1"/>
              <a:t>updated_at</a:t>
            </a:r>
            <a:r>
              <a:rPr lang="en-US" dirty="0"/>
              <a:t> &gt;= </a:t>
            </a:r>
            <a:r>
              <a:rPr lang="en-US" dirty="0" err="1"/>
              <a:t>current_timestamp</a:t>
            </a:r>
            <a:r>
              <a:rPr lang="en-US" dirty="0"/>
              <a:t>() - INTERVAL 365 DAYS</a:t>
            </a:r>
          </a:p>
          <a:p>
            <a:pPr marL="0" indent="0">
              <a:buNone/>
            </a:pPr>
            <a:r>
              <a:rPr lang="en-US" dirty="0"/>
              <a:t>  ),</a:t>
            </a:r>
          </a:p>
          <a:p>
            <a:pPr marL="0" indent="0">
              <a:buNone/>
            </a:pPr>
            <a:r>
              <a:rPr lang="en-US" dirty="0"/>
              <a:t>  CONSTRAINT </a:t>
            </a:r>
            <a:r>
              <a:rPr lang="en-US" dirty="0" err="1"/>
              <a:t>only_active_customers</a:t>
            </a:r>
            <a:r>
              <a:rPr lang="en-US" dirty="0"/>
              <a:t> EXPECT OR DROP (</a:t>
            </a:r>
          </a:p>
          <a:p>
            <a:pPr marL="0" indent="0">
              <a:buNone/>
            </a:pPr>
            <a:r>
              <a:rPr lang="en-US" dirty="0"/>
              <a:t>    status = 'ACTIVE'</a:t>
            </a:r>
          </a:p>
          <a:p>
            <a:pPr marL="0" indent="0">
              <a:buNone/>
            </a:pPr>
            <a:r>
              <a:rPr lang="en-US" dirty="0"/>
              <a:t>  ) )</a:t>
            </a:r>
          </a:p>
          <a:p>
            <a:pPr marL="0" indent="0">
              <a:buNone/>
            </a:pPr>
            <a:r>
              <a:rPr lang="en-US" dirty="0"/>
              <a:t>AS</a:t>
            </a:r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first_name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last_name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email,</a:t>
            </a:r>
          </a:p>
          <a:p>
            <a:pPr marL="0" indent="0">
              <a:buNone/>
            </a:pPr>
            <a:r>
              <a:rPr lang="en-US" dirty="0"/>
              <a:t>    city,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signup_date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age,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updated_at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silver_customers_dedup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4897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877C8-FC4B-BF3C-2314-E9CBE532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Total Quality Rules Implemented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78D2C5-C9CE-18B3-3CD5-8356EC5E0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143258"/>
              </p:ext>
            </p:extLst>
          </p:nvPr>
        </p:nvGraphicFramePr>
        <p:xfrm>
          <a:off x="4766968" y="225116"/>
          <a:ext cx="6989273" cy="66328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64047">
                  <a:extLst>
                    <a:ext uri="{9D8B030D-6E8A-4147-A177-3AD203B41FA5}">
                      <a16:colId xmlns:a16="http://schemas.microsoft.com/office/drawing/2014/main" val="3117483978"/>
                    </a:ext>
                  </a:extLst>
                </a:gridCol>
                <a:gridCol w="4725226">
                  <a:extLst>
                    <a:ext uri="{9D8B030D-6E8A-4147-A177-3AD203B41FA5}">
                      <a16:colId xmlns:a16="http://schemas.microsoft.com/office/drawing/2014/main" val="2111136111"/>
                    </a:ext>
                  </a:extLst>
                </a:gridCol>
              </a:tblGrid>
              <a:tr h="5905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Rule #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181392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Not null customer_id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99376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Email format validation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726607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Phone length validation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05951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Signup date not null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90733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No future signup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803051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>
                          <a:solidFill>
                            <a:srgbClr val="FF0000"/>
                          </a:solidFill>
                        </a:rPr>
                        <a:t>City validation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801324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Updated_at not null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411352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No future update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853107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Status validation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777513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Age validation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005699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Active within last year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507045"/>
                  </a:ext>
                </a:extLst>
              </a:tr>
              <a:tr h="503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>
                          <a:solidFill>
                            <a:srgbClr val="FF0000"/>
                          </a:solidFill>
                        </a:rPr>
                        <a:t>12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cap="none" spc="0" dirty="0">
                          <a:solidFill>
                            <a:srgbClr val="FF0000"/>
                          </a:solidFill>
                        </a:rPr>
                        <a:t>Active status filter</a:t>
                      </a:r>
                    </a:p>
                  </a:txBody>
                  <a:tcPr marL="99958" marR="99958" marT="109228" marB="49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21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34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6C0A-F442-F042-4B6E-5D23B576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quality checks using DLT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0B1822-1916-9D94-0297-A5975BE8DE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832612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Bronze → Schema validation only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Silver → Strong cleansing + drop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Deduplication using window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Quarantine invalid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Gold → Business-critical rules with OR FAIL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quality metrics in DLT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audit logging</a:t>
            </a:r>
          </a:p>
        </p:txBody>
      </p:sp>
    </p:spTree>
    <p:extLst>
      <p:ext uri="{BB962C8B-B14F-4D97-AF65-F5344CB8AC3E}">
        <p14:creationId xmlns:p14="http://schemas.microsoft.com/office/powerpoint/2010/main" val="254970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774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DLT EXPECTATIONS_1</vt:lpstr>
      <vt:lpstr>PowerPoint Presentation</vt:lpstr>
      <vt:lpstr>PowerPoint Presentation</vt:lpstr>
      <vt:lpstr>🥉 1️⃣ Bronze Layer – Raw Ingestion + Basic Checks</vt:lpstr>
      <vt:lpstr>🥈 2️⃣ Silver Layer – Cleansing + Strong Data Quality</vt:lpstr>
      <vt:lpstr>Deduplication Logic</vt:lpstr>
      <vt:lpstr>Quarantine Table (Enterprise Pattern)</vt:lpstr>
      <vt:lpstr>🥇 4️⃣ Gold Layer – Business-Level Validation</vt:lpstr>
      <vt:lpstr>Total Quality Rules Implemented</vt:lpstr>
      <vt:lpstr>Data quality checks using DLT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2026-02-28T15:21:06Z</dcterms:created>
  <dcterms:modified xsi:type="dcterms:W3CDTF">2026-02-28T15:40:26Z</dcterms:modified>
</cp:coreProperties>
</file>