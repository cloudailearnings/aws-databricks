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D9702-4C5B-B515-4DF4-13AF8D1375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79BA57-2F21-1260-73FB-C615ED79BC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249D17-E1DC-D879-75AF-CF0F2B734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0D125-3847-48A6-9A4B-C588D73A6480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3F6F1E-77D6-FCA2-1405-6D62B15BD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E86D5-2B48-E125-D92A-D8533A1BC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7D11F-4435-4884-BC44-C1DCA2C9DC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6084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F6308-BB6E-07C2-A380-1CEBCFD3F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DE3F86-18E5-CDD8-31F4-8BA61AB4C1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E0BF2B-C9AB-545E-AB07-B9A13AB9E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0D125-3847-48A6-9A4B-C588D73A6480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F30FC2-5A04-B761-F4A0-FF8A814A7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B61D17-EDCF-6355-97A9-AFB29EDEB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7D11F-4435-4884-BC44-C1DCA2C9DC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3811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56A5B-C015-32BA-208D-2D52923E2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CCE9C5-44D4-94A1-B15B-35AB4BD8B8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1F9A66-F08E-E383-C52C-429CAC482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0D125-3847-48A6-9A4B-C588D73A6480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84F516-B729-7DC1-8928-580F51839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FEFC6F-6C81-9880-C354-8F164FA1C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7D11F-4435-4884-BC44-C1DCA2C9DC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00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97BC9-5614-5080-7130-D89A5B822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8D2D68-A204-330A-6D77-42D2190661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D983B3-2DC9-2C29-5632-FF472045B6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2CBA50-B773-B253-FFA4-86B06A865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0D125-3847-48A6-9A4B-C588D73A6480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C05DF1-830E-5581-E59F-126313444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FD5BFA-549F-5C12-7F22-8FC654128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7D11F-4435-4884-BC44-C1DCA2C9DC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997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C3A74-A7A4-2DB4-DD2E-17CA5C15E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550783-0833-9BCD-D921-482D1856C3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47BDAE-E514-DF05-C3B8-DA19D017B5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DD0A79-1345-F4F1-DB0D-77FB18F0D6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2A9535-7B26-0403-8249-2F393205E8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7C1A4C-0548-CFE9-35A3-F22BB76DC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0D125-3847-48A6-9A4B-C588D73A6480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3B904C-E5CE-9555-A023-6A372BD4A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EF85D5-332B-CA49-90AC-7F0C47E8E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7D11F-4435-4884-BC44-C1DCA2C9DC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7062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83C69-D5EE-FBCD-1757-BAFE8817A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79C32B-BD3E-86DD-F41A-AF2A5A1BB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0D125-3847-48A6-9A4B-C588D73A6480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D68469-604A-41D7-20ED-86245E179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62C08A-7C82-E1C2-07CF-7C726BCF6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7D11F-4435-4884-BC44-C1DCA2C9DC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114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4FBE7D-8B9F-550D-D0A5-475AC4561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0D125-3847-48A6-9A4B-C588D73A6480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2B9963-EA44-51EF-6EA8-E90160502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D3C601-6E42-91E9-A479-69EA48C65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7D11F-4435-4884-BC44-C1DCA2C9DC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9031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51D5C-7D6B-82CF-FD18-69CD1BE53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C571A8-314C-95A5-C8B3-45570081E2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46BF19-DBC9-BA9A-14B4-4E20319D28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483CDE-5DA2-822D-1DD5-E0491E5BD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0D125-3847-48A6-9A4B-C588D73A6480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288DD3-82FD-E964-0E62-5908060A4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988170-101F-D703-6637-C1D976892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7D11F-4435-4884-BC44-C1DCA2C9DC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6393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035AA-F28C-4DEB-4A8E-489D0111C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2E200A-B234-B26E-DD76-83ECCC1E64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968520-945D-0AFA-4886-B38B9EA23D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CDA620-310C-F57C-6A1A-87C3DFE3F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0D125-3847-48A6-9A4B-C588D73A6480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BF859A-F793-40EA-DEC6-2EEFFEC68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39C109-B9CB-9703-94D0-3707DD406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7D11F-4435-4884-BC44-C1DCA2C9DC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3208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295F5-196E-7C81-03C7-DD0730F34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49A2FC-71B0-04C1-00C3-E58981C771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FB1BF1-EA0E-61C3-B92D-0981D98ED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0D125-3847-48A6-9A4B-C588D73A6480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624EEA-B9B4-FC17-C6BE-65D5AE665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02826A-5118-04A1-D9F0-3EAA5AF40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7D11F-4435-4884-BC44-C1DCA2C9DC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7880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E87ED5-4AA1-E7B5-C50A-15FBEC6E5E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436BD3-CEB4-79D9-B260-06EE08EC74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ED2497-6392-2B0B-E0C1-A1A9D920A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0D125-3847-48A6-9A4B-C588D73A6480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E99F90-AA55-022E-FFE0-E37F0A5C5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0E6E60-2DB1-2A33-7FDC-4CA64FB6F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7D11F-4435-4884-BC44-C1DCA2C9DC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394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4ECEC2-5BED-2929-CFD9-8FFB0F219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90AFC8-FD1C-B4EF-19F3-B4B2359723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351361-F8D5-E076-F33F-7675DA0843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20D125-3847-48A6-9A4B-C588D73A6480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CACDB1-D8C4-6278-3D8A-DFB5979221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D46650-5F1D-1DD6-B044-4929E388E4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17D11F-4435-4884-BC44-C1DCA2C9DC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015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C5642-E0BD-DF91-CE78-0B22FDB03BA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DLT Expectations in </a:t>
            </a:r>
            <a:r>
              <a:rPr lang="en-US" b="1" dirty="0"/>
              <a:t>Delta Live Tables (DLT)</a:t>
            </a:r>
            <a:r>
              <a:rPr lang="en-US" dirty="0"/>
              <a:t> – Databricks</a:t>
            </a:r>
          </a:p>
        </p:txBody>
      </p:sp>
    </p:spTree>
    <p:extLst>
      <p:ext uri="{BB962C8B-B14F-4D97-AF65-F5344CB8AC3E}">
        <p14:creationId xmlns:p14="http://schemas.microsoft.com/office/powerpoint/2010/main" val="20177609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FD139-F5EF-47D5-AC52-40A1C486A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0DDA79-51F7-19DC-D724-4BD64D7265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</a:t>
            </a:r>
            <a:r>
              <a:rPr lang="en-US" b="1" dirty="0"/>
              <a:t>Delta Live Tables</a:t>
            </a:r>
            <a:r>
              <a:rPr lang="en-US" dirty="0"/>
              <a:t> (DLT), </a:t>
            </a:r>
            <a:r>
              <a:rPr lang="en-US" b="1" dirty="0"/>
              <a:t>Expectations</a:t>
            </a:r>
            <a:r>
              <a:rPr lang="en-US" dirty="0"/>
              <a:t> are data quality rules that validate your data during pipeline execution.</a:t>
            </a:r>
          </a:p>
          <a:p>
            <a:r>
              <a:rPr lang="en-US" dirty="0"/>
              <a:t>They help you:</a:t>
            </a:r>
          </a:p>
          <a:p>
            <a:r>
              <a:rPr lang="en-US" dirty="0"/>
              <a:t>Enforce data quality</a:t>
            </a:r>
          </a:p>
          <a:p>
            <a:r>
              <a:rPr lang="en-US" dirty="0"/>
              <a:t>Track bad records</a:t>
            </a:r>
          </a:p>
          <a:p>
            <a:r>
              <a:rPr lang="en-US" dirty="0"/>
              <a:t>Automatically drop or fail invalid data</a:t>
            </a:r>
          </a:p>
          <a:p>
            <a:r>
              <a:rPr lang="en-US" dirty="0"/>
              <a:t>Monitor quality metrics in the DLT UI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38305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88D59-1AF4-5261-36F6-0171326D5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🔹 Why Use Expectations?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25DB9D-913F-E9C8-437B-38E30901D4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real projects (like Medallion Architecture you’ve been practicing), raw data may contain:</a:t>
            </a:r>
          </a:p>
          <a:p>
            <a:r>
              <a:rPr lang="en-US" dirty="0"/>
              <a:t>Null values</a:t>
            </a:r>
          </a:p>
          <a:p>
            <a:r>
              <a:rPr lang="en-US" dirty="0"/>
              <a:t>Negative amounts</a:t>
            </a:r>
          </a:p>
          <a:p>
            <a:r>
              <a:rPr lang="en-US" dirty="0"/>
              <a:t>Invalid dates</a:t>
            </a:r>
          </a:p>
          <a:p>
            <a:r>
              <a:rPr lang="en-US" dirty="0"/>
              <a:t>Duplicate IDs</a:t>
            </a:r>
          </a:p>
          <a:p>
            <a:r>
              <a:rPr lang="en-US" dirty="0"/>
              <a:t>DLT Expectations help clean and validate this automatically.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85413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E1F9FA-1D43-892F-F3F3-579526C8C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🔹 Types of DLT Expectations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297646-66A0-33D0-A74A-2FB3152ABF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8881" y="1809541"/>
            <a:ext cx="10909643" cy="68740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DLT provides </a:t>
            </a:r>
            <a:r>
              <a:rPr lang="en-US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 main expectation actions</a:t>
            </a:r>
            <a: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95510BE-66C4-E7B0-32EC-FD2CB71F15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8134952"/>
              </p:ext>
            </p:extLst>
          </p:nvPr>
        </p:nvGraphicFramePr>
        <p:xfrm>
          <a:off x="534416" y="2699956"/>
          <a:ext cx="11120121" cy="34533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26044">
                  <a:extLst>
                    <a:ext uri="{9D8B030D-6E8A-4147-A177-3AD203B41FA5}">
                      <a16:colId xmlns:a16="http://schemas.microsoft.com/office/drawing/2014/main" val="3597372432"/>
                    </a:ext>
                  </a:extLst>
                </a:gridCol>
                <a:gridCol w="6794077">
                  <a:extLst>
                    <a:ext uri="{9D8B030D-6E8A-4147-A177-3AD203B41FA5}">
                      <a16:colId xmlns:a16="http://schemas.microsoft.com/office/drawing/2014/main" val="2276191695"/>
                    </a:ext>
                  </a:extLst>
                </a:gridCol>
              </a:tblGrid>
              <a:tr h="7376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/>
                        <a:t>Type</a:t>
                      </a:r>
                    </a:p>
                  </a:txBody>
                  <a:tcPr marL="167640" marR="167640" marT="83820" marB="838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/>
                        <a:t>Behavior</a:t>
                      </a:r>
                    </a:p>
                  </a:txBody>
                  <a:tcPr marL="167640" marR="167640" marT="83820" marB="83820" anchor="ctr"/>
                </a:tc>
                <a:extLst>
                  <a:ext uri="{0D108BD9-81ED-4DB2-BD59-A6C34878D82A}">
                    <a16:rowId xmlns:a16="http://schemas.microsoft.com/office/drawing/2014/main" val="3177743864"/>
                  </a:ext>
                </a:extLst>
              </a:tr>
              <a:tr h="12405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/>
                        <a:t>EXPECT</a:t>
                      </a:r>
                    </a:p>
                  </a:txBody>
                  <a:tcPr marL="167640" marR="167640" marT="83820" marB="838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/>
                        <a:t>Validates but does NOT drop records</a:t>
                      </a:r>
                    </a:p>
                  </a:txBody>
                  <a:tcPr marL="167640" marR="167640" marT="83820" marB="83820" anchor="ctr"/>
                </a:tc>
                <a:extLst>
                  <a:ext uri="{0D108BD9-81ED-4DB2-BD59-A6C34878D82A}">
                    <a16:rowId xmlns:a16="http://schemas.microsoft.com/office/drawing/2014/main" val="1973719981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/>
                        <a:t>EXPECT OR DROP</a:t>
                      </a:r>
                    </a:p>
                  </a:txBody>
                  <a:tcPr marL="167640" marR="167640" marT="83820" marB="838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/>
                        <a:t>Drops invalid records</a:t>
                      </a:r>
                    </a:p>
                  </a:txBody>
                  <a:tcPr marL="167640" marR="167640" marT="83820" marB="83820" anchor="ctr"/>
                </a:tc>
                <a:extLst>
                  <a:ext uri="{0D108BD9-81ED-4DB2-BD59-A6C34878D82A}">
                    <a16:rowId xmlns:a16="http://schemas.microsoft.com/office/drawing/2014/main" val="1752525274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/>
                        <a:t>EXPECT OR FAIL</a:t>
                      </a:r>
                    </a:p>
                  </a:txBody>
                  <a:tcPr marL="167640" marR="167640" marT="83820" marB="838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/>
                        <a:t>Fails the pipeline if validation fails</a:t>
                      </a:r>
                    </a:p>
                  </a:txBody>
                  <a:tcPr marL="167640" marR="167640" marT="83820" marB="83820" anchor="ctr"/>
                </a:tc>
                <a:extLst>
                  <a:ext uri="{0D108BD9-81ED-4DB2-BD59-A6C34878D82A}">
                    <a16:rowId xmlns:a16="http://schemas.microsoft.com/office/drawing/2014/main" val="17553014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58458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092EC5-D65A-9636-55AF-9864DE2547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684" y="2141537"/>
            <a:ext cx="12017829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CREATE OR REFRESH LIVE TABLE </a:t>
            </a:r>
            <a:r>
              <a:rPr lang="en-US" dirty="0" err="1"/>
              <a:t>customers_clean</a:t>
            </a:r>
            <a:endParaRPr lang="en-US" dirty="0"/>
          </a:p>
          <a:p>
            <a:r>
              <a:rPr lang="en-US" dirty="0"/>
              <a:t>CONSTRAINT </a:t>
            </a:r>
            <a:r>
              <a:rPr lang="en-US" dirty="0" err="1"/>
              <a:t>valid_email</a:t>
            </a:r>
            <a:r>
              <a:rPr lang="en-US" dirty="0"/>
              <a:t> EXPECT (email IS NOT NULL);</a:t>
            </a:r>
          </a:p>
          <a:p>
            <a:endParaRPr lang="en-US" dirty="0"/>
          </a:p>
          <a:p>
            <a:r>
              <a:rPr lang="en-US" dirty="0"/>
              <a:t>CREATE OR REFRESH LIVE TABLE </a:t>
            </a:r>
            <a:r>
              <a:rPr lang="en-US" dirty="0" err="1"/>
              <a:t>orders_clean</a:t>
            </a:r>
            <a:endParaRPr lang="en-US" dirty="0"/>
          </a:p>
          <a:p>
            <a:r>
              <a:rPr lang="en-US" dirty="0"/>
              <a:t>CONSTRAINT </a:t>
            </a:r>
            <a:r>
              <a:rPr lang="en-US" dirty="0" err="1"/>
              <a:t>valid_amount</a:t>
            </a:r>
            <a:r>
              <a:rPr lang="en-US" dirty="0"/>
              <a:t> EXPECT (amount &gt; 0);</a:t>
            </a:r>
          </a:p>
          <a:p>
            <a:endParaRPr lang="en-US" dirty="0"/>
          </a:p>
          <a:p>
            <a:r>
              <a:rPr lang="en-US" dirty="0"/>
              <a:t>CREATE OR REFRESH LIVE TABLE </a:t>
            </a:r>
            <a:r>
              <a:rPr lang="en-US" dirty="0" err="1"/>
              <a:t>orders_strict</a:t>
            </a:r>
            <a:endParaRPr lang="en-US" dirty="0"/>
          </a:p>
          <a:p>
            <a:r>
              <a:rPr lang="en-US" dirty="0"/>
              <a:t>CONSTRAINT </a:t>
            </a:r>
            <a:r>
              <a:rPr lang="en-US" dirty="0" err="1"/>
              <a:t>valid_status</a:t>
            </a:r>
            <a:r>
              <a:rPr lang="en-US" dirty="0"/>
              <a:t> EXPECT (status IN ('NEW','SHIPPED','CANCELLED')) ON VIOLATION FAIL;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EFF8E5A-C9D9-A010-8E11-BE3B0AAC7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794657"/>
          </a:xfrm>
        </p:spPr>
        <p:txBody>
          <a:bodyPr/>
          <a:lstStyle/>
          <a:p>
            <a:r>
              <a:rPr lang="en-US" dirty="0"/>
              <a:t>Python</a:t>
            </a:r>
          </a:p>
        </p:txBody>
      </p:sp>
    </p:spTree>
    <p:extLst>
      <p:ext uri="{BB962C8B-B14F-4D97-AF65-F5344CB8AC3E}">
        <p14:creationId xmlns:p14="http://schemas.microsoft.com/office/powerpoint/2010/main" val="23832713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F62E4-93D5-9695-573D-CA665C049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7C981E-4DB5-A5A0-FB34-DABBBDC153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import </a:t>
            </a:r>
            <a:r>
              <a:rPr lang="en-US" dirty="0" err="1"/>
              <a:t>dlt</a:t>
            </a:r>
            <a:endParaRPr lang="en-US" dirty="0"/>
          </a:p>
          <a:p>
            <a:r>
              <a:rPr lang="en-US" dirty="0"/>
              <a:t>from </a:t>
            </a:r>
            <a:r>
              <a:rPr lang="en-US" dirty="0" err="1"/>
              <a:t>pyspark.sql.functions</a:t>
            </a:r>
            <a:r>
              <a:rPr lang="en-US" dirty="0"/>
              <a:t> import col</a:t>
            </a:r>
          </a:p>
          <a:p>
            <a:endParaRPr lang="en-US" dirty="0"/>
          </a:p>
          <a:p>
            <a:r>
              <a:rPr lang="en-US" dirty="0"/>
              <a:t>@dlt.table</a:t>
            </a:r>
          </a:p>
          <a:p>
            <a:r>
              <a:rPr lang="en-US" dirty="0"/>
              <a:t>@dlt.expect("valid_amount", "amount &gt; 0")</a:t>
            </a:r>
          </a:p>
          <a:p>
            <a:r>
              <a:rPr lang="en-US" dirty="0"/>
              <a:t>def </a:t>
            </a:r>
            <a:r>
              <a:rPr lang="en-US" dirty="0" err="1"/>
              <a:t>orders_clean</a:t>
            </a:r>
            <a:r>
              <a:rPr lang="en-US" dirty="0"/>
              <a:t>():</a:t>
            </a:r>
          </a:p>
          <a:p>
            <a:r>
              <a:rPr lang="en-US" dirty="0"/>
              <a:t>    return </a:t>
            </a:r>
            <a:r>
              <a:rPr lang="en-US" dirty="0" err="1"/>
              <a:t>spark.read.table</a:t>
            </a:r>
            <a:r>
              <a:rPr lang="en-US" dirty="0"/>
              <a:t>("</a:t>
            </a:r>
            <a:r>
              <a:rPr lang="en-US" dirty="0" err="1"/>
              <a:t>bronze.orders</a:t>
            </a:r>
            <a:r>
              <a:rPr lang="en-US" dirty="0"/>
              <a:t>")</a:t>
            </a:r>
          </a:p>
        </p:txBody>
      </p:sp>
    </p:spTree>
    <p:extLst>
      <p:ext uri="{BB962C8B-B14F-4D97-AF65-F5344CB8AC3E}">
        <p14:creationId xmlns:p14="http://schemas.microsoft.com/office/powerpoint/2010/main" val="8432315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20572-1174-6435-CBD9-DC5D4B0B4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Different Actions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B7726D-30D3-0171-7821-5DA22FA397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@dlt.expect("rule_name", "condition")               # Just monitor</a:t>
            </a:r>
          </a:p>
          <a:p>
            <a:r>
              <a:rPr lang="en-US" dirty="0"/>
              <a:t>@dlt.expect_or_drop("rule_name", "condition")      # Drop bad rows</a:t>
            </a:r>
          </a:p>
          <a:p>
            <a:r>
              <a:rPr lang="en-US" dirty="0"/>
              <a:t>@dlt.expect_or_fail("rule_name", "condition")      # Fail pipeline</a:t>
            </a:r>
          </a:p>
        </p:txBody>
      </p:sp>
    </p:spTree>
    <p:extLst>
      <p:ext uri="{BB962C8B-B14F-4D97-AF65-F5344CB8AC3E}">
        <p14:creationId xmlns:p14="http://schemas.microsoft.com/office/powerpoint/2010/main" val="4526319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87050-951F-B663-33A6-47E9F7B94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Practical Example (Medallion Architecture)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18EC1F-69A2-29BE-75A4-CCB0AED716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🥉 Bronze → 🥈 Silver Validation Example</a:t>
            </a:r>
          </a:p>
          <a:p>
            <a:endParaRPr lang="en-US" dirty="0"/>
          </a:p>
          <a:p>
            <a:r>
              <a:rPr lang="en-US" dirty="0"/>
              <a:t>CREATE OR REFRESH LIVE TABLE </a:t>
            </a:r>
            <a:r>
              <a:rPr lang="en-US" dirty="0" err="1"/>
              <a:t>silver_orders</a:t>
            </a:r>
            <a:endParaRPr lang="en-US" dirty="0"/>
          </a:p>
          <a:p>
            <a:r>
              <a:rPr lang="en-US" dirty="0"/>
              <a:t>CONSTRAINT </a:t>
            </a:r>
            <a:r>
              <a:rPr lang="en-US" dirty="0" err="1"/>
              <a:t>valid_customer</a:t>
            </a:r>
            <a:r>
              <a:rPr lang="en-US" dirty="0"/>
              <a:t> EXPECT (</a:t>
            </a:r>
            <a:r>
              <a:rPr lang="en-US" dirty="0" err="1"/>
              <a:t>customer_id</a:t>
            </a:r>
            <a:r>
              <a:rPr lang="en-US" dirty="0"/>
              <a:t> IS NOT NULL)</a:t>
            </a:r>
          </a:p>
          <a:p>
            <a:r>
              <a:rPr lang="en-US" dirty="0"/>
              <a:t>CONSTRAINT </a:t>
            </a:r>
            <a:r>
              <a:rPr lang="en-US" dirty="0" err="1"/>
              <a:t>positive_amount</a:t>
            </a:r>
            <a:r>
              <a:rPr lang="en-US" dirty="0"/>
              <a:t> EXPECT (amount &gt; 0)</a:t>
            </a:r>
          </a:p>
          <a:p>
            <a:r>
              <a:rPr lang="en-US" dirty="0"/>
              <a:t>AS</a:t>
            </a:r>
          </a:p>
          <a:p>
            <a:r>
              <a:rPr lang="en-US" dirty="0"/>
              <a:t>SELECT * FROM </a:t>
            </a:r>
            <a:r>
              <a:rPr lang="en-US" dirty="0" err="1"/>
              <a:t>LIVE.bronze_orders</a:t>
            </a:r>
            <a:r>
              <a:rPr lang="en-US" dirty="0"/>
              <a:t>;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If:</a:t>
            </a:r>
          </a:p>
          <a:p>
            <a:r>
              <a:rPr lang="en-US" dirty="0"/>
              <a:t>amount = -100 → record dropped (if OR DROP used)</a:t>
            </a:r>
          </a:p>
          <a:p>
            <a:r>
              <a:rPr lang="en-US" dirty="0" err="1"/>
              <a:t>customer_id</a:t>
            </a:r>
            <a:r>
              <a:rPr lang="en-US" dirty="0"/>
              <a:t> IS NULL → pipeline fails (if OR FAIL used)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2608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EF0AC-245D-1D8E-DAD4-46325220F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🔹 Monitoring Expectations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8C4DCA-1D91-D2A1-EDE1-E86A300760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the DLT Pipeline UI:</a:t>
            </a:r>
          </a:p>
          <a:p>
            <a:r>
              <a:rPr lang="en-US" dirty="0"/>
              <a:t>Go to </a:t>
            </a:r>
            <a:r>
              <a:rPr lang="en-US" b="1" dirty="0"/>
              <a:t>Data Quality tab</a:t>
            </a:r>
            <a:endParaRPr lang="en-US" dirty="0"/>
          </a:p>
          <a:p>
            <a:r>
              <a:rPr lang="en-US" dirty="0"/>
              <a:t>See:</a:t>
            </a:r>
          </a:p>
          <a:p>
            <a:pPr lvl="1"/>
            <a:r>
              <a:rPr lang="en-US" dirty="0"/>
              <a:t>Number of records passed</a:t>
            </a:r>
          </a:p>
          <a:p>
            <a:pPr lvl="1"/>
            <a:r>
              <a:rPr lang="en-US" dirty="0"/>
              <a:t>Failed records</a:t>
            </a:r>
          </a:p>
          <a:p>
            <a:pPr lvl="1"/>
            <a:r>
              <a:rPr lang="en-US" dirty="0"/>
              <a:t>Drop percentage</a:t>
            </a:r>
          </a:p>
          <a:p>
            <a:r>
              <a:rPr lang="en-US" dirty="0"/>
              <a:t>This is very useful in interviews and production monitoring.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60390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6F01F-DFCD-1908-6DDA-DEEA544B5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Real-Time Use Case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204723-1441-BB1D-87EE-2F61EF9EFF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your </a:t>
            </a:r>
            <a:r>
              <a:rPr lang="en-US" b="1" dirty="0"/>
              <a:t>customer-orders project</a:t>
            </a:r>
            <a:r>
              <a:rPr lang="en-US" dirty="0"/>
              <a:t>, you can add:</a:t>
            </a:r>
          </a:p>
          <a:p>
            <a:r>
              <a:rPr lang="en-US" dirty="0"/>
              <a:t>CONSTRAINT </a:t>
            </a:r>
            <a:r>
              <a:rPr lang="en-US" dirty="0" err="1"/>
              <a:t>valid_order_date</a:t>
            </a:r>
            <a:r>
              <a:rPr lang="en-US" dirty="0"/>
              <a:t> EXPECT (</a:t>
            </a:r>
            <a:r>
              <a:rPr lang="en-US" dirty="0" err="1"/>
              <a:t>order_date</a:t>
            </a:r>
            <a:r>
              <a:rPr lang="en-US" dirty="0"/>
              <a:t> &lt;= </a:t>
            </a:r>
            <a:r>
              <a:rPr lang="en-US" dirty="0" err="1"/>
              <a:t>current_date</a:t>
            </a:r>
            <a:r>
              <a:rPr lang="en-US" dirty="0"/>
              <a:t>())</a:t>
            </a:r>
            <a:br>
              <a:rPr lang="en-US" dirty="0"/>
            </a:br>
            <a:r>
              <a:rPr lang="en-US" dirty="0"/>
              <a:t>CONSTRAINT </a:t>
            </a:r>
            <a:r>
              <a:rPr lang="en-US" dirty="0" err="1"/>
              <a:t>valid_email</a:t>
            </a:r>
            <a:r>
              <a:rPr lang="en-US" dirty="0"/>
              <a:t> EXPECT (email LIKE '%@%')</a:t>
            </a:r>
          </a:p>
          <a:p>
            <a:r>
              <a:rPr lang="en-US" dirty="0"/>
              <a:t>This ensures:</a:t>
            </a:r>
          </a:p>
          <a:p>
            <a:r>
              <a:rPr lang="en-US" dirty="0"/>
              <a:t>No future dates</a:t>
            </a:r>
          </a:p>
          <a:p>
            <a:r>
              <a:rPr lang="en-US" dirty="0"/>
              <a:t>Proper email format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81524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49C8E-2772-1D01-E38B-B9BAA1D18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Difference between CHECK constraint and DLT expectation?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39F38C-5C1F-58F0-E4AE-D6DF8E7BA3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CHECK constraint → enforced at table level</a:t>
            </a:r>
          </a:p>
          <a:p>
            <a:r>
              <a:rPr lang="en-US" dirty="0"/>
              <a:t>DLT expectation → applied during pipeline processing with monitoring &amp; metrics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2991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1129</TotalTime>
  <Words>488</Words>
  <Application>Microsoft Office PowerPoint</Application>
  <PresentationFormat>Widescreen</PresentationFormat>
  <Paragraphs>75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DLT Expectations in Delta Live Tables (DLT) – Databricks</vt:lpstr>
      <vt:lpstr>PowerPoint Presentation</vt:lpstr>
      <vt:lpstr>🔹 Why Use Expectations?</vt:lpstr>
      <vt:lpstr>🔹 Types of DLT Expectations</vt:lpstr>
      <vt:lpstr>Python</vt:lpstr>
      <vt:lpstr>Python</vt:lpstr>
      <vt:lpstr>Different Actions in Python</vt:lpstr>
      <vt:lpstr>Practical Example (Medallion Architecture)</vt:lpstr>
      <vt:lpstr>🔹 Monitoring Expectations</vt:lpstr>
      <vt:lpstr>Real-Time Use Case</vt:lpstr>
      <vt:lpstr>Difference between CHECK constraint and DLT expectation?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Rajesh Kumar Devabhaktuni</dc:creator>
  <cp:lastModifiedBy>Rajesh Kumar Devabhaktuni</cp:lastModifiedBy>
  <cp:revision>3</cp:revision>
  <dcterms:created xsi:type="dcterms:W3CDTF">2026-03-04T09:36:04Z</dcterms:created>
  <dcterms:modified xsi:type="dcterms:W3CDTF">2026-03-05T04:25:38Z</dcterms:modified>
</cp:coreProperties>
</file>