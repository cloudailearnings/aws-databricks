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56" r:id="rId6"/>
    <p:sldId id="257" r:id="rId7"/>
    <p:sldId id="258" r:id="rId8"/>
    <p:sldId id="259" r:id="rId9"/>
    <p:sldId id="260" r:id="rId10"/>
    <p:sldId id="261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F58B-28FC-CB60-1AD4-3E825F398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97CC8-5172-F162-1070-3C38CCB9D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42F5F-2501-9F73-BD01-14C6F01C0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35A3-3CA5-4D95-9547-FF524DC14DE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7870E-D9D5-DB8B-8364-A17EE0F3D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E68A9-85DA-F120-6448-AAE18517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A0C52-E17E-47E0-A65E-CD64D36E1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520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0C3EE-E9C5-D8B4-4500-998BFCBA1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D2D2C-048D-8026-3FAA-6E852DC5F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83749-9EAA-F51A-2AA0-74841A8FA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35A3-3CA5-4D95-9547-FF524DC14DE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FEDFD-1B24-8AD1-36CE-26B89076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7A65C-9DEB-65BF-8978-5685A9298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A0C52-E17E-47E0-A65E-CD64D36E1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7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17564-6543-87F6-DA6D-318430525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82753-5F0A-5DA7-A473-E5A681FF5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AC42-1458-4529-A0E9-C7F5D3FB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35A3-3CA5-4D95-9547-FF524DC14DE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A6557-F5DF-3BC4-7CF5-3F448013C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24EDB-06B1-FA68-D6AE-97D80999A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A0C52-E17E-47E0-A65E-CD64D36E1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9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D8DB-6385-4F26-3B9F-E76E126C7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029BB-EF69-CD81-8D9E-91609E385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4C779-3AB2-028E-A526-3D338CC45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DB307-6DA1-3A27-7F9D-54F511504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35A3-3CA5-4D95-9547-FF524DC14DE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C1A31-0551-045A-CD05-500519FB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95F0E-9092-5235-26B6-3B24441C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A0C52-E17E-47E0-A65E-CD64D36E1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DACD-D509-A38C-B30D-C1EB0232C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D5F5E-E721-E96B-7EA3-E67999F99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B17A7-87F6-A1E3-E684-EB88D06B9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27398-9650-63FC-FE2C-99810DE32A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258E72-BAAF-E3BC-71F0-04BA94AA6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A825B-BBA4-3523-F3FA-AA38E942C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35A3-3CA5-4D95-9547-FF524DC14DE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B6983A-7E11-F885-FF37-6A438DDD8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5E6A82-C88E-B1FC-9EEC-C107CED43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A0C52-E17E-47E0-A65E-CD64D36E1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230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CBA04-8D87-0994-7ED2-2DEC9FEAF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1E9515-F11B-996F-EF9B-8310B992F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35A3-3CA5-4D95-9547-FF524DC14DE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11481-2F86-47E4-6AE3-AD5DB5890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6EED2-089C-63B7-BAB7-8A8A65FDB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A0C52-E17E-47E0-A65E-CD64D36E1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38293C-A98C-CC50-9752-9959031B9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35A3-3CA5-4D95-9547-FF524DC14DE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115DE5-2A12-09AD-1F53-E23655F73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A590C-525F-469A-291E-ACF2018D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A0C52-E17E-47E0-A65E-CD64D36E1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47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88197-EEE3-FAE9-3F75-B76C2009F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5E27C-D52A-361C-9281-89EFE6D49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C77DB-B53C-EA45-3DB5-D42909929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734EA-3208-7BAE-5E81-8513977B4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35A3-3CA5-4D95-9547-FF524DC14DE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3833D-2428-E03F-B84B-6028733D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7CB55-C9C7-E8B8-77A2-17A1CF9E4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A0C52-E17E-47E0-A65E-CD64D36E1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1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B9A54-6E2C-1957-945F-E18232161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DD465-850D-D7E5-1498-A69B6EA8E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170A2-2F5E-6A5E-88FA-E75DE4646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1C91E-4D7C-7F12-596C-35494EB51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35A3-3CA5-4D95-9547-FF524DC14DE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4A737-B446-A3E0-F021-286356577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8C6CE-DA97-EFBB-10AA-96F386278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A0C52-E17E-47E0-A65E-CD64D36E1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91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D3DD-3B96-CE6D-D959-AD9B1B04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FB2D4D-4A26-C071-7D57-B85E78B53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98A8F-AE4D-F21A-0F44-58C5A7993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35A3-3CA5-4D95-9547-FF524DC14DE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08AA4-7FC5-7F2A-B1AF-D1D098005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DB814-1D46-D329-1791-4955B980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A0C52-E17E-47E0-A65E-CD64D36E1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8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5F6DA-AD2F-7BF6-9353-E5EAC2127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CF3834-DD75-1A3F-261F-C43D6C48E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19364-FA83-A574-924A-792EDBE4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35A3-3CA5-4D95-9547-FF524DC14DE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886C8-8E58-DAFC-7C72-9AFE067F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0A577-A5AB-6A90-1CA9-E88C38B0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A0C52-E17E-47E0-A65E-CD64D36E1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97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990547-6D48-1862-6138-E82D17674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75480-6749-79B0-A444-81589BA2D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6E236-5154-480E-5CD2-E4D08185D4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635A3-3CA5-4D95-9547-FF524DC14DE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65A94-990E-3FF7-8A37-518BD9C97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DB18-406A-8CF3-B86C-A69BCC622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A0C52-E17E-47E0-A65E-CD64D36E1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8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C5DCE-FAAB-50EA-179F-B7B161AF7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DAG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04A4B-9B10-9BC3-1BB2-A885D20AD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8"/>
            <a:ext cx="10515600" cy="6158706"/>
          </a:xfrm>
        </p:spPr>
        <p:txBody>
          <a:bodyPr>
            <a:normAutofit/>
          </a:bodyPr>
          <a:lstStyle/>
          <a:p>
            <a:r>
              <a:rPr lang="en-US" b="1" dirty="0"/>
              <a:t>DAG = Directed Acyclic Graph</a:t>
            </a:r>
          </a:p>
          <a:p>
            <a:r>
              <a:rPr lang="en-US" dirty="0"/>
              <a:t>It is a </a:t>
            </a:r>
            <a:r>
              <a:rPr lang="en-US" b="1" dirty="0"/>
              <a:t>collection of tasks arranged in a specific order</a:t>
            </a:r>
            <a:r>
              <a:rPr lang="en-US" dirty="0"/>
              <a:t> to execute a workflow.</a:t>
            </a:r>
          </a:p>
          <a:p>
            <a:r>
              <a:rPr lang="en-US" b="1" dirty="0"/>
              <a:t>Directed</a:t>
            </a:r>
            <a:r>
              <a:rPr lang="en-US" dirty="0"/>
              <a:t> → Tasks have a defined direction/order</a:t>
            </a:r>
          </a:p>
          <a:p>
            <a:r>
              <a:rPr lang="en-US" b="1" dirty="0"/>
              <a:t>Acyclic</a:t>
            </a:r>
            <a:r>
              <a:rPr lang="en-US" dirty="0"/>
              <a:t> → No loops (a task cannot depend on itself)</a:t>
            </a:r>
          </a:p>
          <a:p>
            <a:r>
              <a:rPr lang="en-US" b="1" dirty="0"/>
              <a:t>Graph</a:t>
            </a:r>
            <a:r>
              <a:rPr lang="en-US" dirty="0"/>
              <a:t> → Tasks are connected like nodes in a pipeline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Example:</a:t>
            </a:r>
          </a:p>
          <a:p>
            <a:pPr marL="0" indent="0">
              <a:buNone/>
            </a:pPr>
            <a:r>
              <a:rPr lang="en-US" dirty="0"/>
              <a:t>ETL Pipeline:</a:t>
            </a:r>
          </a:p>
          <a:p>
            <a:r>
              <a:rPr lang="en-US" dirty="0"/>
              <a:t>Extract Data → Transform Data → Load Data</a:t>
            </a:r>
          </a:p>
          <a:p>
            <a:r>
              <a:rPr lang="en-US" dirty="0"/>
              <a:t>This flow is a </a:t>
            </a:r>
            <a:r>
              <a:rPr lang="en-US" b="1" dirty="0"/>
              <a:t>DAG</a:t>
            </a:r>
            <a:r>
              <a:rPr lang="en-US" dirty="0"/>
              <a:t> because tasks run in order.</a:t>
            </a:r>
          </a:p>
          <a:p>
            <a:r>
              <a:rPr lang="en-US" dirty="0"/>
              <a:t>Task1 ----&gt; Task2 ----&gt; Task3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52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AA49F-C413-BC07-5DC0-BC72EE4B2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from airflow import DAG</a:t>
            </a:r>
          </a:p>
          <a:p>
            <a:pPr marL="0" indent="0">
              <a:buNone/>
            </a:pPr>
            <a:r>
              <a:rPr lang="en-US" b="1" i="1" dirty="0"/>
              <a:t>from </a:t>
            </a:r>
            <a:r>
              <a:rPr lang="en-US" b="1" i="1" dirty="0" err="1"/>
              <a:t>airflow.operators.bash</a:t>
            </a:r>
            <a:r>
              <a:rPr lang="en-US" b="1" i="1" dirty="0"/>
              <a:t> import </a:t>
            </a:r>
            <a:r>
              <a:rPr lang="en-US" b="1" i="1" dirty="0" err="1"/>
              <a:t>BashOperator</a:t>
            </a:r>
            <a:endParaRPr lang="en-US" b="1" i="1" dirty="0"/>
          </a:p>
          <a:p>
            <a:pPr marL="0" indent="0">
              <a:buNone/>
            </a:pPr>
            <a:r>
              <a:rPr lang="en-US" b="1" i="1" dirty="0"/>
              <a:t>from datetime import datetime</a:t>
            </a:r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r>
              <a:rPr lang="en-US" b="1" i="1" dirty="0"/>
              <a:t>with DAG(</a:t>
            </a:r>
          </a:p>
          <a:p>
            <a:pPr marL="0" indent="0">
              <a:buNone/>
            </a:pPr>
            <a:r>
              <a:rPr lang="en-US" b="1" i="1" dirty="0"/>
              <a:t>    </a:t>
            </a:r>
            <a:r>
              <a:rPr lang="en-US" b="1" i="1" dirty="0" err="1"/>
              <a:t>dag_id</a:t>
            </a:r>
            <a:r>
              <a:rPr lang="en-US" b="1" i="1" dirty="0"/>
              <a:t>="</a:t>
            </a:r>
            <a:r>
              <a:rPr lang="en-US" b="1" i="1" dirty="0" err="1"/>
              <a:t>example_dag</a:t>
            </a:r>
            <a:r>
              <a:rPr lang="en-US" b="1" i="1" dirty="0"/>
              <a:t>",</a:t>
            </a:r>
          </a:p>
          <a:p>
            <a:pPr marL="0" indent="0">
              <a:buNone/>
            </a:pPr>
            <a:r>
              <a:rPr lang="en-US" b="1" i="1" dirty="0"/>
              <a:t>    </a:t>
            </a:r>
            <a:r>
              <a:rPr lang="en-US" b="1" i="1" dirty="0" err="1"/>
              <a:t>start_date</a:t>
            </a:r>
            <a:r>
              <a:rPr lang="en-US" b="1" i="1" dirty="0"/>
              <a:t>=datetime(2024,1,1),</a:t>
            </a:r>
          </a:p>
          <a:p>
            <a:pPr marL="0" indent="0">
              <a:buNone/>
            </a:pPr>
            <a:r>
              <a:rPr lang="en-US" b="1" i="1" dirty="0"/>
              <a:t>    schedule=None,</a:t>
            </a:r>
          </a:p>
          <a:p>
            <a:pPr marL="0" indent="0">
              <a:buNone/>
            </a:pPr>
            <a:r>
              <a:rPr lang="en-US" b="1" i="1" dirty="0"/>
              <a:t>    catchup=False</a:t>
            </a:r>
          </a:p>
          <a:p>
            <a:pPr marL="0" indent="0">
              <a:buNone/>
            </a:pPr>
            <a:r>
              <a:rPr lang="en-US" b="1" i="1" dirty="0"/>
              <a:t>) as </a:t>
            </a:r>
            <a:r>
              <a:rPr lang="en-US" b="1" i="1" dirty="0" err="1"/>
              <a:t>dag</a:t>
            </a:r>
            <a:r>
              <a:rPr lang="en-US" b="1" i="1" dirty="0"/>
              <a:t>:</a:t>
            </a:r>
          </a:p>
          <a:p>
            <a:pPr marL="0" indent="0">
              <a:buNone/>
            </a:pP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432083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37839-FD2B-5D6D-E5AB-0BD5CED32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1" dirty="0"/>
              <a:t> task1 = </a:t>
            </a:r>
            <a:r>
              <a:rPr lang="en-US" b="1" i="1" dirty="0" err="1"/>
              <a:t>BashOperator</a:t>
            </a:r>
            <a:r>
              <a:rPr lang="en-US" b="1" i="1" dirty="0"/>
              <a:t>(</a:t>
            </a:r>
          </a:p>
          <a:p>
            <a:pPr marL="0" indent="0">
              <a:buNone/>
            </a:pPr>
            <a:r>
              <a:rPr lang="en-US" b="1" i="1" dirty="0"/>
              <a:t>        </a:t>
            </a:r>
            <a:r>
              <a:rPr lang="en-US" b="1" i="1" dirty="0" err="1"/>
              <a:t>task_id</a:t>
            </a:r>
            <a:r>
              <a:rPr lang="en-US" b="1" i="1" dirty="0"/>
              <a:t>="</a:t>
            </a:r>
            <a:r>
              <a:rPr lang="en-US" b="1" i="1" dirty="0" err="1"/>
              <a:t>extract_data</a:t>
            </a:r>
            <a:r>
              <a:rPr lang="en-US" b="1" i="1" dirty="0"/>
              <a:t>",</a:t>
            </a:r>
          </a:p>
          <a:p>
            <a:pPr marL="0" indent="0">
              <a:buNone/>
            </a:pPr>
            <a:r>
              <a:rPr lang="en-US" b="1" i="1" dirty="0"/>
              <a:t>        </a:t>
            </a:r>
            <a:r>
              <a:rPr lang="en-US" b="1" i="1" dirty="0" err="1"/>
              <a:t>bash_command</a:t>
            </a:r>
            <a:r>
              <a:rPr lang="en-US" b="1" i="1" dirty="0"/>
              <a:t>="echo Extracting data"</a:t>
            </a:r>
          </a:p>
          <a:p>
            <a:pPr marL="0" indent="0">
              <a:buNone/>
            </a:pPr>
            <a:r>
              <a:rPr lang="en-US" b="1" i="1" dirty="0"/>
              <a:t>    )</a:t>
            </a:r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r>
              <a:rPr lang="en-US" b="1" i="1" dirty="0"/>
              <a:t>    task2 = </a:t>
            </a:r>
            <a:r>
              <a:rPr lang="en-US" b="1" i="1" dirty="0" err="1"/>
              <a:t>BashOperator</a:t>
            </a:r>
            <a:r>
              <a:rPr lang="en-US" b="1" i="1" dirty="0"/>
              <a:t>(</a:t>
            </a:r>
          </a:p>
          <a:p>
            <a:pPr marL="0" indent="0">
              <a:buNone/>
            </a:pPr>
            <a:r>
              <a:rPr lang="en-US" b="1" i="1" dirty="0"/>
              <a:t>        </a:t>
            </a:r>
            <a:r>
              <a:rPr lang="en-US" b="1" i="1" dirty="0" err="1"/>
              <a:t>task_id</a:t>
            </a:r>
            <a:r>
              <a:rPr lang="en-US" b="1" i="1" dirty="0"/>
              <a:t>="</a:t>
            </a:r>
            <a:r>
              <a:rPr lang="en-US" b="1" i="1" dirty="0" err="1"/>
              <a:t>transform_data</a:t>
            </a:r>
            <a:r>
              <a:rPr lang="en-US" b="1" i="1" dirty="0"/>
              <a:t>",</a:t>
            </a:r>
          </a:p>
          <a:p>
            <a:pPr marL="0" indent="0">
              <a:buNone/>
            </a:pPr>
            <a:r>
              <a:rPr lang="en-US" b="1" i="1" dirty="0"/>
              <a:t>        </a:t>
            </a:r>
            <a:r>
              <a:rPr lang="en-US" b="1" i="1" dirty="0" err="1"/>
              <a:t>bash_command</a:t>
            </a:r>
            <a:r>
              <a:rPr lang="en-US" b="1" i="1" dirty="0"/>
              <a:t>="echo Transforming data"</a:t>
            </a:r>
          </a:p>
          <a:p>
            <a:pPr marL="0" indent="0">
              <a:buNone/>
            </a:pPr>
            <a:r>
              <a:rPr lang="en-US" b="1" i="1" dirty="0"/>
              <a:t>    )</a:t>
            </a:r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r>
              <a:rPr lang="en-US" b="1" i="1" dirty="0"/>
              <a:t>    task3 = </a:t>
            </a:r>
            <a:r>
              <a:rPr lang="en-US" b="1" i="1" dirty="0" err="1"/>
              <a:t>BashOperator</a:t>
            </a:r>
            <a:r>
              <a:rPr lang="en-US" b="1" i="1" dirty="0"/>
              <a:t>(</a:t>
            </a:r>
          </a:p>
          <a:p>
            <a:pPr marL="0" indent="0">
              <a:buNone/>
            </a:pPr>
            <a:r>
              <a:rPr lang="en-US" b="1" i="1" dirty="0"/>
              <a:t>        </a:t>
            </a:r>
            <a:r>
              <a:rPr lang="en-US" b="1" i="1" dirty="0" err="1"/>
              <a:t>task_id</a:t>
            </a:r>
            <a:r>
              <a:rPr lang="en-US" b="1" i="1" dirty="0"/>
              <a:t>="</a:t>
            </a:r>
            <a:r>
              <a:rPr lang="en-US" b="1" i="1" dirty="0" err="1"/>
              <a:t>load_data</a:t>
            </a:r>
            <a:r>
              <a:rPr lang="en-US" b="1" i="1" dirty="0"/>
              <a:t>",</a:t>
            </a:r>
          </a:p>
          <a:p>
            <a:pPr marL="0" indent="0">
              <a:buNone/>
            </a:pPr>
            <a:r>
              <a:rPr lang="en-US" b="1" i="1" dirty="0"/>
              <a:t>        </a:t>
            </a:r>
            <a:r>
              <a:rPr lang="en-US" b="1" i="1" dirty="0" err="1"/>
              <a:t>bash_command</a:t>
            </a:r>
            <a:r>
              <a:rPr lang="en-US" b="1" i="1" dirty="0"/>
              <a:t>="echo Loading data"</a:t>
            </a:r>
          </a:p>
          <a:p>
            <a:pPr marL="0" indent="0">
              <a:buNone/>
            </a:pPr>
            <a:r>
              <a:rPr lang="en-US" b="1" i="1" dirty="0"/>
              <a:t>    )</a:t>
            </a:r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r>
              <a:rPr lang="en-US" b="1" i="1" dirty="0"/>
              <a:t>    task1 &gt;&gt; task2 &gt;&gt; task3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994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8B2117-0CE9-DCB3-CABE-8610AD6E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600" dirty="0"/>
              <a:t>Important DAG Components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1FF2DB-903F-A5FB-600B-CBCB9ADE29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0723694"/>
              </p:ext>
            </p:extLst>
          </p:nvPr>
        </p:nvGraphicFramePr>
        <p:xfrm>
          <a:off x="4648018" y="1516727"/>
          <a:ext cx="6900513" cy="3784332"/>
        </p:xfrm>
        <a:graphic>
          <a:graphicData uri="http://schemas.openxmlformats.org/drawingml/2006/table">
            <a:tbl>
              <a:tblPr/>
              <a:tblGrid>
                <a:gridCol w="2783300">
                  <a:extLst>
                    <a:ext uri="{9D8B030D-6E8A-4147-A177-3AD203B41FA5}">
                      <a16:colId xmlns:a16="http://schemas.microsoft.com/office/drawing/2014/main" val="2570236722"/>
                    </a:ext>
                  </a:extLst>
                </a:gridCol>
                <a:gridCol w="4117213">
                  <a:extLst>
                    <a:ext uri="{9D8B030D-6E8A-4147-A177-3AD203B41FA5}">
                      <a16:colId xmlns:a16="http://schemas.microsoft.com/office/drawing/2014/main" val="283765154"/>
                    </a:ext>
                  </a:extLst>
                </a:gridCol>
              </a:tblGrid>
              <a:tr h="6307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1" i="0" u="none" strike="noStrike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Component</a:t>
                      </a:r>
                    </a:p>
                  </a:txBody>
                  <a:tcPr marL="143346" marR="143346" marT="71673" marB="716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1" i="0" u="none" strike="noStrike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143346" marR="143346" marT="71673" marB="716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65247"/>
                  </a:ext>
                </a:extLst>
              </a:tr>
              <a:tr h="6307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DAG ID</a:t>
                      </a:r>
                    </a:p>
                  </a:txBody>
                  <a:tcPr marL="143346" marR="143346" marT="71673" marB="716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Unique workflow name</a:t>
                      </a:r>
                    </a:p>
                  </a:txBody>
                  <a:tcPr marL="143346" marR="143346" marT="71673" marB="716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240971"/>
                  </a:ext>
                </a:extLst>
              </a:tr>
              <a:tr h="6307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Tasks</a:t>
                      </a:r>
                    </a:p>
                  </a:txBody>
                  <a:tcPr marL="143346" marR="143346" marT="71673" marB="716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Work units in pipeline</a:t>
                      </a:r>
                    </a:p>
                  </a:txBody>
                  <a:tcPr marL="143346" marR="143346" marT="71673" marB="716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455550"/>
                  </a:ext>
                </a:extLst>
              </a:tr>
              <a:tr h="6307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Operators</a:t>
                      </a:r>
                    </a:p>
                  </a:txBody>
                  <a:tcPr marL="143346" marR="143346" marT="71673" marB="716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Define task type</a:t>
                      </a:r>
                    </a:p>
                  </a:txBody>
                  <a:tcPr marL="143346" marR="143346" marT="71673" marB="716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921994"/>
                  </a:ext>
                </a:extLst>
              </a:tr>
              <a:tr h="6307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Dependencies</a:t>
                      </a:r>
                    </a:p>
                  </a:txBody>
                  <a:tcPr marL="143346" marR="143346" marT="71673" marB="716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Order of execution</a:t>
                      </a:r>
                    </a:p>
                  </a:txBody>
                  <a:tcPr marL="143346" marR="143346" marT="71673" marB="716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96979"/>
                  </a:ext>
                </a:extLst>
              </a:tr>
              <a:tr h="6307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1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Schedule</a:t>
                      </a:r>
                    </a:p>
                  </a:txBody>
                  <a:tcPr marL="143346" marR="143346" marT="71673" marB="716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 dirty="0">
                          <a:effectLst/>
                          <a:latin typeface="Arial" panose="020B0604020202020204" pitchFamily="34" charset="0"/>
                        </a:rPr>
                        <a:t>When DAG runs</a:t>
                      </a:r>
                    </a:p>
                  </a:txBody>
                  <a:tcPr marL="143346" marR="143346" marT="71673" marB="716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725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772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2DA18-05C6-BF38-4B45-F64D7E13A5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Databricks Operators</a:t>
            </a:r>
          </a:p>
        </p:txBody>
      </p:sp>
    </p:spTree>
    <p:extLst>
      <p:ext uri="{BB962C8B-B14F-4D97-AF65-F5344CB8AC3E}">
        <p14:creationId xmlns:p14="http://schemas.microsoft.com/office/powerpoint/2010/main" val="3100665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5829-C4B1-4B90-22DF-C88A992D9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637" y="1124472"/>
            <a:ext cx="5458838" cy="4192520"/>
          </a:xfrm>
        </p:spPr>
        <p:txBody>
          <a:bodyPr>
            <a:normAutofit/>
          </a:bodyPr>
          <a:lstStyle/>
          <a:p>
            <a:r>
              <a:rPr lang="en-US" sz="2200" dirty="0"/>
              <a:t>In </a:t>
            </a:r>
            <a:r>
              <a:rPr lang="en-US" sz="2200" b="1" dirty="0"/>
              <a:t>Apache Airflow</a:t>
            </a:r>
            <a:r>
              <a:rPr lang="en-US" sz="2200" dirty="0"/>
              <a:t>, </a:t>
            </a:r>
            <a:r>
              <a:rPr lang="en-US" sz="2200" b="1" dirty="0"/>
              <a:t>Databricks Operators</a:t>
            </a:r>
            <a:r>
              <a:rPr lang="en-US" sz="2200" dirty="0"/>
              <a:t> are used to </a:t>
            </a:r>
            <a:r>
              <a:rPr lang="en-US" sz="2200" b="1" dirty="0"/>
              <a:t>submit and manage jobs on Databricks clusters directly from Airflow DAGs</a:t>
            </a:r>
            <a:r>
              <a:rPr lang="en-US" sz="2200" dirty="0"/>
              <a:t>.</a:t>
            </a:r>
            <a:br>
              <a:rPr lang="en-US" sz="2200" dirty="0"/>
            </a:br>
            <a:endParaRPr lang="en-US" sz="2200" dirty="0"/>
          </a:p>
          <a:p>
            <a:r>
              <a:rPr lang="en-US" sz="2200" dirty="0"/>
              <a:t>They come from the </a:t>
            </a:r>
            <a:r>
              <a:rPr lang="en-US" sz="2200" b="1" dirty="0"/>
              <a:t>Apache Airflow Databricks Provider</a:t>
            </a:r>
            <a:r>
              <a:rPr lang="en-US" sz="2200" dirty="0"/>
              <a:t> package.</a:t>
            </a:r>
          </a:p>
          <a:p>
            <a:endParaRPr lang="en-US" sz="2200" dirty="0"/>
          </a:p>
          <a:p>
            <a:r>
              <a:rPr lang="en-US" sz="2200" dirty="0"/>
              <a:t>These operators allow Airflow to </a:t>
            </a:r>
            <a:r>
              <a:rPr lang="en-US" sz="2200" b="1" dirty="0"/>
              <a:t>run notebooks, JAR jobs, Python scripts, and manage Databricks jobs automatically</a:t>
            </a:r>
            <a:r>
              <a:rPr lang="en-US" sz="2200" dirty="0"/>
              <a:t>.</a:t>
            </a:r>
          </a:p>
          <a:p>
            <a:endParaRPr lang="en-US" sz="2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B7D31F-0D50-5977-60CB-E2B46C9C2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160383"/>
              </p:ext>
            </p:extLst>
          </p:nvPr>
        </p:nvGraphicFramePr>
        <p:xfrm>
          <a:off x="154970" y="434809"/>
          <a:ext cx="6063667" cy="4238040"/>
        </p:xfrm>
        <a:graphic>
          <a:graphicData uri="http://schemas.openxmlformats.org/drawingml/2006/table">
            <a:tbl>
              <a:tblPr/>
              <a:tblGrid>
                <a:gridCol w="3781733">
                  <a:extLst>
                    <a:ext uri="{9D8B030D-6E8A-4147-A177-3AD203B41FA5}">
                      <a16:colId xmlns:a16="http://schemas.microsoft.com/office/drawing/2014/main" val="1858338070"/>
                    </a:ext>
                  </a:extLst>
                </a:gridCol>
                <a:gridCol w="2281934">
                  <a:extLst>
                    <a:ext uri="{9D8B030D-6E8A-4147-A177-3AD203B41FA5}">
                      <a16:colId xmlns:a16="http://schemas.microsoft.com/office/drawing/2014/main" val="421492291"/>
                    </a:ext>
                  </a:extLst>
                </a:gridCol>
              </a:tblGrid>
              <a:tr h="349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highlight>
                            <a:srgbClr val="FFFF00"/>
                          </a:highlight>
                        </a:rPr>
                        <a:t>Operator</a:t>
                      </a:r>
                    </a:p>
                  </a:txBody>
                  <a:tcPr marL="79513" marR="79513" marT="39756" marB="3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highlight>
                            <a:srgbClr val="FFFF00"/>
                          </a:highlight>
                        </a:rPr>
                        <a:t>Purpose</a:t>
                      </a:r>
                    </a:p>
                  </a:txBody>
                  <a:tcPr marL="79513" marR="79513" marT="39756" marB="3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880321"/>
                  </a:ext>
                </a:extLst>
              </a:tr>
              <a:tr h="349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PythonOperator</a:t>
                      </a:r>
                    </a:p>
                  </a:txBody>
                  <a:tcPr marL="79513" marR="79513" marT="39756" marB="3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Run Python code</a:t>
                      </a:r>
                    </a:p>
                  </a:txBody>
                  <a:tcPr marL="79513" marR="79513" marT="39756" marB="3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214142"/>
                  </a:ext>
                </a:extLst>
              </a:tr>
              <a:tr h="588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/>
                        <a:t>BashOperator</a:t>
                      </a:r>
                      <a:endParaRPr lang="en-US" sz="2800" dirty="0"/>
                    </a:p>
                  </a:txBody>
                  <a:tcPr marL="79513" marR="79513" marT="39756" marB="3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Run shell commands</a:t>
                      </a:r>
                    </a:p>
                  </a:txBody>
                  <a:tcPr marL="79513" marR="79513" marT="39756" marB="3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598021"/>
                  </a:ext>
                </a:extLst>
              </a:tr>
              <a:tr h="349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EmailOperator</a:t>
                      </a:r>
                    </a:p>
                  </a:txBody>
                  <a:tcPr marL="79513" marR="79513" marT="39756" marB="3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Send emails</a:t>
                      </a:r>
                    </a:p>
                  </a:txBody>
                  <a:tcPr marL="79513" marR="79513" marT="39756" marB="3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454710"/>
                  </a:ext>
                </a:extLst>
              </a:tr>
              <a:tr h="588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DatabricksSubmitRunOperator</a:t>
                      </a:r>
                    </a:p>
                  </a:txBody>
                  <a:tcPr marL="79513" marR="79513" marT="39756" marB="3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Run Databricks job</a:t>
                      </a:r>
                    </a:p>
                  </a:txBody>
                  <a:tcPr marL="79513" marR="79513" marT="39756" marB="3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807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201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7DD36-DD09-3810-9C46-281D38895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5" y="1357540"/>
            <a:ext cx="1190897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1️⃣ </a:t>
            </a:r>
            <a:r>
              <a:rPr lang="en-US" dirty="0" err="1"/>
              <a:t>DatabricksSubmitRunOperator</a:t>
            </a:r>
            <a:r>
              <a:rPr lang="en-US" dirty="0"/>
              <a:t> (Most Used)-- Used to </a:t>
            </a:r>
            <a:r>
              <a:rPr lang="en-US" b="1" dirty="0"/>
              <a:t>submit a one-time job run to Databricks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2️⃣ </a:t>
            </a:r>
            <a:r>
              <a:rPr lang="en-US" dirty="0" err="1"/>
              <a:t>DatabricksRunNowOperator</a:t>
            </a:r>
            <a:r>
              <a:rPr lang="en-US" dirty="0"/>
              <a:t> -- Runs an </a:t>
            </a:r>
            <a:r>
              <a:rPr lang="en-US" b="1" dirty="0"/>
              <a:t>existing Databricks Job</a:t>
            </a:r>
            <a:r>
              <a:rPr lang="en-US" dirty="0"/>
              <a:t> created in Databricks UI.</a:t>
            </a:r>
          </a:p>
          <a:p>
            <a:pPr marL="0" indent="0">
              <a:buNone/>
            </a:pPr>
            <a:r>
              <a:rPr lang="en-US" dirty="0"/>
              <a:t>3️⃣ </a:t>
            </a:r>
            <a:r>
              <a:rPr lang="en-US" dirty="0" err="1"/>
              <a:t>DatabricksCreateJobsOperator</a:t>
            </a:r>
            <a:r>
              <a:rPr lang="en-US" dirty="0"/>
              <a:t> -- Creates a </a:t>
            </a:r>
            <a:r>
              <a:rPr lang="en-US" b="1" dirty="0"/>
              <a:t>new Databricks job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4️⃣ </a:t>
            </a:r>
            <a:r>
              <a:rPr lang="en-US" dirty="0" err="1"/>
              <a:t>DatabricksDeleteJobsOperator</a:t>
            </a:r>
            <a:r>
              <a:rPr lang="en-US" dirty="0"/>
              <a:t> -- Deletes a Databricks job.</a:t>
            </a:r>
          </a:p>
          <a:p>
            <a:pPr marL="0" indent="0">
              <a:buNone/>
            </a:pPr>
            <a:r>
              <a:rPr lang="en-US" dirty="0"/>
              <a:t>5️⃣ </a:t>
            </a:r>
            <a:r>
              <a:rPr lang="en-US" dirty="0" err="1"/>
              <a:t>DatabricksRepairRunOperator</a:t>
            </a:r>
            <a:r>
              <a:rPr lang="en-US" dirty="0"/>
              <a:t> -- Used to repair failed tasks in a Databricks job run.</a:t>
            </a:r>
          </a:p>
          <a:p>
            <a:pPr marL="0" indent="0">
              <a:buNone/>
            </a:pPr>
            <a:r>
              <a:rPr lang="en-US" dirty="0"/>
              <a:t>6️⃣ </a:t>
            </a:r>
            <a:r>
              <a:rPr lang="en-US" dirty="0" err="1"/>
              <a:t>DatabricksSQLStatementsOperator</a:t>
            </a:r>
            <a:r>
              <a:rPr lang="en-US" dirty="0"/>
              <a:t>-- Runs SQL queries on Databricks SQL Warehouse.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53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4BFF53-8252-96B9-353D-CC9E58DB1D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8060373"/>
              </p:ext>
            </p:extLst>
          </p:nvPr>
        </p:nvGraphicFramePr>
        <p:xfrm>
          <a:off x="643467" y="788060"/>
          <a:ext cx="10905066" cy="5281881"/>
        </p:xfrm>
        <a:graphic>
          <a:graphicData uri="http://schemas.openxmlformats.org/drawingml/2006/table">
            <a:tbl>
              <a:tblPr/>
              <a:tblGrid>
                <a:gridCol w="6274959">
                  <a:extLst>
                    <a:ext uri="{9D8B030D-6E8A-4147-A177-3AD203B41FA5}">
                      <a16:colId xmlns:a16="http://schemas.microsoft.com/office/drawing/2014/main" val="2026874506"/>
                    </a:ext>
                  </a:extLst>
                </a:gridCol>
                <a:gridCol w="4630107">
                  <a:extLst>
                    <a:ext uri="{9D8B030D-6E8A-4147-A177-3AD203B41FA5}">
                      <a16:colId xmlns:a16="http://schemas.microsoft.com/office/drawing/2014/main" val="130855875"/>
                    </a:ext>
                  </a:extLst>
                </a:gridCol>
              </a:tblGrid>
              <a:tr h="480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1" i="0" u="none" strike="noStrike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Operator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1" i="0" u="none" strike="noStrike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683166"/>
                  </a:ext>
                </a:extLst>
              </a:tr>
              <a:tr h="480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DatabricksSubmitRunOperator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Submit one-time job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699415"/>
                  </a:ext>
                </a:extLst>
              </a:tr>
              <a:tr h="480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DatabricksRunNowOperator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Run existing job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281110"/>
                  </a:ext>
                </a:extLst>
              </a:tr>
              <a:tr h="480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DatabricksCreateJobsOperator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Create job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674340"/>
                  </a:ext>
                </a:extLst>
              </a:tr>
              <a:tr h="480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DatabricksDeleteJobsOperator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Delete job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388186"/>
                  </a:ext>
                </a:extLst>
              </a:tr>
              <a:tr h="480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DatabricksListJobsOperator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List jobs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81399"/>
                  </a:ext>
                </a:extLst>
              </a:tr>
              <a:tr h="480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DatabricksGetRunOperator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Check job run status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516071"/>
                  </a:ext>
                </a:extLst>
              </a:tr>
              <a:tr h="480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DatabricksCancelRunOperator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Stop running job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390384"/>
                  </a:ext>
                </a:extLst>
              </a:tr>
              <a:tr h="480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DatabricksRepairRunOperator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Repair failed job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789439"/>
                  </a:ext>
                </a:extLst>
              </a:tr>
              <a:tr h="480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DatabricksSQLStatementsOperator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Execute SQL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790059"/>
                  </a:ext>
                </a:extLst>
              </a:tr>
              <a:tr h="4801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Deferrable Operators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 dirty="0">
                          <a:effectLst/>
                          <a:latin typeface="Arial" panose="020B0604020202020204" pitchFamily="34" charset="0"/>
                        </a:rPr>
                        <a:t>Async execution</a:t>
                      </a:r>
                    </a:p>
                  </a:txBody>
                  <a:tcPr marL="109130" marR="109130" marT="54565" marB="54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099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384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D578-877E-7F92-382A-4C2D50D4E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1️⃣</a:t>
            </a:r>
            <a:r>
              <a:rPr lang="en-US" dirty="0" err="1"/>
              <a:t>DatabricksSubmitRunOperator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DA58D-F55B-0654-532B-40115DFFC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</a:t>
            </a:r>
            <a:r>
              <a:rPr lang="en-US" b="1" dirty="0"/>
              <a:t>submit a one-time job run to Databricks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Use case</a:t>
            </a:r>
            <a:endParaRPr lang="en-US" dirty="0"/>
          </a:p>
          <a:p>
            <a:r>
              <a:rPr lang="en-US" dirty="0"/>
              <a:t>Run Databricks notebook</a:t>
            </a:r>
          </a:p>
          <a:p>
            <a:r>
              <a:rPr lang="en-US" dirty="0"/>
              <a:t>Run ETL pipeline</a:t>
            </a:r>
          </a:p>
          <a:p>
            <a:r>
              <a:rPr lang="en-US" dirty="0"/>
              <a:t>Run ML 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491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B7B99-430A-AA6B-D153-7DDBD6C86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2️⃣ </a:t>
            </a:r>
            <a:r>
              <a:rPr lang="en-US" dirty="0" err="1"/>
              <a:t>DatabricksRunNowOperator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9A2DB-83DF-CFED-2B8F-B605F2187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Runs an </a:t>
            </a:r>
            <a:r>
              <a:rPr lang="en-US" b="1" dirty="0"/>
              <a:t>existing Databricks Job</a:t>
            </a:r>
            <a:r>
              <a:rPr lang="en-US" dirty="0"/>
              <a:t> created in Databricks UI.</a:t>
            </a:r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Use case</a:t>
            </a:r>
            <a:endParaRPr lang="en-US" dirty="0"/>
          </a:p>
          <a:p>
            <a:r>
              <a:rPr lang="en-US" dirty="0"/>
              <a:t>Trigger scheduled Databricks jobs</a:t>
            </a:r>
          </a:p>
          <a:p>
            <a:r>
              <a:rPr lang="en-US" dirty="0"/>
              <a:t>Run production pipelines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97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97970-9512-2D4E-6AB6-14C362654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828" y="0"/>
            <a:ext cx="10515600" cy="587829"/>
          </a:xfrm>
        </p:spPr>
        <p:txBody>
          <a:bodyPr>
            <a:normAutofit fontScale="90000"/>
          </a:bodyPr>
          <a:lstStyle/>
          <a:p>
            <a:r>
              <a:rPr lang="en-US" dirty="0"/>
              <a:t>Task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D8B80-4538-C2AD-849C-E7595A6F0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9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Defines </a:t>
            </a:r>
            <a:r>
              <a:rPr lang="en-US" b="1" dirty="0"/>
              <a:t>execution order of tasks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task1 &gt;&gt; task2 &gt;&gt; task3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Extract → Clean → Aggregate → Load</a:t>
            </a:r>
          </a:p>
        </p:txBody>
      </p:sp>
    </p:spTree>
    <p:extLst>
      <p:ext uri="{BB962C8B-B14F-4D97-AF65-F5344CB8AC3E}">
        <p14:creationId xmlns:p14="http://schemas.microsoft.com/office/powerpoint/2010/main" val="2105904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AFB3F-0CB8-9398-72E9-042F31BD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26031"/>
          </a:xfrm>
        </p:spPr>
        <p:txBody>
          <a:bodyPr>
            <a:normAutofit fontScale="90000"/>
          </a:bodyPr>
          <a:lstStyle/>
          <a:p>
            <a:r>
              <a:rPr lang="en-US" dirty="0"/>
              <a:t>Dynamic and Parameterized DAGs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F587-1748-3626-7A29-65FE4A5D0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" y="875051"/>
            <a:ext cx="10515600" cy="596469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Used when DAGs need </a:t>
            </a:r>
            <a:r>
              <a:rPr lang="en-US" b="1" dirty="0"/>
              <a:t>runtime parameters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from </a:t>
            </a:r>
            <a:r>
              <a:rPr lang="en-US" b="1" dirty="0" err="1">
                <a:solidFill>
                  <a:srgbClr val="FF0000"/>
                </a:solidFill>
              </a:rPr>
              <a:t>airflow.models.param</a:t>
            </a:r>
            <a:r>
              <a:rPr lang="en-US" b="1" dirty="0">
                <a:solidFill>
                  <a:srgbClr val="FF0000"/>
                </a:solidFill>
              </a:rPr>
              <a:t> import Param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 DAG(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dag_id</a:t>
            </a:r>
            <a:r>
              <a:rPr lang="en-US" dirty="0"/>
              <a:t>="</a:t>
            </a:r>
            <a:r>
              <a:rPr lang="en-US" dirty="0" err="1"/>
              <a:t>dynamic_dag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highlight>
                  <a:srgbClr val="FFFF00"/>
                </a:highlight>
              </a:rPr>
              <a:t>params={"table": Param("customers")}</a:t>
            </a:r>
          </a:p>
          <a:p>
            <a:pPr marL="0" indent="0">
              <a:buNone/>
            </a:pP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pass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cases:</a:t>
            </a:r>
          </a:p>
          <a:p>
            <a:r>
              <a:rPr lang="en-US" dirty="0"/>
              <a:t>Different environments</a:t>
            </a:r>
          </a:p>
          <a:p>
            <a:r>
              <a:rPr lang="en-US" dirty="0"/>
              <a:t>Dynamic tables</a:t>
            </a:r>
          </a:p>
          <a:p>
            <a:r>
              <a:rPr lang="en-US" dirty="0"/>
              <a:t>Parameter-based workflows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7F1586-3E1E-FD92-E1F5-1388AB969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434" y="2470575"/>
            <a:ext cx="5164451" cy="262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168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DEEF93-FBB4-F8B5-FE95-9834E8250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AWS Connections and Hooks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DA068-513B-1F47-E00B-DF2431AC7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1" y="1984443"/>
            <a:ext cx="6201181" cy="41925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Used to connect </a:t>
            </a:r>
            <a:r>
              <a:rPr lang="en-US" b="1" dirty="0"/>
              <a:t>Airflow with AWS services</a:t>
            </a:r>
            <a:r>
              <a:rPr lang="en-US" dirty="0"/>
              <a:t> like: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 connection in Airflow:</a:t>
            </a:r>
          </a:p>
          <a:p>
            <a:pPr marL="0" indent="0">
              <a:buNone/>
            </a:pPr>
            <a:r>
              <a:rPr lang="en-US" dirty="0"/>
              <a:t>Admin → Connections</a:t>
            </a:r>
            <a:br>
              <a:rPr lang="en-US" dirty="0"/>
            </a:br>
            <a:r>
              <a:rPr lang="en-US" dirty="0"/>
              <a:t>Conn Id: </a:t>
            </a:r>
            <a:r>
              <a:rPr lang="en-US" dirty="0" err="1"/>
              <a:t>aws_default</a:t>
            </a:r>
            <a:br>
              <a:rPr lang="en-US" dirty="0"/>
            </a:br>
            <a:r>
              <a:rPr lang="en-US" dirty="0"/>
              <a:t>Conn Type: Amazon Web Services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from airflow.providers.amazon.aws.hooks.s3 import S3Hook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88044C-527E-0009-4F0D-2B68744F5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628816"/>
              </p:ext>
            </p:extLst>
          </p:nvPr>
        </p:nvGraphicFramePr>
        <p:xfrm>
          <a:off x="703182" y="1809787"/>
          <a:ext cx="4777381" cy="3068685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759068">
                  <a:extLst>
                    <a:ext uri="{9D8B030D-6E8A-4147-A177-3AD203B41FA5}">
                      <a16:colId xmlns:a16="http://schemas.microsoft.com/office/drawing/2014/main" val="4201182677"/>
                    </a:ext>
                  </a:extLst>
                </a:gridCol>
                <a:gridCol w="3018313">
                  <a:extLst>
                    <a:ext uri="{9D8B030D-6E8A-4147-A177-3AD203B41FA5}">
                      <a16:colId xmlns:a16="http://schemas.microsoft.com/office/drawing/2014/main" val="4058338165"/>
                    </a:ext>
                  </a:extLst>
                </a:gridCol>
              </a:tblGrid>
              <a:tr h="613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Service</a:t>
                      </a:r>
                    </a:p>
                  </a:txBody>
                  <a:tcPr marL="139486" marR="139486" marT="69743" marB="697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Use</a:t>
                      </a:r>
                    </a:p>
                  </a:txBody>
                  <a:tcPr marL="139486" marR="139486" marT="69743" marB="69743" anchor="ctr"/>
                </a:tc>
                <a:extLst>
                  <a:ext uri="{0D108BD9-81ED-4DB2-BD59-A6C34878D82A}">
                    <a16:rowId xmlns:a16="http://schemas.microsoft.com/office/drawing/2014/main" val="3395111988"/>
                  </a:ext>
                </a:extLst>
              </a:tr>
              <a:tr h="613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S3</a:t>
                      </a:r>
                    </a:p>
                  </a:txBody>
                  <a:tcPr marL="139486" marR="139486" marT="69743" marB="697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Data storage</a:t>
                      </a:r>
                    </a:p>
                  </a:txBody>
                  <a:tcPr marL="139486" marR="139486" marT="69743" marB="69743" anchor="ctr"/>
                </a:tc>
                <a:extLst>
                  <a:ext uri="{0D108BD9-81ED-4DB2-BD59-A6C34878D82A}">
                    <a16:rowId xmlns:a16="http://schemas.microsoft.com/office/drawing/2014/main" val="2228515707"/>
                  </a:ext>
                </a:extLst>
              </a:tr>
              <a:tr h="613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Redshift</a:t>
                      </a:r>
                    </a:p>
                  </a:txBody>
                  <a:tcPr marL="139486" marR="139486" marT="69743" marB="697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Data warehouse</a:t>
                      </a:r>
                    </a:p>
                  </a:txBody>
                  <a:tcPr marL="139486" marR="139486" marT="69743" marB="69743" anchor="ctr"/>
                </a:tc>
                <a:extLst>
                  <a:ext uri="{0D108BD9-81ED-4DB2-BD59-A6C34878D82A}">
                    <a16:rowId xmlns:a16="http://schemas.microsoft.com/office/drawing/2014/main" val="4255621596"/>
                  </a:ext>
                </a:extLst>
              </a:tr>
              <a:tr h="613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Glue</a:t>
                      </a:r>
                    </a:p>
                  </a:txBody>
                  <a:tcPr marL="139486" marR="139486" marT="69743" marB="697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ETL</a:t>
                      </a:r>
                    </a:p>
                  </a:txBody>
                  <a:tcPr marL="139486" marR="139486" marT="69743" marB="69743" anchor="ctr"/>
                </a:tc>
                <a:extLst>
                  <a:ext uri="{0D108BD9-81ED-4DB2-BD59-A6C34878D82A}">
                    <a16:rowId xmlns:a16="http://schemas.microsoft.com/office/drawing/2014/main" val="3452813543"/>
                  </a:ext>
                </a:extLst>
              </a:tr>
              <a:tr h="613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Athena</a:t>
                      </a:r>
                    </a:p>
                  </a:txBody>
                  <a:tcPr marL="139486" marR="139486" marT="69743" marB="697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/>
                        <a:t>Query service</a:t>
                      </a:r>
                    </a:p>
                  </a:txBody>
                  <a:tcPr marL="139486" marR="139486" marT="69743" marB="69743" anchor="ctr"/>
                </a:tc>
                <a:extLst>
                  <a:ext uri="{0D108BD9-81ED-4DB2-BD59-A6C34878D82A}">
                    <a16:rowId xmlns:a16="http://schemas.microsoft.com/office/drawing/2014/main" val="3590672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633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1386-2736-4494-7637-17DE6F9F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a Hook?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50A70-9ABC-0D30-79A3-22B114FFC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8" y="1253331"/>
            <a:ext cx="10515600" cy="53434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Hook</a:t>
            </a:r>
            <a:r>
              <a:rPr lang="en-US" dirty="0"/>
              <a:t> is a </a:t>
            </a:r>
            <a:r>
              <a:rPr lang="en-US" b="1" dirty="0"/>
              <a:t>Python interface used to interact with external systems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It helps Airflow </a:t>
            </a:r>
            <a:r>
              <a:rPr lang="en-US" b="1" dirty="0"/>
              <a:t>authenticate and communicate</a:t>
            </a:r>
            <a:r>
              <a:rPr lang="en-US" dirty="0"/>
              <a:t> with services such as:</a:t>
            </a:r>
          </a:p>
          <a:p>
            <a:r>
              <a:rPr lang="en-US" dirty="0"/>
              <a:t>Databases</a:t>
            </a:r>
          </a:p>
          <a:p>
            <a:r>
              <a:rPr lang="en-US" dirty="0"/>
              <a:t>Cloud storage</a:t>
            </a:r>
          </a:p>
          <a:p>
            <a:r>
              <a:rPr lang="en-US" dirty="0"/>
              <a:t>APIs</a:t>
            </a:r>
          </a:p>
          <a:p>
            <a:r>
              <a:rPr lang="en-US" dirty="0"/>
              <a:t>Data platforms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 external systems:</a:t>
            </a:r>
          </a:p>
          <a:p>
            <a:r>
              <a:rPr lang="en-US" b="1" dirty="0"/>
              <a:t>Databricks</a:t>
            </a:r>
            <a:endParaRPr lang="en-US" dirty="0"/>
          </a:p>
          <a:p>
            <a:r>
              <a:rPr lang="en-US" b="1" dirty="0"/>
              <a:t>Amazon S3</a:t>
            </a:r>
            <a:endParaRPr lang="en-US" dirty="0"/>
          </a:p>
          <a:p>
            <a:r>
              <a:rPr lang="en-US" b="1" dirty="0"/>
              <a:t>MySQL</a:t>
            </a:r>
            <a:endParaRPr lang="en-US" dirty="0"/>
          </a:p>
          <a:p>
            <a:r>
              <a:rPr lang="en-US" b="1" dirty="0"/>
              <a:t>PostgreSQL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596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7CBA6-3731-DB57-28AD-294C29B3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Hooks are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7A33-9EE0-1F40-B5D1-8EFBE300F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Hooks handle:</a:t>
            </a:r>
          </a:p>
          <a:p>
            <a:r>
              <a:rPr lang="en-US" dirty="0"/>
              <a:t>✔ Authentication</a:t>
            </a:r>
            <a:br>
              <a:rPr lang="en-US" dirty="0"/>
            </a:br>
            <a:r>
              <a:rPr lang="en-US" dirty="0"/>
              <a:t>✔ Connection management</a:t>
            </a:r>
            <a:br>
              <a:rPr lang="en-US" dirty="0"/>
            </a:br>
            <a:r>
              <a:rPr lang="en-US" dirty="0"/>
              <a:t>✔ Query execution</a:t>
            </a:r>
            <a:br>
              <a:rPr lang="en-US" dirty="0"/>
            </a:br>
            <a:r>
              <a:rPr lang="en-US" dirty="0"/>
              <a:t>✔ API communication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26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19FFB-2343-AFB6-A349-707FE3D7F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MySQL Hook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7736E-4AE0-C49E-00FB-AEA8A609F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airflow.providers.mysql.hooks.mysql</a:t>
            </a:r>
            <a:r>
              <a:rPr lang="en-US" dirty="0"/>
              <a:t> import </a:t>
            </a:r>
            <a:r>
              <a:rPr lang="en-US" dirty="0" err="1"/>
              <a:t>MySqlHook</a:t>
            </a:r>
            <a:endParaRPr lang="en-US" dirty="0"/>
          </a:p>
          <a:p>
            <a:endParaRPr lang="en-US" dirty="0"/>
          </a:p>
          <a:p>
            <a:r>
              <a:rPr lang="en-US" dirty="0"/>
              <a:t>hook = 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MySqlHook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(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mysql_conn_id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="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mysql_default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")</a:t>
            </a:r>
          </a:p>
          <a:p>
            <a:endParaRPr lang="en-US" dirty="0"/>
          </a:p>
          <a:p>
            <a:r>
              <a:rPr lang="en-US" dirty="0"/>
              <a:t>records = </a:t>
            </a:r>
            <a:r>
              <a:rPr lang="en-US" dirty="0" err="1"/>
              <a:t>hook.get_records</a:t>
            </a:r>
            <a:r>
              <a:rPr lang="en-US" dirty="0"/>
              <a:t>("SELECT * FROM customers")</a:t>
            </a:r>
          </a:p>
          <a:p>
            <a:endParaRPr lang="en-US" dirty="0"/>
          </a:p>
          <a:p>
            <a:r>
              <a:rPr lang="en-US" dirty="0"/>
              <a:t>print(records)</a:t>
            </a:r>
          </a:p>
        </p:txBody>
      </p:sp>
    </p:spTree>
    <p:extLst>
      <p:ext uri="{BB962C8B-B14F-4D97-AF65-F5344CB8AC3E}">
        <p14:creationId xmlns:p14="http://schemas.microsoft.com/office/powerpoint/2010/main" val="3236671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D9F7-6528-68D1-A4F3-BA81B21B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HOOKS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A4BEA-F6E4-2B33-995C-C7B66EE5E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8" y="125333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Example: Databricks Hook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Used to connect to Databricks.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from </a:t>
            </a:r>
            <a:r>
              <a:rPr lang="en-US" i="1" dirty="0" err="1"/>
              <a:t>airflow.providers.databricks.hooks.databricks</a:t>
            </a:r>
            <a:r>
              <a:rPr lang="en-US" i="1" dirty="0"/>
              <a:t> import </a:t>
            </a:r>
            <a:r>
              <a:rPr lang="en-US" b="1" i="1" dirty="0" err="1">
                <a:solidFill>
                  <a:srgbClr val="FF0000"/>
                </a:solidFill>
              </a:rPr>
              <a:t>DatabricksHook</a:t>
            </a:r>
            <a:endParaRPr lang="en-US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hook = </a:t>
            </a:r>
            <a:r>
              <a:rPr lang="en-US" b="1" i="1" dirty="0" err="1">
                <a:solidFill>
                  <a:srgbClr val="FF0000"/>
                </a:solidFill>
              </a:rPr>
              <a:t>DatabricksHook</a:t>
            </a:r>
            <a:r>
              <a:rPr lang="en-US" i="1" dirty="0"/>
              <a:t>(</a:t>
            </a:r>
            <a:r>
              <a:rPr lang="en-US" i="1" dirty="0" err="1"/>
              <a:t>databricks_conn_id</a:t>
            </a:r>
            <a:r>
              <a:rPr lang="en-US" i="1" dirty="0"/>
              <a:t>="</a:t>
            </a:r>
            <a:r>
              <a:rPr lang="en-US" i="1" dirty="0" err="1"/>
              <a:t>databricks_default</a:t>
            </a:r>
            <a:r>
              <a:rPr lang="en-US" i="1" dirty="0"/>
              <a:t>")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runs = </a:t>
            </a:r>
            <a:r>
              <a:rPr lang="en-US" i="1" dirty="0" err="1"/>
              <a:t>hook.list_runs</a:t>
            </a:r>
            <a:r>
              <a:rPr lang="en-US" i="1" dirty="0"/>
              <a:t>()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print(runs)</a:t>
            </a:r>
          </a:p>
        </p:txBody>
      </p:sp>
    </p:spTree>
    <p:extLst>
      <p:ext uri="{BB962C8B-B14F-4D97-AF65-F5344CB8AC3E}">
        <p14:creationId xmlns:p14="http://schemas.microsoft.com/office/powerpoint/2010/main" val="605448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CC7120-ECA9-CB4B-E7A1-85A4E9F7E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Common Airflow Hooks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233F5E-4ABE-2C04-1B12-223784A49B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825931"/>
              </p:ext>
            </p:extLst>
          </p:nvPr>
        </p:nvGraphicFramePr>
        <p:xfrm>
          <a:off x="1416962" y="2112579"/>
          <a:ext cx="9382015" cy="4192806"/>
        </p:xfrm>
        <a:graphic>
          <a:graphicData uri="http://schemas.openxmlformats.org/drawingml/2006/table">
            <a:tbl>
              <a:tblPr/>
              <a:tblGrid>
                <a:gridCol w="5319777">
                  <a:extLst>
                    <a:ext uri="{9D8B030D-6E8A-4147-A177-3AD203B41FA5}">
                      <a16:colId xmlns:a16="http://schemas.microsoft.com/office/drawing/2014/main" val="1124449226"/>
                    </a:ext>
                  </a:extLst>
                </a:gridCol>
                <a:gridCol w="4062238">
                  <a:extLst>
                    <a:ext uri="{9D8B030D-6E8A-4147-A177-3AD203B41FA5}">
                      <a16:colId xmlns:a16="http://schemas.microsoft.com/office/drawing/2014/main" val="1929599248"/>
                    </a:ext>
                  </a:extLst>
                </a:gridCol>
              </a:tblGrid>
              <a:tr h="698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>
                          <a:solidFill>
                            <a:srgbClr val="FF0000"/>
                          </a:solidFill>
                        </a:rPr>
                        <a:t>Hook</a:t>
                      </a:r>
                    </a:p>
                  </a:txBody>
                  <a:tcPr marL="158818" marR="158818" marT="79409" marB="794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dirty="0">
                          <a:solidFill>
                            <a:srgbClr val="FF0000"/>
                          </a:solidFill>
                        </a:rPr>
                        <a:t>Service</a:t>
                      </a:r>
                    </a:p>
                  </a:txBody>
                  <a:tcPr marL="158818" marR="158818" marT="79409" marB="794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55933"/>
                  </a:ext>
                </a:extLst>
              </a:tr>
              <a:tr h="698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S3Hook</a:t>
                      </a:r>
                    </a:p>
                  </a:txBody>
                  <a:tcPr marL="158818" marR="158818" marT="79409" marB="794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Amazon S3</a:t>
                      </a:r>
                    </a:p>
                  </a:txBody>
                  <a:tcPr marL="158818" marR="158818" marT="79409" marB="794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6250339"/>
                  </a:ext>
                </a:extLst>
              </a:tr>
              <a:tr h="698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MySqlHook</a:t>
                      </a:r>
                    </a:p>
                  </a:txBody>
                  <a:tcPr marL="158818" marR="158818" marT="79409" marB="794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MySQL</a:t>
                      </a:r>
                    </a:p>
                  </a:txBody>
                  <a:tcPr marL="158818" marR="158818" marT="79409" marB="794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116134"/>
                  </a:ext>
                </a:extLst>
              </a:tr>
              <a:tr h="698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PostgresHook</a:t>
                      </a:r>
                    </a:p>
                  </a:txBody>
                  <a:tcPr marL="158818" marR="158818" marT="79409" marB="794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PostgreSQL</a:t>
                      </a:r>
                    </a:p>
                  </a:txBody>
                  <a:tcPr marL="158818" marR="158818" marT="79409" marB="794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99273"/>
                  </a:ext>
                </a:extLst>
              </a:tr>
              <a:tr h="698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DatabricksHook</a:t>
                      </a:r>
                    </a:p>
                  </a:txBody>
                  <a:tcPr marL="158818" marR="158818" marT="79409" marB="794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Databricks</a:t>
                      </a:r>
                    </a:p>
                  </a:txBody>
                  <a:tcPr marL="158818" marR="158818" marT="79409" marB="794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707845"/>
                  </a:ext>
                </a:extLst>
              </a:tr>
              <a:tr h="698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HttpHook</a:t>
                      </a:r>
                    </a:p>
                  </a:txBody>
                  <a:tcPr marL="158818" marR="158818" marT="79409" marB="794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dirty="0"/>
                        <a:t>REST APIs</a:t>
                      </a:r>
                    </a:p>
                  </a:txBody>
                  <a:tcPr marL="158818" marR="158818" marT="79409" marB="794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525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273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285D1-ABD3-8B7C-032F-3389128AA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Hooks vs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4ACDD9-7D60-B38F-6A4F-00B87DC182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2612166"/>
              </p:ext>
            </p:extLst>
          </p:nvPr>
        </p:nvGraphicFramePr>
        <p:xfrm>
          <a:off x="-96174" y="1575459"/>
          <a:ext cx="7835917" cy="3245529"/>
        </p:xfrm>
        <a:graphic>
          <a:graphicData uri="http://schemas.openxmlformats.org/drawingml/2006/table">
            <a:tbl>
              <a:tblPr/>
              <a:tblGrid>
                <a:gridCol w="1487475">
                  <a:extLst>
                    <a:ext uri="{9D8B030D-6E8A-4147-A177-3AD203B41FA5}">
                      <a16:colId xmlns:a16="http://schemas.microsoft.com/office/drawing/2014/main" val="1024430608"/>
                    </a:ext>
                  </a:extLst>
                </a:gridCol>
                <a:gridCol w="2836872">
                  <a:extLst>
                    <a:ext uri="{9D8B030D-6E8A-4147-A177-3AD203B41FA5}">
                      <a16:colId xmlns:a16="http://schemas.microsoft.com/office/drawing/2014/main" val="1237617911"/>
                    </a:ext>
                  </a:extLst>
                </a:gridCol>
                <a:gridCol w="3511570">
                  <a:extLst>
                    <a:ext uri="{9D8B030D-6E8A-4147-A177-3AD203B41FA5}">
                      <a16:colId xmlns:a16="http://schemas.microsoft.com/office/drawing/2014/main" val="2222740488"/>
                    </a:ext>
                  </a:extLst>
                </a:gridCol>
              </a:tblGrid>
              <a:tr h="693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highlight>
                            <a:srgbClr val="FFFF00"/>
                          </a:highlight>
                        </a:rPr>
                        <a:t>Feature</a:t>
                      </a:r>
                    </a:p>
                  </a:txBody>
                  <a:tcPr marL="157550" marR="157550" marT="78775" marB="7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highlight>
                            <a:srgbClr val="FFFF00"/>
                          </a:highlight>
                        </a:rPr>
                        <a:t>Hook</a:t>
                      </a:r>
                    </a:p>
                  </a:txBody>
                  <a:tcPr marL="157550" marR="157550" marT="78775" marB="7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highlight>
                            <a:srgbClr val="FFFF00"/>
                          </a:highlight>
                        </a:rPr>
                        <a:t>Operator</a:t>
                      </a:r>
                    </a:p>
                  </a:txBody>
                  <a:tcPr marL="157550" marR="157550" marT="78775" marB="7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395662"/>
                  </a:ext>
                </a:extLst>
              </a:tr>
              <a:tr h="1165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1">
                          <a:solidFill>
                            <a:srgbClr val="FF0000"/>
                          </a:solidFill>
                        </a:rPr>
                        <a:t>Purpose</a:t>
                      </a:r>
                    </a:p>
                  </a:txBody>
                  <a:tcPr marL="157550" marR="157550" marT="78775" marB="7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Connect to external system</a:t>
                      </a:r>
                    </a:p>
                  </a:txBody>
                  <a:tcPr marL="157550" marR="157550" marT="78775" marB="7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Perform a task</a:t>
                      </a:r>
                    </a:p>
                  </a:txBody>
                  <a:tcPr marL="157550" marR="157550" marT="78775" marB="7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661258"/>
                  </a:ext>
                </a:extLst>
              </a:tr>
              <a:tr h="693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1">
                          <a:solidFill>
                            <a:srgbClr val="FF0000"/>
                          </a:solidFill>
                        </a:rPr>
                        <a:t>Used by</a:t>
                      </a:r>
                    </a:p>
                  </a:txBody>
                  <a:tcPr marL="157550" marR="157550" marT="78775" marB="7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Operators</a:t>
                      </a:r>
                    </a:p>
                  </a:txBody>
                  <a:tcPr marL="157550" marR="157550" marT="78775" marB="7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DAG tasks</a:t>
                      </a:r>
                    </a:p>
                  </a:txBody>
                  <a:tcPr marL="157550" marR="157550" marT="78775" marB="7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928403"/>
                  </a:ext>
                </a:extLst>
              </a:tr>
              <a:tr h="693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i="1" dirty="0">
                          <a:solidFill>
                            <a:srgbClr val="FF0000"/>
                          </a:solidFill>
                        </a:rPr>
                        <a:t>Example</a:t>
                      </a:r>
                    </a:p>
                  </a:txBody>
                  <a:tcPr marL="157550" marR="157550" marT="78775" marB="7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S3Hook</a:t>
                      </a:r>
                    </a:p>
                  </a:txBody>
                  <a:tcPr marL="157550" marR="157550" marT="78775" marB="7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S3CreateObjectOperator</a:t>
                      </a:r>
                    </a:p>
                  </a:txBody>
                  <a:tcPr marL="157550" marR="157550" marT="78775" marB="7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6459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2569CAE-635C-79C1-6799-E2EE722B7040}"/>
              </a:ext>
            </a:extLst>
          </p:cNvPr>
          <p:cNvSpPr txBox="1"/>
          <p:nvPr/>
        </p:nvSpPr>
        <p:spPr>
          <a:xfrm>
            <a:off x="8445517" y="1924820"/>
            <a:ext cx="35895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DAG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│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▼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Operator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│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▼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Hook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│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▼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External System</a:t>
            </a:r>
          </a:p>
        </p:txBody>
      </p:sp>
    </p:spTree>
    <p:extLst>
      <p:ext uri="{BB962C8B-B14F-4D97-AF65-F5344CB8AC3E}">
        <p14:creationId xmlns:p14="http://schemas.microsoft.com/office/powerpoint/2010/main" val="276698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42AE8-8E06-47EB-CE87-8D678A295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1001486"/>
          </a:xfrm>
        </p:spPr>
        <p:txBody>
          <a:bodyPr/>
          <a:lstStyle/>
          <a:p>
            <a:r>
              <a:rPr lang="en-US" dirty="0"/>
              <a:t>Monitoring and Troubleshooting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F548A-D68C-D736-0AEC-6E31996D6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</a:t>
            </a:r>
            <a:r>
              <a:rPr lang="en-US" b="1" dirty="0"/>
              <a:t>monitor DAG runs and debug failures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5133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834</Words>
  <Application>Microsoft Office PowerPoint</Application>
  <PresentationFormat>Widescreen</PresentationFormat>
  <Paragraphs>223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DAG Design</vt:lpstr>
      <vt:lpstr>PowerPoint Presentation</vt:lpstr>
      <vt:lpstr>PowerPoint Presentation</vt:lpstr>
      <vt:lpstr>Important DAG Components</vt:lpstr>
      <vt:lpstr>Databricks Operators</vt:lpstr>
      <vt:lpstr>PowerPoint Presentation</vt:lpstr>
      <vt:lpstr>PowerPoint Presentation</vt:lpstr>
      <vt:lpstr>PowerPoint Presentation</vt:lpstr>
      <vt:lpstr>1️⃣DatabricksSubmitRunOperator</vt:lpstr>
      <vt:lpstr>2️⃣ DatabricksRunNowOperator</vt:lpstr>
      <vt:lpstr>Task Dependencies</vt:lpstr>
      <vt:lpstr>Dynamic and Parameterized DAGs</vt:lpstr>
      <vt:lpstr>AWS Connections and Hooks</vt:lpstr>
      <vt:lpstr>What is a Hook?</vt:lpstr>
      <vt:lpstr>Why Hooks are Used</vt:lpstr>
      <vt:lpstr>Example: MySQL Hook</vt:lpstr>
      <vt:lpstr>HOOKS</vt:lpstr>
      <vt:lpstr>Common Airflow Hooks</vt:lpstr>
      <vt:lpstr>Hooks vs Operators</vt:lpstr>
      <vt:lpstr>Monitoring and Troubleshooting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7</cp:revision>
  <dcterms:created xsi:type="dcterms:W3CDTF">2026-03-04T23:06:06Z</dcterms:created>
  <dcterms:modified xsi:type="dcterms:W3CDTF">2026-03-04T23:58:47Z</dcterms:modified>
</cp:coreProperties>
</file>