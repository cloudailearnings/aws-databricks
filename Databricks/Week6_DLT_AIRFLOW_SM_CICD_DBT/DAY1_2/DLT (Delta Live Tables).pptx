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71" r:id="rId8"/>
    <p:sldId id="272" r:id="rId9"/>
    <p:sldId id="273" r:id="rId10"/>
    <p:sldId id="274" r:id="rId11"/>
    <p:sldId id="267" r:id="rId12"/>
    <p:sldId id="269" r:id="rId13"/>
    <p:sldId id="270" r:id="rId14"/>
    <p:sldId id="268" r:id="rId15"/>
    <p:sldId id="260" r:id="rId16"/>
    <p:sldId id="261" r:id="rId17"/>
    <p:sldId id="262" r:id="rId18"/>
    <p:sldId id="263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E42B-1986-58E5-1F60-9D7CEE14F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F5DAE-D98D-A60D-41CF-F0C230893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D5A26-A5C8-7CD6-0766-3C363EC84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F915-C6F8-4CF3-8AAF-9D2C1D061F4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FD023-C2B7-62D9-010D-695A1F91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84157-9AA5-46A5-ED52-10CF6FECD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8289D-50AD-46D9-A0CA-19AAC795A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6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64AD-6E62-15D3-5C2D-86A2938D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A83A2-709B-5B76-0BB1-001ABE074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34C9E-2011-E7A8-87D6-85F8B76F9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F915-C6F8-4CF3-8AAF-9D2C1D061F4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36017-329D-F712-900B-9769597F8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B8E25-F926-E82E-0958-022E15CF6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8289D-50AD-46D9-A0CA-19AAC795A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98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63F0-43D8-9168-90B8-1C8A22CB4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126FE-464F-B83C-0628-8137FE0B3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2DA12-6B70-6A46-41BB-29ACA6A39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F915-C6F8-4CF3-8AAF-9D2C1D061F4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8ABBA-EE65-197B-9AF0-FA3E45CA5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8328C-AF82-1C79-54DC-314577ADA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8289D-50AD-46D9-A0CA-19AAC795A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5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12452-14A8-42C1-E72C-14D12B61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79874-BEFF-B75A-D7A1-031B6350D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CE86D-B42E-6658-388A-8BFC76B84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02B69-EB0C-578D-4D5A-5F5881693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F915-C6F8-4CF3-8AAF-9D2C1D061F4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FA593-1506-864D-AB4D-517F90C12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7BAF8-E281-FC32-3B28-AD3FA99C9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8289D-50AD-46D9-A0CA-19AAC795A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09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8978-5119-95C3-93DA-C291D5B2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C931C-0E63-2652-2F96-B09E50A43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84EE1-0063-1065-33DE-3735173CB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93737-748A-3016-6A92-2B1CB283EA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4EC471-3E57-4BEE-9B26-AF69D35A5C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96BB8-A17C-7CD7-A076-A568D9518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F915-C6F8-4CF3-8AAF-9D2C1D061F4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0FD65B-47F5-BD29-C337-DB03D7944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C923C7-5773-79C8-41AB-7CEBE934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8289D-50AD-46D9-A0CA-19AAC795A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85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11DD-5EF0-479D-9149-43792F7A9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A15C91-D303-B93C-C86D-CABD422A5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F915-C6F8-4CF3-8AAF-9D2C1D061F4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1065E2-9841-65B2-5704-A2F90B3BE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7CC71-B056-1EF8-02AB-A2AC349C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8289D-50AD-46D9-A0CA-19AAC795A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34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B1976-0E5A-024F-44AB-030AAD5F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F915-C6F8-4CF3-8AAF-9D2C1D061F4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6A7FF3-D121-F380-B829-CC6573E18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D422A-EE10-081E-210B-38E22D6D5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8289D-50AD-46D9-A0CA-19AAC795A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4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BB46F-3D6E-8CA4-DF21-1A77F3918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EEE53-E128-9EF9-D9F6-B78529EE5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5D0E3-5CC5-7F05-39B0-4CE06966E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1EC46-C135-0109-7F9E-3E45F91D8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F915-C6F8-4CF3-8AAF-9D2C1D061F4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7032F-2810-A50A-1447-B3D5CAF22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CA415-AA7D-3D39-7D39-81F47CD58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8289D-50AD-46D9-A0CA-19AAC795A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12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8210-F3C8-DBAB-7D4D-E9349C42C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AF1868-C9E2-5832-C82E-B3A2776481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B1862-C779-BA72-0425-2496AF57C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4C9EB-CAF2-326C-D0ED-A6E7B7FB3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F915-C6F8-4CF3-8AAF-9D2C1D061F4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5DA9A-5C20-1596-092D-6495CFEA2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6904B-2C49-50A1-4EBA-C8AF8AE9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8289D-50AD-46D9-A0CA-19AAC795A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3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4216-D5BF-89B1-0FAA-002C7FD8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E0EDB-E913-0691-06E8-260489BE8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80487-B7B5-DBD7-FB21-34C6C851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F915-C6F8-4CF3-8AAF-9D2C1D061F4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23981-ABC8-9CEB-9C62-CCCC258AA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3BFBB-E033-5498-E205-997952DA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8289D-50AD-46D9-A0CA-19AAC795A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1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4B458C-F24E-54E5-2D21-1E4172851F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768DA-C5FA-2988-F72F-C137E0707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91C1C-CE5D-5417-9E52-AC2F3A78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F915-C6F8-4CF3-8AAF-9D2C1D061F4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6247C-73E8-1504-522D-3F800F98C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932DE-89FB-2E31-786C-32EC0935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8289D-50AD-46D9-A0CA-19AAC795A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9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A03070-79A4-9D5A-1417-F3877B16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C8223-DEF8-DAF2-6D0D-AECEC6AAC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B4CB0-F86E-0FA5-7235-6D9484427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AF915-C6F8-4CF3-8AAF-9D2C1D061F4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F303-0C27-192D-8566-3E2C13E47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CCB67-3333-DFC5-AF73-B71B035248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8289D-50AD-46D9-A0CA-19AAC795A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9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7DBFA-FDAC-D576-2B81-AD4D350334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🔷 DLT (Delta Live Tables)</a:t>
            </a:r>
          </a:p>
        </p:txBody>
      </p:sp>
    </p:spTree>
    <p:extLst>
      <p:ext uri="{BB962C8B-B14F-4D97-AF65-F5344CB8AC3E}">
        <p14:creationId xmlns:p14="http://schemas.microsoft.com/office/powerpoint/2010/main" val="3174149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3ACCC-22EA-7B02-324D-F294E55BF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DLT?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81312-F489-1EC4-EFEF-B56904B40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2" y="1346653"/>
            <a:ext cx="11941628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Delta Live Tables (DLT)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is a framework in </a:t>
            </a:r>
            <a:r>
              <a:rPr lang="en-US" b="1" dirty="0"/>
              <a:t>Databricks</a:t>
            </a:r>
            <a:r>
              <a:rPr lang="en-US" dirty="0"/>
              <a:t> used to </a:t>
            </a:r>
            <a:r>
              <a:rPr lang="en-US" b="1" dirty="0">
                <a:highlight>
                  <a:srgbClr val="FFFF00"/>
                </a:highlight>
              </a:rPr>
              <a:t>build reliable ETL pipelines</a:t>
            </a:r>
            <a:r>
              <a:rPr lang="en-US" dirty="0"/>
              <a:t> using </a:t>
            </a:r>
            <a:r>
              <a:rPr lang="en-US" b="1" dirty="0">
                <a:solidFill>
                  <a:srgbClr val="FF0000"/>
                </a:solidFill>
              </a:rPr>
              <a:t>SQL  or Python </a:t>
            </a:r>
            <a:r>
              <a:rPr lang="en-US" dirty="0"/>
              <a:t>on top of </a:t>
            </a:r>
            <a:r>
              <a:rPr lang="en-US" b="1" dirty="0">
                <a:highlight>
                  <a:srgbClr val="FFFF00"/>
                </a:highlight>
              </a:rPr>
              <a:t>Delta Lake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It automatically manages </a:t>
            </a:r>
            <a:r>
              <a:rPr lang="en-US" b="1" dirty="0"/>
              <a:t>data quality, dependency management, orchestration, and monitoring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6882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81C8-304D-EBAF-1614-D6A3896ED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0515600" cy="13003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🔹 Why DLT?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CC4A1-6E67-7894-B2D2-E4919D86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86138"/>
            <a:ext cx="10515600" cy="52718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Without DLT:</a:t>
            </a:r>
          </a:p>
          <a:p>
            <a:r>
              <a:rPr lang="en-US" dirty="0"/>
              <a:t>You write manual Spark jobs</a:t>
            </a:r>
          </a:p>
          <a:p>
            <a:r>
              <a:rPr lang="en-US" dirty="0"/>
              <a:t>Handle checkpoints manually</a:t>
            </a:r>
          </a:p>
          <a:p>
            <a:r>
              <a:rPr lang="en-US" dirty="0"/>
              <a:t>Build your own monitoring</a:t>
            </a:r>
          </a:p>
          <a:p>
            <a:r>
              <a:rPr lang="en-US" dirty="0"/>
              <a:t>Manage dependencies yourself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With DLT:</a:t>
            </a:r>
          </a:p>
          <a:p>
            <a:r>
              <a:rPr lang="en-US" dirty="0"/>
              <a:t>Automatic dependency management</a:t>
            </a:r>
          </a:p>
          <a:p>
            <a:r>
              <a:rPr lang="en-US" dirty="0"/>
              <a:t>Built-in data quality rules (Expectations)</a:t>
            </a:r>
          </a:p>
          <a:p>
            <a:r>
              <a:rPr lang="en-US" dirty="0"/>
              <a:t>Automatic error handling</a:t>
            </a:r>
          </a:p>
          <a:p>
            <a:r>
              <a:rPr lang="en-US" dirty="0"/>
              <a:t>Pipeline monitoring UI</a:t>
            </a:r>
          </a:p>
          <a:p>
            <a:r>
              <a:rPr lang="en-US" dirty="0"/>
              <a:t>Production-ready pipelines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553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09282-886F-854A-A507-1DB622921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36171"/>
          </a:xfrm>
        </p:spPr>
        <p:txBody>
          <a:bodyPr/>
          <a:lstStyle/>
          <a:p>
            <a:r>
              <a:rPr lang="en-US" dirty="0"/>
              <a:t>🔹 Where DLT is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A16DB-B93A-0016-8627-72FED9535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Mostly in:</a:t>
            </a:r>
          </a:p>
          <a:p>
            <a:r>
              <a:rPr lang="en-US" dirty="0"/>
              <a:t>Medallion Architecture (Bronze → Silver → Gold)</a:t>
            </a:r>
          </a:p>
          <a:p>
            <a:r>
              <a:rPr lang="en-US" dirty="0"/>
              <a:t>Streaming pipelines</a:t>
            </a:r>
          </a:p>
          <a:p>
            <a:r>
              <a:rPr lang="en-US" dirty="0"/>
              <a:t>Incremental data loads</a:t>
            </a:r>
          </a:p>
          <a:p>
            <a:r>
              <a:rPr lang="en-US" dirty="0"/>
              <a:t>Data warehouse ETL</a:t>
            </a:r>
          </a:p>
          <a:p>
            <a:r>
              <a:rPr lang="en-US" dirty="0"/>
              <a:t>Real-time dashboards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667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6D950-35FB-B267-37D7-D5EA755DC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Types of Tables in Delta Live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75DAB-9C7A-E663-C67C-984A5EF9F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DLT mainly supports </a:t>
            </a: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 table types</a:t>
            </a: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CB6A41-5015-D466-9F08-E7A56BACB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240136"/>
              </p:ext>
            </p:extLst>
          </p:nvPr>
        </p:nvGraphicFramePr>
        <p:xfrm>
          <a:off x="993952" y="2633472"/>
          <a:ext cx="10201050" cy="3586355"/>
        </p:xfrm>
        <a:graphic>
          <a:graphicData uri="http://schemas.openxmlformats.org/drawingml/2006/table">
            <a:tbl>
              <a:tblPr/>
              <a:tblGrid>
                <a:gridCol w="2924682">
                  <a:extLst>
                    <a:ext uri="{9D8B030D-6E8A-4147-A177-3AD203B41FA5}">
                      <a16:colId xmlns:a16="http://schemas.microsoft.com/office/drawing/2014/main" val="1543154900"/>
                    </a:ext>
                  </a:extLst>
                </a:gridCol>
                <a:gridCol w="2503986">
                  <a:extLst>
                    <a:ext uri="{9D8B030D-6E8A-4147-A177-3AD203B41FA5}">
                      <a16:colId xmlns:a16="http://schemas.microsoft.com/office/drawing/2014/main" val="2240557101"/>
                    </a:ext>
                  </a:extLst>
                </a:gridCol>
                <a:gridCol w="1814044">
                  <a:extLst>
                    <a:ext uri="{9D8B030D-6E8A-4147-A177-3AD203B41FA5}">
                      <a16:colId xmlns:a16="http://schemas.microsoft.com/office/drawing/2014/main" val="3431821674"/>
                    </a:ext>
                  </a:extLst>
                </a:gridCol>
                <a:gridCol w="2958338">
                  <a:extLst>
                    <a:ext uri="{9D8B030D-6E8A-4147-A177-3AD203B41FA5}">
                      <a16:colId xmlns:a16="http://schemas.microsoft.com/office/drawing/2014/main" val="1072561384"/>
                    </a:ext>
                  </a:extLst>
                </a:gridCol>
              </a:tblGrid>
              <a:tr h="533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i="1"/>
                        <a:t>Type</a:t>
                      </a:r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i="1"/>
                        <a:t>Purpose</a:t>
                      </a:r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i="1"/>
                        <a:t>Storage</a:t>
                      </a:r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i="1" dirty="0"/>
                        <a:t>Example Use</a:t>
                      </a:r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043432"/>
                  </a:ext>
                </a:extLst>
              </a:tr>
              <a:tr h="126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Streaming Table</a:t>
                      </a:r>
                      <a:endParaRPr lang="en-US" sz="2400"/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Processes streaming data continuously</a:t>
                      </a:r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Stored</a:t>
                      </a:r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Kinesis/ Event streaming</a:t>
                      </a:r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796815"/>
                  </a:ext>
                </a:extLst>
              </a:tr>
              <a:tr h="896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Materialized View (Live Table)</a:t>
                      </a:r>
                      <a:endParaRPr lang="en-US" sz="2400"/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Batch transformation</a:t>
                      </a:r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Stored</a:t>
                      </a:r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Silver / Gold tables</a:t>
                      </a:r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072529"/>
                  </a:ext>
                </a:extLst>
              </a:tr>
              <a:tr h="896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Temporary Table (View)</a:t>
                      </a:r>
                      <a:endParaRPr lang="en-US" sz="2400"/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Intermediate transformations</a:t>
                      </a:r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Not stored</a:t>
                      </a:r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Data cleaning step</a:t>
                      </a:r>
                    </a:p>
                  </a:txBody>
                  <a:tcPr marL="121161" marR="121161" marT="60580" marB="60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611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444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BC70F-F8BC-4497-0620-E10AD5478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086" y="18255"/>
            <a:ext cx="10515600" cy="743745"/>
          </a:xfrm>
        </p:spPr>
        <p:txBody>
          <a:bodyPr/>
          <a:lstStyle/>
          <a:p>
            <a:r>
              <a:rPr lang="en-US" dirty="0"/>
              <a:t>1️⃣ Streaming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2BC8-710A-353B-50A7-DB2B9821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0"/>
            <a:ext cx="10776857" cy="55864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Used for </a:t>
            </a:r>
            <a:r>
              <a:rPr lang="en-US" b="1" dirty="0"/>
              <a:t>real-time streaming ingestion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STREAMING TABLE orders_raw</a:t>
            </a:r>
            <a:br>
              <a:rPr lang="en-US" dirty="0"/>
            </a:br>
            <a:r>
              <a:rPr lang="en-US" dirty="0"/>
              <a:t>AS</a:t>
            </a:r>
            <a:br>
              <a:rPr lang="en-US" dirty="0"/>
            </a:br>
            <a:r>
              <a:rPr lang="en-US" dirty="0"/>
              <a:t>SELECT *</a:t>
            </a:r>
            <a:br>
              <a:rPr lang="en-US" dirty="0"/>
            </a:br>
            <a:r>
              <a:rPr lang="en-US" dirty="0"/>
              <a:t>FROM STREAM </a:t>
            </a:r>
            <a:r>
              <a:rPr lang="en-US" b="1" dirty="0" err="1">
                <a:highlight>
                  <a:srgbClr val="FFFF00"/>
                </a:highlight>
              </a:rPr>
              <a:t>read_kinesis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 err="1"/>
              <a:t>streamName</a:t>
            </a:r>
            <a:r>
              <a:rPr lang="en-US" dirty="0"/>
              <a:t> =&gt; "orders-stream",</a:t>
            </a:r>
            <a:br>
              <a:rPr lang="en-US" dirty="0"/>
            </a:br>
            <a:r>
              <a:rPr lang="en-US" dirty="0"/>
              <a:t>region =&gt; "us-east-1",</a:t>
            </a:r>
            <a:br>
              <a:rPr lang="en-US" dirty="0"/>
            </a:br>
            <a:r>
              <a:rPr lang="en-US" dirty="0" err="1"/>
              <a:t>initialPosition</a:t>
            </a:r>
            <a:r>
              <a:rPr lang="en-US" dirty="0"/>
              <a:t> =&gt; "LATEST"</a:t>
            </a:r>
            <a:br>
              <a:rPr lang="en-US" dirty="0"/>
            </a:b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Key Points</a:t>
            </a:r>
          </a:p>
          <a:p>
            <a:pPr marL="0" indent="0">
              <a:buNone/>
            </a:pPr>
            <a:r>
              <a:rPr lang="en-US" dirty="0"/>
              <a:t>✔ Used for </a:t>
            </a:r>
            <a:r>
              <a:rPr lang="en-US" b="1" dirty="0"/>
              <a:t>streaming sources</a:t>
            </a:r>
            <a:br>
              <a:rPr lang="en-US" dirty="0"/>
            </a:br>
            <a:r>
              <a:rPr lang="en-US" dirty="0"/>
              <a:t>✔ Processes </a:t>
            </a:r>
            <a:r>
              <a:rPr lang="en-US" b="1" dirty="0"/>
              <a:t>continuous incoming data</a:t>
            </a:r>
            <a:br>
              <a:rPr lang="en-US" dirty="0"/>
            </a:br>
            <a:r>
              <a:rPr lang="en-US" dirty="0"/>
              <a:t>✔ Typically used in </a:t>
            </a:r>
            <a:r>
              <a:rPr lang="en-US" b="1" dirty="0"/>
              <a:t>Bronze layer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437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F43DC-BA8B-F256-CE3E-4F6650AA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Configuration for Streaming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5E8A6-BB28-EE2A-8880-707BF7A89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2997"/>
            <a:ext cx="10722428" cy="5925002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Steps to Get AWS Access Key &amp; Secret Key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 1: Open IAM Console</a:t>
            </a:r>
          </a:p>
          <a:p>
            <a:r>
              <a:rPr lang="en-US" dirty="0"/>
              <a:t>Go to </a:t>
            </a:r>
            <a:r>
              <a:rPr lang="en-US" b="1" dirty="0"/>
              <a:t>AWS Identity and Access Management</a:t>
            </a:r>
            <a:br>
              <a:rPr lang="en-US" dirty="0"/>
            </a:br>
            <a:r>
              <a:rPr lang="en-US" dirty="0"/>
              <a:t>Console URL:</a:t>
            </a:r>
          </a:p>
          <a:p>
            <a:r>
              <a:rPr lang="en-US" dirty="0"/>
              <a:t>https://console.aws.amazon.com/iam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 2: Create / Select User</a:t>
            </a:r>
          </a:p>
          <a:p>
            <a:r>
              <a:rPr lang="en-US" dirty="0"/>
              <a:t>Click </a:t>
            </a:r>
            <a:r>
              <a:rPr lang="en-US" b="1" dirty="0"/>
              <a:t>Users</a:t>
            </a:r>
            <a:endParaRPr lang="en-US" dirty="0"/>
          </a:p>
          <a:p>
            <a:r>
              <a:rPr lang="en-US" dirty="0"/>
              <a:t>Click </a:t>
            </a:r>
            <a:r>
              <a:rPr lang="en-US" b="1" dirty="0"/>
              <a:t>Create user</a:t>
            </a:r>
            <a:endParaRPr lang="en-US" dirty="0"/>
          </a:p>
          <a:p>
            <a:r>
              <a:rPr lang="en-US" dirty="0"/>
              <a:t>Give name (example)</a:t>
            </a:r>
          </a:p>
          <a:p>
            <a:r>
              <a:rPr lang="en-US" dirty="0" err="1"/>
              <a:t>databricks</a:t>
            </a:r>
            <a:r>
              <a:rPr lang="en-US" dirty="0"/>
              <a:t>-kinesis-user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Enable:</a:t>
            </a:r>
          </a:p>
          <a:p>
            <a:r>
              <a:rPr lang="en-US" dirty="0"/>
              <a:t>✔ Programmatic access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34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9F05F-F240-66C8-3A2F-567C9DED0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Step 3: Attach Permissions</a:t>
            </a:r>
          </a:p>
          <a:p>
            <a:endParaRPr lang="en-US" dirty="0"/>
          </a:p>
          <a:p>
            <a:r>
              <a:rPr lang="en-US" dirty="0"/>
              <a:t>Add policy for Kinesis access.</a:t>
            </a:r>
          </a:p>
          <a:p>
            <a:r>
              <a:rPr lang="en-US" dirty="0"/>
              <a:t>Example policy:</a:t>
            </a:r>
          </a:p>
          <a:p>
            <a:r>
              <a:rPr lang="en-US" dirty="0" err="1"/>
              <a:t>AmazonKinesisFullAccess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"Version": "2012-10-17",</a:t>
            </a:r>
          </a:p>
          <a:p>
            <a:pPr marL="0" indent="0">
              <a:buNone/>
            </a:pPr>
            <a:r>
              <a:rPr lang="en-US" dirty="0"/>
              <a:t> "Statement": [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/>
              <a:t>     "Effect": "Allow",</a:t>
            </a:r>
          </a:p>
          <a:p>
            <a:pPr marL="0" indent="0">
              <a:buNone/>
            </a:pPr>
            <a:r>
              <a:rPr lang="en-US" dirty="0"/>
              <a:t>     "Action": [</a:t>
            </a:r>
          </a:p>
          <a:p>
            <a:pPr marL="0" indent="0">
              <a:buNone/>
            </a:pPr>
            <a:r>
              <a:rPr lang="en-US" dirty="0"/>
              <a:t>       "</a:t>
            </a:r>
            <a:r>
              <a:rPr lang="en-US" dirty="0" err="1"/>
              <a:t>kinesis:DescribeStream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   "</a:t>
            </a:r>
            <a:r>
              <a:rPr lang="en-US" dirty="0" err="1"/>
              <a:t>kinesis:GetRecords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   "</a:t>
            </a:r>
            <a:r>
              <a:rPr lang="en-US" dirty="0" err="1"/>
              <a:t>kinesis:GetShardIterator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   "</a:t>
            </a:r>
            <a:r>
              <a:rPr lang="en-US" dirty="0" err="1"/>
              <a:t>kinesis:ListStreams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 ],</a:t>
            </a:r>
          </a:p>
          <a:p>
            <a:pPr marL="0" indent="0">
              <a:buNone/>
            </a:pPr>
            <a:r>
              <a:rPr lang="en-US" dirty="0"/>
              <a:t>     "Resource": "*"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 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084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39B52-91D5-BE43-5162-F5391903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E1C59-DFD4-A919-B599-CA7631719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4: Create Access Keys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After creating the user AWS will show:</a:t>
            </a:r>
          </a:p>
          <a:p>
            <a:r>
              <a:rPr lang="en-US" dirty="0"/>
              <a:t>Access Key ID</a:t>
            </a:r>
            <a:br>
              <a:rPr lang="en-US" dirty="0"/>
            </a:br>
            <a:r>
              <a:rPr lang="en-US" dirty="0"/>
              <a:t>Secret Access Key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Access Key ID: AKIA************</a:t>
            </a:r>
            <a:br>
              <a:rPr lang="en-US" dirty="0"/>
            </a:br>
            <a:r>
              <a:rPr lang="en-US" dirty="0"/>
              <a:t>Secret Access Key: </a:t>
            </a:r>
            <a:r>
              <a:rPr lang="en-US" dirty="0" err="1"/>
              <a:t>abcdefghijklmnopqrst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28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01EB-B975-7FDE-2103-163CBAAE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11629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Configure them in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4A470-CD74-20DB-A0A0-335A384D7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24139"/>
            <a:ext cx="10515600" cy="4351338"/>
          </a:xfrm>
        </p:spPr>
        <p:txBody>
          <a:bodyPr/>
          <a:lstStyle/>
          <a:p>
            <a:r>
              <a:rPr lang="en-US" dirty="0"/>
              <a:t>Go to settings </a:t>
            </a:r>
          </a:p>
          <a:p>
            <a:endParaRPr lang="en-US" dirty="0"/>
          </a:p>
          <a:p>
            <a:r>
              <a:rPr lang="en-US" dirty="0"/>
              <a:t>Edit configuration and add </a:t>
            </a:r>
            <a:r>
              <a:rPr lang="en-US" dirty="0" err="1"/>
              <a:t>paramters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187F4-B083-7AA2-FE4D-EBD586E0F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993" y="0"/>
            <a:ext cx="61254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439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61A3F-2983-05CE-CAFF-29464CD0E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Materialized View (Live Table)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E02C01A-6A7B-DFA0-2B3F-00562ACC7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/>
              <a:t>These are </a:t>
            </a:r>
            <a:r>
              <a:rPr lang="en-US" b="1"/>
              <a:t>persistent tables</a:t>
            </a:r>
            <a:r>
              <a:rPr lang="en-US"/>
              <a:t> created after transformation.</a:t>
            </a:r>
          </a:p>
          <a:p>
            <a:endParaRPr lang="en-US"/>
          </a:p>
          <a:p>
            <a:r>
              <a:rPr lang="en-US" b="1"/>
              <a:t>Features</a:t>
            </a:r>
          </a:p>
          <a:p>
            <a:pPr marL="0" indent="0">
              <a:buNone/>
            </a:pPr>
            <a:r>
              <a:rPr lang="en-US"/>
              <a:t>✔ Stored as </a:t>
            </a:r>
            <a:r>
              <a:rPr lang="en-US" b="1"/>
              <a:t>Delta tables</a:t>
            </a:r>
            <a:br>
              <a:rPr lang="en-US"/>
            </a:br>
            <a:r>
              <a:rPr lang="en-US"/>
              <a:t>✔ Used for </a:t>
            </a:r>
            <a:r>
              <a:rPr lang="en-US" b="1"/>
              <a:t>Silver and Gold layers</a:t>
            </a:r>
            <a:br>
              <a:rPr lang="en-US"/>
            </a:br>
            <a:r>
              <a:rPr lang="en-US"/>
              <a:t>✔ Supports incremental updates</a:t>
            </a:r>
          </a:p>
          <a:p>
            <a:pPr marL="0" indent="0">
              <a:buNone/>
            </a:pPr>
            <a:r>
              <a:rPr lang="en-US"/>
              <a:t>Example Use Case</a:t>
            </a:r>
          </a:p>
          <a:p>
            <a:r>
              <a:rPr lang="en-US"/>
              <a:t>Cleaned data</a:t>
            </a:r>
          </a:p>
          <a:p>
            <a:r>
              <a:rPr lang="en-US"/>
              <a:t>Aggregated metrics</a:t>
            </a:r>
          </a:p>
          <a:p>
            <a:r>
              <a:rPr lang="en-US"/>
              <a:t>Business reports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50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01045-DEF4-21BF-42E2-9C5712DF4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656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Materialized View (Live Table)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A27932-7B59-914C-BF79-B1769F580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71" y="1211152"/>
            <a:ext cx="11081658" cy="539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115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AE5A-1814-0152-9D98-C7E168B74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909"/>
            <a:ext cx="10515600" cy="6676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MATERIALIZED VIEW customers</a:t>
            </a:r>
          </a:p>
          <a:p>
            <a:pPr marL="0" indent="0">
              <a:buNone/>
            </a:pPr>
            <a:r>
              <a:rPr lang="en-US" dirty="0"/>
              <a:t>AS</a:t>
            </a:r>
          </a:p>
          <a:p>
            <a:pPr marL="0" indent="0">
              <a:buNone/>
            </a:pPr>
            <a:r>
              <a:rPr lang="en-US" dirty="0"/>
              <a:t>SELECT</a:t>
            </a:r>
          </a:p>
          <a:p>
            <a:pPr marL="0" indent="0">
              <a:buNone/>
            </a:pPr>
            <a:r>
              <a:rPr lang="en-US" dirty="0"/>
              <a:t>    CAST(</a:t>
            </a:r>
            <a:r>
              <a:rPr lang="en-US" dirty="0" err="1"/>
              <a:t>customer_id</a:t>
            </a:r>
            <a:r>
              <a:rPr lang="en-US" dirty="0"/>
              <a:t> AS INT) AS </a:t>
            </a:r>
            <a:r>
              <a:rPr lang="en-US" dirty="0" err="1"/>
              <a:t>customer_id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    TRIM(</a:t>
            </a:r>
            <a:r>
              <a:rPr lang="en-US" dirty="0" err="1"/>
              <a:t>first_name</a:t>
            </a:r>
            <a:r>
              <a:rPr lang="en-US" dirty="0"/>
              <a:t>) AS </a:t>
            </a:r>
            <a:r>
              <a:rPr lang="en-US" dirty="0" err="1"/>
              <a:t>first_name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    TRIM(</a:t>
            </a:r>
            <a:r>
              <a:rPr lang="en-US" dirty="0" err="1"/>
              <a:t>last_name</a:t>
            </a:r>
            <a:r>
              <a:rPr lang="en-US" dirty="0"/>
              <a:t>) AS </a:t>
            </a:r>
            <a:r>
              <a:rPr lang="en-US" dirty="0" err="1"/>
              <a:t>last_name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    LOWER(email) AS email,</a:t>
            </a:r>
          </a:p>
          <a:p>
            <a:pPr marL="0" indent="0">
              <a:buNone/>
            </a:pPr>
            <a:r>
              <a:rPr lang="en-US" dirty="0"/>
              <a:t>    phone,</a:t>
            </a:r>
          </a:p>
          <a:p>
            <a:pPr marL="0" indent="0">
              <a:buNone/>
            </a:pPr>
            <a:r>
              <a:rPr lang="en-US" dirty="0"/>
              <a:t>    city,</a:t>
            </a:r>
          </a:p>
          <a:p>
            <a:pPr marL="0" indent="0">
              <a:buNone/>
            </a:pPr>
            <a:r>
              <a:rPr lang="en-US" dirty="0"/>
              <a:t>    TO_DATE(</a:t>
            </a:r>
            <a:r>
              <a:rPr lang="en-US" dirty="0" err="1"/>
              <a:t>signup_date</a:t>
            </a:r>
            <a:r>
              <a:rPr lang="en-US" dirty="0"/>
              <a:t>) AS </a:t>
            </a:r>
            <a:r>
              <a:rPr lang="en-US" dirty="0" err="1"/>
              <a:t>signup_date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    TO_TIMESTAMP(</a:t>
            </a:r>
            <a:r>
              <a:rPr lang="en-US" dirty="0" err="1"/>
              <a:t>updated_at</a:t>
            </a:r>
            <a:r>
              <a:rPr lang="en-US" dirty="0"/>
              <a:t>) AS </a:t>
            </a:r>
            <a:r>
              <a:rPr lang="en-US" dirty="0" err="1"/>
              <a:t>updated_at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demows.custdemo.raw_customers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customer_id</a:t>
            </a:r>
            <a:r>
              <a:rPr lang="en-US" dirty="0"/>
              <a:t> IS NOT NULL;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400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04917-BD24-E956-7D75-5A6B3933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Temporary Table (View)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AB568-CB94-2310-DB58-715A5683D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only </a:t>
            </a:r>
            <a:r>
              <a:rPr lang="en-US" b="1" dirty="0"/>
              <a:t>inside the pipeline</a:t>
            </a:r>
            <a:r>
              <a:rPr lang="en-US" dirty="0"/>
              <a:t> for intermediate processing.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Features</a:t>
            </a:r>
          </a:p>
          <a:p>
            <a:r>
              <a:rPr lang="en-US" dirty="0"/>
              <a:t>✔ Not stored physically</a:t>
            </a:r>
            <a:br>
              <a:rPr lang="en-US" dirty="0"/>
            </a:br>
            <a:r>
              <a:rPr lang="en-US" dirty="0"/>
              <a:t>✔ Used for </a:t>
            </a:r>
            <a:r>
              <a:rPr lang="en-US" b="1" dirty="0"/>
              <a:t>intermediate logic</a:t>
            </a:r>
            <a:br>
              <a:rPr lang="en-US" dirty="0"/>
            </a:br>
            <a:r>
              <a:rPr lang="en-US" dirty="0"/>
              <a:t>✔ Improves pipeline readability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461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248FB-C8B0-641F-415B-D7D3E7792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3589"/>
            <a:ext cx="10515600" cy="1082676"/>
          </a:xfrm>
        </p:spPr>
        <p:txBody>
          <a:bodyPr/>
          <a:lstStyle/>
          <a:p>
            <a:r>
              <a:rPr lang="en-US" dirty="0"/>
              <a:t>🔹 Key Concepts in DLT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E4FFB-A838-76EE-C08A-8762C3C59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1️⃣ LIVE Tables</a:t>
            </a:r>
          </a:p>
          <a:p>
            <a:r>
              <a:rPr lang="en-US" dirty="0"/>
              <a:t>CREATE OR REFRESH LIVE TABLE customers</a:t>
            </a:r>
            <a:br>
              <a:rPr lang="en-US" dirty="0"/>
            </a:br>
            <a:r>
              <a:rPr lang="en-US" dirty="0"/>
              <a:t>AS SELECT * FROM </a:t>
            </a:r>
            <a:r>
              <a:rPr lang="en-US" dirty="0" err="1"/>
              <a:t>bronze.customers_raw</a:t>
            </a:r>
            <a:r>
              <a:rPr lang="en-US" dirty="0"/>
              <a:t>;</a:t>
            </a:r>
          </a:p>
          <a:p>
            <a:r>
              <a:rPr lang="en-US" b="1" dirty="0"/>
              <a:t>LIVE means the </a:t>
            </a:r>
            <a:r>
              <a:rPr lang="en-US" b="1" dirty="0">
                <a:solidFill>
                  <a:srgbClr val="FF0000"/>
                </a:solidFill>
              </a:rPr>
              <a:t>table is managed inside DLT pipeline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174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20B9B-4EE9-A33B-929D-0B42D9D34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796"/>
            <a:ext cx="10515600" cy="6599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2️⃣ Streaming Tables</a:t>
            </a:r>
          </a:p>
          <a:p>
            <a:r>
              <a:rPr lang="en-US" dirty="0"/>
              <a:t>CREATE OR REFRESH STREAMING LIVE TABLE </a:t>
            </a:r>
            <a:r>
              <a:rPr lang="en-US" dirty="0" err="1"/>
              <a:t>bronze_orders</a:t>
            </a:r>
            <a:br>
              <a:rPr lang="en-US" dirty="0"/>
            </a:br>
            <a:r>
              <a:rPr lang="en-US" dirty="0"/>
              <a:t>AS SELECT * FROM </a:t>
            </a:r>
            <a:r>
              <a:rPr lang="en-US" dirty="0" err="1"/>
              <a:t>cloud_files</a:t>
            </a:r>
            <a:r>
              <a:rPr lang="en-US" dirty="0"/>
              <a:t>('/</a:t>
            </a:r>
            <a:r>
              <a:rPr lang="en-US" dirty="0" err="1"/>
              <a:t>mnt</a:t>
            </a:r>
            <a:r>
              <a:rPr lang="en-US" dirty="0"/>
              <a:t>/orders', '</a:t>
            </a:r>
            <a:r>
              <a:rPr lang="en-US" dirty="0" err="1"/>
              <a:t>json</a:t>
            </a:r>
            <a:r>
              <a:rPr lang="en-US" dirty="0"/>
              <a:t>');</a:t>
            </a:r>
          </a:p>
          <a:p>
            <a:r>
              <a:rPr lang="en-US" dirty="0"/>
              <a:t>Used for real-time ingestion.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3️⃣ Expectations (Data Quality)</a:t>
            </a:r>
          </a:p>
          <a:p>
            <a:r>
              <a:rPr lang="en-US" dirty="0"/>
              <a:t>CREATE OR REFRESH LIVE TABLE </a:t>
            </a:r>
            <a:r>
              <a:rPr lang="en-US" dirty="0" err="1"/>
              <a:t>silver_orders</a:t>
            </a:r>
            <a:br>
              <a:rPr lang="en-US" dirty="0"/>
            </a:br>
            <a:r>
              <a:rPr lang="en-US" dirty="0"/>
              <a:t>CONSTRAINT </a:t>
            </a:r>
            <a:r>
              <a:rPr lang="en-US" dirty="0" err="1"/>
              <a:t>valid_amount</a:t>
            </a:r>
            <a:r>
              <a:rPr lang="en-US" dirty="0"/>
              <a:t> EXPECT (amount &gt; 0)</a:t>
            </a:r>
            <a:br>
              <a:rPr lang="en-US" dirty="0"/>
            </a:br>
            <a:r>
              <a:rPr lang="en-US" dirty="0"/>
              <a:t>AS SELECT * FROM </a:t>
            </a:r>
            <a:r>
              <a:rPr lang="en-US" dirty="0" err="1"/>
              <a:t>LIVE.bronze_orders</a:t>
            </a:r>
            <a:r>
              <a:rPr lang="en-US" dirty="0"/>
              <a:t>;</a:t>
            </a:r>
          </a:p>
          <a:p>
            <a:r>
              <a:rPr lang="en-US" dirty="0"/>
              <a:t>Options:</a:t>
            </a:r>
          </a:p>
          <a:p>
            <a:r>
              <a:rPr lang="en-US" dirty="0"/>
              <a:t>EXPECT</a:t>
            </a:r>
          </a:p>
          <a:p>
            <a:r>
              <a:rPr lang="en-US" dirty="0"/>
              <a:t>EXPECT OR DROP</a:t>
            </a:r>
          </a:p>
          <a:p>
            <a:r>
              <a:rPr lang="en-US" dirty="0"/>
              <a:t>EXPECT OR FAIL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367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BE6B3-E1EA-6B9B-D9BE-242C43D07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D06B6-41D5-7A62-876F-1C1B2CE29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dlt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pyspark.sql.functions</a:t>
            </a:r>
            <a:r>
              <a:rPr lang="en-US" dirty="0"/>
              <a:t> import col</a:t>
            </a:r>
          </a:p>
          <a:p>
            <a:endParaRPr lang="en-US" dirty="0"/>
          </a:p>
          <a:p>
            <a:r>
              <a:rPr lang="en-US" dirty="0"/>
              <a:t>@dlt.table</a:t>
            </a:r>
          </a:p>
          <a:p>
            <a:r>
              <a:rPr lang="en-US" dirty="0"/>
              <a:t>@dlt.expect_or_drop("valid_amount", "amount &gt; 0")</a:t>
            </a:r>
          </a:p>
          <a:p>
            <a:r>
              <a:rPr lang="en-US" dirty="0"/>
              <a:t>def </a:t>
            </a:r>
            <a:r>
              <a:rPr lang="en-US" dirty="0" err="1"/>
              <a:t>silver_orders</a:t>
            </a:r>
            <a:r>
              <a:rPr lang="en-US" dirty="0"/>
              <a:t>():</a:t>
            </a:r>
          </a:p>
          <a:p>
            <a:r>
              <a:rPr lang="en-US" dirty="0"/>
              <a:t>    return </a:t>
            </a:r>
            <a:r>
              <a:rPr lang="en-US" dirty="0" err="1"/>
              <a:t>spark.read.table</a:t>
            </a:r>
            <a:r>
              <a:rPr lang="en-US" dirty="0"/>
              <a:t>("</a:t>
            </a:r>
            <a:r>
              <a:rPr lang="en-US" dirty="0" err="1"/>
              <a:t>bronze.orders</a:t>
            </a:r>
            <a:r>
              <a:rPr lang="en-US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116572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43B81-88CE-BDFF-EE09-D3596923C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🔹 Pipeline Modes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4461E2-C01F-3EAD-7218-1ED53BCA3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9441261"/>
              </p:ext>
            </p:extLst>
          </p:nvPr>
        </p:nvGraphicFramePr>
        <p:xfrm>
          <a:off x="320040" y="2732076"/>
          <a:ext cx="11548873" cy="3389150"/>
        </p:xfrm>
        <a:graphic>
          <a:graphicData uri="http://schemas.openxmlformats.org/drawingml/2006/table">
            <a:tbl>
              <a:tblPr/>
              <a:tblGrid>
                <a:gridCol w="4528155">
                  <a:extLst>
                    <a:ext uri="{9D8B030D-6E8A-4147-A177-3AD203B41FA5}">
                      <a16:colId xmlns:a16="http://schemas.microsoft.com/office/drawing/2014/main" val="3755162158"/>
                    </a:ext>
                  </a:extLst>
                </a:gridCol>
                <a:gridCol w="7020718">
                  <a:extLst>
                    <a:ext uri="{9D8B030D-6E8A-4147-A177-3AD203B41FA5}">
                      <a16:colId xmlns:a16="http://schemas.microsoft.com/office/drawing/2014/main" val="2863943688"/>
                    </a:ext>
                  </a:extLst>
                </a:gridCol>
              </a:tblGrid>
              <a:tr h="677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Mode</a:t>
                      </a:r>
                    </a:p>
                  </a:txBody>
                  <a:tcPr marL="154052" marR="154052" marT="77026" marB="77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154052" marR="154052" marT="77026" marB="77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370725"/>
                  </a:ext>
                </a:extLst>
              </a:tr>
              <a:tr h="677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Development</a:t>
                      </a:r>
                    </a:p>
                  </a:txBody>
                  <a:tcPr marL="154052" marR="154052" marT="77026" marB="77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Testing</a:t>
                      </a:r>
                    </a:p>
                  </a:txBody>
                  <a:tcPr marL="154052" marR="154052" marT="77026" marB="77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78960"/>
                  </a:ext>
                </a:extLst>
              </a:tr>
              <a:tr h="677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Production</a:t>
                      </a:r>
                    </a:p>
                  </a:txBody>
                  <a:tcPr marL="154052" marR="154052" marT="77026" marB="77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Stable scheduled runs</a:t>
                      </a:r>
                    </a:p>
                  </a:txBody>
                  <a:tcPr marL="154052" marR="154052" marT="77026" marB="77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99529"/>
                  </a:ext>
                </a:extLst>
              </a:tr>
              <a:tr h="677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Triggered</a:t>
                      </a:r>
                    </a:p>
                  </a:txBody>
                  <a:tcPr marL="154052" marR="154052" marT="77026" marB="77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Runs once</a:t>
                      </a:r>
                    </a:p>
                  </a:txBody>
                  <a:tcPr marL="154052" marR="154052" marT="77026" marB="77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044609"/>
                  </a:ext>
                </a:extLst>
              </a:tr>
              <a:tr h="677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Continuous</a:t>
                      </a:r>
                    </a:p>
                  </a:txBody>
                  <a:tcPr marL="154052" marR="154052" marT="77026" marB="77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i="0" u="none" strike="noStrike" dirty="0">
                          <a:effectLst/>
                          <a:latin typeface="Arial" panose="020B0604020202020204" pitchFamily="34" charset="0"/>
                        </a:rPr>
                        <a:t>Streaming mode</a:t>
                      </a:r>
                    </a:p>
                  </a:txBody>
                  <a:tcPr marL="154052" marR="154052" marT="77026" marB="77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471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324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FDEBF-7A46-E998-5F64-490644CC7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🔹 Advantages of DLT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4F57F-38FE-EDB9-21CD-E315E32A3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✅ Auto scaling</a:t>
            </a:r>
            <a:br>
              <a:rPr lang="en-US" dirty="0"/>
            </a:br>
            <a:r>
              <a:rPr lang="en-US" dirty="0"/>
              <a:t>✅ Auto retries</a:t>
            </a:r>
            <a:br>
              <a:rPr lang="en-US" dirty="0"/>
            </a:br>
            <a:r>
              <a:rPr lang="en-US" dirty="0"/>
              <a:t>✅ Built-in monitoring</a:t>
            </a:r>
            <a:br>
              <a:rPr lang="en-US" dirty="0"/>
            </a:br>
            <a:r>
              <a:rPr lang="en-US" dirty="0"/>
              <a:t>✅ Data quality metrics</a:t>
            </a:r>
            <a:br>
              <a:rPr lang="en-US" dirty="0"/>
            </a:br>
            <a:r>
              <a:rPr lang="en-US" dirty="0"/>
              <a:t>✅ Incremental by default</a:t>
            </a:r>
            <a:br>
              <a:rPr lang="en-US" dirty="0"/>
            </a:br>
            <a:r>
              <a:rPr lang="en-US" dirty="0"/>
              <a:t>✅ Less code</a:t>
            </a:r>
          </a:p>
        </p:txBody>
      </p:sp>
    </p:spTree>
    <p:extLst>
      <p:ext uri="{BB962C8B-B14F-4D97-AF65-F5344CB8AC3E}">
        <p14:creationId xmlns:p14="http://schemas.microsoft.com/office/powerpoint/2010/main" val="2410390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823</Words>
  <Application>Microsoft Office PowerPoint</Application>
  <PresentationFormat>Widescreen</PresentationFormat>
  <Paragraphs>158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🔷 DLT (Delta Live Tables)</vt:lpstr>
      <vt:lpstr>What is DLT?</vt:lpstr>
      <vt:lpstr>🔹 Why DLT? </vt:lpstr>
      <vt:lpstr>🔹 Where DLT is Used?</vt:lpstr>
      <vt:lpstr>Types of Tables in Delta Live Tables</vt:lpstr>
      <vt:lpstr>1️⃣ Streaming Table</vt:lpstr>
      <vt:lpstr>Configuration for Streaming Table</vt:lpstr>
      <vt:lpstr>PowerPoint Presentation</vt:lpstr>
      <vt:lpstr>PowerPoint Presentation</vt:lpstr>
      <vt:lpstr>Configure them in pipeline</vt:lpstr>
      <vt:lpstr>Materialized View (Live Table)</vt:lpstr>
      <vt:lpstr>Materialized View (Live Table)</vt:lpstr>
      <vt:lpstr>PowerPoint Presentation</vt:lpstr>
      <vt:lpstr>Temporary Table (View)</vt:lpstr>
      <vt:lpstr>🔹 Key Concepts in DLT</vt:lpstr>
      <vt:lpstr>PowerPoint Presentation</vt:lpstr>
      <vt:lpstr>PowerPoint Presentation</vt:lpstr>
      <vt:lpstr>🔹 Pipeline Modes</vt:lpstr>
      <vt:lpstr>🔹 Advantages of DLT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4</cp:revision>
  <dcterms:created xsi:type="dcterms:W3CDTF">2026-03-04T09:40:28Z</dcterms:created>
  <dcterms:modified xsi:type="dcterms:W3CDTF">2026-03-04T23:58:54Z</dcterms:modified>
</cp:coreProperties>
</file>