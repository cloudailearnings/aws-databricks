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4" r:id="rId4"/>
    <p:sldId id="265" r:id="rId5"/>
    <p:sldId id="266" r:id="rId6"/>
    <p:sldId id="267" r:id="rId7"/>
    <p:sldId id="268" r:id="rId8"/>
    <p:sldId id="269" r:id="rId9"/>
    <p:sldId id="258" r:id="rId10"/>
    <p:sldId id="259" r:id="rId11"/>
    <p:sldId id="260" r:id="rId12"/>
    <p:sldId id="261" r:id="rId13"/>
    <p:sldId id="262" r:id="rId14"/>
    <p:sldId id="270" r:id="rId15"/>
    <p:sldId id="263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59" d="100"/>
          <a:sy n="59" d="100"/>
        </p:scale>
        <p:origin x="964" y="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26A2DE-BF8E-B93D-C076-1E83789DD1D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EE2C0FC-8781-1903-9C48-1468FFC8702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4DC71D-5ADF-39D9-2DE7-85B92827FD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856E8B-C63E-46B5-8DCC-F495DEB43BB9}" type="datetimeFigureOut">
              <a:rPr lang="en-US" smtClean="0"/>
              <a:t>2/28/2026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651641-E942-EB2B-F291-2FEA066966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D1B2A1-A0AC-87BA-7830-EAD61570A4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E63681-4683-4FCE-81D2-3C005696A6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25429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A91299-13E1-84DD-F650-C720F2AC32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9D73F4-4E8F-B689-1F3C-401E7EBFE0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EA3C81-1F86-B712-009A-5F72FCEE13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856E8B-C63E-46B5-8DCC-F495DEB43BB9}" type="datetimeFigureOut">
              <a:rPr lang="en-US" smtClean="0"/>
              <a:t>2/28/2026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35BB6FE-FD3D-9566-5387-0D29DC5A28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FD6A19-84DF-51C1-3040-76F16F619F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E63681-4683-4FCE-81D2-3C005696A6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35717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2FEB6B-D7CD-73A0-BAD4-BAC0BA9DFA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032C5D0-D315-420A-DCDC-0D64E6F970E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048B9C-EB0A-E1D3-EC57-697D5F90E1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856E8B-C63E-46B5-8DCC-F495DEB43BB9}" type="datetimeFigureOut">
              <a:rPr lang="en-US" smtClean="0"/>
              <a:t>2/28/2026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FF6D853-69ED-FF2F-7FB6-80E45BD9DD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078479-FC51-0B0D-DC79-F05D079A48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E63681-4683-4FCE-81D2-3C005696A6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60061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51319E-4959-1528-4B4B-EB8963F7BE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876493-9415-A979-4626-FF6035C9FF5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6B26866-AB99-FF8E-3FC5-34659A5CCDB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9ED5742-17A8-E14D-5B6C-5FA2EC2606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856E8B-C63E-46B5-8DCC-F495DEB43BB9}" type="datetimeFigureOut">
              <a:rPr lang="en-US" smtClean="0"/>
              <a:t>2/28/2026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2D8D343-B14B-C622-11DF-82E74F2FC0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06079B0-DA72-26C8-1344-691D0CB0D8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E63681-4683-4FCE-81D2-3C005696A6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08960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CDFB47-C85E-C71D-463D-DB222F25C0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80FE9D0-BDFB-071F-1D40-ECE089BCBBB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29E5FA5-3117-3579-AC99-928CEBF2BE3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8E47F16-6270-633D-9406-48819E9FD1C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FCB402C-83E0-CD09-EF3E-FC9756A856D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6448BB4-A64D-B0A8-78F9-5BF5AD8AE4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856E8B-C63E-46B5-8DCC-F495DEB43BB9}" type="datetimeFigureOut">
              <a:rPr lang="en-US" smtClean="0"/>
              <a:t>2/28/2026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567D985-D1A9-D396-7B51-A178827D1C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E9D1305-A369-D3DA-37EF-3D45480AC3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E63681-4683-4FCE-81D2-3C005696A6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18207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E71471-85BE-C406-95EF-A7EEC803F1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DA56DF4-F080-3F6C-FB9D-DA90FA44DC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856E8B-C63E-46B5-8DCC-F495DEB43BB9}" type="datetimeFigureOut">
              <a:rPr lang="en-US" smtClean="0"/>
              <a:t>2/28/2026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33C7BDA-F12A-489B-F423-BA4D14A5F0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145603B-0D62-D66F-76A3-DC365DB4C9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E63681-4683-4FCE-81D2-3C005696A6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00127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2ABFA49-8FE3-34F2-B294-0B40CA36C3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856E8B-C63E-46B5-8DCC-F495DEB43BB9}" type="datetimeFigureOut">
              <a:rPr lang="en-US" smtClean="0"/>
              <a:t>2/28/2026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DAEE69D-3D01-526B-786D-87C301C58D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4E5BFFF-AE90-E125-54AB-062396895B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E63681-4683-4FCE-81D2-3C005696A6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37083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517FD7-5E54-46BD-7D04-C9B58E0058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A09378-1AFE-BF69-6ECF-75A54841FC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BC144FD-6711-EB58-7019-EEDB7388AC7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077894C-8337-3070-2CDC-821830099B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856E8B-C63E-46B5-8DCC-F495DEB43BB9}" type="datetimeFigureOut">
              <a:rPr lang="en-US" smtClean="0"/>
              <a:t>2/28/2026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515F14F-2EB0-1220-84C8-52F2A4997D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DF85DF4-2176-2BC3-16B7-CCA7BB2C8F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E63681-4683-4FCE-81D2-3C005696A6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34471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3A7C17-C6B7-440C-FC73-9C7D571CB9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647325D-A7FA-ECAB-324A-8AD7225E81E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0A6DBF5-23AD-3870-BD29-BDDD8C96448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54049F-A30C-2E2B-E4F1-E021B32048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856E8B-C63E-46B5-8DCC-F495DEB43BB9}" type="datetimeFigureOut">
              <a:rPr lang="en-US" smtClean="0"/>
              <a:t>2/28/2026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E4C5F7B-2E48-8425-9F85-4FCA88C661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88E1C84-4699-AF36-0F8C-3022CC1E61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E63681-4683-4FCE-81D2-3C005696A6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26821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EB31AF-F55C-51DD-5FA5-736CA98E24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BD9714A-5818-8834-5495-DE82C502E56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FBBD18-C839-5F94-1BAD-7BEBEEEB12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856E8B-C63E-46B5-8DCC-F495DEB43BB9}" type="datetimeFigureOut">
              <a:rPr lang="en-US" smtClean="0"/>
              <a:t>2/28/2026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186145-1293-B89B-D715-8AFCD7F33E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2DEAC1-13AE-D734-322B-CFFEA09C65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E63681-4683-4FCE-81D2-3C005696A6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60123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3931D62-C453-97D6-1B54-63E73FAB5ED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88F8D00-0444-FEC7-3F98-21EDA0B995F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F928A7-4B61-E6E6-3DD9-DFCD738F3E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856E8B-C63E-46B5-8DCC-F495DEB43BB9}" type="datetimeFigureOut">
              <a:rPr lang="en-US" smtClean="0"/>
              <a:t>2/28/2026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204938-8F13-9EE5-E4BB-EE750FA868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7116F4-B30A-5951-FC19-0007B48D91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E63681-4683-4FCE-81D2-3C005696A6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4371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ACA727E-C265-6D49-B7F6-9DDEC90409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E56852D-707C-DEBA-3514-2095B7D2227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71F0A7-873C-B382-02FB-C0B1EAB5523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6856E8B-C63E-46B5-8DCC-F495DEB43BB9}" type="datetimeFigureOut">
              <a:rPr lang="en-US" smtClean="0"/>
              <a:t>2/28/2026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D5E07C-AC09-D32D-145B-77DBD3686E4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2D8F9D-B6C7-1ADD-AD74-72D8C16CF87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1E63681-4683-4FCE-81D2-3C005696A6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02766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6A0CCC-5583-A268-6C93-D19F4107E39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Databricks JDBC Connection with RDS Aurora MySQL </a:t>
            </a:r>
          </a:p>
        </p:txBody>
      </p:sp>
    </p:spTree>
    <p:extLst>
      <p:ext uri="{BB962C8B-B14F-4D97-AF65-F5344CB8AC3E}">
        <p14:creationId xmlns:p14="http://schemas.microsoft.com/office/powerpoint/2010/main" val="176307093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E991A1-519C-60BC-115E-827BF513C4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9857" y="114754"/>
            <a:ext cx="2743200" cy="745218"/>
          </a:xfrm>
        </p:spPr>
        <p:txBody>
          <a:bodyPr/>
          <a:lstStyle/>
          <a:p>
            <a:r>
              <a:rPr lang="en-US" dirty="0"/>
              <a:t>Steps for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03AB39-F435-FEEE-11DF-B502D5B17DE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Azure Databricks / Databricks Runtime</a:t>
            </a:r>
            <a:br>
              <a:rPr lang="en-US" dirty="0"/>
            </a:br>
            <a:r>
              <a:rPr lang="en-US" dirty="0"/>
              <a:t>⬇ JDBC</a:t>
            </a:r>
            <a:br>
              <a:rPr lang="en-US" dirty="0"/>
            </a:br>
            <a:r>
              <a:rPr lang="en-US" b="1" dirty="0"/>
              <a:t>Amazon Aurora</a:t>
            </a:r>
            <a:r>
              <a:rPr lang="en-US" dirty="0"/>
              <a:t> (inside </a:t>
            </a:r>
            <a:r>
              <a:rPr lang="en-US" b="1" dirty="0"/>
              <a:t>Amazon RDS</a:t>
            </a:r>
            <a:r>
              <a:rPr lang="en-US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1439223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E727C8-35BD-AEFD-E7B4-95B25B54E4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6"/>
            <a:ext cx="10515600" cy="662782"/>
          </a:xfrm>
        </p:spPr>
        <p:txBody>
          <a:bodyPr>
            <a:normAutofit fontScale="90000"/>
          </a:bodyPr>
          <a:lstStyle/>
          <a:p>
            <a:r>
              <a:rPr lang="en-US" dirty="0"/>
              <a:t>STEP 1: Network Connectivity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80DB8E-0143-3FDB-1E9F-6B668A94D0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5056" y="943882"/>
            <a:ext cx="11702143" cy="4351338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Databricks must be able to reach Aurora.</a:t>
            </a:r>
          </a:p>
          <a:p>
            <a:endParaRPr lang="en-US" dirty="0"/>
          </a:p>
          <a:p>
            <a:r>
              <a:rPr lang="en-US" dirty="0"/>
              <a:t>Databricks workspace deployed inside AWS VPC peered with Aurora VPC.</a:t>
            </a:r>
          </a:p>
          <a:p>
            <a:endParaRPr lang="en-US" dirty="0"/>
          </a:p>
          <a:p>
            <a:r>
              <a:rPr lang="en-US" b="1" dirty="0"/>
              <a:t>Databricks (AWS Workspace VPC)</a:t>
            </a:r>
            <a:br>
              <a:rPr lang="en-US" dirty="0"/>
            </a:br>
            <a:r>
              <a:rPr lang="en-US" dirty="0"/>
              <a:t>⬇ VPC Peering</a:t>
            </a:r>
            <a:br>
              <a:rPr lang="en-US" dirty="0"/>
            </a:br>
            <a:r>
              <a:rPr lang="en-US" b="1" dirty="0"/>
              <a:t>Amazon Aurora inside Amazon RDS</a:t>
            </a:r>
          </a:p>
          <a:p>
            <a:endParaRPr lang="en-US" b="1" dirty="0"/>
          </a:p>
          <a:p>
            <a:pPr marL="0" indent="0">
              <a:buNone/>
            </a:pPr>
            <a:r>
              <a:rPr lang="en-US" dirty="0"/>
              <a:t>Databricks VPC  ───── VPC Peering ─────  Aurora VPC</a:t>
            </a:r>
          </a:p>
          <a:p>
            <a:pPr marL="0" indent="0">
              <a:buNone/>
            </a:pPr>
            <a:r>
              <a:rPr lang="en-US" dirty="0"/>
              <a:t>      10.10.0.0/16                        172.31.0.0/16</a:t>
            </a:r>
          </a:p>
        </p:txBody>
      </p:sp>
    </p:spTree>
    <p:extLst>
      <p:ext uri="{BB962C8B-B14F-4D97-AF65-F5344CB8AC3E}">
        <p14:creationId xmlns:p14="http://schemas.microsoft.com/office/powerpoint/2010/main" val="338738763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5DF83C-CFE6-CF7A-EB39-80FE5C056D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5"/>
            <a:ext cx="10515600" cy="819945"/>
          </a:xfrm>
        </p:spPr>
        <p:txBody>
          <a:bodyPr/>
          <a:lstStyle/>
          <a:p>
            <a:r>
              <a:rPr lang="en-US" dirty="0"/>
              <a:t>STEP 1: Get Databricks VPC Details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A7C162-46E5-70AC-340B-5D8AB4AF38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253331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In AWS Console:</a:t>
            </a:r>
          </a:p>
          <a:p>
            <a:r>
              <a:rPr lang="en-US" dirty="0"/>
              <a:t>Go to EC2 → VPCs</a:t>
            </a:r>
          </a:p>
          <a:p>
            <a:r>
              <a:rPr lang="en-US" dirty="0"/>
              <a:t>Find VPC created for Databricks workspace</a:t>
            </a:r>
            <a:br>
              <a:rPr lang="en-US" dirty="0"/>
            </a:br>
            <a:r>
              <a:rPr lang="en-US" dirty="0"/>
              <a:t>(Usually named like: </a:t>
            </a:r>
            <a:r>
              <a:rPr lang="en-US" dirty="0" err="1"/>
              <a:t>databricks</a:t>
            </a:r>
            <a:r>
              <a:rPr lang="en-US" dirty="0"/>
              <a:t>-workspace-</a:t>
            </a:r>
            <a:r>
              <a:rPr lang="en-US" dirty="0" err="1"/>
              <a:t>vpc</a:t>
            </a:r>
            <a:r>
              <a:rPr lang="en-US" dirty="0"/>
              <a:t>)</a:t>
            </a:r>
          </a:p>
          <a:p>
            <a:r>
              <a:rPr lang="en-US" dirty="0"/>
              <a:t>Note:</a:t>
            </a:r>
          </a:p>
          <a:p>
            <a:r>
              <a:rPr lang="en-US" dirty="0"/>
              <a:t>VPC ID</a:t>
            </a:r>
          </a:p>
          <a:p>
            <a:r>
              <a:rPr lang="en-US" dirty="0"/>
              <a:t>CIDR block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1103935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1A3311-DE4D-DE94-5EF6-DA835CB5C44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STEP 2: Identify Aurora VPC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Go to:</a:t>
            </a:r>
          </a:p>
          <a:p>
            <a:pPr marL="0" indent="0">
              <a:buNone/>
            </a:pPr>
            <a:r>
              <a:rPr lang="en-US" dirty="0"/>
              <a:t>RDS → Databases → Click Aurora cluster → Connectivity</a:t>
            </a:r>
          </a:p>
          <a:p>
            <a:pPr marL="0" indent="0">
              <a:buNone/>
            </a:pPr>
            <a:r>
              <a:rPr lang="en-US" dirty="0"/>
              <a:t>Note:</a:t>
            </a:r>
          </a:p>
          <a:p>
            <a:r>
              <a:rPr lang="en-US" dirty="0"/>
              <a:t>VPC ID</a:t>
            </a:r>
          </a:p>
          <a:p>
            <a:r>
              <a:rPr lang="en-US" dirty="0"/>
              <a:t>CIDR block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879296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4AC6B390-BC59-4F1D-A0EE-D71A92F0A0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B6C60D79-16F1-4C4B-B7E3-7634E7069C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519137" y="5486400"/>
            <a:ext cx="2672863" cy="1371600"/>
          </a:xfrm>
          <a:custGeom>
            <a:avLst/>
            <a:gdLst>
              <a:gd name="connsiteX0" fmla="*/ 1721734 w 2672863"/>
              <a:gd name="connsiteY0" fmla="*/ 0 h 1371600"/>
              <a:gd name="connsiteX1" fmla="*/ 2564444 w 2672863"/>
              <a:gd name="connsiteY1" fmla="*/ 213382 h 1371600"/>
              <a:gd name="connsiteX2" fmla="*/ 2672863 w 2672863"/>
              <a:gd name="connsiteY2" fmla="*/ 279248 h 1371600"/>
              <a:gd name="connsiteX3" fmla="*/ 2672863 w 2672863"/>
              <a:gd name="connsiteY3" fmla="*/ 1371600 h 1371600"/>
              <a:gd name="connsiteX4" fmla="*/ 0 w 2672863"/>
              <a:gd name="connsiteY4" fmla="*/ 1371600 h 1371600"/>
              <a:gd name="connsiteX5" fmla="*/ 33268 w 2672863"/>
              <a:gd name="connsiteY5" fmla="*/ 1242216 h 1371600"/>
              <a:gd name="connsiteX6" fmla="*/ 1721734 w 2672863"/>
              <a:gd name="connsiteY6" fmla="*/ 0 h 1371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672863" h="1371600">
                <a:moveTo>
                  <a:pt x="1721734" y="0"/>
                </a:moveTo>
                <a:cubicBezTo>
                  <a:pt x="2026863" y="0"/>
                  <a:pt x="2313937" y="77299"/>
                  <a:pt x="2564444" y="213382"/>
                </a:cubicBezTo>
                <a:lnTo>
                  <a:pt x="2672863" y="279248"/>
                </a:lnTo>
                <a:lnTo>
                  <a:pt x="2672863" y="1371600"/>
                </a:lnTo>
                <a:lnTo>
                  <a:pt x="0" y="1371600"/>
                </a:lnTo>
                <a:lnTo>
                  <a:pt x="33268" y="1242216"/>
                </a:lnTo>
                <a:cubicBezTo>
                  <a:pt x="257110" y="522539"/>
                  <a:pt x="928399" y="0"/>
                  <a:pt x="1721734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7" name="Arc 16">
            <a:extLst>
              <a:ext uri="{FF2B5EF4-FFF2-40B4-BE49-F238E27FC236}">
                <a16:creationId xmlns:a16="http://schemas.microsoft.com/office/drawing/2014/main" id="{426B127E-6498-4C77-9C9D-4553A5113B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02050" y="650160"/>
            <a:ext cx="2987899" cy="2987899"/>
          </a:xfrm>
          <a:prstGeom prst="arc">
            <a:avLst>
              <a:gd name="adj1" fmla="val 14441841"/>
              <a:gd name="adj2" fmla="val 0"/>
            </a:avLst>
          </a:prstGeom>
          <a:ln w="127000" cap="rnd">
            <a:solidFill>
              <a:schemeClr val="accent4"/>
            </a:solidFill>
            <a:prstDash val="dash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1C0DD0-C9C2-5ABF-E250-75B2B4B092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1" y="1984443"/>
            <a:ext cx="5257800" cy="419252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STEP 3: Create VPC Peering Connection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Go to:</a:t>
            </a:r>
          </a:p>
          <a:p>
            <a:pPr marL="0" indent="0">
              <a:buNone/>
            </a:pPr>
            <a:r>
              <a:rPr lang="en-US" b="1" dirty="0">
                <a:highlight>
                  <a:srgbClr val="FFFF00"/>
                </a:highlight>
              </a:rPr>
              <a:t>EC2 → VPC → Peering Connections → Create Peering Connection</a:t>
            </a:r>
          </a:p>
          <a:p>
            <a:endParaRPr lang="en-US" dirty="0"/>
          </a:p>
          <a:p>
            <a:r>
              <a:rPr lang="en-US" dirty="0"/>
              <a:t>Click create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9860E05B-C9FB-1215-A328-F7264B7AACE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30171678"/>
              </p:ext>
            </p:extLst>
          </p:nvPr>
        </p:nvGraphicFramePr>
        <p:xfrm>
          <a:off x="6541053" y="1734818"/>
          <a:ext cx="4777381" cy="3215659"/>
        </p:xfrm>
        <a:graphic>
          <a:graphicData uri="http://schemas.openxmlformats.org/drawingml/2006/table">
            <a:tbl>
              <a:tblPr/>
              <a:tblGrid>
                <a:gridCol w="1553081">
                  <a:extLst>
                    <a:ext uri="{9D8B030D-6E8A-4147-A177-3AD203B41FA5}">
                      <a16:colId xmlns:a16="http://schemas.microsoft.com/office/drawing/2014/main" val="3082315614"/>
                    </a:ext>
                  </a:extLst>
                </a:gridCol>
                <a:gridCol w="3224300">
                  <a:extLst>
                    <a:ext uri="{9D8B030D-6E8A-4147-A177-3AD203B41FA5}">
                      <a16:colId xmlns:a16="http://schemas.microsoft.com/office/drawing/2014/main" val="2721146431"/>
                    </a:ext>
                  </a:extLst>
                </a:gridCol>
              </a:tblGrid>
              <a:tr h="45641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/>
                        <a:t>Field</a:t>
                      </a:r>
                    </a:p>
                  </a:txBody>
                  <a:tcPr marL="103731" marR="103731" marT="51865" marB="5186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/>
                        <a:t>Value</a:t>
                      </a:r>
                    </a:p>
                  </a:txBody>
                  <a:tcPr marL="103731" marR="103731" marT="51865" marB="5186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62434913"/>
                  </a:ext>
                </a:extLst>
              </a:tr>
              <a:tr h="45641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/>
                        <a:t>Name</a:t>
                      </a:r>
                    </a:p>
                  </a:txBody>
                  <a:tcPr marL="103731" marR="103731" marT="51865" marB="5186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/>
                        <a:t>databricks-aurora-peering</a:t>
                      </a:r>
                    </a:p>
                  </a:txBody>
                  <a:tcPr marL="103731" marR="103731" marT="51865" marB="5186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934967"/>
                  </a:ext>
                </a:extLst>
              </a:tr>
              <a:tr h="76760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/>
                        <a:t>Requester VPC</a:t>
                      </a:r>
                    </a:p>
                  </a:txBody>
                  <a:tcPr marL="103731" marR="103731" marT="51865" marB="5186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/>
                        <a:t>Databricks VPC</a:t>
                      </a:r>
                    </a:p>
                  </a:txBody>
                  <a:tcPr marL="103731" marR="103731" marT="51865" marB="5186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3249256"/>
                  </a:ext>
                </a:extLst>
              </a:tr>
              <a:tr h="76760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/>
                        <a:t>Accepter VPC</a:t>
                      </a:r>
                    </a:p>
                  </a:txBody>
                  <a:tcPr marL="103731" marR="103731" marT="51865" marB="5186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/>
                        <a:t>Aurora VPC</a:t>
                      </a:r>
                    </a:p>
                  </a:txBody>
                  <a:tcPr marL="103731" marR="103731" marT="51865" marB="5186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60325278"/>
                  </a:ext>
                </a:extLst>
              </a:tr>
              <a:tr h="76760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/>
                        <a:t>Region</a:t>
                      </a:r>
                    </a:p>
                  </a:txBody>
                  <a:tcPr marL="103731" marR="103731" marT="51865" marB="5186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/>
                        <a:t>Same region (ap-south-1 in your case)</a:t>
                      </a:r>
                    </a:p>
                  </a:txBody>
                  <a:tcPr marL="103731" marR="103731" marT="51865" marB="5186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2936558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631907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0B117F-C8C2-6E62-B15D-6A5FF51252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STEP 4: Accept Peering Request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Go to:</a:t>
            </a:r>
          </a:p>
          <a:p>
            <a:pPr marL="0" indent="0">
              <a:buNone/>
            </a:pPr>
            <a:r>
              <a:rPr lang="en-US" b="1" dirty="0">
                <a:highlight>
                  <a:srgbClr val="FFFF00"/>
                </a:highlight>
              </a:rPr>
              <a:t>Peering Connections → Select request → Actions → Accept</a:t>
            </a:r>
          </a:p>
          <a:p>
            <a:pPr marL="0" indent="0">
              <a:buNone/>
            </a:pPr>
            <a:r>
              <a:rPr lang="en-US" dirty="0"/>
              <a:t>Status must become:</a:t>
            </a:r>
          </a:p>
          <a:p>
            <a:r>
              <a:rPr lang="en-US" dirty="0"/>
              <a:t>Active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7119967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8B61BC-8392-611C-0C3D-E73A4C0AE0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5430" y="2313668"/>
            <a:ext cx="11440884" cy="1325563"/>
          </a:xfrm>
        </p:spPr>
        <p:txBody>
          <a:bodyPr/>
          <a:lstStyle/>
          <a:p>
            <a:r>
              <a:rPr lang="en-US" b="1" dirty="0">
                <a:solidFill>
                  <a:srgbClr val="FF0000"/>
                </a:solidFill>
              </a:rPr>
              <a:t> Alternative choice for VPC peering connection</a:t>
            </a:r>
          </a:p>
        </p:txBody>
      </p:sp>
    </p:spTree>
    <p:extLst>
      <p:ext uri="{BB962C8B-B14F-4D97-AF65-F5344CB8AC3E}">
        <p14:creationId xmlns:p14="http://schemas.microsoft.com/office/powerpoint/2010/main" val="107117569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4AC6B390-BC59-4F1D-A0EE-D71A92F0A0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B6C60D79-16F1-4C4B-B7E3-7634E7069C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519137" y="5486400"/>
            <a:ext cx="2672863" cy="1371600"/>
          </a:xfrm>
          <a:custGeom>
            <a:avLst/>
            <a:gdLst>
              <a:gd name="connsiteX0" fmla="*/ 1721734 w 2672863"/>
              <a:gd name="connsiteY0" fmla="*/ 0 h 1371600"/>
              <a:gd name="connsiteX1" fmla="*/ 2564444 w 2672863"/>
              <a:gd name="connsiteY1" fmla="*/ 213382 h 1371600"/>
              <a:gd name="connsiteX2" fmla="*/ 2672863 w 2672863"/>
              <a:gd name="connsiteY2" fmla="*/ 279248 h 1371600"/>
              <a:gd name="connsiteX3" fmla="*/ 2672863 w 2672863"/>
              <a:gd name="connsiteY3" fmla="*/ 1371600 h 1371600"/>
              <a:gd name="connsiteX4" fmla="*/ 0 w 2672863"/>
              <a:gd name="connsiteY4" fmla="*/ 1371600 h 1371600"/>
              <a:gd name="connsiteX5" fmla="*/ 33268 w 2672863"/>
              <a:gd name="connsiteY5" fmla="*/ 1242216 h 1371600"/>
              <a:gd name="connsiteX6" fmla="*/ 1721734 w 2672863"/>
              <a:gd name="connsiteY6" fmla="*/ 0 h 1371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672863" h="1371600">
                <a:moveTo>
                  <a:pt x="1721734" y="0"/>
                </a:moveTo>
                <a:cubicBezTo>
                  <a:pt x="2026863" y="0"/>
                  <a:pt x="2313937" y="77299"/>
                  <a:pt x="2564444" y="213382"/>
                </a:cubicBezTo>
                <a:lnTo>
                  <a:pt x="2672863" y="279248"/>
                </a:lnTo>
                <a:lnTo>
                  <a:pt x="2672863" y="1371600"/>
                </a:lnTo>
                <a:lnTo>
                  <a:pt x="0" y="1371600"/>
                </a:lnTo>
                <a:lnTo>
                  <a:pt x="33268" y="1242216"/>
                </a:lnTo>
                <a:cubicBezTo>
                  <a:pt x="257110" y="522539"/>
                  <a:pt x="928399" y="0"/>
                  <a:pt x="1721734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3" name="Arc 12">
            <a:extLst>
              <a:ext uri="{FF2B5EF4-FFF2-40B4-BE49-F238E27FC236}">
                <a16:creationId xmlns:a16="http://schemas.microsoft.com/office/drawing/2014/main" id="{426B127E-6498-4C77-9C9D-4553A5113B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02050" y="650160"/>
            <a:ext cx="2987899" cy="2987899"/>
          </a:xfrm>
          <a:prstGeom prst="arc">
            <a:avLst>
              <a:gd name="adj1" fmla="val 14441841"/>
              <a:gd name="adj2" fmla="val 0"/>
            </a:avLst>
          </a:prstGeom>
          <a:ln w="127000" cap="rnd">
            <a:solidFill>
              <a:schemeClr val="accent4"/>
            </a:solidFill>
            <a:prstDash val="dash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897EB02-A528-DA83-7D42-6A859B0D20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1" y="479493"/>
            <a:ext cx="5257800" cy="1325563"/>
          </a:xfrm>
        </p:spPr>
        <p:txBody>
          <a:bodyPr>
            <a:normAutofit/>
          </a:bodyPr>
          <a:lstStyle/>
          <a:p>
            <a:r>
              <a:rPr lang="en-US" dirty="0"/>
              <a:t>STEP 1: Network Connectivity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4F6FC7-EBE7-1873-71AC-2B62F14195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1" y="1984443"/>
            <a:ext cx="5257800" cy="4192520"/>
          </a:xfrm>
        </p:spPr>
        <p:txBody>
          <a:bodyPr>
            <a:normAutofit lnSpcReduction="10000"/>
          </a:bodyPr>
          <a:lstStyle/>
          <a:p>
            <a:r>
              <a:rPr lang="en-US" sz="2600" b="1" dirty="0">
                <a:solidFill>
                  <a:srgbClr val="FF0000"/>
                </a:solidFill>
                <a:highlight>
                  <a:srgbClr val="FFFF00"/>
                </a:highlight>
              </a:rPr>
              <a:t>Databricks must be able to reach Aurora.</a:t>
            </a:r>
          </a:p>
          <a:p>
            <a:endParaRPr lang="en-US" sz="2600" dirty="0"/>
          </a:p>
          <a:p>
            <a:pPr marL="0" indent="0">
              <a:buNone/>
            </a:pPr>
            <a:r>
              <a:rPr lang="en-US" sz="2600" dirty="0"/>
              <a:t>Enable:</a:t>
            </a:r>
          </a:p>
          <a:p>
            <a:r>
              <a:rPr lang="en-US" sz="2600" b="1" dirty="0"/>
              <a:t>Publicly Accessible = YES</a:t>
            </a:r>
            <a:endParaRPr lang="en-US" sz="2600" dirty="0"/>
          </a:p>
          <a:p>
            <a:r>
              <a:rPr lang="en-US" sz="2600" b="1" dirty="0">
                <a:solidFill>
                  <a:srgbClr val="FF0000"/>
                </a:solidFill>
              </a:rPr>
              <a:t>Open port 3306 in Security Group</a:t>
            </a:r>
          </a:p>
          <a:p>
            <a:pPr marL="0" indent="0">
              <a:buNone/>
            </a:pPr>
            <a:r>
              <a:rPr lang="en-US" sz="2600" dirty="0"/>
              <a:t>Go to:</a:t>
            </a:r>
          </a:p>
          <a:p>
            <a:r>
              <a:rPr lang="en-US" sz="2600" dirty="0"/>
              <a:t>EC2 → Security Groups → Select Aurora SG → Inbound Rules → Add:</a:t>
            </a:r>
          </a:p>
          <a:p>
            <a:endParaRPr lang="en-US" sz="2600" dirty="0"/>
          </a:p>
          <a:p>
            <a:pPr marL="0" indent="0">
              <a:buNone/>
            </a:pPr>
            <a:endParaRPr lang="en-US" sz="2600" dirty="0"/>
          </a:p>
          <a:p>
            <a:endParaRPr lang="en-US" sz="2600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41AE32EC-90AF-5C20-5C07-B63E219DC99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73279556"/>
              </p:ext>
            </p:extLst>
          </p:nvPr>
        </p:nvGraphicFramePr>
        <p:xfrm>
          <a:off x="6192711" y="5191931"/>
          <a:ext cx="4777383" cy="1483029"/>
        </p:xfrm>
        <a:graphic>
          <a:graphicData uri="http://schemas.openxmlformats.org/drawingml/2006/table">
            <a:tbl>
              <a:tblPr firstRow="1" bandRow="1">
                <a:solidFill>
                  <a:srgbClr val="404040"/>
                </a:solidFill>
              </a:tblPr>
              <a:tblGrid>
                <a:gridCol w="1692282">
                  <a:extLst>
                    <a:ext uri="{9D8B030D-6E8A-4147-A177-3AD203B41FA5}">
                      <a16:colId xmlns:a16="http://schemas.microsoft.com/office/drawing/2014/main" val="2217072992"/>
                    </a:ext>
                  </a:extLst>
                </a:gridCol>
                <a:gridCol w="943322">
                  <a:extLst>
                    <a:ext uri="{9D8B030D-6E8A-4147-A177-3AD203B41FA5}">
                      <a16:colId xmlns:a16="http://schemas.microsoft.com/office/drawing/2014/main" val="2538369275"/>
                    </a:ext>
                  </a:extLst>
                </a:gridCol>
                <a:gridCol w="2141779">
                  <a:extLst>
                    <a:ext uri="{9D8B030D-6E8A-4147-A177-3AD203B41FA5}">
                      <a16:colId xmlns:a16="http://schemas.microsoft.com/office/drawing/2014/main" val="2331061490"/>
                    </a:ext>
                  </a:extLst>
                </a:gridCol>
              </a:tblGrid>
              <a:tr h="54324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100" b="0" cap="none" spc="0">
                          <a:solidFill>
                            <a:schemeClr val="bg1"/>
                          </a:solidFill>
                        </a:rPr>
                        <a:t>Type</a:t>
                      </a:r>
                    </a:p>
                  </a:txBody>
                  <a:tcPr marL="118959" marR="118959" marT="118959" marB="59480"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noFill/>
                      <a:prstDash val="solid"/>
                    </a:lnT>
                    <a:lnB w="38100" cmpd="sng">
                      <a:noFill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100" b="0" cap="none" spc="0">
                          <a:solidFill>
                            <a:schemeClr val="bg1"/>
                          </a:solidFill>
                        </a:rPr>
                        <a:t>Port</a:t>
                      </a:r>
                    </a:p>
                  </a:txBody>
                  <a:tcPr marL="118959" marR="118959" marT="118959" marB="59480"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noFill/>
                      <a:prstDash val="solid"/>
                    </a:lnT>
                    <a:lnB w="38100" cmpd="sng">
                      <a:noFill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100" b="0" cap="none" spc="0" dirty="0">
                          <a:solidFill>
                            <a:schemeClr val="bg1"/>
                          </a:solidFill>
                        </a:rPr>
                        <a:t>Source</a:t>
                      </a:r>
                    </a:p>
                  </a:txBody>
                  <a:tcPr marL="118959" marR="118959" marT="118959" marB="59480"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noFill/>
                      <a:prstDash val="solid"/>
                    </a:lnT>
                    <a:lnB w="38100" cmpd="sng">
                      <a:noFill/>
                    </a:lnB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93598198"/>
                  </a:ext>
                </a:extLst>
              </a:tr>
              <a:tr h="93978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cap="none" spc="0">
                          <a:solidFill>
                            <a:schemeClr val="bg1"/>
                          </a:solidFill>
                        </a:rPr>
                        <a:t>MySQL/Aurora</a:t>
                      </a:r>
                    </a:p>
                  </a:txBody>
                  <a:tcPr marL="118959" marR="118959" marT="118959" marB="5948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38100" cmpd="sng">
                      <a:noFill/>
                    </a:lnT>
                    <a:lnB w="12700" cmpd="sng">
                      <a:noFill/>
                      <a:prstDash val="solid"/>
                    </a:lnB>
                    <a:solidFill>
                      <a:srgbClr val="40404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cap="none" spc="0">
                          <a:solidFill>
                            <a:schemeClr val="bg1"/>
                          </a:solidFill>
                        </a:rPr>
                        <a:t>3306</a:t>
                      </a:r>
                    </a:p>
                  </a:txBody>
                  <a:tcPr marL="118959" marR="118959" marT="118959" marB="5948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38100" cmpd="sng">
                      <a:noFill/>
                    </a:lnT>
                    <a:lnB w="12700" cmpd="sng">
                      <a:noFill/>
                      <a:prstDash val="solid"/>
                    </a:lnB>
                    <a:solidFill>
                      <a:srgbClr val="40404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cap="none" spc="0" dirty="0">
                          <a:solidFill>
                            <a:schemeClr val="bg1"/>
                          </a:solidFill>
                        </a:rPr>
                        <a:t>Databricks public IP OR 0.0.0.0/0 (temporary test only)</a:t>
                      </a:r>
                    </a:p>
                  </a:txBody>
                  <a:tcPr marL="118959" marR="118959" marT="118959" marB="5948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38100" cmpd="sng">
                      <a:noFill/>
                    </a:lnT>
                    <a:lnB w="12700" cmpd="sng">
                      <a:noFill/>
                      <a:prstDash val="solid"/>
                    </a:lnB>
                    <a:solidFill>
                      <a:srgbClr val="4040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07618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2285945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03C3A3-2564-DE5C-AA11-22A2D2CD9B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0515600" cy="827314"/>
          </a:xfrm>
        </p:spPr>
        <p:txBody>
          <a:bodyPr/>
          <a:lstStyle/>
          <a:p>
            <a:r>
              <a:rPr lang="en-US" dirty="0"/>
              <a:t>STEP 2: Get Cluster Endpoint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415C5D-2A97-225E-4250-8FD9DA8D5DC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Go to:</a:t>
            </a:r>
          </a:p>
          <a:p>
            <a:r>
              <a:rPr lang="en-US" dirty="0"/>
              <a:t>RDS → Databases → Click Aurora Cluster :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Add below for Cluster Endpoint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aurora-mysql.cluster-abc123.ap-south-1.rds.amazonaws.com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7789702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92C5EB-0BE9-1ADB-31BC-1158F07C8B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0" y="628197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STEP 3: Add MySQL JDBC Driver(If Required)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Usually Databricks runtime already includes: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If not:</a:t>
            </a:r>
          </a:p>
          <a:p>
            <a:pPr marL="0" indent="0">
              <a:buNone/>
            </a:pPr>
            <a:r>
              <a:rPr lang="en-US" b="1" dirty="0">
                <a:highlight>
                  <a:srgbClr val="FFFF00"/>
                </a:highlight>
              </a:rPr>
              <a:t>Cluster → Libraries → Install → Maven</a:t>
            </a:r>
          </a:p>
          <a:p>
            <a:pPr marL="0" indent="0">
              <a:buNone/>
            </a:pPr>
            <a:r>
              <a:rPr lang="en-US" dirty="0"/>
              <a:t>Add:</a:t>
            </a:r>
          </a:p>
          <a:p>
            <a:r>
              <a:rPr lang="en-US" b="1" dirty="0"/>
              <a:t>mysql:mysql-connector-java:8.0.33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7586483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103137-F923-10CD-5967-6F5C6B099D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1059886" cy="827314"/>
          </a:xfrm>
        </p:spPr>
        <p:txBody>
          <a:bodyPr/>
          <a:lstStyle/>
          <a:p>
            <a:r>
              <a:rPr lang="en-US" dirty="0"/>
              <a:t>STEP 4: Databricks Notebook Code (Read Data)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05C9D6-57BA-858C-87E7-75A1C69878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096281"/>
            <a:ext cx="11658599" cy="5641975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US" b="1" dirty="0" err="1">
                <a:solidFill>
                  <a:srgbClr val="FF0000"/>
                </a:solidFill>
              </a:rPr>
              <a:t>jdbc_url</a:t>
            </a:r>
            <a:r>
              <a:rPr lang="en-US" b="1" dirty="0">
                <a:solidFill>
                  <a:srgbClr val="FF0000"/>
                </a:solidFill>
              </a:rPr>
              <a:t> = "</a:t>
            </a:r>
            <a:r>
              <a:rPr lang="en-US" b="1" dirty="0" err="1">
                <a:solidFill>
                  <a:srgbClr val="FF0000"/>
                </a:solidFill>
              </a:rPr>
              <a:t>jdbc:mysql</a:t>
            </a:r>
            <a:r>
              <a:rPr lang="en-US" b="1" dirty="0">
                <a:solidFill>
                  <a:srgbClr val="FF0000"/>
                </a:solidFill>
              </a:rPr>
              <a:t>://aurora-mysql.cluster-abc123.ap-south-1.rds.amazonaws.com:3306/</a:t>
            </a:r>
            <a:r>
              <a:rPr lang="en-US" b="1" dirty="0" err="1">
                <a:solidFill>
                  <a:srgbClr val="FF0000"/>
                </a:solidFill>
              </a:rPr>
              <a:t>salesdb</a:t>
            </a:r>
            <a:r>
              <a:rPr lang="en-US" b="1" dirty="0">
                <a:solidFill>
                  <a:srgbClr val="FF0000"/>
                </a:solidFill>
              </a:rPr>
              <a:t>"</a:t>
            </a:r>
          </a:p>
          <a:p>
            <a:pPr marL="0" indent="0">
              <a:buNone/>
            </a:pPr>
            <a:endParaRPr lang="en-US" dirty="0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en-US" b="1" dirty="0" err="1">
                <a:solidFill>
                  <a:srgbClr val="FF0000"/>
                </a:solidFill>
              </a:rPr>
              <a:t>connection_properties</a:t>
            </a:r>
            <a:r>
              <a:rPr lang="en-US" b="1" dirty="0">
                <a:solidFill>
                  <a:srgbClr val="FF0000"/>
                </a:solidFill>
              </a:rPr>
              <a:t> = {</a:t>
            </a:r>
          </a:p>
          <a:p>
            <a:pPr marL="0" indent="0">
              <a:buNone/>
            </a:pPr>
            <a:r>
              <a:rPr lang="en-US" b="1" dirty="0">
                <a:solidFill>
                  <a:srgbClr val="FF0000"/>
                </a:solidFill>
              </a:rPr>
              <a:t>    "user": "admin",</a:t>
            </a:r>
          </a:p>
          <a:p>
            <a:pPr marL="0" indent="0">
              <a:buNone/>
            </a:pPr>
            <a:r>
              <a:rPr lang="en-US" b="1" dirty="0">
                <a:solidFill>
                  <a:srgbClr val="FF0000"/>
                </a:solidFill>
              </a:rPr>
              <a:t>    "password": "</a:t>
            </a:r>
            <a:r>
              <a:rPr lang="en-US" b="1" dirty="0" err="1">
                <a:solidFill>
                  <a:srgbClr val="FF0000"/>
                </a:solidFill>
              </a:rPr>
              <a:t>yourpassword</a:t>
            </a:r>
            <a:r>
              <a:rPr lang="en-US" b="1" dirty="0">
                <a:solidFill>
                  <a:srgbClr val="FF0000"/>
                </a:solidFill>
              </a:rPr>
              <a:t>",</a:t>
            </a:r>
          </a:p>
          <a:p>
            <a:pPr marL="0" indent="0">
              <a:buNone/>
            </a:pPr>
            <a:r>
              <a:rPr lang="en-US" b="1" dirty="0">
                <a:solidFill>
                  <a:srgbClr val="FF0000"/>
                </a:solidFill>
              </a:rPr>
              <a:t>    "driver": "</a:t>
            </a:r>
            <a:r>
              <a:rPr lang="en-US" b="1" dirty="0" err="1">
                <a:solidFill>
                  <a:srgbClr val="FF0000"/>
                </a:solidFill>
              </a:rPr>
              <a:t>com.mysql.cj.jdbc.Driver</a:t>
            </a:r>
            <a:r>
              <a:rPr lang="en-US" b="1" dirty="0">
                <a:solidFill>
                  <a:srgbClr val="FF0000"/>
                </a:solidFill>
              </a:rPr>
              <a:t>"</a:t>
            </a:r>
          </a:p>
          <a:p>
            <a:pPr marL="0" indent="0">
              <a:buNone/>
            </a:pPr>
            <a:r>
              <a:rPr lang="en-US" b="1" dirty="0">
                <a:solidFill>
                  <a:srgbClr val="FF0000"/>
                </a:solidFill>
              </a:rPr>
              <a:t>}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i="1" dirty="0" err="1"/>
              <a:t>df</a:t>
            </a:r>
            <a:r>
              <a:rPr lang="en-US" i="1" dirty="0"/>
              <a:t> = </a:t>
            </a:r>
            <a:r>
              <a:rPr lang="en-US" i="1" dirty="0" err="1"/>
              <a:t>spark.read.jdbc</a:t>
            </a:r>
            <a:r>
              <a:rPr lang="en-US" i="1" dirty="0"/>
              <a:t>(</a:t>
            </a:r>
          </a:p>
          <a:p>
            <a:pPr marL="0" indent="0">
              <a:buNone/>
            </a:pPr>
            <a:r>
              <a:rPr lang="en-US" i="1" dirty="0"/>
              <a:t>    </a:t>
            </a:r>
            <a:r>
              <a:rPr lang="en-US" i="1" dirty="0" err="1"/>
              <a:t>url</a:t>
            </a:r>
            <a:r>
              <a:rPr lang="en-US" i="1" dirty="0"/>
              <a:t>=</a:t>
            </a:r>
            <a:r>
              <a:rPr lang="en-US" i="1" dirty="0" err="1"/>
              <a:t>jdbc_url</a:t>
            </a:r>
            <a:r>
              <a:rPr lang="en-US" i="1" dirty="0"/>
              <a:t>,</a:t>
            </a:r>
          </a:p>
          <a:p>
            <a:pPr marL="0" indent="0">
              <a:buNone/>
            </a:pPr>
            <a:r>
              <a:rPr lang="en-US" i="1" dirty="0"/>
              <a:t>    table="customers",</a:t>
            </a:r>
          </a:p>
          <a:p>
            <a:pPr marL="0" indent="0">
              <a:buNone/>
            </a:pPr>
            <a:r>
              <a:rPr lang="en-US" i="1" dirty="0"/>
              <a:t>    properties=</a:t>
            </a:r>
            <a:r>
              <a:rPr lang="en-US" i="1" dirty="0" err="1"/>
              <a:t>connection_properties</a:t>
            </a:r>
            <a:endParaRPr lang="en-US" i="1" dirty="0"/>
          </a:p>
          <a:p>
            <a:pPr marL="0" indent="0">
              <a:buNone/>
            </a:pPr>
            <a:r>
              <a:rPr lang="en-US" i="1" dirty="0"/>
              <a:t>)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 err="1"/>
              <a:t>df.show</a:t>
            </a:r>
            <a:r>
              <a:rPr lang="en-US" dirty="0"/>
              <a:t>()</a:t>
            </a:r>
          </a:p>
        </p:txBody>
      </p:sp>
    </p:spTree>
    <p:extLst>
      <p:ext uri="{BB962C8B-B14F-4D97-AF65-F5344CB8AC3E}">
        <p14:creationId xmlns:p14="http://schemas.microsoft.com/office/powerpoint/2010/main" val="244371995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625EB0-BC97-130A-71E2-16C85512FE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STEP 5: Write Data from Databricks to Aurora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 err="1"/>
              <a:t>df.write.</a:t>
            </a:r>
            <a:r>
              <a:rPr lang="en-US" b="1" dirty="0" err="1">
                <a:solidFill>
                  <a:srgbClr val="FF0000"/>
                </a:solidFill>
              </a:rPr>
              <a:t>jdbc</a:t>
            </a:r>
            <a:r>
              <a:rPr lang="en-US" dirty="0"/>
              <a:t>(</a:t>
            </a:r>
          </a:p>
          <a:p>
            <a:pPr marL="0" indent="0">
              <a:buNone/>
            </a:pPr>
            <a:r>
              <a:rPr lang="en-US" b="1" dirty="0">
                <a:highlight>
                  <a:srgbClr val="FFFF00"/>
                </a:highlight>
              </a:rPr>
              <a:t>    </a:t>
            </a:r>
            <a:r>
              <a:rPr lang="en-US" b="1" dirty="0" err="1">
                <a:highlight>
                  <a:srgbClr val="FFFF00"/>
                </a:highlight>
              </a:rPr>
              <a:t>url</a:t>
            </a:r>
            <a:r>
              <a:rPr lang="en-US" b="1" dirty="0">
                <a:highlight>
                  <a:srgbClr val="FFFF00"/>
                </a:highlight>
              </a:rPr>
              <a:t>=</a:t>
            </a:r>
            <a:r>
              <a:rPr lang="en-US" b="1" dirty="0" err="1">
                <a:highlight>
                  <a:srgbClr val="FFFF00"/>
                </a:highlight>
              </a:rPr>
              <a:t>jdbc_url</a:t>
            </a:r>
            <a:r>
              <a:rPr lang="en-US" dirty="0"/>
              <a:t>,</a:t>
            </a:r>
          </a:p>
          <a:p>
            <a:pPr marL="0" indent="0">
              <a:buNone/>
            </a:pPr>
            <a:r>
              <a:rPr lang="en-US" dirty="0"/>
              <a:t>    table="</a:t>
            </a:r>
            <a:r>
              <a:rPr lang="en-US" dirty="0" err="1"/>
              <a:t>customers_copy</a:t>
            </a:r>
            <a:r>
              <a:rPr lang="en-US" dirty="0"/>
              <a:t>",</a:t>
            </a:r>
          </a:p>
          <a:p>
            <a:pPr marL="0" indent="0">
              <a:buNone/>
            </a:pPr>
            <a:r>
              <a:rPr lang="en-US" dirty="0"/>
              <a:t>    mode="overwrite",</a:t>
            </a:r>
          </a:p>
          <a:p>
            <a:pPr marL="0" indent="0">
              <a:buNone/>
            </a:pPr>
            <a:r>
              <a:rPr lang="en-US" dirty="0"/>
              <a:t>    properties=</a:t>
            </a:r>
            <a:r>
              <a:rPr lang="en-US" b="1" dirty="0" err="1">
                <a:solidFill>
                  <a:srgbClr val="FF0000"/>
                </a:solidFill>
              </a:rPr>
              <a:t>connection_properties</a:t>
            </a:r>
            <a:endParaRPr lang="en-US" b="1" dirty="0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en-US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54831823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CB73DA-D66C-CC9D-AB4F-5E8471CF80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0515600" cy="772886"/>
          </a:xfrm>
        </p:spPr>
        <p:txBody>
          <a:bodyPr/>
          <a:lstStyle/>
          <a:p>
            <a:r>
              <a:rPr lang="en-US" dirty="0"/>
              <a:t>Test From Databricks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4B2C42-6921-1615-FB90-C84F56D515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199" y="772887"/>
            <a:ext cx="11996057" cy="6085112"/>
          </a:xfrm>
        </p:spPr>
        <p:txBody>
          <a:bodyPr>
            <a:normAutofit fontScale="70000" lnSpcReduction="20000"/>
          </a:bodyPr>
          <a:lstStyle/>
          <a:p>
            <a:r>
              <a:rPr lang="en-US" dirty="0"/>
              <a:t>In notebook: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b="1" dirty="0" err="1">
                <a:solidFill>
                  <a:srgbClr val="FF0000"/>
                </a:solidFill>
              </a:rPr>
              <a:t>jdbc_url</a:t>
            </a:r>
            <a:r>
              <a:rPr lang="en-US" b="1" dirty="0">
                <a:solidFill>
                  <a:srgbClr val="FF0000"/>
                </a:solidFill>
              </a:rPr>
              <a:t> = "</a:t>
            </a:r>
            <a:r>
              <a:rPr lang="en-US" b="1" dirty="0" err="1">
                <a:solidFill>
                  <a:srgbClr val="FF0000"/>
                </a:solidFill>
              </a:rPr>
              <a:t>jdbc:mysql</a:t>
            </a:r>
            <a:r>
              <a:rPr lang="en-US" b="1" dirty="0">
                <a:solidFill>
                  <a:srgbClr val="FF0000"/>
                </a:solidFill>
              </a:rPr>
              <a:t>://aurora-cluster-endpoint:3306/</a:t>
            </a:r>
            <a:r>
              <a:rPr lang="en-US" b="1" dirty="0" err="1">
                <a:solidFill>
                  <a:srgbClr val="FF0000"/>
                </a:solidFill>
              </a:rPr>
              <a:t>salesdb</a:t>
            </a:r>
            <a:r>
              <a:rPr lang="en-US" b="1" dirty="0">
                <a:solidFill>
                  <a:srgbClr val="FF0000"/>
                </a:solidFill>
              </a:rPr>
              <a:t>"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dirty="0" err="1">
                <a:solidFill>
                  <a:srgbClr val="FF0000"/>
                </a:solidFill>
              </a:rPr>
              <a:t>connection_properties</a:t>
            </a:r>
            <a:r>
              <a:rPr lang="en-US" b="1" dirty="0">
                <a:solidFill>
                  <a:srgbClr val="FF0000"/>
                </a:solidFill>
              </a:rPr>
              <a:t> = {</a:t>
            </a:r>
          </a:p>
          <a:p>
            <a:pPr marL="0" indent="0">
              <a:buNone/>
            </a:pPr>
            <a:r>
              <a:rPr lang="en-US" b="1" dirty="0">
                <a:solidFill>
                  <a:srgbClr val="FF0000"/>
                </a:solidFill>
              </a:rPr>
              <a:t>    "user": "admin",</a:t>
            </a:r>
          </a:p>
          <a:p>
            <a:pPr marL="0" indent="0">
              <a:buNone/>
            </a:pPr>
            <a:r>
              <a:rPr lang="en-US" b="1" dirty="0">
                <a:solidFill>
                  <a:srgbClr val="FF0000"/>
                </a:solidFill>
              </a:rPr>
              <a:t>    "password": "</a:t>
            </a:r>
            <a:r>
              <a:rPr lang="en-US" b="1" dirty="0" err="1">
                <a:solidFill>
                  <a:srgbClr val="FF0000"/>
                </a:solidFill>
              </a:rPr>
              <a:t>yourpassword</a:t>
            </a:r>
            <a:r>
              <a:rPr lang="en-US" b="1" dirty="0">
                <a:solidFill>
                  <a:srgbClr val="FF0000"/>
                </a:solidFill>
              </a:rPr>
              <a:t>",</a:t>
            </a:r>
          </a:p>
          <a:p>
            <a:pPr marL="0" indent="0">
              <a:buNone/>
            </a:pPr>
            <a:r>
              <a:rPr lang="en-US" b="1" dirty="0">
                <a:solidFill>
                  <a:srgbClr val="FF0000"/>
                </a:solidFill>
              </a:rPr>
              <a:t>    "driver": "</a:t>
            </a:r>
            <a:r>
              <a:rPr lang="en-US" b="1" dirty="0" err="1">
                <a:solidFill>
                  <a:srgbClr val="FF0000"/>
                </a:solidFill>
              </a:rPr>
              <a:t>com.mysql.cj.jdbc.Driver</a:t>
            </a:r>
            <a:r>
              <a:rPr lang="en-US" b="1" dirty="0">
                <a:solidFill>
                  <a:srgbClr val="FF0000"/>
                </a:solidFill>
              </a:rPr>
              <a:t>"</a:t>
            </a:r>
          </a:p>
          <a:p>
            <a:pPr marL="0" indent="0">
              <a:buNone/>
            </a:pPr>
            <a:r>
              <a:rPr lang="en-US" b="1" dirty="0">
                <a:solidFill>
                  <a:srgbClr val="FF0000"/>
                </a:solidFill>
              </a:rPr>
              <a:t>}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 err="1"/>
              <a:t>df</a:t>
            </a:r>
            <a:r>
              <a:rPr lang="en-US" dirty="0"/>
              <a:t> = </a:t>
            </a:r>
            <a:r>
              <a:rPr lang="en-US" dirty="0" err="1"/>
              <a:t>spark.read.jdbc</a:t>
            </a:r>
            <a:r>
              <a:rPr lang="en-US" dirty="0"/>
              <a:t>(</a:t>
            </a:r>
          </a:p>
          <a:p>
            <a:pPr marL="0" indent="0">
              <a:buNone/>
            </a:pPr>
            <a:r>
              <a:rPr lang="en-US" dirty="0"/>
              <a:t>    </a:t>
            </a:r>
            <a:r>
              <a:rPr lang="en-US" dirty="0" err="1"/>
              <a:t>url</a:t>
            </a:r>
            <a:r>
              <a:rPr lang="en-US" dirty="0"/>
              <a:t>=</a:t>
            </a:r>
            <a:r>
              <a:rPr lang="en-US" dirty="0" err="1"/>
              <a:t>jdbc_url</a:t>
            </a:r>
            <a:r>
              <a:rPr lang="en-US" dirty="0"/>
              <a:t>,</a:t>
            </a:r>
          </a:p>
          <a:p>
            <a:pPr marL="0" indent="0">
              <a:buNone/>
            </a:pPr>
            <a:r>
              <a:rPr lang="en-US" dirty="0"/>
              <a:t>    table="customers",</a:t>
            </a:r>
          </a:p>
          <a:p>
            <a:pPr marL="0" indent="0">
              <a:buNone/>
            </a:pPr>
            <a:r>
              <a:rPr lang="en-US" dirty="0"/>
              <a:t>    properties=</a:t>
            </a:r>
            <a:r>
              <a:rPr lang="en-US" dirty="0" err="1"/>
              <a:t>connection_properties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)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 err="1"/>
              <a:t>df.show</a:t>
            </a:r>
            <a:r>
              <a:rPr lang="en-US" dirty="0"/>
              <a:t>()</a:t>
            </a:r>
          </a:p>
        </p:txBody>
      </p:sp>
    </p:spTree>
    <p:extLst>
      <p:ext uri="{BB962C8B-B14F-4D97-AF65-F5344CB8AC3E}">
        <p14:creationId xmlns:p14="http://schemas.microsoft.com/office/powerpoint/2010/main" val="13574324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FEB2E5-903D-0C0D-1B55-BCF6AD1E51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33600" y="0"/>
            <a:ext cx="10515600" cy="859971"/>
          </a:xfrm>
        </p:spPr>
        <p:txBody>
          <a:bodyPr/>
          <a:lstStyle/>
          <a:p>
            <a:r>
              <a:rPr lang="en-US" dirty="0"/>
              <a:t>Common Errors &amp; Fix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E3FE1D-8674-C4CA-D9B2-B70DA03866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3914" y="1335768"/>
            <a:ext cx="10515600" cy="4351338"/>
          </a:xfrm>
        </p:spPr>
        <p:txBody>
          <a:bodyPr/>
          <a:lstStyle/>
          <a:p>
            <a:pPr>
              <a:buFont typeface="Wingdings" panose="05000000000000000000" pitchFamily="2" charset="2"/>
              <a:buChar char="q"/>
            </a:pPr>
            <a:r>
              <a:rPr lang="en-US" b="1" dirty="0"/>
              <a:t> Communications link failure</a:t>
            </a:r>
          </a:p>
          <a:p>
            <a:pPr marL="0" indent="0">
              <a:buNone/>
            </a:pPr>
            <a:r>
              <a:rPr lang="en-US" dirty="0"/>
              <a:t>→ Security group blocking port 3306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b="1" dirty="0"/>
              <a:t> Access denied</a:t>
            </a:r>
          </a:p>
          <a:p>
            <a:pPr marL="0" indent="0">
              <a:buNone/>
            </a:pPr>
            <a:r>
              <a:rPr lang="en-US" dirty="0"/>
              <a:t>→ Wrong username/password</a:t>
            </a:r>
            <a:br>
              <a:rPr lang="en-US" dirty="0"/>
            </a:br>
            <a:r>
              <a:rPr lang="en-US" dirty="0"/>
              <a:t>→ User not created inside Aurora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b="1" dirty="0"/>
              <a:t>Timeout</a:t>
            </a:r>
          </a:p>
          <a:p>
            <a:pPr marL="0" indent="0">
              <a:buNone/>
            </a:pPr>
            <a:r>
              <a:rPr lang="en-US" dirty="0"/>
              <a:t>→ Databricks not in same VPC</a:t>
            </a:r>
            <a:br>
              <a:rPr lang="en-US" dirty="0"/>
            </a:br>
            <a:r>
              <a:rPr lang="en-US" dirty="0"/>
              <a:t>→ Public access disabled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0557451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</TotalTime>
  <Words>605</Words>
  <Application>Microsoft Office PowerPoint</Application>
  <PresentationFormat>Widescreen</PresentationFormat>
  <Paragraphs>129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1" baseType="lpstr">
      <vt:lpstr>Aptos</vt:lpstr>
      <vt:lpstr>Aptos Display</vt:lpstr>
      <vt:lpstr>Arial</vt:lpstr>
      <vt:lpstr>Calibri</vt:lpstr>
      <vt:lpstr>Wingdings</vt:lpstr>
      <vt:lpstr>Office Theme</vt:lpstr>
      <vt:lpstr>Databricks JDBC Connection with RDS Aurora MySQL </vt:lpstr>
      <vt:lpstr>Steps for </vt:lpstr>
      <vt:lpstr>STEP 1: Network Connectivity</vt:lpstr>
      <vt:lpstr>STEP 1: Get Databricks VPC Details</vt:lpstr>
      <vt:lpstr>PowerPoint Presentation</vt:lpstr>
      <vt:lpstr>PowerPoint Presentation</vt:lpstr>
      <vt:lpstr>PowerPoint Presentation</vt:lpstr>
      <vt:lpstr> Alternative choice for VPC peering connection</vt:lpstr>
      <vt:lpstr>STEP 1: Network Connectivity</vt:lpstr>
      <vt:lpstr>STEP 2: Get Cluster Endpoint</vt:lpstr>
      <vt:lpstr>PowerPoint Presentation</vt:lpstr>
      <vt:lpstr>STEP 4: Databricks Notebook Code (Read Data)</vt:lpstr>
      <vt:lpstr>PowerPoint Presentation</vt:lpstr>
      <vt:lpstr>Test From Databricks</vt:lpstr>
      <vt:lpstr>Common Errors &amp; Fix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Rajesh Kumar Devabhaktuni</dc:creator>
  <cp:lastModifiedBy>Rajesh Kumar Devabhaktuni</cp:lastModifiedBy>
  <cp:revision>4</cp:revision>
  <dcterms:created xsi:type="dcterms:W3CDTF">2026-02-27T22:34:46Z</dcterms:created>
  <dcterms:modified xsi:type="dcterms:W3CDTF">2026-02-27T23:06:53Z</dcterms:modified>
</cp:coreProperties>
</file>