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291DC-D607-E26E-AAAA-59FA8F5F37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083164-93E4-B292-BE3C-3003B64A30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0275E-EC75-A48D-1A84-89E718F83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DC1F-C73D-49D0-B72E-089855AF0E2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FFFCA-E20E-31E4-BE7F-2F4EA6C12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147D4-D0B9-2624-962C-43EA5BD02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F1875-329E-42E4-800D-694E08C27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857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080B1-848A-C796-1465-B4DBC1DAA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9A37C-1757-B351-C1A2-2A8F27A83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A572E-C178-53E3-5585-47B79EEBA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DC1F-C73D-49D0-B72E-089855AF0E2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AC295-AD11-AF95-1C36-A7BF68789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B6BF6-E5B7-646F-3CE9-2639F4E45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F1875-329E-42E4-800D-694E08C27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762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686F1-4DD7-877E-3B45-8EF00E7B7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057F63-B980-FE9C-E7D3-365EC0800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6BBAC-7E26-7240-821A-D71E05D46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DC1F-C73D-49D0-B72E-089855AF0E2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271DA-E908-CF67-2571-E1F744467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51ACE-FEC6-CD57-BE0C-32E617FB9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F1875-329E-42E4-800D-694E08C27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51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C3C9A-F1BF-035C-E376-3D8F06F95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AB7D5-B54F-DF54-AFAA-1D4287C0D6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417261-9168-71C0-9946-D98260C216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7F55FF-B48C-ABEE-4BD4-7994E4685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DC1F-C73D-49D0-B72E-089855AF0E2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9A1BD-7530-10DA-5B79-0A251A9D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98E672-41DE-9A14-D257-180A8510C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F1875-329E-42E4-800D-694E08C27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255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8DEF2-7A4D-2F48-42C5-4EC4D2647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EA7521-690C-31BB-52A6-F3A8B97BB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83DA72-5F67-BD26-270E-4B9D06C159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3C7DFA-2E13-4D9E-8638-57C3591C14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D7C6EC-0E95-A703-AD07-088901CF99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A43378-F51F-B746-107D-5F9E0BD95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DC1F-C73D-49D0-B72E-089855AF0E2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5FF36F-4AF8-1B68-6C6B-7CDFEBBFA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EAF5D9-389C-3278-54C8-13C8A326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F1875-329E-42E4-800D-694E08C27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568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0CC78-D376-F29C-59F5-0F7ED80D7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225AF2-3374-A31A-F550-386A74C21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DC1F-C73D-49D0-B72E-089855AF0E2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657A90-2E4A-EF2F-A0EF-6C5A9C7E4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098459-F82D-4D26-B7A8-E9F6293D8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F1875-329E-42E4-800D-694E08C27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352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FA971C-C0D6-FB8C-82CA-521C17248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DC1F-C73D-49D0-B72E-089855AF0E2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BCB5DF-8672-D274-E6C3-15D0CF3B4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DF839-85A8-34F5-8535-FC350864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F1875-329E-42E4-800D-694E08C27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371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66796-7DBA-E8C7-E5E7-FE205957C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CB956-245F-26C4-C333-A318220FD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2D6125-80F3-D239-0E35-2CF7EF770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DE95D9-E33B-D360-94FE-562CC688E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DC1F-C73D-49D0-B72E-089855AF0E2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87EF3E-52E6-359A-4D7E-0C9789861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5E7E0F-FE64-AE84-1730-11570367F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F1875-329E-42E4-800D-694E08C27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203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D266C-EB21-FCF9-C649-C2E61A581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175A97-14B7-382D-DBEA-CE48146545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7469F6-9A10-DA00-E983-0364FA62CF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61EA47-FA85-E94C-CD75-02A344F2D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DC1F-C73D-49D0-B72E-089855AF0E2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F18A96-EC03-A92F-C1E3-D3F735482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541C6-0883-24B3-50A6-62667F668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F1875-329E-42E4-800D-694E08C27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924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F09A5-1394-A6C4-EDE9-EA69A075A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ABF518-78EF-A281-3FBF-3F17EB833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D65AD-954C-35DE-A9AC-664428522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DC1F-C73D-49D0-B72E-089855AF0E2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C4FA1-4D4B-E66B-DCAD-11F75A717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4243C-F6A9-EC97-D13A-1BCC5034A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F1875-329E-42E4-800D-694E08C27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911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AB4B72-B585-612B-C201-D95FC8F8DA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B683D0-AF62-15C7-5B92-12A5356015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7982E-3DD8-2635-6E87-6C2C09355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DC1F-C73D-49D0-B72E-089855AF0E2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E9CD3-36CC-BFBC-19BB-984D7D918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7A731-290A-442C-7B67-1BECE8A25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F1875-329E-42E4-800D-694E08C27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299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684E6A-5DDE-C2B3-8046-B4E125D84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DA3DA-9AD4-330B-8EF3-1FE68737C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2ED74-9B8F-B591-E89B-F3C889EA1B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B9DC1F-C73D-49D0-B72E-089855AF0E2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F608D-FE0A-2FD9-749E-2955F7B4B9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372B1-BFC1-4D73-E2C3-558D9ED858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3F1875-329E-42E4-800D-694E08C27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967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89798-A772-1FB8-306E-99390362F2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Databricks Error Handling and Data Quality Checks</a:t>
            </a:r>
          </a:p>
        </p:txBody>
      </p:sp>
    </p:spTree>
    <p:extLst>
      <p:ext uri="{BB962C8B-B14F-4D97-AF65-F5344CB8AC3E}">
        <p14:creationId xmlns:p14="http://schemas.microsoft.com/office/powerpoint/2010/main" val="484689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42C7C-EBDB-9421-53E6-CC4D0B62D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754631"/>
          </a:xfrm>
        </p:spPr>
        <p:txBody>
          <a:bodyPr/>
          <a:lstStyle/>
          <a:p>
            <a:r>
              <a:rPr lang="sv-SE" dirty="0"/>
              <a:t>1️⃣ Error Handling in Databricks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34E11-6098-4AD9-C2B5-B60DDBCAE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Error handling depends on:</a:t>
            </a:r>
          </a:p>
          <a:p>
            <a:r>
              <a:rPr lang="en-US" dirty="0" err="1"/>
              <a:t>PySpark</a:t>
            </a:r>
            <a:r>
              <a:rPr lang="en-US" dirty="0"/>
              <a:t> / Scala code</a:t>
            </a:r>
          </a:p>
          <a:p>
            <a:r>
              <a:rPr lang="en-US" dirty="0"/>
              <a:t>Delta Lake operations</a:t>
            </a:r>
          </a:p>
          <a:p>
            <a:r>
              <a:rPr lang="en-US" dirty="0"/>
              <a:t>Streaming pipelines</a:t>
            </a:r>
          </a:p>
          <a:p>
            <a:r>
              <a:rPr lang="en-US" dirty="0"/>
              <a:t>Job orchestration (Workflows)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24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51E25-3841-F848-1B30-1370725A9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92629"/>
          </a:xfrm>
        </p:spPr>
        <p:txBody>
          <a:bodyPr/>
          <a:lstStyle/>
          <a:p>
            <a:r>
              <a:rPr lang="en-US" dirty="0"/>
              <a:t>A. </a:t>
            </a:r>
            <a:r>
              <a:rPr lang="en-US" dirty="0" err="1"/>
              <a:t>PySpark</a:t>
            </a:r>
            <a:r>
              <a:rPr lang="en-US" dirty="0"/>
              <a:t> Code-Level Error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B56ED-BDAD-DD3D-3251-036A828CD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1️⃣ Try–Except (Python)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try: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spark.read.format</a:t>
            </a:r>
            <a:r>
              <a:rPr lang="en-US" dirty="0"/>
              <a:t>("csv").option("</a:t>
            </a:r>
            <a:r>
              <a:rPr lang="en-US" dirty="0" err="1"/>
              <a:t>header","true</a:t>
            </a:r>
            <a:r>
              <a:rPr lang="en-US" dirty="0"/>
              <a:t>").load("/</a:t>
            </a:r>
            <a:r>
              <a:rPr lang="en-US" dirty="0" err="1"/>
              <a:t>mnt</a:t>
            </a:r>
            <a:r>
              <a:rPr lang="en-US" dirty="0"/>
              <a:t>/input/file.csv")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df.show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except Exception as e:</a:t>
            </a:r>
          </a:p>
          <a:p>
            <a:pPr marL="0" indent="0">
              <a:buNone/>
            </a:pPr>
            <a:r>
              <a:rPr lang="en-US" dirty="0"/>
              <a:t>    print("Error occurred:", str(e))</a:t>
            </a:r>
          </a:p>
        </p:txBody>
      </p:sp>
    </p:spTree>
    <p:extLst>
      <p:ext uri="{BB962C8B-B14F-4D97-AF65-F5344CB8AC3E}">
        <p14:creationId xmlns:p14="http://schemas.microsoft.com/office/powerpoint/2010/main" val="3410833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A6540-0D27-78EE-3F34-AE9F5650A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1325563"/>
          </a:xfrm>
        </p:spPr>
        <p:txBody>
          <a:bodyPr/>
          <a:lstStyle/>
          <a:p>
            <a:r>
              <a:rPr lang="en-US" dirty="0"/>
              <a:t>2️⃣ Logging Errors (Recommended in Production)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46739-D69B-3889-F338-F2814AB02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import logging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logger = </a:t>
            </a:r>
            <a:r>
              <a:rPr lang="en-US" dirty="0" err="1"/>
              <a:t>logging.getLogger</a:t>
            </a:r>
            <a:r>
              <a:rPr lang="en-US" dirty="0"/>
              <a:t>("ETL")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try: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spark.read.parquet</a:t>
            </a:r>
            <a:r>
              <a:rPr lang="en-US" dirty="0"/>
              <a:t>("/</a:t>
            </a:r>
            <a:r>
              <a:rPr lang="en-US" dirty="0" err="1"/>
              <a:t>mnt</a:t>
            </a:r>
            <a:r>
              <a:rPr lang="en-US" dirty="0"/>
              <a:t>/input/")</a:t>
            </a:r>
          </a:p>
          <a:p>
            <a:pPr marL="0" indent="0">
              <a:buNone/>
            </a:pPr>
            <a:r>
              <a:rPr lang="en-US" dirty="0"/>
              <a:t>except Exception as e: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logger.error</a:t>
            </a:r>
            <a:r>
              <a:rPr lang="en-US" dirty="0"/>
              <a:t>("Failed to read parquet: %s", str(e))</a:t>
            </a:r>
          </a:p>
          <a:p>
            <a:pPr marL="0" indent="0">
              <a:buNone/>
            </a:pPr>
            <a:r>
              <a:rPr lang="en-US" dirty="0"/>
              <a:t>    raise</a:t>
            </a:r>
          </a:p>
        </p:txBody>
      </p:sp>
    </p:spTree>
    <p:extLst>
      <p:ext uri="{BB962C8B-B14F-4D97-AF65-F5344CB8AC3E}">
        <p14:creationId xmlns:p14="http://schemas.microsoft.com/office/powerpoint/2010/main" val="2441605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637A2-7793-C93C-D07C-B51C94172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B. Handling Bad Records (Corrupt Data)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CBF50-D0FA-FB4F-09CE-ED4C70FCD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When reading files: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spark.read</a:t>
            </a:r>
            <a:r>
              <a:rPr lang="en-US" dirty="0"/>
              <a:t> \</a:t>
            </a:r>
          </a:p>
          <a:p>
            <a:pPr marL="0" indent="0">
              <a:buNone/>
            </a:pPr>
            <a:r>
              <a:rPr lang="en-US" dirty="0"/>
              <a:t>    .option("</a:t>
            </a:r>
            <a:r>
              <a:rPr lang="en-US" dirty="0" err="1"/>
              <a:t>badRecordsPath</a:t>
            </a:r>
            <a:r>
              <a:rPr lang="en-US" dirty="0"/>
              <a:t>", "/</a:t>
            </a:r>
            <a:r>
              <a:rPr lang="en-US" dirty="0" err="1"/>
              <a:t>mnt</a:t>
            </a:r>
            <a:r>
              <a:rPr lang="en-US" dirty="0"/>
              <a:t>/error/</a:t>
            </a:r>
            <a:r>
              <a:rPr lang="en-US" dirty="0" err="1"/>
              <a:t>badrecords</a:t>
            </a:r>
            <a:r>
              <a:rPr lang="en-US" dirty="0"/>
              <a:t>") \</a:t>
            </a:r>
          </a:p>
          <a:p>
            <a:pPr marL="0" indent="0">
              <a:buNone/>
            </a:pPr>
            <a:r>
              <a:rPr lang="en-US" dirty="0"/>
              <a:t>    .option("mode", "PERMISSIVE") \</a:t>
            </a:r>
          </a:p>
          <a:p>
            <a:pPr marL="0" indent="0">
              <a:buNone/>
            </a:pPr>
            <a:r>
              <a:rPr lang="en-US" dirty="0"/>
              <a:t>    .csv("/</a:t>
            </a:r>
            <a:r>
              <a:rPr lang="en-US" dirty="0" err="1"/>
              <a:t>mnt</a:t>
            </a:r>
            <a:r>
              <a:rPr lang="en-US" dirty="0"/>
              <a:t>/input/data.csv")</a:t>
            </a:r>
          </a:p>
          <a:p>
            <a:pPr marL="0" indent="0">
              <a:buNone/>
            </a:pPr>
            <a:endParaRPr lang="en-US" dirty="0"/>
          </a:p>
          <a:p>
            <a:r>
              <a:rPr lang="da-DK" b="1" dirty="0"/>
              <a:t>Modes:</a:t>
            </a:r>
          </a:p>
          <a:p>
            <a:r>
              <a:rPr lang="da-DK" dirty="0"/>
              <a:t>PERMISSIVE (default)</a:t>
            </a:r>
          </a:p>
          <a:p>
            <a:r>
              <a:rPr lang="da-DK" dirty="0"/>
              <a:t>DROPMALFORMED</a:t>
            </a:r>
          </a:p>
          <a:p>
            <a:r>
              <a:rPr lang="da-DK" dirty="0"/>
              <a:t>FAILFAST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900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8392E-4BF1-EB34-EC6C-3CE6A9F2D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C. Delta Lake Transaction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8A1B5-F1FE-8556-6C6C-9687BE0D3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Databricks uses </a:t>
            </a:r>
            <a:r>
              <a:rPr lang="en-US" b="1" dirty="0"/>
              <a:t>ACID transactions</a:t>
            </a:r>
            <a:r>
              <a:rPr lang="en-US" dirty="0"/>
              <a:t> via</a:t>
            </a:r>
            <a:br>
              <a:rPr lang="en-US" dirty="0"/>
            </a:br>
            <a:r>
              <a:rPr lang="en-US" dirty="0"/>
              <a:t>Delta Lake</a:t>
            </a:r>
          </a:p>
          <a:p>
            <a:r>
              <a:rPr lang="en-US" dirty="0"/>
              <a:t>If a write fails → transaction is rolled back automatically.</a:t>
            </a:r>
          </a:p>
          <a:p>
            <a:r>
              <a:rPr lang="en-US" dirty="0"/>
              <a:t>Example:</a:t>
            </a:r>
          </a:p>
          <a:p>
            <a:r>
              <a:rPr lang="en-US" dirty="0" err="1"/>
              <a:t>df.write.format</a:t>
            </a:r>
            <a:r>
              <a:rPr lang="en-US" dirty="0"/>
              <a:t>("delta").mode("append").save("/</a:t>
            </a:r>
            <a:r>
              <a:rPr lang="en-US" dirty="0" err="1"/>
              <a:t>mnt</a:t>
            </a:r>
            <a:r>
              <a:rPr lang="en-US" dirty="0"/>
              <a:t>/delta/sales")</a:t>
            </a:r>
          </a:p>
          <a:p>
            <a:r>
              <a:rPr lang="en-US" dirty="0"/>
              <a:t>If failure occurs → no partial writes.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064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63419-1529-536A-4AB5-73FDA0F4D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D. Streaming Error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23A6B-F728-7DCC-76A4-930061782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057" y="1253330"/>
            <a:ext cx="10515600" cy="558641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For Structured Streaming: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query = </a:t>
            </a:r>
            <a:r>
              <a:rPr lang="en-US" dirty="0" err="1"/>
              <a:t>df.writeStream</a:t>
            </a:r>
            <a:r>
              <a:rPr lang="en-US" dirty="0"/>
              <a:t> \</a:t>
            </a:r>
          </a:p>
          <a:p>
            <a:pPr marL="0" indent="0">
              <a:buNone/>
            </a:pPr>
            <a:r>
              <a:rPr lang="en-US" dirty="0"/>
              <a:t>    .format("delta") \</a:t>
            </a:r>
          </a:p>
          <a:p>
            <a:pPr marL="0" indent="0">
              <a:buNone/>
            </a:pPr>
            <a:r>
              <a:rPr lang="en-US" dirty="0"/>
              <a:t>    .option("</a:t>
            </a:r>
            <a:r>
              <a:rPr lang="en-US" dirty="0" err="1"/>
              <a:t>checkpointLocation</a:t>
            </a:r>
            <a:r>
              <a:rPr lang="en-US" dirty="0"/>
              <a:t>", "/</a:t>
            </a:r>
            <a:r>
              <a:rPr lang="en-US" dirty="0" err="1"/>
              <a:t>mnt</a:t>
            </a:r>
            <a:r>
              <a:rPr lang="en-US" dirty="0"/>
              <a:t>/checkpoints/sales") \</a:t>
            </a:r>
          </a:p>
          <a:p>
            <a:pPr marL="0" indent="0">
              <a:buNone/>
            </a:pPr>
            <a:r>
              <a:rPr lang="en-US" dirty="0"/>
              <a:t>    .start("/</a:t>
            </a:r>
            <a:r>
              <a:rPr lang="en-US" dirty="0" err="1"/>
              <a:t>mnt</a:t>
            </a:r>
            <a:r>
              <a:rPr lang="en-US" dirty="0"/>
              <a:t>/output")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Important:</a:t>
            </a:r>
          </a:p>
          <a:p>
            <a:pPr marL="0" indent="0">
              <a:buNone/>
            </a:pPr>
            <a:r>
              <a:rPr lang="en-US" dirty="0"/>
              <a:t>✔ Always configure checkpoint</a:t>
            </a:r>
            <a:br>
              <a:rPr lang="en-US" dirty="0"/>
            </a:br>
            <a:r>
              <a:rPr lang="en-US" dirty="0"/>
              <a:t>✔ Use trigger(once=True) for controlled execution</a:t>
            </a:r>
            <a:br>
              <a:rPr lang="en-US" dirty="0"/>
            </a:br>
            <a:r>
              <a:rPr lang="en-US" dirty="0"/>
              <a:t>✔ Monitor </a:t>
            </a:r>
            <a:r>
              <a:rPr lang="en-US" dirty="0" err="1"/>
              <a:t>query.status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For streaming sources like:</a:t>
            </a:r>
          </a:p>
          <a:p>
            <a:r>
              <a:rPr lang="en-US" dirty="0"/>
              <a:t>Amazon Kinesis</a:t>
            </a:r>
          </a:p>
          <a:p>
            <a:r>
              <a:rPr lang="en-US" dirty="0"/>
              <a:t>Apache Kafka</a:t>
            </a:r>
          </a:p>
          <a:p>
            <a:pPr marL="0" indent="0">
              <a:buNone/>
            </a:pPr>
            <a:r>
              <a:rPr lang="en-US" b="1" dirty="0"/>
              <a:t>Use dead-letter pattern for failed records.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138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D15E9-F5D6-283F-4540-174BDFDCA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907031"/>
          </a:xfrm>
        </p:spPr>
        <p:txBody>
          <a:bodyPr/>
          <a:lstStyle/>
          <a:p>
            <a:r>
              <a:rPr lang="en-US" dirty="0"/>
              <a:t>E. Retry Pattern (Common in AWS Integration)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A7A0F-59DB-6790-EBFE-A1DA549A6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When reading from:</a:t>
            </a:r>
          </a:p>
          <a:p>
            <a:r>
              <a:rPr lang="en-US" dirty="0"/>
              <a:t>Amazon S3/AWS Glue</a:t>
            </a:r>
          </a:p>
          <a:p>
            <a:pPr marL="0" indent="0">
              <a:buNone/>
            </a:pPr>
            <a:r>
              <a:rPr lang="en-US" dirty="0"/>
              <a:t>Implement retry logic: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import time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range(3):</a:t>
            </a:r>
          </a:p>
          <a:p>
            <a:pPr marL="0" indent="0">
              <a:buNone/>
            </a:pPr>
            <a:r>
              <a:rPr lang="en-US" dirty="0"/>
              <a:t>    try: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spark.read.parquet</a:t>
            </a:r>
            <a:r>
              <a:rPr lang="en-US" dirty="0"/>
              <a:t>("s3://bucket/data/")</a:t>
            </a:r>
          </a:p>
          <a:p>
            <a:pPr marL="0" indent="0">
              <a:buNone/>
            </a:pPr>
            <a:r>
              <a:rPr lang="en-US" dirty="0"/>
              <a:t>        break</a:t>
            </a:r>
          </a:p>
          <a:p>
            <a:pPr marL="0" indent="0">
              <a:buNone/>
            </a:pPr>
            <a:r>
              <a:rPr lang="en-US" dirty="0"/>
              <a:t>    except Exception: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time.sleep</a:t>
            </a:r>
            <a:r>
              <a:rPr lang="en-US" dirty="0"/>
              <a:t>(10)</a:t>
            </a:r>
          </a:p>
        </p:txBody>
      </p:sp>
    </p:spTree>
    <p:extLst>
      <p:ext uri="{BB962C8B-B14F-4D97-AF65-F5344CB8AC3E}">
        <p14:creationId xmlns:p14="http://schemas.microsoft.com/office/powerpoint/2010/main" val="1552555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740FD-50BA-1009-50FB-F54F5837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2766218"/>
            <a:ext cx="10515600" cy="1325563"/>
          </a:xfrm>
        </p:spPr>
        <p:txBody>
          <a:bodyPr/>
          <a:lstStyle/>
          <a:p>
            <a:r>
              <a:rPr lang="en-US" dirty="0"/>
              <a:t>2️⃣ Data Quality Checks in Databricks</a:t>
            </a:r>
          </a:p>
        </p:txBody>
      </p:sp>
    </p:spTree>
    <p:extLst>
      <p:ext uri="{BB962C8B-B14F-4D97-AF65-F5344CB8AC3E}">
        <p14:creationId xmlns:p14="http://schemas.microsoft.com/office/powerpoint/2010/main" val="3134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99776-7195-1FAB-9640-CF475CD4E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Quality ensures: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2ACFB-2F89-499E-6198-C6635A964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✔ Accuracy</a:t>
            </a:r>
            <a:br>
              <a:rPr lang="en-US" dirty="0"/>
            </a:br>
            <a:r>
              <a:rPr lang="en-US" dirty="0"/>
              <a:t>✔ Completeness</a:t>
            </a:r>
            <a:br>
              <a:rPr lang="en-US" dirty="0"/>
            </a:br>
            <a:r>
              <a:rPr lang="en-US" dirty="0"/>
              <a:t>✔ Consistency</a:t>
            </a:r>
            <a:br>
              <a:rPr lang="en-US" dirty="0"/>
            </a:br>
            <a:r>
              <a:rPr lang="en-US" dirty="0"/>
              <a:t>✔ Validity</a:t>
            </a:r>
            <a:br>
              <a:rPr lang="en-US" dirty="0"/>
            </a:br>
            <a:r>
              <a:rPr lang="en-US" dirty="0"/>
              <a:t>✔ Uniqueness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061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47956-BF75-84FA-6761-12B1435A5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A. Basic Data Validation Checks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B6898-F5A2-EFB1-60B4-67516B20B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1️⃣ Null Check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df.filter</a:t>
            </a:r>
            <a:r>
              <a:rPr lang="en-US" dirty="0"/>
              <a:t>("</a:t>
            </a:r>
            <a:r>
              <a:rPr lang="en-US" dirty="0" err="1"/>
              <a:t>customer_id</a:t>
            </a:r>
            <a:r>
              <a:rPr lang="en-US" dirty="0"/>
              <a:t> IS NULL").count()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2️⃣ Duplicate Check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df.groupBy</a:t>
            </a:r>
            <a:r>
              <a:rPr lang="en-US" dirty="0"/>
              <a:t>("</a:t>
            </a:r>
            <a:r>
              <a:rPr lang="en-US" dirty="0" err="1"/>
              <a:t>order_id</a:t>
            </a:r>
            <a:r>
              <a:rPr lang="en-US" dirty="0"/>
              <a:t>").count().filter("count &gt; 1")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3️⃣ Range Validation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df.filter</a:t>
            </a:r>
            <a:r>
              <a:rPr lang="en-US" dirty="0"/>
              <a:t>("amount &lt; 0")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104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16576-2A9C-AA83-03EA-E07904DAE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B. Schema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39864-519F-7563-9CAD-79B0EDED9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expected_schema</a:t>
            </a:r>
            <a:r>
              <a:rPr lang="en-US" dirty="0"/>
              <a:t> = "id INT, name STRING, amount DOUBLE"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spark.read.schema</a:t>
            </a:r>
            <a:r>
              <a:rPr lang="en-US" dirty="0"/>
              <a:t>(</a:t>
            </a:r>
            <a:r>
              <a:rPr lang="en-US" dirty="0" err="1"/>
              <a:t>expected_schema</a:t>
            </a:r>
            <a:r>
              <a:rPr lang="en-US" dirty="0"/>
              <a:t>).csv("/</a:t>
            </a:r>
            <a:r>
              <a:rPr lang="en-US" dirty="0" err="1"/>
              <a:t>mnt</a:t>
            </a:r>
            <a:r>
              <a:rPr lang="en-US" dirty="0"/>
              <a:t>/input/")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mismatch → fail fast.</a:t>
            </a:r>
          </a:p>
        </p:txBody>
      </p:sp>
    </p:spTree>
    <p:extLst>
      <p:ext uri="{BB962C8B-B14F-4D97-AF65-F5344CB8AC3E}">
        <p14:creationId xmlns:p14="http://schemas.microsoft.com/office/powerpoint/2010/main" val="1839497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F240F-0C8A-8845-4FCE-BD7495549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C. Delta Constraints (Recommended)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04185-2537-70F9-95D5-BBD460241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Using Databricks SQL: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ALTER TABLE sales ADD CONSTRAINT </a:t>
            </a:r>
            <a:r>
              <a:rPr lang="en-US" dirty="0" err="1"/>
              <a:t>amount_positive</a:t>
            </a:r>
            <a:r>
              <a:rPr lang="en-US" dirty="0"/>
              <a:t> CHECK (amount &gt; 0);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violated → write fails.</a:t>
            </a:r>
          </a:p>
        </p:txBody>
      </p:sp>
    </p:spTree>
    <p:extLst>
      <p:ext uri="{BB962C8B-B14F-4D97-AF65-F5344CB8AC3E}">
        <p14:creationId xmlns:p14="http://schemas.microsoft.com/office/powerpoint/2010/main" val="1702570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D8830-CAF0-1DA5-8426-465076EB7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D. Great Expectations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813DF-9460-1224-68E7-1AA89B7F7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Great Expectations can be integrated with Databricks for advanced validation:</a:t>
            </a:r>
          </a:p>
          <a:p>
            <a:r>
              <a:rPr lang="en-US" dirty="0"/>
              <a:t>Expect column values to be between range</a:t>
            </a:r>
          </a:p>
          <a:p>
            <a:r>
              <a:rPr lang="en-US" dirty="0"/>
              <a:t>Expect unique values</a:t>
            </a:r>
          </a:p>
          <a:p>
            <a:r>
              <a:rPr lang="en-US" dirty="0"/>
              <a:t>Expect column not null</a:t>
            </a:r>
          </a:p>
          <a:p>
            <a:r>
              <a:rPr lang="en-US" dirty="0"/>
              <a:t>Generate validation reports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626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41295-5735-76FB-9841-027CBC607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E. </a:t>
            </a:r>
            <a:r>
              <a:rPr lang="en-US" dirty="0" err="1"/>
              <a:t>Deequ</a:t>
            </a:r>
            <a:r>
              <a:rPr lang="en-US" dirty="0"/>
              <a:t> (For Large Scale Validation)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06B76-53A6-8B4B-BF9A-2AAAA0155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Amazon </a:t>
            </a:r>
            <a:r>
              <a:rPr lang="en-US" dirty="0" err="1"/>
              <a:t>Deequ</a:t>
            </a:r>
            <a:r>
              <a:rPr lang="en-US" dirty="0"/>
              <a:t> (Scala-based) works well with Spark for:</a:t>
            </a:r>
          </a:p>
          <a:p>
            <a:r>
              <a:rPr lang="en-US" dirty="0"/>
              <a:t>Automated anomaly detection</a:t>
            </a:r>
          </a:p>
          <a:p>
            <a:r>
              <a:rPr lang="en-US" dirty="0"/>
              <a:t>Metric-based quality checks</a:t>
            </a:r>
          </a:p>
          <a:p>
            <a:r>
              <a:rPr lang="en-US" dirty="0"/>
              <a:t>Historical validation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5226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E2C7C-8DEC-E030-8E89-E6939FEBA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F. Streaming Data Quality Checks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BAC68-909D-62B9-A28F-24D218C58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For real-time pipelines (example: Kinesis → Databricks):</a:t>
            </a:r>
          </a:p>
          <a:p>
            <a:r>
              <a:rPr lang="en-US" dirty="0"/>
              <a:t>Use:</a:t>
            </a:r>
          </a:p>
          <a:p>
            <a:r>
              <a:rPr lang="en-US" dirty="0"/>
              <a:t>Watermarking</a:t>
            </a:r>
          </a:p>
          <a:p>
            <a:r>
              <a:rPr lang="en-US" dirty="0"/>
              <a:t>Drop invalid rows</a:t>
            </a:r>
          </a:p>
          <a:p>
            <a:r>
              <a:rPr lang="en-US" dirty="0"/>
              <a:t>Write invalid records to quarantine table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valid_df</a:t>
            </a:r>
            <a:r>
              <a:rPr lang="en-US" dirty="0"/>
              <a:t> = </a:t>
            </a:r>
            <a:r>
              <a:rPr lang="en-US" dirty="0" err="1"/>
              <a:t>df.filter</a:t>
            </a:r>
            <a:r>
              <a:rPr lang="en-US" dirty="0"/>
              <a:t>("amount &gt; 0")</a:t>
            </a:r>
          </a:p>
          <a:p>
            <a:pPr marL="0" indent="0">
              <a:buNone/>
            </a:pPr>
            <a:r>
              <a:rPr lang="en-US" dirty="0" err="1"/>
              <a:t>invalid_df</a:t>
            </a:r>
            <a:r>
              <a:rPr lang="en-US" dirty="0"/>
              <a:t> = </a:t>
            </a:r>
            <a:r>
              <a:rPr lang="en-US" dirty="0" err="1"/>
              <a:t>df.filter</a:t>
            </a:r>
            <a:r>
              <a:rPr lang="en-US" dirty="0"/>
              <a:t>("amount &lt;= 0")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invalid_df.write.format</a:t>
            </a:r>
            <a:r>
              <a:rPr lang="en-US" dirty="0"/>
              <a:t>("delta").save("/</a:t>
            </a:r>
            <a:r>
              <a:rPr lang="en-US" dirty="0" err="1"/>
              <a:t>mnt</a:t>
            </a:r>
            <a:r>
              <a:rPr lang="en-US" dirty="0"/>
              <a:t>/quarantine")</a:t>
            </a:r>
          </a:p>
        </p:txBody>
      </p:sp>
    </p:spTree>
    <p:extLst>
      <p:ext uri="{BB962C8B-B14F-4D97-AF65-F5344CB8AC3E}">
        <p14:creationId xmlns:p14="http://schemas.microsoft.com/office/powerpoint/2010/main" val="794128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C5D8B-2939-3559-6620-EFD6FA5BC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14" y="3021240"/>
            <a:ext cx="12050486" cy="1325563"/>
          </a:xfrm>
        </p:spPr>
        <p:txBody>
          <a:bodyPr/>
          <a:lstStyle/>
          <a:p>
            <a:r>
              <a:rPr lang="en-US" dirty="0"/>
              <a:t>3️⃣ Enterprise Pattern (Recommended Architecture)</a:t>
            </a:r>
          </a:p>
        </p:txBody>
      </p:sp>
    </p:spTree>
    <p:extLst>
      <p:ext uri="{BB962C8B-B14F-4D97-AF65-F5344CB8AC3E}">
        <p14:creationId xmlns:p14="http://schemas.microsoft.com/office/powerpoint/2010/main" val="3811155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441C1-C936-FF8B-0622-CA4751C33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0515600" cy="6727371"/>
          </a:xfrm>
        </p:spPr>
        <p:txBody>
          <a:bodyPr>
            <a:normAutofit/>
          </a:bodyPr>
          <a:lstStyle/>
          <a:p>
            <a:r>
              <a:rPr lang="en-US" dirty="0"/>
              <a:t>For your AWS + Databricks architecture:</a:t>
            </a:r>
          </a:p>
          <a:p>
            <a:pPr marL="0" indent="0">
              <a:buNone/>
            </a:pPr>
            <a:r>
              <a:rPr lang="en-US" b="1" dirty="0"/>
              <a:t>🔹 Bronze Layer</a:t>
            </a:r>
          </a:p>
          <a:p>
            <a:r>
              <a:rPr lang="en-US" dirty="0"/>
              <a:t>Raw ingestion</a:t>
            </a:r>
          </a:p>
          <a:p>
            <a:r>
              <a:rPr lang="en-US" dirty="0"/>
              <a:t>No strict validation</a:t>
            </a:r>
          </a:p>
          <a:p>
            <a:r>
              <a:rPr lang="en-US" dirty="0"/>
              <a:t>Capture bad records separately</a:t>
            </a:r>
          </a:p>
          <a:p>
            <a:pPr marL="0" indent="0">
              <a:buNone/>
            </a:pPr>
            <a:r>
              <a:rPr lang="en-US" b="1" dirty="0"/>
              <a:t>🔹 Silver Layer</a:t>
            </a:r>
          </a:p>
          <a:p>
            <a:r>
              <a:rPr lang="en-US" dirty="0"/>
              <a:t>Apply data quality rules</a:t>
            </a:r>
          </a:p>
          <a:p>
            <a:r>
              <a:rPr lang="en-US" dirty="0"/>
              <a:t>Deduplication</a:t>
            </a:r>
          </a:p>
          <a:p>
            <a:r>
              <a:rPr lang="en-US" dirty="0"/>
              <a:t>Schema enforcement</a:t>
            </a:r>
          </a:p>
          <a:p>
            <a:pPr marL="0" indent="0">
              <a:buNone/>
            </a:pPr>
            <a:r>
              <a:rPr lang="en-US" b="1" dirty="0"/>
              <a:t>🔹 Gold Layer</a:t>
            </a:r>
          </a:p>
          <a:p>
            <a:r>
              <a:rPr lang="en-US" dirty="0"/>
              <a:t>Business rule validation</a:t>
            </a:r>
          </a:p>
          <a:p>
            <a:r>
              <a:rPr lang="en-US" dirty="0"/>
              <a:t>Aggregated trusted data</a:t>
            </a:r>
          </a:p>
          <a:p>
            <a:r>
              <a:rPr lang="en-US" dirty="0"/>
              <a:t>(Using Medallion Architecture in Databricks)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639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F8BF7-54A0-4827-25D7-C87C278CE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4️⃣ Production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3F445-FB1B-D165-E78F-548B9093C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✔ Always use checkpoint in streaming</a:t>
            </a:r>
            <a:br>
              <a:rPr lang="en-US" dirty="0"/>
            </a:br>
            <a:r>
              <a:rPr lang="en-US" dirty="0"/>
              <a:t>✔ Maintain error table / quarantine table</a:t>
            </a:r>
            <a:br>
              <a:rPr lang="en-US" dirty="0"/>
            </a:br>
            <a:r>
              <a:rPr lang="en-US" dirty="0"/>
              <a:t>✔ Use Delta constraints</a:t>
            </a:r>
            <a:br>
              <a:rPr lang="en-US" dirty="0"/>
            </a:br>
            <a:r>
              <a:rPr lang="en-US" dirty="0"/>
              <a:t>✔ Implement monitoring alerts</a:t>
            </a:r>
            <a:br>
              <a:rPr lang="en-US" dirty="0"/>
            </a:br>
            <a:r>
              <a:rPr lang="en-US" dirty="0"/>
              <a:t>✔ Track data quality metrics in audit table</a:t>
            </a:r>
            <a:br>
              <a:rPr lang="en-US" dirty="0"/>
            </a:br>
            <a:r>
              <a:rPr lang="en-US" dirty="0"/>
              <a:t>✔ Use Unity Catalog for governance</a:t>
            </a:r>
          </a:p>
        </p:txBody>
      </p:sp>
    </p:spTree>
    <p:extLst>
      <p:ext uri="{BB962C8B-B14F-4D97-AF65-F5344CB8AC3E}">
        <p14:creationId xmlns:p14="http://schemas.microsoft.com/office/powerpoint/2010/main" val="2987616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788</Words>
  <Application>Microsoft Office PowerPoint</Application>
  <PresentationFormat>Widescreen</PresentationFormat>
  <Paragraphs>136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Databricks Error Handling and Data Quality Checks</vt:lpstr>
      <vt:lpstr>1️⃣ Error Handling in Databricks</vt:lpstr>
      <vt:lpstr>A. PySpark Code-Level Error Handling</vt:lpstr>
      <vt:lpstr>2️⃣ Logging Errors (Recommended in Production)</vt:lpstr>
      <vt:lpstr>B. Handling Bad Records (Corrupt Data)</vt:lpstr>
      <vt:lpstr>C. Delta Lake Transaction Handling</vt:lpstr>
      <vt:lpstr>D. Streaming Error Handling</vt:lpstr>
      <vt:lpstr>E. Retry Pattern (Common in AWS Integration)</vt:lpstr>
      <vt:lpstr>2️⃣ Data Quality Checks in Databricks</vt:lpstr>
      <vt:lpstr>Data Quality ensures:</vt:lpstr>
      <vt:lpstr>A. Basic Data Validation Checks</vt:lpstr>
      <vt:lpstr>B. Schema Validation</vt:lpstr>
      <vt:lpstr>C. Delta Constraints (Recommended)</vt:lpstr>
      <vt:lpstr>D. Great Expectations Integration</vt:lpstr>
      <vt:lpstr>E. Deequ (For Large Scale Validation)</vt:lpstr>
      <vt:lpstr>F. Streaming Data Quality Checks</vt:lpstr>
      <vt:lpstr>3️⃣ Enterprise Pattern (Recommended Architecture)</vt:lpstr>
      <vt:lpstr>PowerPoint Presentation</vt:lpstr>
      <vt:lpstr>4️⃣ Production Best Practices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1</cp:revision>
  <dcterms:created xsi:type="dcterms:W3CDTF">2026-02-27T23:28:02Z</dcterms:created>
  <dcterms:modified xsi:type="dcterms:W3CDTF">2026-02-27T23:40:02Z</dcterms:modified>
</cp:coreProperties>
</file>