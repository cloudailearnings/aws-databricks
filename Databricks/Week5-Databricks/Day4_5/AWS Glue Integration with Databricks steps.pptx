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D5A0-F222-FE7A-32F9-78154B247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23D6A-9D47-E5BB-604B-A91721C45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62269-B31C-0B08-6C56-FD246E46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FCD5-4527-4BC7-989B-9692C20295C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ADD12-99F9-4B9B-0550-3005E0C9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D0956-860A-C268-1894-902CC11C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76B1-B9D8-4112-868B-27E95DC8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4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1F1FB-6345-5420-133E-B521DAED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71DFC-82AC-E060-5B02-087B1DB37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FFB8B-8903-6536-084A-7C961E2C1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FCD5-4527-4BC7-989B-9692C20295C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66141-E0A5-B07B-E732-D1A251F4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71D23-4465-051F-75F9-6DD6B56C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76B1-B9D8-4112-868B-27E95DC8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82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9970-2016-AE88-6EC4-7B28B4444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1F751-E1FB-2B47-9AB5-4ED5700F1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18F7C-F065-9016-CD98-E5C8AB7E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FCD5-4527-4BC7-989B-9692C20295C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F9112-3EDF-8279-9E45-371EEE81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E6994-C713-4076-E891-B39A5476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76B1-B9D8-4112-868B-27E95DC8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3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5079-EB46-1C56-BAE1-86628147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04BAE-7C24-6623-62C0-EF3127741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DF10D-21C3-BB28-A63D-675411B99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07C66-1544-0C0A-3CC1-E9BCC7BE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FCD5-4527-4BC7-989B-9692C20295C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AA95A-654A-FD3B-8DF7-1F78573D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78C24-7E59-D357-8569-81681C1E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76B1-B9D8-4112-868B-27E95DC8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42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2BA6-366F-840E-CC14-CB4AD7C66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C0D81-B9C6-75F9-C491-338FB72CE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3C-FD2C-DEB3-22B0-28A6AF323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8575C-50BF-37CB-7ECD-209EB5EA0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A9BD4-43B2-26A6-A2E1-26A78BAEBC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31DF41-A992-BD06-0982-F48BA7A70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FCD5-4527-4BC7-989B-9692C20295C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FA6D8-F5B2-3363-479C-2FC5A6502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F68A26-64B1-2B23-3869-B0C4F784A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76B1-B9D8-4112-868B-27E95DC8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69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F2B5-6C16-0535-1CDD-E9B184F87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14C295-BCAF-BFE6-C70F-E7F4827DA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FCD5-4527-4BC7-989B-9692C20295C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5C112F-84D4-B76C-E641-A5022588E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BB219-6AC0-00D7-4B2E-1EA46E2E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76B1-B9D8-4112-868B-27E95DC8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41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65FA0D-477C-D2AB-2031-55CE84A89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FCD5-4527-4BC7-989B-9692C20295C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F46C63-8DD7-ACB4-E953-7B2D4F3CE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53E91-6F52-1225-A1B4-A026ED079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76B1-B9D8-4112-868B-27E95DC8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9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4FB8B-6A39-E5F0-1B3D-7EECA8D1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2429E-D210-5734-7BA2-06491A84E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5D3E9-02A8-986F-181C-5D2056D4F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2223A-3AB3-EC0A-A5C8-94390BAB2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FCD5-4527-4BC7-989B-9692C20295C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64A3E-E67D-B690-2AE8-A532E37A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E9213-2F28-D8D2-583F-4333BCE7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76B1-B9D8-4112-868B-27E95DC8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69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56E6-DB1C-1BF5-E716-C2F911FD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8629CF-1508-C4ED-5A25-3E0AC5837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2FFE2-513D-2ECB-7697-6358A762D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BEA2D-0A66-8642-08FC-E71060F83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FCD5-4527-4BC7-989B-9692C20295C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9E61B-F855-DB6D-A538-1628153B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4CEC9-C392-9CC6-CECF-B8D72272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76B1-B9D8-4112-868B-27E95DC8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00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1C59-9966-59D8-8EC6-C820E4C90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8759E-A2D8-484F-38A5-5443F171A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61A6E-418F-FE51-2A65-AE0BCE075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FCD5-4527-4BC7-989B-9692C20295C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45B1E-8C7E-788D-22FB-C219454E3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72908-F764-A99A-C0DA-17C48813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76B1-B9D8-4112-868B-27E95DC8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24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E553D2-ED78-74DB-E962-5C861CFAA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7130F-B0C9-A3DB-3531-8CE46D78B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B4DC8-FC87-0EA0-864D-FE854A3E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FCD5-4527-4BC7-989B-9692C20295C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F94A1-AADD-D05C-FCB0-0D6E27BDF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4372F-523B-622E-939E-C5C29D27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776B1-B9D8-4112-868B-27E95DC8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6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BFF2B1-0942-F998-4583-985ED17A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4519D-1709-1AE0-332A-02E1CD3EC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39A3C-1C3F-964C-CD28-1E2CB5FBA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6FCD5-4527-4BC7-989B-9692C20295C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7046A-D91A-0B88-5DF4-396C05AC8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A65AB-B331-0E7E-06D5-E75052B880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776B1-B9D8-4112-868B-27E95DC8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66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48B5F-11D8-65A8-40F3-342FA0EFFB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Glue Integration with Databricks steps</a:t>
            </a:r>
          </a:p>
        </p:txBody>
      </p:sp>
    </p:spTree>
    <p:extLst>
      <p:ext uri="{BB962C8B-B14F-4D97-AF65-F5344CB8AC3E}">
        <p14:creationId xmlns:p14="http://schemas.microsoft.com/office/powerpoint/2010/main" val="2177107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774B2-8554-5AFF-718C-D388D0096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028714" cy="896145"/>
          </a:xfrm>
        </p:spPr>
        <p:txBody>
          <a:bodyPr>
            <a:normAutofit/>
          </a:bodyPr>
          <a:lstStyle/>
          <a:p>
            <a:r>
              <a:rPr lang="en-US" dirty="0"/>
              <a:t>Glue integration with data bricks using Unity Catalog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A8938-7E84-FC19-6D80-CD0791342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Pattern steps to Follow:</a:t>
            </a:r>
          </a:p>
          <a:p>
            <a:pPr marL="0" indent="0">
              <a:buNone/>
            </a:pPr>
            <a:r>
              <a:rPr lang="en-US" dirty="0"/>
              <a:t>1️⃣ Glue writes data to </a:t>
            </a:r>
            <a:r>
              <a:rPr lang="en-US" b="1" dirty="0"/>
              <a:t>S3</a:t>
            </a:r>
            <a:br>
              <a:rPr lang="en-US" dirty="0"/>
            </a:br>
            <a:r>
              <a:rPr lang="en-US" dirty="0"/>
              <a:t>2️⃣ Create External Location in Unity Catalog</a:t>
            </a:r>
            <a:br>
              <a:rPr lang="en-US" dirty="0"/>
            </a:br>
            <a:r>
              <a:rPr lang="en-US" dirty="0"/>
              <a:t>3️⃣ Create External Tables in Databricks</a:t>
            </a:r>
            <a:br>
              <a:rPr lang="en-US" dirty="0"/>
            </a:br>
            <a:r>
              <a:rPr lang="en-US" dirty="0"/>
              <a:t>4️⃣ Databricks reads that data - CREATE EXTERNAL TABLE sales</a:t>
            </a:r>
            <a:br>
              <a:rPr lang="en-US" dirty="0"/>
            </a:br>
            <a:r>
              <a:rPr lang="en-US" dirty="0"/>
              <a:t>LOCATION 's3://bucket/clean-data/';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02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D434C-E556-92EB-ECAF-45AB197D3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Glue Data Integration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E954-CAD3-4113-2A19-4CF4D2B2C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1️⃣ Batch ETL Pattern (Traditional Data Warehouse Load)</a:t>
            </a:r>
          </a:p>
          <a:p>
            <a:r>
              <a:rPr lang="en-US" dirty="0"/>
              <a:t>2️⃣ Incremental Load Pattern (CDC / Delta Load)</a:t>
            </a:r>
          </a:p>
          <a:p>
            <a:r>
              <a:rPr lang="it-IT" dirty="0"/>
              <a:t>3️⃣ Data Lake Ingestion Pattern</a:t>
            </a:r>
          </a:p>
          <a:p>
            <a:r>
              <a:rPr lang="en-US" dirty="0"/>
              <a:t>4️⃣ Streaming ETL Pattern</a:t>
            </a:r>
          </a:p>
          <a:p>
            <a:r>
              <a:rPr lang="en-US" dirty="0"/>
              <a:t>5️⃣ Lakehouse Pattern (Glue + Iceberg/Hudi/Delta)</a:t>
            </a:r>
          </a:p>
        </p:txBody>
      </p:sp>
    </p:spTree>
    <p:extLst>
      <p:ext uri="{BB962C8B-B14F-4D97-AF65-F5344CB8AC3E}">
        <p14:creationId xmlns:p14="http://schemas.microsoft.com/office/powerpoint/2010/main" val="334319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6AB90-5C57-C63B-8784-6710D13CC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1️⃣ Batch ETL Pattern (Traditional Data Warehouse Load)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DF7F7-2E67-4F9B-4B87-845E47599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🔹 Use Case</a:t>
            </a:r>
          </a:p>
          <a:p>
            <a:r>
              <a:rPr lang="en-US" dirty="0"/>
              <a:t>Periodic data load (daily/hourly) from source systems into a data warehouse or data lake.</a:t>
            </a:r>
          </a:p>
          <a:p>
            <a:r>
              <a:rPr lang="en-US" b="1" dirty="0"/>
              <a:t>🔹 Flow</a:t>
            </a:r>
          </a:p>
          <a:p>
            <a:r>
              <a:rPr lang="en-US" dirty="0"/>
              <a:t>Source (RDS/S3/On-prem DB) → Glue ETL Job → Target (S3/Redshift)</a:t>
            </a:r>
          </a:p>
          <a:p>
            <a:r>
              <a:rPr lang="en-US" b="1" dirty="0"/>
              <a:t>🔹 Example</a:t>
            </a:r>
          </a:p>
          <a:p>
            <a:r>
              <a:rPr lang="en-US" dirty="0"/>
              <a:t>Read CSV from S3</a:t>
            </a:r>
          </a:p>
          <a:p>
            <a:r>
              <a:rPr lang="en-US" dirty="0"/>
              <a:t>Transform (clean, join, aggregate)</a:t>
            </a:r>
          </a:p>
          <a:p>
            <a:r>
              <a:rPr lang="en-US" dirty="0"/>
              <a:t>Load into Amazon Redshift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39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8841-6B24-8044-3AF4-4C356AE1E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2️⃣ Incremental Load Pattern (CDC / Delta Load)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D2DEA-98E0-812E-295C-749FA2D6F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🔹 Use Case</a:t>
            </a:r>
          </a:p>
          <a:p>
            <a:r>
              <a:rPr lang="en-US" dirty="0"/>
              <a:t>Only load newly added or modified records.</a:t>
            </a:r>
          </a:p>
          <a:p>
            <a:r>
              <a:rPr lang="en-US" b="1" dirty="0"/>
              <a:t>🔹 Implementation Options</a:t>
            </a:r>
          </a:p>
          <a:p>
            <a:r>
              <a:rPr lang="en-US" dirty="0"/>
              <a:t>Job bookmarks</a:t>
            </a:r>
          </a:p>
          <a:p>
            <a:r>
              <a:rPr lang="en-US" dirty="0"/>
              <a:t>Timestamp-based filtering</a:t>
            </a:r>
          </a:p>
          <a:p>
            <a:r>
              <a:rPr lang="en-US" dirty="0"/>
              <a:t>CDC using DMS + Glue</a:t>
            </a:r>
          </a:p>
          <a:p>
            <a:r>
              <a:rPr lang="en-US" b="1" dirty="0"/>
              <a:t>🔹 Flow</a:t>
            </a:r>
          </a:p>
          <a:p>
            <a:r>
              <a:rPr lang="en-US" dirty="0"/>
              <a:t>Source DB → AWS Database Migration Service (CDC) → S3 → Glue → Target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2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057CD-DACB-5D5E-6C1E-F9068DFB3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65516"/>
          </a:xfrm>
        </p:spPr>
        <p:txBody>
          <a:bodyPr/>
          <a:lstStyle/>
          <a:p>
            <a:r>
              <a:rPr lang="it-IT" dirty="0"/>
              <a:t>3️⃣ Data Lake Ingestion Pattern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5E19A-3B8F-89FB-CCFA-DE1BFBC4C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53331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🔹 Use Case</a:t>
            </a:r>
          </a:p>
          <a:p>
            <a:pPr marL="0" indent="0">
              <a:buNone/>
            </a:pPr>
            <a:r>
              <a:rPr lang="en-US" dirty="0"/>
              <a:t>Centralized storage of raw + processed data in S3</a:t>
            </a:r>
          </a:p>
          <a:p>
            <a:pPr marL="0" indent="0">
              <a:buNone/>
            </a:pPr>
            <a:r>
              <a:rPr lang="en-US" b="1" dirty="0"/>
              <a:t>🔹 Architecture</a:t>
            </a:r>
          </a:p>
          <a:p>
            <a:pPr marL="0" indent="0">
              <a:buNone/>
            </a:pPr>
            <a:r>
              <a:rPr lang="en-US" dirty="0"/>
              <a:t>Raw Zone → Cleansed Zone → Curated Zone</a:t>
            </a:r>
          </a:p>
          <a:p>
            <a:pPr marL="0" indent="0">
              <a:buNone/>
            </a:pPr>
            <a:r>
              <a:rPr lang="en-US" b="1" dirty="0"/>
              <a:t>🔹 Flow</a:t>
            </a:r>
          </a:p>
          <a:p>
            <a:pPr marL="0" indent="0">
              <a:buNone/>
            </a:pPr>
            <a:r>
              <a:rPr lang="en-US" dirty="0"/>
              <a:t>Source → S3 (Raw) → Glue ETL → S3 (Processed Parquet) → Analytics</a:t>
            </a:r>
          </a:p>
          <a:p>
            <a:pPr marL="0" indent="0">
              <a:buNone/>
            </a:pPr>
            <a:r>
              <a:rPr lang="en-US" b="1" dirty="0"/>
              <a:t>🔹 Storage</a:t>
            </a:r>
          </a:p>
          <a:p>
            <a:pPr marL="0" indent="0">
              <a:buNone/>
            </a:pPr>
            <a:r>
              <a:rPr lang="en-US" dirty="0"/>
              <a:t>Amazon S3</a:t>
            </a:r>
          </a:p>
          <a:p>
            <a:pPr marL="0" indent="0">
              <a:buNone/>
            </a:pPr>
            <a:r>
              <a:rPr lang="en-US" b="1" dirty="0"/>
              <a:t>🔹 Optimization</a:t>
            </a:r>
          </a:p>
          <a:p>
            <a:pPr marL="0" indent="0">
              <a:buNone/>
            </a:pPr>
            <a:r>
              <a:rPr lang="en-US" dirty="0"/>
              <a:t>Convert CSV → Parquet</a:t>
            </a:r>
          </a:p>
          <a:p>
            <a:pPr marL="0" indent="0">
              <a:buNone/>
            </a:pPr>
            <a:r>
              <a:rPr lang="en-US" dirty="0"/>
              <a:t>Partitioning</a:t>
            </a:r>
          </a:p>
          <a:p>
            <a:pPr marL="0" indent="0">
              <a:buNone/>
            </a:pPr>
            <a:r>
              <a:rPr lang="en-US" dirty="0"/>
              <a:t>Compression (Snappy)</a:t>
            </a:r>
          </a:p>
          <a:p>
            <a:pPr marL="0" indent="0">
              <a:buNone/>
            </a:pPr>
            <a:r>
              <a:rPr lang="en-US" dirty="0"/>
              <a:t>✅ Best for </a:t>
            </a:r>
            <a:r>
              <a:rPr lang="en-US" dirty="0" err="1"/>
              <a:t>lakehouse</a:t>
            </a:r>
            <a:r>
              <a:rPr lang="en-US" dirty="0"/>
              <a:t>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531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4874-3210-116B-9DEB-593B58C28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4️⃣ Streaming ETL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B153-6617-7A53-7202-FB227097F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15208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🔹 Use Case</a:t>
            </a:r>
          </a:p>
          <a:p>
            <a:pPr marL="0" indent="0">
              <a:buNone/>
            </a:pPr>
            <a:r>
              <a:rPr lang="en-US" dirty="0"/>
              <a:t>Real-time data processing</a:t>
            </a:r>
          </a:p>
          <a:p>
            <a:pPr marL="0" indent="0">
              <a:buNone/>
            </a:pPr>
            <a:r>
              <a:rPr lang="en-US" b="1" dirty="0"/>
              <a:t>🔹 Flow</a:t>
            </a:r>
          </a:p>
          <a:p>
            <a:pPr marL="0" indent="0">
              <a:buNone/>
            </a:pPr>
            <a:r>
              <a:rPr lang="en-US" dirty="0"/>
              <a:t>Streaming Source → Glue Streaming Job → S3 / Redshift</a:t>
            </a:r>
          </a:p>
          <a:p>
            <a:pPr marL="0" indent="0">
              <a:buNone/>
            </a:pPr>
            <a:r>
              <a:rPr lang="en-US" b="1" dirty="0"/>
              <a:t>🔹 Source Examples</a:t>
            </a:r>
          </a:p>
          <a:p>
            <a:pPr marL="0" indent="0">
              <a:buNone/>
            </a:pPr>
            <a:r>
              <a:rPr lang="en-US" dirty="0"/>
              <a:t>Amazon Kinesis Data Streams</a:t>
            </a:r>
          </a:p>
          <a:p>
            <a:pPr marL="0" indent="0">
              <a:buNone/>
            </a:pPr>
            <a:r>
              <a:rPr lang="en-US" dirty="0"/>
              <a:t>Amazon MSK</a:t>
            </a:r>
          </a:p>
          <a:p>
            <a:pPr marL="0" indent="0">
              <a:buNone/>
            </a:pPr>
            <a:r>
              <a:rPr lang="en-US" b="1" dirty="0"/>
              <a:t>🔹 Features</a:t>
            </a:r>
          </a:p>
          <a:p>
            <a:pPr marL="0" indent="0">
              <a:buNone/>
            </a:pPr>
            <a:r>
              <a:rPr lang="en-US" dirty="0"/>
              <a:t>Micro-batch processing</a:t>
            </a:r>
          </a:p>
          <a:p>
            <a:pPr marL="0" indent="0">
              <a:buNone/>
            </a:pPr>
            <a:r>
              <a:rPr lang="en-US" dirty="0"/>
              <a:t>Windowing</a:t>
            </a:r>
          </a:p>
          <a:p>
            <a:pPr marL="0" indent="0">
              <a:buNone/>
            </a:pPr>
            <a:r>
              <a:rPr lang="en-US" dirty="0"/>
              <a:t>Checkpointing</a:t>
            </a:r>
          </a:p>
          <a:p>
            <a:pPr marL="0" indent="0">
              <a:buNone/>
            </a:pPr>
            <a:r>
              <a:rPr lang="en-US" dirty="0"/>
              <a:t>✅ Best for IoT, clickstream, log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9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06F8-7442-9226-0720-988A40B8C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809059"/>
          </a:xfrm>
        </p:spPr>
        <p:txBody>
          <a:bodyPr/>
          <a:lstStyle/>
          <a:p>
            <a:r>
              <a:rPr lang="en-US" dirty="0"/>
              <a:t>5️⃣ Lakehouse Pattern (Glue + Iceberg/Hudi/Delta)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43E28-1608-42F1-DBDE-51FB1BD47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🔹 Use Case</a:t>
            </a:r>
          </a:p>
          <a:p>
            <a:r>
              <a:rPr lang="en-US" dirty="0"/>
              <a:t>ACID transactions on data lake</a:t>
            </a:r>
          </a:p>
          <a:p>
            <a:r>
              <a:rPr lang="en-US" b="1" dirty="0"/>
              <a:t>🔹 Technologies</a:t>
            </a:r>
          </a:p>
          <a:p>
            <a:r>
              <a:rPr lang="en-US" dirty="0"/>
              <a:t>Apache Iceberg</a:t>
            </a:r>
          </a:p>
          <a:p>
            <a:r>
              <a:rPr lang="en-US" dirty="0"/>
              <a:t>Apache Hudi</a:t>
            </a:r>
          </a:p>
          <a:p>
            <a:r>
              <a:rPr lang="en-US" dirty="0"/>
              <a:t>Delta Lake</a:t>
            </a:r>
          </a:p>
          <a:p>
            <a:r>
              <a:rPr lang="en-US" b="1" dirty="0"/>
              <a:t>🔹 Flow</a:t>
            </a:r>
          </a:p>
          <a:p>
            <a:r>
              <a:rPr lang="en-US" dirty="0"/>
              <a:t>Source → Glue → S3 (Iceberg tables) → Athena/Redshift</a:t>
            </a:r>
          </a:p>
          <a:p>
            <a:r>
              <a:rPr lang="en-US" b="1" dirty="0"/>
              <a:t>🔹 Query Engines</a:t>
            </a:r>
          </a:p>
          <a:p>
            <a:r>
              <a:rPr lang="en-US" dirty="0"/>
              <a:t>Amazon Athena</a:t>
            </a:r>
          </a:p>
          <a:p>
            <a:r>
              <a:rPr lang="en-US" dirty="0"/>
              <a:t>Amazon Redshift Spectrum</a:t>
            </a:r>
          </a:p>
          <a:p>
            <a:r>
              <a:rPr lang="en-US" dirty="0"/>
              <a:t>✅ Best for modern analytics platforms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388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397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AWS Glue Integration with Databricks steps</vt:lpstr>
      <vt:lpstr>Glue integration with data bricks using Unity Catalog</vt:lpstr>
      <vt:lpstr>AWS Glue Data Integration Patterns</vt:lpstr>
      <vt:lpstr>1️⃣ Batch ETL Pattern (Traditional Data Warehouse Load)</vt:lpstr>
      <vt:lpstr>2️⃣ Incremental Load Pattern (CDC / Delta Load)</vt:lpstr>
      <vt:lpstr>3️⃣ Data Lake Ingestion Pattern</vt:lpstr>
      <vt:lpstr>4️⃣ Streaming ETL Pattern</vt:lpstr>
      <vt:lpstr>5️⃣ Lakehouse Pattern (Glue + Iceberg/Hudi/Delta)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4</cp:revision>
  <dcterms:created xsi:type="dcterms:W3CDTF">2026-02-26T13:24:03Z</dcterms:created>
  <dcterms:modified xsi:type="dcterms:W3CDTF">2026-03-03T06:43:09Z</dcterms:modified>
</cp:coreProperties>
</file>