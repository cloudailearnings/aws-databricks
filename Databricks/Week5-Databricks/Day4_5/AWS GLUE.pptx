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AEEA-3A01-77B8-69F8-A3C5FE79E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1E953-845C-51DE-B4E3-AE8FB871F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6B62A-9B11-3358-84B8-1BAFC5CE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48503-22DB-5C0F-8CA5-3EC568EE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A42CF-7144-BC63-15EC-8409C2B8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1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48B5-B3BA-94B6-F6AB-4A9E920D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79100-CCEE-CBBE-04C6-CF83723AE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55C04-EDCC-0027-0BF9-6C825D9D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117CD-4EA9-6801-323C-4BB705EC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C7D1-9F49-41D4-3FB8-0D20B4F7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9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88C8-8A51-C3F8-ACC6-087DCF65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9834-1456-C3AB-8CA4-E6A261794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6C7CD-67C9-35DC-E614-F447B220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917C4-65F9-301D-FFBD-52172AB9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A48DA-CA08-F685-B49E-72D0EEC9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8C0A-FFB9-E777-7701-DBD9C444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A3B76-CD8D-0CD4-F098-32F3D2122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F6410-3D58-9A24-C4F3-5A97235D5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7648B-7328-8D7C-1316-9BDAA785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398C7-6F28-E095-5C33-CDBCDCE9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06893-D62E-66DF-65AB-3507265D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9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D015-5BE4-0808-B615-863C8AB5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1F556-EB84-25DD-1B63-D0F6CD36D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A7BBC-9C73-82B8-0FC3-7D5E52597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2459E-C4CC-606B-497D-C4F7AE913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C049A-041D-2305-D282-9A50E9779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C9FE1-9077-F586-9954-FD1A54CC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97730-6BF4-A3BA-FDD1-3F0D98E9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73E7D-3C73-C43F-2FCE-51C4074FD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8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A5EFF-5217-A4D5-217C-1C7E35CE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C63460-B3CB-134F-72C7-7F89C57D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B6D49-94EF-4934-E2BE-7DB1619E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FF885-F30A-4B89-3A68-B2B4909C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7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4DFE0-E309-C8E5-2D3C-60D82A46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7AFCB-BECE-5587-2C2D-411F049D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E7E05-900C-1454-62A3-47B6A2DA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DA08-2A8C-A629-5888-0FA9585D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5F845-A23C-8E31-88A0-ABFA74CDD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1E6A4-2E19-F289-1DA6-8D97B1675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7A88A-D8F0-0E64-7FCF-BBE2E91A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0984F-6EB6-B210-854E-509D1DB2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05B8E-30B4-3CC1-343F-638AFADC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0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5231-0812-2C7E-5349-6C888E0CF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B1D5B-CEB5-37FE-0B99-2A006E155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DC8B4-4BEE-40C4-1459-EED02352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69A98-3F1C-531A-3BF2-D6170E9B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E0A8F-A8EA-9E21-686D-01604A1D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B48CA-5213-F737-2343-9670EBC5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B1F3-616F-3B07-AFBF-91E166C5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E5312-DD64-E437-12DC-6C818AA27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04E2F-4B65-BD22-64D2-9AABDA76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D6920-FC21-1672-AC9B-122D4189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AD64-96CC-0487-8E7D-60FC64CC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D047B-EADE-3655-B3E9-33F9A9F5B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73FE8-890E-EEDF-9FEF-235A2BE44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43906-8EC8-8A83-9C52-7981E3BC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293F8-12E5-2EE4-DA23-62406D79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106D-2431-6CF3-952D-8BAAC045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0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D4046-816D-4DAB-2D11-AB96D6B1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E1808-00A7-2604-F7D1-8CC5C099B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0C9CE-0DB5-42A1-85B5-FF345BDFA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BA8C8-500D-4411-AC33-26C3A773334A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9463-760A-8BD4-DA2E-6987C3D6B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E44A2-3169-0870-376F-41A0D4A8D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C9FA0-1ECA-4ACA-BDB5-548FE0339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709B-6417-F5E5-23E9-9F9C62340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GLUE</a:t>
            </a:r>
          </a:p>
        </p:txBody>
      </p:sp>
    </p:spTree>
    <p:extLst>
      <p:ext uri="{BB962C8B-B14F-4D97-AF65-F5344CB8AC3E}">
        <p14:creationId xmlns:p14="http://schemas.microsoft.com/office/powerpoint/2010/main" val="3372061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2368-72FF-C44E-ABFA-CC3EB9F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971" y="18255"/>
            <a:ext cx="10515600" cy="830831"/>
          </a:xfrm>
        </p:spPr>
        <p:txBody>
          <a:bodyPr/>
          <a:lstStyle/>
          <a:p>
            <a:r>
              <a:rPr lang="en-US" dirty="0"/>
              <a:t>What is AWS Glue?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4240-6063-BE0F-E8DF-BD4CF22B2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AWS Glue</a:t>
            </a:r>
            <a:r>
              <a:rPr lang="en-US" dirty="0"/>
              <a:t> is a </a:t>
            </a:r>
            <a:r>
              <a:rPr lang="en-US" b="1" dirty="0"/>
              <a:t>serverless ETL (Extract, Transform, Load)</a:t>
            </a:r>
            <a:r>
              <a:rPr lang="en-US" dirty="0"/>
              <a:t> service from </a:t>
            </a:r>
            <a:r>
              <a:rPr lang="en-US" b="1" dirty="0"/>
              <a:t>Amazon Web Services</a:t>
            </a:r>
            <a:r>
              <a:rPr lang="en-US" dirty="0"/>
              <a:t>.</a:t>
            </a:r>
          </a:p>
          <a:p>
            <a:r>
              <a:rPr lang="en-US" dirty="0"/>
              <a:t>It helps you:</a:t>
            </a:r>
          </a:p>
          <a:p>
            <a:r>
              <a:rPr lang="en-US" dirty="0"/>
              <a:t>Discover data</a:t>
            </a:r>
          </a:p>
          <a:p>
            <a:r>
              <a:rPr lang="en-US" dirty="0"/>
              <a:t>Create metadata (Data Catalog)</a:t>
            </a:r>
          </a:p>
          <a:p>
            <a:r>
              <a:rPr lang="en-US" dirty="0"/>
              <a:t>Transform data (Glue Jobs)</a:t>
            </a:r>
          </a:p>
          <a:p>
            <a:r>
              <a:rPr lang="en-US" dirty="0"/>
              <a:t>Load into data lake or warehouse</a:t>
            </a:r>
          </a:p>
          <a:p>
            <a:r>
              <a:rPr lang="en-US" dirty="0"/>
              <a:t>Orchestrate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39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8A91-3561-F124-45C7-E184BA8B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939688"/>
          </a:xfrm>
        </p:spPr>
        <p:txBody>
          <a:bodyPr/>
          <a:lstStyle/>
          <a:p>
            <a:r>
              <a:rPr lang="en-US" dirty="0"/>
              <a:t>AWS Glue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FD11C-0BBD-9C33-2407-4C2BC092C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S3 / JDBC / Kinesis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     Crawler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   Data Catalog (Metadata)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     Glue Job (ETL - Spark)</a:t>
            </a:r>
          </a:p>
          <a:p>
            <a:pPr marL="0" indent="0">
              <a:buNone/>
            </a:pPr>
            <a:r>
              <a:rPr lang="en-US" dirty="0"/>
              <a:t>        ↓</a:t>
            </a:r>
          </a:p>
          <a:p>
            <a:pPr marL="0" indent="0">
              <a:buNone/>
            </a:pPr>
            <a:r>
              <a:rPr lang="en-US" dirty="0"/>
              <a:t>   S3 / Redshift / Snowflake /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85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0F93-B5B2-79CD-4824-2F07DF03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AWS Glue Data Catalog (Metadata Layer)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DABAB-FA54-A33D-3331-054886611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16284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is Data Catalog?</a:t>
            </a:r>
          </a:p>
          <a:p>
            <a:r>
              <a:rPr lang="en-US" dirty="0"/>
              <a:t>It is a </a:t>
            </a:r>
            <a:r>
              <a:rPr lang="en-US" b="1" dirty="0"/>
              <a:t>central metadata repository</a:t>
            </a:r>
            <a:r>
              <a:rPr lang="en-US" dirty="0"/>
              <a:t> that stores: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Columns</a:t>
            </a:r>
          </a:p>
          <a:p>
            <a:r>
              <a:rPr lang="en-US" dirty="0"/>
              <a:t>Schema</a:t>
            </a:r>
          </a:p>
          <a:p>
            <a:r>
              <a:rPr lang="en-US" dirty="0"/>
              <a:t>File format</a:t>
            </a:r>
          </a:p>
          <a:p>
            <a:r>
              <a:rPr lang="en-US" dirty="0"/>
              <a:t>Partition info</a:t>
            </a:r>
          </a:p>
          <a:p>
            <a:r>
              <a:rPr lang="en-US" dirty="0"/>
              <a:t>Think of it as:</a:t>
            </a:r>
            <a:br>
              <a:rPr lang="en-US" dirty="0"/>
            </a:br>
            <a:r>
              <a:rPr lang="en-US" dirty="0"/>
              <a:t>👉 Hive </a:t>
            </a:r>
            <a:r>
              <a:rPr lang="en-US" dirty="0" err="1"/>
              <a:t>Metastore</a:t>
            </a:r>
            <a:r>
              <a:rPr lang="en-US" dirty="0"/>
              <a:t> (but managed by AWS)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35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223E-FB29-4D58-F3C2-7A840450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03514"/>
          </a:xfrm>
        </p:spPr>
        <p:txBody>
          <a:bodyPr/>
          <a:lstStyle/>
          <a:p>
            <a:r>
              <a:rPr lang="en-US" dirty="0"/>
              <a:t>Step-by-Step: Create Data Catalog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7DE6-6B83-A085-E29F-9A703E89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1253331"/>
            <a:ext cx="10515600" cy="54740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dirty="0"/>
              <a:t>Login to AWS Console</a:t>
            </a:r>
            <a:br>
              <a:rPr lang="en-US" dirty="0"/>
            </a:br>
            <a:r>
              <a:rPr lang="en-US" dirty="0"/>
              <a:t>Search → </a:t>
            </a:r>
            <a:r>
              <a:rPr lang="en-US" b="1" dirty="0"/>
              <a:t>Glue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2:</a:t>
            </a:r>
          </a:p>
          <a:p>
            <a:r>
              <a:rPr lang="en-US" dirty="0"/>
              <a:t>Left panel → </a:t>
            </a:r>
            <a:r>
              <a:rPr lang="en-US" b="1" dirty="0"/>
              <a:t>Data Catalog → Databases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3:</a:t>
            </a:r>
          </a:p>
          <a:p>
            <a:r>
              <a:rPr lang="en-US" dirty="0"/>
              <a:t>Click </a:t>
            </a:r>
            <a:r>
              <a:rPr lang="en-US" b="1" dirty="0"/>
              <a:t>Create Database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4:</a:t>
            </a:r>
          </a:p>
          <a:p>
            <a:r>
              <a:rPr lang="en-US" dirty="0"/>
              <a:t>Enter:</a:t>
            </a:r>
          </a:p>
          <a:p>
            <a:r>
              <a:rPr lang="en-US" dirty="0"/>
              <a:t>Database name: </a:t>
            </a:r>
            <a:r>
              <a:rPr lang="en-US" dirty="0" err="1"/>
              <a:t>sales_db</a:t>
            </a:r>
            <a:endParaRPr lang="en-US" dirty="0"/>
          </a:p>
          <a:p>
            <a:r>
              <a:rPr lang="en-US" dirty="0"/>
              <a:t>Location: (Optional S3 path)</a:t>
            </a:r>
          </a:p>
          <a:p>
            <a:r>
              <a:rPr lang="en-US" dirty="0"/>
              <a:t>Click </a:t>
            </a:r>
            <a:r>
              <a:rPr lang="en-US" b="1" dirty="0"/>
              <a:t>Create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✅ Database created in Glue Data Catalog.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4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BD22-88EF-0EC4-3550-48C16A4C0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07031"/>
          </a:xfrm>
        </p:spPr>
        <p:txBody>
          <a:bodyPr/>
          <a:lstStyle/>
          <a:p>
            <a:r>
              <a:rPr lang="en-US" dirty="0"/>
              <a:t>AWS Glue Crawler (Schema Discovery)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0F65-F262-E99E-B1CD-430CB0143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253331"/>
            <a:ext cx="10515600" cy="55864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is Crawler?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Crawler:</a:t>
            </a:r>
          </a:p>
          <a:p>
            <a:r>
              <a:rPr lang="en-US" dirty="0"/>
              <a:t>Reads data from S3/JDBC</a:t>
            </a:r>
          </a:p>
          <a:p>
            <a:r>
              <a:rPr lang="en-US" dirty="0"/>
              <a:t>Infers schema</a:t>
            </a:r>
          </a:p>
          <a:p>
            <a:r>
              <a:rPr lang="en-US" dirty="0"/>
              <a:t>Creates/updates table in Data Catalog</a:t>
            </a:r>
          </a:p>
          <a:p>
            <a:pPr marL="0" indent="0">
              <a:buNone/>
            </a:pPr>
            <a:r>
              <a:rPr lang="en-US" b="1" dirty="0"/>
              <a:t>Supports:</a:t>
            </a:r>
          </a:p>
          <a:p>
            <a:r>
              <a:rPr lang="en-US" dirty="0"/>
              <a:t>CSV</a:t>
            </a:r>
          </a:p>
          <a:p>
            <a:r>
              <a:rPr lang="en-US" dirty="0"/>
              <a:t>JSON</a:t>
            </a:r>
          </a:p>
          <a:p>
            <a:r>
              <a:rPr lang="en-US" dirty="0"/>
              <a:t>Parquet</a:t>
            </a:r>
          </a:p>
          <a:p>
            <a:r>
              <a:rPr lang="en-US" dirty="0"/>
              <a:t>Avro</a:t>
            </a:r>
          </a:p>
          <a:p>
            <a:r>
              <a:rPr lang="en-US" dirty="0"/>
              <a:t>ORC</a:t>
            </a:r>
          </a:p>
          <a:p>
            <a:r>
              <a:rPr lang="en-US" dirty="0"/>
              <a:t>JDBC sources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0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3E95-24CD-61EF-199E-1EF46CFB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en-US" dirty="0"/>
              <a:t>Step-by-Step: Create Glue Crawler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2FFD5-A48A-5049-AFD5-563E3B24D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2" y="1052738"/>
            <a:ext cx="10515600" cy="5805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dirty="0"/>
              <a:t>Glue Console → </a:t>
            </a:r>
            <a:r>
              <a:rPr lang="en-US" b="1" dirty="0"/>
              <a:t>Crawlers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2:</a:t>
            </a:r>
          </a:p>
          <a:p>
            <a:r>
              <a:rPr lang="en-US" dirty="0"/>
              <a:t>Click </a:t>
            </a:r>
            <a:r>
              <a:rPr lang="en-US" b="1" dirty="0"/>
              <a:t>Create Crawler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3: Define crawler properties</a:t>
            </a:r>
          </a:p>
          <a:p>
            <a:r>
              <a:rPr lang="en-US" dirty="0"/>
              <a:t>Name: </a:t>
            </a:r>
            <a:r>
              <a:rPr lang="en-US" dirty="0" err="1"/>
              <a:t>sales_crawler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4: Choose Data Source</a:t>
            </a:r>
          </a:p>
          <a:p>
            <a:r>
              <a:rPr lang="en-US" dirty="0"/>
              <a:t>Data source type → </a:t>
            </a:r>
            <a:r>
              <a:rPr lang="en-US" b="1" dirty="0"/>
              <a:t>S3</a:t>
            </a:r>
            <a:endParaRPr lang="en-US" dirty="0"/>
          </a:p>
          <a:p>
            <a:r>
              <a:rPr lang="en-US" dirty="0"/>
              <a:t>Path: s3://your-bucket/sales/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66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1126-B4AB-D8A2-968E-57D7A5DB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Step-by-Step: Create Glue Crawler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9A17-D002-ABB6-9FB6-621E3AE89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4588"/>
            <a:ext cx="10515600" cy="5245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5: IAM Role</a:t>
            </a:r>
          </a:p>
          <a:p>
            <a:r>
              <a:rPr lang="en-US" dirty="0"/>
              <a:t>Create or select IAM Role with:</a:t>
            </a:r>
          </a:p>
          <a:p>
            <a:r>
              <a:rPr lang="en-US" dirty="0"/>
              <a:t>AmazonS3ReadOnlyAccess</a:t>
            </a:r>
          </a:p>
          <a:p>
            <a:r>
              <a:rPr lang="en-US" dirty="0" err="1"/>
              <a:t>AWSGlueServiceRole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6: Output Configuration</a:t>
            </a:r>
          </a:p>
          <a:p>
            <a:r>
              <a:rPr lang="en-US" dirty="0"/>
              <a:t>Choose database: </a:t>
            </a:r>
            <a:r>
              <a:rPr lang="en-US" dirty="0" err="1"/>
              <a:t>sales_db</a:t>
            </a:r>
            <a:endParaRPr lang="en-US" dirty="0"/>
          </a:p>
          <a:p>
            <a:r>
              <a:rPr lang="en-US" dirty="0"/>
              <a:t>Table prefix: bronze_ (optional)</a:t>
            </a:r>
          </a:p>
          <a:p>
            <a:pPr marL="0" indent="0">
              <a:buNone/>
            </a:pPr>
            <a:r>
              <a:rPr lang="en-US" b="1" dirty="0"/>
              <a:t>Step 7: Schedule</a:t>
            </a:r>
          </a:p>
          <a:p>
            <a:r>
              <a:rPr lang="en-US" dirty="0"/>
              <a:t>On demand / Daily / Cron</a:t>
            </a:r>
          </a:p>
          <a:p>
            <a:r>
              <a:rPr lang="en-US" dirty="0"/>
              <a:t>Click </a:t>
            </a:r>
            <a:r>
              <a:rPr lang="en-US" b="1" dirty="0"/>
              <a:t>Create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86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FF96-CA46-94FE-B27C-D880EC7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Run the Crawler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8E21-028C-6B9B-599A-209A1CB34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Click → </a:t>
            </a:r>
            <a:r>
              <a:rPr lang="en-US" b="1" dirty="0"/>
              <a:t>Run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Crawler will:</a:t>
            </a:r>
          </a:p>
          <a:p>
            <a:r>
              <a:rPr lang="en-US" dirty="0"/>
              <a:t>Scan S3</a:t>
            </a:r>
          </a:p>
          <a:p>
            <a:r>
              <a:rPr lang="en-US" dirty="0"/>
              <a:t>Detect schema</a:t>
            </a:r>
          </a:p>
          <a:p>
            <a:r>
              <a:rPr lang="en-US" dirty="0"/>
              <a:t>Create table in Data Catalog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 err="1"/>
              <a:t>bronze_sales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32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6462-21AC-8579-C5A4-EEE408AF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Glue Table Structure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11783-3059-505F-F578-784B55A43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987425"/>
            <a:ext cx="10515600" cy="57508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After crawler runs: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Database: </a:t>
            </a:r>
            <a:r>
              <a:rPr lang="en-US" dirty="0" err="1"/>
              <a:t>sales_db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Table:</a:t>
            </a:r>
          </a:p>
          <a:p>
            <a:r>
              <a:rPr lang="en-US" dirty="0" err="1"/>
              <a:t>bronze_sales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Columns:</a:t>
            </a:r>
          </a:p>
          <a:p>
            <a:r>
              <a:rPr lang="en-US" dirty="0" err="1"/>
              <a:t>order_id</a:t>
            </a:r>
            <a:r>
              <a:rPr lang="en-US" dirty="0"/>
              <a:t> (string)</a:t>
            </a:r>
          </a:p>
          <a:p>
            <a:r>
              <a:rPr lang="en-US" dirty="0"/>
              <a:t>amount (double)</a:t>
            </a:r>
          </a:p>
          <a:p>
            <a:r>
              <a:rPr lang="en-US" dirty="0" err="1"/>
              <a:t>order_date</a:t>
            </a:r>
            <a:r>
              <a:rPr lang="en-US" dirty="0"/>
              <a:t> (date)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Partitions:</a:t>
            </a:r>
          </a:p>
          <a:p>
            <a:r>
              <a:rPr lang="en-US" dirty="0"/>
              <a:t>year</a:t>
            </a:r>
          </a:p>
          <a:p>
            <a:r>
              <a:rPr lang="en-US" dirty="0"/>
              <a:t>month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26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64F2-41F1-8FE4-2C04-C91B8C6C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76402"/>
          </a:xfrm>
        </p:spPr>
        <p:txBody>
          <a:bodyPr/>
          <a:lstStyle/>
          <a:p>
            <a:r>
              <a:rPr lang="en-US" dirty="0"/>
              <a:t>AWS Glue Jobs (ETL 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F5B23-38E5-FCDE-2C0B-947640D91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3576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is Glue Job?</a:t>
            </a:r>
          </a:p>
          <a:p>
            <a:r>
              <a:rPr lang="en-US" dirty="0"/>
              <a:t>Glue Job:</a:t>
            </a:r>
          </a:p>
          <a:p>
            <a:r>
              <a:rPr lang="en-US" dirty="0"/>
              <a:t>Spark-based ETL</a:t>
            </a:r>
          </a:p>
          <a:p>
            <a:r>
              <a:rPr lang="en-US" dirty="0"/>
              <a:t>Serverless</a:t>
            </a:r>
          </a:p>
          <a:p>
            <a:r>
              <a:rPr lang="en-US" dirty="0"/>
              <a:t>Uses </a:t>
            </a:r>
            <a:r>
              <a:rPr lang="en-US" dirty="0" err="1"/>
              <a:t>PySpark</a:t>
            </a:r>
            <a:r>
              <a:rPr lang="en-US" dirty="0"/>
              <a:t> or Scala</a:t>
            </a:r>
          </a:p>
          <a:p>
            <a:pPr marL="0" indent="0">
              <a:buNone/>
            </a:pPr>
            <a:r>
              <a:rPr lang="en-US" dirty="0"/>
              <a:t>You can:</a:t>
            </a:r>
          </a:p>
          <a:p>
            <a:r>
              <a:rPr lang="en-US" dirty="0"/>
              <a:t>Read from Data Catalog</a:t>
            </a:r>
          </a:p>
          <a:p>
            <a:r>
              <a:rPr lang="en-US" dirty="0"/>
              <a:t>Transform data</a:t>
            </a:r>
          </a:p>
          <a:p>
            <a:r>
              <a:rPr lang="en-US" dirty="0"/>
              <a:t>Write to S3 / Redshift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8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2B6F-DB08-DEBD-C715-9F0098B6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Step-by-Step: Create Glue Job (</a:t>
            </a:r>
            <a:r>
              <a:rPr lang="en-US" dirty="0" err="1"/>
              <a:t>PySpark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D19E-24C7-492B-D11B-677D909C7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253331"/>
            <a:ext cx="10515600" cy="54849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dirty="0"/>
              <a:t>Glue Console → </a:t>
            </a:r>
            <a:r>
              <a:rPr lang="en-US" b="1" dirty="0"/>
              <a:t>ETL Jobs → Jobs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2:</a:t>
            </a:r>
          </a:p>
          <a:p>
            <a:r>
              <a:rPr lang="en-US" dirty="0"/>
              <a:t>Click </a:t>
            </a:r>
            <a:r>
              <a:rPr lang="en-US" b="1" dirty="0"/>
              <a:t>Create Job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3: Job Details</a:t>
            </a:r>
          </a:p>
          <a:p>
            <a:r>
              <a:rPr lang="en-US" dirty="0"/>
              <a:t>Name: </a:t>
            </a:r>
            <a:r>
              <a:rPr lang="en-US" dirty="0" err="1"/>
              <a:t>sales_etl_job</a:t>
            </a:r>
            <a:endParaRPr lang="en-US" dirty="0"/>
          </a:p>
          <a:p>
            <a:r>
              <a:rPr lang="en-US" dirty="0"/>
              <a:t>IAM Role: Glue service role</a:t>
            </a:r>
          </a:p>
          <a:p>
            <a:r>
              <a:rPr lang="en-US" dirty="0"/>
              <a:t>Type: Spark</a:t>
            </a:r>
          </a:p>
          <a:p>
            <a:r>
              <a:rPr lang="en-US" dirty="0"/>
              <a:t>Language: Python</a:t>
            </a:r>
          </a:p>
          <a:p>
            <a:r>
              <a:rPr lang="en-US" dirty="0"/>
              <a:t>Glue version: 4.0 (recommended)</a:t>
            </a:r>
          </a:p>
          <a:p>
            <a:pPr marL="0" indent="0">
              <a:buNone/>
            </a:pPr>
            <a:r>
              <a:rPr lang="en-US" b="1" dirty="0"/>
              <a:t>Step 4:</a:t>
            </a:r>
          </a:p>
          <a:p>
            <a:r>
              <a:rPr lang="en-US" dirty="0"/>
              <a:t>Choose:</a:t>
            </a:r>
          </a:p>
          <a:p>
            <a:r>
              <a:rPr lang="en-US" dirty="0"/>
              <a:t>Script editor → Create new script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09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68FE-7D69-3D8D-F323-506B4BB6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IAM Roles Required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7866-4491-DC9D-09F1-91B1805AA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063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Glue needs:</a:t>
            </a:r>
          </a:p>
          <a:p>
            <a:r>
              <a:rPr lang="en-US" dirty="0"/>
              <a:t>S3 Read/Write access</a:t>
            </a:r>
          </a:p>
          <a:p>
            <a:r>
              <a:rPr lang="en-US" dirty="0"/>
              <a:t>CloudWatch logs access</a:t>
            </a:r>
          </a:p>
          <a:p>
            <a:r>
              <a:rPr lang="en-US" dirty="0"/>
              <a:t>Glue service role policy</a:t>
            </a:r>
          </a:p>
          <a:p>
            <a:pPr marL="0" indent="0">
              <a:buNone/>
            </a:pPr>
            <a:r>
              <a:rPr lang="en-US" b="1" dirty="0"/>
              <a:t>Minimum policies:</a:t>
            </a:r>
          </a:p>
          <a:p>
            <a:r>
              <a:rPr lang="en-US" dirty="0" err="1"/>
              <a:t>AWSGlueServiceRole</a:t>
            </a:r>
            <a:endParaRPr lang="en-US" dirty="0"/>
          </a:p>
          <a:p>
            <a:r>
              <a:rPr lang="en-US" dirty="0"/>
              <a:t>AmazonS3FullAccess (or restricted)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28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9BC8E-C5FC-F7A5-CC63-97F83E63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difference between Crawler and Job?</a:t>
            </a:r>
          </a:p>
          <a:p>
            <a:pPr marL="0" indent="0">
              <a:buNone/>
            </a:pPr>
            <a:r>
              <a:rPr lang="en-US" dirty="0"/>
              <a:t>Crawler:</a:t>
            </a:r>
          </a:p>
          <a:p>
            <a:r>
              <a:rPr lang="en-US" dirty="0"/>
              <a:t>Schema discovery</a:t>
            </a:r>
          </a:p>
          <a:p>
            <a:r>
              <a:rPr lang="en-US" dirty="0"/>
              <a:t>Metadata creation</a:t>
            </a:r>
          </a:p>
          <a:p>
            <a:pPr marL="0" indent="0">
              <a:buNone/>
            </a:pPr>
            <a:r>
              <a:rPr lang="en-US" dirty="0"/>
              <a:t>Job:</a:t>
            </a:r>
          </a:p>
          <a:p>
            <a:r>
              <a:rPr lang="en-US" dirty="0"/>
              <a:t>Data transformation</a:t>
            </a:r>
          </a:p>
          <a:p>
            <a:r>
              <a:rPr lang="en-US" dirty="0"/>
              <a:t>ETL logic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832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AA18-0883-D627-21BE-420ADD4A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Errors &amp; Fix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B40A-BCC8-7008-20A2-F229C675F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Crawler not detecting schema</a:t>
            </a:r>
          </a:p>
          <a:p>
            <a:r>
              <a:rPr lang="en-US" dirty="0"/>
              <a:t>✔ Check S3 permissions</a:t>
            </a:r>
            <a:br>
              <a:rPr lang="en-US" dirty="0"/>
            </a:br>
            <a:r>
              <a:rPr lang="en-US" dirty="0"/>
              <a:t>✔ Check file format</a:t>
            </a:r>
            <a:br>
              <a:rPr lang="en-US" dirty="0"/>
            </a:br>
            <a:r>
              <a:rPr lang="en-US" dirty="0"/>
              <a:t>✔ Check folder structure</a:t>
            </a:r>
          </a:p>
          <a:p>
            <a:pPr marL="0" indent="0">
              <a:buNone/>
            </a:pPr>
            <a:r>
              <a:rPr lang="en-US" b="1" dirty="0"/>
              <a:t>Job fails</a:t>
            </a:r>
          </a:p>
          <a:p>
            <a:r>
              <a:rPr lang="en-US" dirty="0"/>
              <a:t>✔ Check IAM role</a:t>
            </a:r>
            <a:br>
              <a:rPr lang="en-US" dirty="0"/>
            </a:br>
            <a:r>
              <a:rPr lang="en-US" dirty="0"/>
              <a:t>✔ Check S3 path</a:t>
            </a:r>
            <a:br>
              <a:rPr lang="en-US" dirty="0"/>
            </a:br>
            <a:r>
              <a:rPr lang="en-US" dirty="0"/>
              <a:t>✔ Check Spark logs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95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A2900-3BC0-8A1A-A89B-3ED8CA001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End-to-End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92367-55EC-BB6E-9CB9-524D29C95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Upload CSV to S3</a:t>
            </a:r>
          </a:p>
          <a:p>
            <a:r>
              <a:rPr lang="en-US" dirty="0"/>
              <a:t>Create Glue Database</a:t>
            </a:r>
          </a:p>
          <a:p>
            <a:r>
              <a:rPr lang="en-US" dirty="0"/>
              <a:t>Create Crawler</a:t>
            </a:r>
          </a:p>
          <a:p>
            <a:r>
              <a:rPr lang="en-US" dirty="0"/>
              <a:t>Run Crawler</a:t>
            </a:r>
          </a:p>
          <a:p>
            <a:r>
              <a:rPr lang="en-US" dirty="0"/>
              <a:t>Verify table</a:t>
            </a:r>
          </a:p>
          <a:p>
            <a:r>
              <a:rPr lang="en-US" dirty="0"/>
              <a:t>Create Glue Job</a:t>
            </a:r>
          </a:p>
          <a:p>
            <a:r>
              <a:rPr lang="en-US" dirty="0"/>
              <a:t>Transform &amp; write Parquet</a:t>
            </a:r>
          </a:p>
          <a:p>
            <a:r>
              <a:rPr lang="en-US" dirty="0"/>
              <a:t>Query using Athena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75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614</Words>
  <Application>Microsoft Office PowerPoint</Application>
  <PresentationFormat>Widescreen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AWS GLUE</vt:lpstr>
      <vt:lpstr>What is AWS Glue?</vt:lpstr>
      <vt:lpstr>AWS Glue Architecture Overview</vt:lpstr>
      <vt:lpstr>AWS Glue Data Catalog (Metadata Layer)</vt:lpstr>
      <vt:lpstr>Step-by-Step: Create Data Catalog Database</vt:lpstr>
      <vt:lpstr>AWS Glue Crawler (Schema Discovery)</vt:lpstr>
      <vt:lpstr>Step-by-Step: Create Glue Crawler</vt:lpstr>
      <vt:lpstr>Step-by-Step: Create Glue Crawler</vt:lpstr>
      <vt:lpstr>Run the Crawler </vt:lpstr>
      <vt:lpstr>Glue Table Structure Example</vt:lpstr>
      <vt:lpstr>AWS Glue Jobs (ETL Processing)</vt:lpstr>
      <vt:lpstr>Step-by-Step: Create Glue Job (PySpark)</vt:lpstr>
      <vt:lpstr>IAM Roles Required </vt:lpstr>
      <vt:lpstr>PowerPoint Presentation</vt:lpstr>
      <vt:lpstr>Common Errors &amp; Fix </vt:lpstr>
      <vt:lpstr>End-to-End 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6</cp:revision>
  <dcterms:created xsi:type="dcterms:W3CDTF">2026-03-03T01:50:05Z</dcterms:created>
  <dcterms:modified xsi:type="dcterms:W3CDTF">2026-03-03T08:30:57Z</dcterms:modified>
</cp:coreProperties>
</file>