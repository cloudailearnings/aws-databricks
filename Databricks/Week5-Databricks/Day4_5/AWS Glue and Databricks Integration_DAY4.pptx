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3657-6563-855B-3735-DA2239DE1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9E297-4CAC-C47F-A871-CF5C38C92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8801D-4DD3-A508-3F28-7BABDBF7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1D3B9-DC8A-AC63-CD91-437D0575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B1444-50E8-E40F-6ADA-88FBD558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3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1C85-886F-7197-D85A-6FE44784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C1E0-AA91-40DB-6E6E-16E40A121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8739-4092-302C-F4AE-A163397B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95CBC-6E16-F14D-95E9-B432734B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B9627-CFBD-91E4-B68D-B16109DC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0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2BB8-65D4-6A67-D377-62A9E8D6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27A88-7C3B-B9C4-88BF-9724F0649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5D57-8C1E-46D9-C8A0-A52A0960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B6C13-2A45-0208-5D56-A824C9E7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08936-B1C0-81DD-D8B1-1DCC1E2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1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75EB-53BF-0788-EFA3-381CBCD0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37D61-3392-1656-FA33-49EFE25FD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CCB04-C266-4B0C-4F4E-7EC371C66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30839-6AEA-1F8A-3683-AEE31734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B2EBE-A65B-91BF-D4D0-28C7E586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10ABB-45CD-BA8D-52DE-1147E4D7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7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DC8B-9070-E8E8-E213-52C6EFAD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DEB40-AA0B-EE1D-6390-AFB5C6E50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678EA-C904-0F71-C90D-93947E58C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CC995-E908-68E4-E31E-C8908C4F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2A0BED-44E7-D7B3-2C79-924811BF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21FCC-1EDC-6100-5462-5BD995C6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44DEF-A3C0-D845-5DC1-434F71BD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C64D4-0B09-54A0-6F09-B0F51E3A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1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301D-0F98-1775-3FD2-48A19AB1D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5572E-122A-EFA3-2892-0A56E908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98408-8535-A351-C202-AF441A51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729C5-7D0C-11FA-3875-0F516D49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0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E0B1B-F10C-4BAD-8B17-2EB186F4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F6DDC9-5CC2-7D07-2D3B-A3EC4B05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63A02-68E7-5406-2DC1-E99D0105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5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1135-0D51-1F6E-70D9-CF4B7418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142C-8E0B-5402-DF77-87913CF1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177E3-005C-3238-3F45-BE5E9D563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0058-0542-8969-59B5-FC96FF60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6B758-623A-8DB2-E823-469D1BCA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EF17F-B7FC-E463-06F7-4B52AEEF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5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45A1-BFD8-38BF-E1EE-C4E822DD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629EE2-1C6D-9745-4634-2DD35019D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1BA48-19A9-1293-FF74-7C349BE30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F1645-E02C-3A7B-235B-0CBF47473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871F9-268D-5F1E-0FC7-A476987B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5BEF3-7635-CC0F-D287-21784C71B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8D0D-5EF5-6F2C-A4FF-326A7410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92AAD-3C96-7811-BA74-E69E9575F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110C0-B0FE-3A7E-3916-E9CF29C0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957BF-598D-EB62-9DA3-04F4A69C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3D62-CD9B-5C37-9471-BAAE434B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52F52-D20F-A5AC-DD6D-B0EF39A34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72305-C339-D55F-E544-8F69090BE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AC2C-4A19-BDF0-A6BF-8FC6A30D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7E44-8DF4-9D12-1E09-8B323B65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98AC-A75C-8109-2A2D-4AC4461A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1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FFD9E-E194-C099-BD42-A65E6D02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0B0F1-AA16-8DD1-5472-587D6F9B6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A473-4002-3D1A-6516-DB8FD0A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C2222-1507-495B-9235-0D073811BFD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299ED-53EB-38C4-77A6-5C8D01A24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DBC15-C482-B4F4-B9ED-0B1BB7418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34826-4E58-471D-B881-BE74C0603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7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0C3D-D7A1-6749-1D3F-E49857E8CC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Glue and Databricks Integration</a:t>
            </a:r>
          </a:p>
        </p:txBody>
      </p:sp>
    </p:spTree>
    <p:extLst>
      <p:ext uri="{BB962C8B-B14F-4D97-AF65-F5344CB8AC3E}">
        <p14:creationId xmlns:p14="http://schemas.microsoft.com/office/powerpoint/2010/main" val="70909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994C-8503-FDBD-1605-2D190758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15145"/>
          </a:xfrm>
        </p:spPr>
        <p:txBody>
          <a:bodyPr>
            <a:normAutofit fontScale="90000"/>
          </a:bodyPr>
          <a:lstStyle/>
          <a:p>
            <a:r>
              <a:rPr lang="en-US" dirty="0"/>
              <a:t>AWS Glue and Databricks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377FC-D003-DB4F-3EBB-4DC25574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51454"/>
            <a:ext cx="11941629" cy="4351338"/>
          </a:xfrm>
        </p:spPr>
        <p:txBody>
          <a:bodyPr/>
          <a:lstStyle/>
          <a:p>
            <a:r>
              <a:rPr lang="en-US" dirty="0"/>
              <a:t>Integrating </a:t>
            </a:r>
            <a:r>
              <a:rPr lang="en-US" b="1" dirty="0"/>
              <a:t>AWS Glue Data Catalog</a:t>
            </a:r>
            <a:r>
              <a:rPr lang="en-US" dirty="0"/>
              <a:t> with </a:t>
            </a:r>
            <a:r>
              <a:rPr lang="en-US" b="1" dirty="0"/>
              <a:t>Databricks</a:t>
            </a:r>
            <a:r>
              <a:rPr lang="en-US" dirty="0"/>
              <a:t> allows you to use Glue as the </a:t>
            </a:r>
            <a:r>
              <a:rPr lang="en-US" b="1" dirty="0"/>
              <a:t>central </a:t>
            </a:r>
            <a:r>
              <a:rPr lang="en-US" b="1" dirty="0" err="1"/>
              <a:t>metastore</a:t>
            </a:r>
            <a:r>
              <a:rPr lang="en-US" dirty="0"/>
              <a:t> for managing tables stored in Amazon S3 while running workloads in Databricks.</a:t>
            </a:r>
          </a:p>
        </p:txBody>
      </p:sp>
    </p:spTree>
    <p:extLst>
      <p:ext uri="{BB962C8B-B14F-4D97-AF65-F5344CB8AC3E}">
        <p14:creationId xmlns:p14="http://schemas.microsoft.com/office/powerpoint/2010/main" val="58498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30C6-F761-E108-F279-62B56A47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1EB40-40F9-21F8-CAC7-0CD305E88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Amazon S3</a:t>
            </a:r>
            <a:r>
              <a:rPr lang="en-US" dirty="0"/>
              <a:t> → Data Storage</a:t>
            </a:r>
            <a:br>
              <a:rPr lang="en-US" dirty="0"/>
            </a:br>
            <a:r>
              <a:rPr lang="en-US" b="1" dirty="0"/>
              <a:t>AWS Glue Data Catalog</a:t>
            </a:r>
            <a:r>
              <a:rPr lang="en-US" dirty="0"/>
              <a:t> → Metadata (tables, schema, partitions)</a:t>
            </a:r>
            <a:br>
              <a:rPr lang="en-US" dirty="0"/>
            </a:br>
            <a:r>
              <a:rPr lang="en-US" b="1" dirty="0"/>
              <a:t>Databricks</a:t>
            </a:r>
            <a:r>
              <a:rPr lang="en-US" dirty="0"/>
              <a:t> → Compute &amp; Processing Engine</a:t>
            </a:r>
          </a:p>
        </p:txBody>
      </p:sp>
    </p:spTree>
    <p:extLst>
      <p:ext uri="{BB962C8B-B14F-4D97-AF65-F5344CB8AC3E}">
        <p14:creationId xmlns:p14="http://schemas.microsoft.com/office/powerpoint/2010/main" val="429048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739A-5E40-99C1-12CB-0EFF0A2C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F156-4FD8-CB64-DCDD-D61A4D3DC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1️⃣ Using Glue as Hive </a:t>
            </a:r>
            <a:r>
              <a:rPr lang="en-US" dirty="0" err="1"/>
              <a:t>Metastore</a:t>
            </a:r>
            <a:r>
              <a:rPr lang="en-US" dirty="0"/>
              <a:t> (Legacy Way)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2️⃣ Recommended: Using Unity Catalog + Glue (Modern Approach)</a:t>
            </a:r>
          </a:p>
        </p:txBody>
      </p:sp>
    </p:spTree>
    <p:extLst>
      <p:ext uri="{BB962C8B-B14F-4D97-AF65-F5344CB8AC3E}">
        <p14:creationId xmlns:p14="http://schemas.microsoft.com/office/powerpoint/2010/main" val="119230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BBF6-A255-EEB1-202F-4C7C77E7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136086" cy="547802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 Using Glue as Hive </a:t>
            </a:r>
            <a:r>
              <a:rPr lang="en-US" dirty="0" err="1"/>
              <a:t>Metastore</a:t>
            </a:r>
            <a:r>
              <a:rPr lang="en-US" dirty="0"/>
              <a:t> (Legacy 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DC4C-05CA-6329-99A7-557CA208E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1046"/>
            <a:ext cx="10515600" cy="591695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Databricks can directly connect to Glue as its Hive </a:t>
            </a:r>
            <a:r>
              <a:rPr lang="en-US" dirty="0" err="1"/>
              <a:t>metastore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Step 1: IAM Role Setup in AWS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Create an IAM role with permissions: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"Effect": "Allow",</a:t>
            </a:r>
          </a:p>
          <a:p>
            <a:pPr marL="0" indent="0">
              <a:buNone/>
            </a:pPr>
            <a:r>
              <a:rPr lang="en-US" dirty="0"/>
              <a:t>  "Action": [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glue:GetDatabase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glue:GetDatabases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glue:GetTable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glue:GetTables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glue:GetPartitions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glue:CreateTable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glue:UpdateTable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],</a:t>
            </a:r>
          </a:p>
          <a:p>
            <a:pPr marL="0" indent="0">
              <a:buNone/>
            </a:pPr>
            <a:r>
              <a:rPr lang="en-US" dirty="0"/>
              <a:t>  "Resource": "*"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4CADE-52B6-2D81-5D5B-5622E127F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715282"/>
            <a:ext cx="10515600" cy="61427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Also </a:t>
            </a:r>
            <a:r>
              <a:rPr lang="en-US" b="1" dirty="0">
                <a:highlight>
                  <a:srgbClr val="FFFF00"/>
                </a:highlight>
              </a:rPr>
              <a:t>add S3 access: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"Effect": "Allow",</a:t>
            </a:r>
          </a:p>
          <a:p>
            <a:pPr marL="0" indent="0">
              <a:buNone/>
            </a:pPr>
            <a:r>
              <a:rPr lang="en-US" dirty="0"/>
              <a:t>  "Action": [</a:t>
            </a:r>
          </a:p>
          <a:p>
            <a:pPr marL="0" indent="0">
              <a:buNone/>
            </a:pPr>
            <a:r>
              <a:rPr lang="en-US" dirty="0"/>
              <a:t>    "s3:GetObject",</a:t>
            </a:r>
          </a:p>
          <a:p>
            <a:pPr marL="0" indent="0">
              <a:buNone/>
            </a:pPr>
            <a:r>
              <a:rPr lang="en-US" dirty="0"/>
              <a:t>    "s3:PutObject",</a:t>
            </a:r>
          </a:p>
          <a:p>
            <a:pPr marL="0" indent="0">
              <a:buNone/>
            </a:pPr>
            <a:r>
              <a:rPr lang="en-US" dirty="0"/>
              <a:t>    "s3:ListBucket"</a:t>
            </a:r>
          </a:p>
          <a:p>
            <a:pPr marL="0" indent="0">
              <a:buNone/>
            </a:pPr>
            <a:r>
              <a:rPr lang="en-US" dirty="0"/>
              <a:t>  ],</a:t>
            </a:r>
          </a:p>
          <a:p>
            <a:pPr marL="0" indent="0">
              <a:buNone/>
            </a:pPr>
            <a:r>
              <a:rPr lang="en-US" dirty="0"/>
              <a:t>  "Resource": "*"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Attach this role to:</a:t>
            </a:r>
          </a:p>
          <a:p>
            <a:r>
              <a:rPr lang="en-US" dirty="0"/>
              <a:t>EC2 Instance Profile used by Databricks workspace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055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ED6D3-305C-196D-D12A-99FF3D79E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97654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Step 2: Configure Databricks Workspace (*** important step ***)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 Databricks:</a:t>
            </a:r>
          </a:p>
          <a:p>
            <a:pPr marL="0" indent="0">
              <a:buNone/>
            </a:pPr>
            <a:r>
              <a:rPr lang="en-US" dirty="0"/>
              <a:t>Go to </a:t>
            </a:r>
            <a:r>
              <a:rPr lang="en-US" b="1" dirty="0"/>
              <a:t>Admin Console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b="1" dirty="0"/>
              <a:t>Advanced → Data Access Configuration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Add: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highlight>
                  <a:srgbClr val="FFFF00"/>
                </a:highlight>
              </a:rPr>
              <a:t>spark.databricks.hive.metastore.glueCatalog.enabled</a:t>
            </a:r>
            <a:r>
              <a:rPr lang="en-US" b="1" dirty="0">
                <a:highlight>
                  <a:srgbClr val="FFFF00"/>
                </a:highlight>
              </a:rPr>
              <a:t>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Restart cluster.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87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B7D7-0B73-214F-F55F-0550EEF84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5" y="5846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Step 3: Verify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Databricks notebook: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SHOW DATABASES;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should see Glue databases.</a:t>
            </a:r>
          </a:p>
        </p:txBody>
      </p:sp>
    </p:spTree>
    <p:extLst>
      <p:ext uri="{BB962C8B-B14F-4D97-AF65-F5344CB8AC3E}">
        <p14:creationId xmlns:p14="http://schemas.microsoft.com/office/powerpoint/2010/main" val="160774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752E-BE38-8A9B-9C47-EBACA991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2️⃣ Recommended: Using Unity Catalog + Glue (Modern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3F3F-F506-341F-E8F1-CD3A8CE37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2843"/>
            <a:ext cx="121158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If you're using </a:t>
            </a:r>
            <a:r>
              <a:rPr lang="en-US" b="1" dirty="0"/>
              <a:t>Unity Catalog</a:t>
            </a:r>
            <a:r>
              <a:rPr lang="en-US" dirty="0"/>
              <a:t>, integration works differently.</a:t>
            </a:r>
          </a:p>
          <a:p>
            <a:pPr marL="0" indent="0">
              <a:buNone/>
            </a:pPr>
            <a:r>
              <a:rPr lang="en-US" dirty="0"/>
              <a:t>Instead of using Glue as the </a:t>
            </a:r>
            <a:r>
              <a:rPr lang="en-US" dirty="0" err="1"/>
              <a:t>metastore</a:t>
            </a:r>
            <a:r>
              <a:rPr lang="en-US" dirty="0"/>
              <a:t> directly, you:</a:t>
            </a:r>
          </a:p>
          <a:p>
            <a:r>
              <a:rPr lang="en-US" dirty="0"/>
              <a:t>Use Unity Catalog for governance</a:t>
            </a:r>
          </a:p>
          <a:p>
            <a:r>
              <a:rPr lang="en-US" dirty="0"/>
              <a:t>Optionally use Glue for external table metadata</a:t>
            </a:r>
          </a:p>
          <a:p>
            <a:r>
              <a:rPr lang="en-US" dirty="0"/>
              <a:t>Register S3 as external location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Pattern steps to Follow: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1️⃣ Glue writes data to </a:t>
            </a:r>
            <a:r>
              <a:rPr lang="en-US" b="1" dirty="0"/>
              <a:t>S3</a:t>
            </a:r>
            <a:br>
              <a:rPr lang="en-US" dirty="0"/>
            </a:br>
            <a:r>
              <a:rPr lang="en-US" dirty="0"/>
              <a:t>2️⃣ Create External Location in Unity Catalog</a:t>
            </a:r>
            <a:br>
              <a:rPr lang="en-US" dirty="0"/>
            </a:br>
            <a:r>
              <a:rPr lang="en-US" dirty="0"/>
              <a:t>3️⃣ Create External Tables in Databricks</a:t>
            </a:r>
            <a:br>
              <a:rPr lang="en-US" dirty="0"/>
            </a:br>
            <a:r>
              <a:rPr lang="en-US" dirty="0"/>
              <a:t>4️⃣ Databricks reads that data </a:t>
            </a:r>
            <a:r>
              <a:rPr lang="en-US" dirty="0">
                <a:highlight>
                  <a:srgbClr val="FFFF00"/>
                </a:highlight>
              </a:rPr>
              <a:t>- CREATE EXTERNAL TABLE sales LOCATION 's3://bucket/clean-data/';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7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8A3B-3F62-2FD9-65B0-67EB375C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Create Storage Credential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808A-0B58-003B-242F-CA7CA256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Databricks: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STORAGE CREDENTIAL </a:t>
            </a:r>
            <a:r>
              <a:rPr lang="en-US" dirty="0" err="1"/>
              <a:t>aws_cred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IAM_ROLE = '</a:t>
            </a:r>
            <a:r>
              <a:rPr lang="en-US" dirty="0" err="1"/>
              <a:t>arn:aws:iam</a:t>
            </a:r>
            <a:r>
              <a:rPr lang="en-US" dirty="0"/>
              <a:t>::&lt;account-id&gt;:role/&lt;role-name&gt;';</a:t>
            </a:r>
          </a:p>
        </p:txBody>
      </p:sp>
    </p:spTree>
    <p:extLst>
      <p:ext uri="{BB962C8B-B14F-4D97-AF65-F5344CB8AC3E}">
        <p14:creationId xmlns:p14="http://schemas.microsoft.com/office/powerpoint/2010/main" val="183253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000D-3AA4-4BAC-839D-477370B3D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2: Create External 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EXTERNAL LOCATION s3_ext_loc</a:t>
            </a:r>
          </a:p>
          <a:p>
            <a:pPr marL="0" indent="0">
              <a:buNone/>
            </a:pPr>
            <a:r>
              <a:rPr lang="en-US" dirty="0"/>
              <a:t>URL 's3://your-bucket/'</a:t>
            </a:r>
          </a:p>
          <a:p>
            <a:pPr marL="0" indent="0">
              <a:buNone/>
            </a:pPr>
            <a:r>
              <a:rPr lang="en-US" dirty="0"/>
              <a:t>WITH STORAGE CREDENTIAL </a:t>
            </a:r>
            <a:r>
              <a:rPr lang="en-US" dirty="0" err="1"/>
              <a:t>aws_cred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6218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9095-8322-57F8-AAF4-910AD8B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37F1F-F33E-C897-B070-883F2F397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3: Create Catalog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CATALOG </a:t>
            </a:r>
            <a:r>
              <a:rPr lang="en-US" dirty="0" err="1"/>
              <a:t>glue_catalog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3064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EC47B-38A6-8CDE-5B22-77601905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When to Use What?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4FAFD0FB-FC18-2722-CD35-F720EFAA26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2830598"/>
              </p:ext>
            </p:extLst>
          </p:nvPr>
        </p:nvGraphicFramePr>
        <p:xfrm>
          <a:off x="6651243" y="1486164"/>
          <a:ext cx="4939505" cy="3502725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2710193">
                  <a:extLst>
                    <a:ext uri="{9D8B030D-6E8A-4147-A177-3AD203B41FA5}">
                      <a16:colId xmlns:a16="http://schemas.microsoft.com/office/drawing/2014/main" val="1402229173"/>
                    </a:ext>
                  </a:extLst>
                </a:gridCol>
                <a:gridCol w="2229312">
                  <a:extLst>
                    <a:ext uri="{9D8B030D-6E8A-4147-A177-3AD203B41FA5}">
                      <a16:colId xmlns:a16="http://schemas.microsoft.com/office/drawing/2014/main" val="685612222"/>
                    </a:ext>
                  </a:extLst>
                </a:gridCol>
              </a:tblGrid>
              <a:tr h="535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Recommendation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72732"/>
                  </a:ext>
                </a:extLst>
              </a:tr>
              <a:tr h="810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Legacy Hive-based workloads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Glue Metastore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155298"/>
                  </a:ext>
                </a:extLst>
              </a:tr>
              <a:tr h="810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New Lakehouse architecture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Unity Catalog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84526"/>
                  </a:ext>
                </a:extLst>
              </a:tr>
              <a:tr h="810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Multi-engine access (Athena + Databricks)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Glue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272201"/>
                  </a:ext>
                </a:extLst>
              </a:tr>
              <a:tr h="535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Advanced governance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Unity Catalog</a:t>
                      </a:r>
                    </a:p>
                  </a:txBody>
                  <a:tcPr marL="139561" marR="139561" marT="137123" marB="697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746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93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495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AWS Glue and Databricks Integration</vt:lpstr>
      <vt:lpstr>AWS Glue and Databricks Integration</vt:lpstr>
      <vt:lpstr>Architecture Overview</vt:lpstr>
      <vt:lpstr>Integration Options</vt:lpstr>
      <vt:lpstr>1️⃣ Using Glue as Hive Metastore (Legacy Way)</vt:lpstr>
      <vt:lpstr>PowerPoint Presentation</vt:lpstr>
      <vt:lpstr>PowerPoint Presentation</vt:lpstr>
      <vt:lpstr>PowerPoint Presentation</vt:lpstr>
      <vt:lpstr>2️⃣ Recommended: Using Unity Catalog + Glue (Modern Approach)</vt:lpstr>
      <vt:lpstr>Step 1: Create Storage Credential</vt:lpstr>
      <vt:lpstr>PowerPoint Presentation</vt:lpstr>
      <vt:lpstr>PowerPoint Presentation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2026-02-27T22:57:32Z</dcterms:created>
  <dcterms:modified xsi:type="dcterms:W3CDTF">2026-03-14T05:39:40Z</dcterms:modified>
</cp:coreProperties>
</file>