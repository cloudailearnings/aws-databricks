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8" r:id="rId4"/>
    <p:sldId id="269" r:id="rId5"/>
    <p:sldId id="271" r:id="rId6"/>
    <p:sldId id="258" r:id="rId7"/>
    <p:sldId id="259" r:id="rId8"/>
    <p:sldId id="260" r:id="rId9"/>
    <p:sldId id="261" r:id="rId10"/>
    <p:sldId id="262" r:id="rId11"/>
    <p:sldId id="263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11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244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9874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670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98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592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358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372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171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396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2309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9467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E7A114-FB26-06FC-A056-D63B4265B8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482" b="1376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22AB34F-E75C-451A-8410-05B6C249E9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648484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B29E37-D986-A322-E13A-D01618AEE3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38061" y="914400"/>
            <a:ext cx="4892948" cy="3427867"/>
          </a:xfrm>
        </p:spPr>
        <p:txBody>
          <a:bodyPr anchor="t"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Databricks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438375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02503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AF9FE-85F0-B64E-1582-7AC144BC7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3D04B-72EE-2BA2-8A5A-8CB60E0197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Databricks is a unified data analytics platform built to process big data, machine learning, and AI workloads at scale.</a:t>
            </a:r>
          </a:p>
          <a:p>
            <a:r>
              <a:rPr lang="en-US" b="1" dirty="0">
                <a:solidFill>
                  <a:srgbClr val="FF0000"/>
                </a:solidFill>
              </a:rPr>
              <a:t> It was founded by the creators of Apache Spark and runs on major cloud providers like Amazon Web Services, Microsoft Azure, and Google Cloud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43867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8D071-4279-CF4A-4006-D7C01508A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765516"/>
          </a:xfrm>
        </p:spPr>
        <p:txBody>
          <a:bodyPr/>
          <a:lstStyle/>
          <a:p>
            <a:r>
              <a:rPr lang="en-US" dirty="0"/>
              <a:t>1️⃣ What is Databricks?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4F9BF-0ED6-7CFD-317D-613D633DC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970" y="1253331"/>
            <a:ext cx="11854543" cy="4351338"/>
          </a:xfrm>
        </p:spPr>
        <p:txBody>
          <a:bodyPr/>
          <a:lstStyle/>
          <a:p>
            <a:r>
              <a:rPr lang="en-US" b="1" dirty="0"/>
              <a:t>Databricks</a:t>
            </a:r>
            <a:r>
              <a:rPr lang="en-US" dirty="0"/>
              <a:t> is a unified data analytics platform built on </a:t>
            </a:r>
            <a:r>
              <a:rPr lang="en-US" b="1" dirty="0"/>
              <a:t>Apache Spark</a:t>
            </a:r>
            <a:r>
              <a:rPr lang="en-US" dirty="0"/>
              <a:t> that enables:</a:t>
            </a:r>
          </a:p>
          <a:p>
            <a:r>
              <a:rPr lang="en-US" dirty="0"/>
              <a:t>Data Engineering</a:t>
            </a:r>
          </a:p>
          <a:p>
            <a:r>
              <a:rPr lang="en-US" dirty="0"/>
              <a:t>Data Science</a:t>
            </a:r>
          </a:p>
          <a:p>
            <a:r>
              <a:rPr lang="en-US" dirty="0"/>
              <a:t>Machine Learning</a:t>
            </a:r>
          </a:p>
          <a:p>
            <a:r>
              <a:rPr lang="en-US" dirty="0"/>
              <a:t>SQL Analytics</a:t>
            </a:r>
          </a:p>
          <a:p>
            <a:r>
              <a:rPr lang="en-US" dirty="0"/>
              <a:t>Real-Time Streaming</a:t>
            </a:r>
          </a:p>
          <a:p>
            <a:r>
              <a:rPr lang="en-US" dirty="0"/>
              <a:t>It follows the </a:t>
            </a:r>
            <a:r>
              <a:rPr lang="en-US" b="1" dirty="0"/>
              <a:t>Lakehouse Architecture</a:t>
            </a:r>
            <a:r>
              <a:rPr lang="en-US" dirty="0"/>
              <a:t>, combining data lake + data warehouse capabilities.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1321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47A4C-4A1C-B76D-446A-5574707B7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2️⃣ Why Databricks?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AB4FC-A963-4435-2E78-37BAAB6D1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With Databricks:</a:t>
            </a:r>
          </a:p>
          <a:p>
            <a:r>
              <a:rPr lang="en-US" dirty="0"/>
              <a:t>Managed Spark platform</a:t>
            </a:r>
          </a:p>
          <a:p>
            <a:r>
              <a:rPr lang="en-US" dirty="0"/>
              <a:t>Auto-scaling clusters</a:t>
            </a:r>
          </a:p>
          <a:p>
            <a:r>
              <a:rPr lang="en-US" dirty="0"/>
              <a:t>Built-in Delta Lake</a:t>
            </a:r>
          </a:p>
          <a:p>
            <a:r>
              <a:rPr lang="en-US" dirty="0"/>
              <a:t>Collaborative notebooks</a:t>
            </a:r>
          </a:p>
          <a:p>
            <a:r>
              <a:rPr lang="en-US" dirty="0"/>
              <a:t>Enterprise security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6558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5F1B7-77D5-D855-1672-33E65AC5F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US" dirty="0"/>
              <a:t>Databricks Architecture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EDF0E-F732-3C37-6900-C37D3B502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486" y="1144588"/>
            <a:ext cx="10515600" cy="57134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Databricks has two main planes:</a:t>
            </a:r>
          </a:p>
          <a:p>
            <a:pPr marL="0" indent="0">
              <a:buNone/>
            </a:pPr>
            <a:r>
              <a:rPr lang="en-US" b="1" dirty="0"/>
              <a:t>🔹 Control Plane</a:t>
            </a:r>
          </a:p>
          <a:p>
            <a:r>
              <a:rPr lang="en-US" dirty="0"/>
              <a:t>Managed by Databricks</a:t>
            </a:r>
          </a:p>
          <a:p>
            <a:r>
              <a:rPr lang="en-US" dirty="0"/>
              <a:t>Handles UI, notebooks, job orchestration</a:t>
            </a:r>
          </a:p>
          <a:p>
            <a:pPr marL="0" indent="0">
              <a:buNone/>
            </a:pPr>
            <a:r>
              <a:rPr lang="en-US" b="1" dirty="0"/>
              <a:t>🔹 Data Plane</a:t>
            </a:r>
          </a:p>
          <a:p>
            <a:r>
              <a:rPr lang="en-US" dirty="0"/>
              <a:t>Runs in your cloud account</a:t>
            </a:r>
          </a:p>
          <a:p>
            <a:r>
              <a:rPr lang="en-US" dirty="0"/>
              <a:t>Executes Spark jobs</a:t>
            </a:r>
          </a:p>
          <a:p>
            <a:pPr marL="0" indent="0">
              <a:buNone/>
            </a:pPr>
            <a:r>
              <a:rPr lang="en-US" b="1" dirty="0"/>
              <a:t>🔹 Storage Layer</a:t>
            </a:r>
          </a:p>
          <a:p>
            <a:r>
              <a:rPr lang="en-US" dirty="0"/>
              <a:t>Cloud object storage:</a:t>
            </a:r>
          </a:p>
          <a:p>
            <a:pPr lvl="1"/>
            <a:r>
              <a:rPr lang="en-US" dirty="0"/>
              <a:t>Amazon S3 (AWS)</a:t>
            </a:r>
          </a:p>
          <a:p>
            <a:pPr lvl="1"/>
            <a:r>
              <a:rPr lang="en-US" dirty="0"/>
              <a:t>Azure Data Lake Storage Gen2 (Azure)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471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370DA-B643-F6AE-DEB8-58B77EE98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79" y="109728"/>
            <a:ext cx="10890929" cy="1097280"/>
          </a:xfrm>
        </p:spPr>
        <p:txBody>
          <a:bodyPr/>
          <a:lstStyle/>
          <a:p>
            <a:r>
              <a:rPr lang="en-US" dirty="0"/>
              <a:t>Lakehouse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EFB14-982E-25F8-1297-ECB9811C7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566" y="1523128"/>
            <a:ext cx="10890928" cy="5334871"/>
          </a:xfrm>
        </p:spPr>
        <p:txBody>
          <a:bodyPr>
            <a:normAutofit fontScale="32500" lnSpcReduction="20000"/>
          </a:bodyPr>
          <a:lstStyle/>
          <a:p>
            <a:r>
              <a:rPr lang="en-US" sz="6500" dirty="0"/>
              <a:t>Lakehouse architecture combines the low-cost storage of a data lake with the performance and governance of a data warehouse. </a:t>
            </a:r>
          </a:p>
          <a:p>
            <a:r>
              <a:rPr lang="en-US" sz="6500" dirty="0"/>
              <a:t>Using Delta Lake, it provides ACID transactions, schema enforcement, and supports both BI and ML workloads on the same data platform.</a:t>
            </a:r>
          </a:p>
          <a:p>
            <a:endParaRPr lang="en-US" sz="6500" dirty="0"/>
          </a:p>
          <a:p>
            <a:r>
              <a:rPr lang="en-US" sz="6500" b="1" dirty="0"/>
              <a:t>Lakehouse Architecture</a:t>
            </a:r>
            <a:r>
              <a:rPr lang="en-US" sz="6500" dirty="0"/>
              <a:t> is a modern data architecture that combines:</a:t>
            </a:r>
          </a:p>
          <a:p>
            <a:r>
              <a:rPr lang="en-US" sz="6500" b="1" dirty="0"/>
              <a:t>Data Lake</a:t>
            </a:r>
            <a:r>
              <a:rPr lang="en-US" sz="6500" dirty="0"/>
              <a:t> flexibility</a:t>
            </a:r>
          </a:p>
          <a:p>
            <a:r>
              <a:rPr lang="en-US" sz="6500" b="1" dirty="0"/>
              <a:t>Data Warehouse</a:t>
            </a:r>
            <a:r>
              <a:rPr lang="en-US" sz="6500" dirty="0"/>
              <a:t> performance &amp; governance</a:t>
            </a:r>
          </a:p>
          <a:p>
            <a:pPr marL="0" indent="0">
              <a:buNone/>
            </a:pPr>
            <a:endParaRPr lang="en-US" sz="6500" dirty="0"/>
          </a:p>
          <a:p>
            <a:pPr marL="0" indent="0">
              <a:buNone/>
            </a:pPr>
            <a:endParaRPr lang="en-US" sz="6500" dirty="0"/>
          </a:p>
          <a:p>
            <a:pPr marL="0" indent="0">
              <a:buNone/>
            </a:pPr>
            <a:endParaRPr lang="en-US" sz="6500" dirty="0"/>
          </a:p>
          <a:p>
            <a:pPr marL="0" indent="0">
              <a:buNone/>
            </a:pPr>
            <a:r>
              <a:rPr lang="en-US" sz="6500" dirty="0"/>
              <a:t>Databricks popularized this architecture using </a:t>
            </a:r>
            <a:r>
              <a:rPr lang="en-US" sz="6500" b="1" dirty="0"/>
              <a:t>Delta Lake</a:t>
            </a:r>
            <a:r>
              <a:rPr lang="en-US" sz="65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7271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ABA4D-81A7-0166-7A40-E46634843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936" y="0"/>
            <a:ext cx="10890929" cy="1097280"/>
          </a:xfrm>
        </p:spPr>
        <p:txBody>
          <a:bodyPr/>
          <a:lstStyle/>
          <a:p>
            <a:r>
              <a:rPr lang="en-US" dirty="0"/>
              <a:t>Lakehouse Architecture Layers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464C9-7675-E57D-1C7D-8E226CB41A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880" y="1305414"/>
            <a:ext cx="10890928" cy="546549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3400" b="1" dirty="0"/>
              <a:t>1️⃣ Storage Layer (Data Lake)</a:t>
            </a:r>
          </a:p>
          <a:p>
            <a:r>
              <a:rPr lang="en-US" sz="3400" dirty="0"/>
              <a:t>Cloud storage (S3 / ADLS / GCS)</a:t>
            </a:r>
          </a:p>
          <a:p>
            <a:r>
              <a:rPr lang="en-US" sz="3400" dirty="0"/>
              <a:t>Stores structured, semi-structured, unstructured data</a:t>
            </a:r>
          </a:p>
          <a:p>
            <a:r>
              <a:rPr lang="en-US" sz="3400" dirty="0"/>
              <a:t>Low cost</a:t>
            </a:r>
          </a:p>
          <a:p>
            <a:pPr marL="0" indent="0">
              <a:buNone/>
            </a:pPr>
            <a:r>
              <a:rPr lang="en-US" sz="3400" b="1" dirty="0"/>
              <a:t>2️⃣ Transaction Layer (Delta)</a:t>
            </a:r>
          </a:p>
          <a:p>
            <a:r>
              <a:rPr lang="en-US" sz="3400" dirty="0"/>
              <a:t>ACID transactions</a:t>
            </a:r>
          </a:p>
          <a:p>
            <a:r>
              <a:rPr lang="en-US" sz="3400" dirty="0"/>
              <a:t>Schema enforcement</a:t>
            </a:r>
          </a:p>
          <a:p>
            <a:r>
              <a:rPr lang="en-US" sz="3400" dirty="0"/>
              <a:t>Time travel</a:t>
            </a:r>
          </a:p>
          <a:p>
            <a:r>
              <a:rPr lang="en-US" sz="3400" dirty="0"/>
              <a:t>Data versioning</a:t>
            </a:r>
          </a:p>
          <a:p>
            <a:r>
              <a:rPr lang="en-US" sz="3400" dirty="0"/>
              <a:t>This is where </a:t>
            </a:r>
            <a:r>
              <a:rPr lang="en-US" sz="3400" b="1" dirty="0"/>
              <a:t>Delta Lake</a:t>
            </a:r>
            <a:r>
              <a:rPr lang="en-US" sz="3400" dirty="0"/>
              <a:t> plays a key role.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315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E24DF-2C75-4AAE-8280-9A548636B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395" y="1359844"/>
            <a:ext cx="10890928" cy="533487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4500" dirty="0"/>
              <a:t>3️⃣ Processing Layer</a:t>
            </a:r>
          </a:p>
          <a:p>
            <a:r>
              <a:rPr lang="en-US" sz="4500" dirty="0"/>
              <a:t>Spark engine</a:t>
            </a:r>
          </a:p>
          <a:p>
            <a:r>
              <a:rPr lang="en-US" sz="4500" dirty="0"/>
              <a:t>Batch + Streaming</a:t>
            </a:r>
          </a:p>
          <a:p>
            <a:r>
              <a:rPr lang="en-US" sz="4500" dirty="0"/>
              <a:t>SQL analytics</a:t>
            </a:r>
          </a:p>
          <a:p>
            <a:r>
              <a:rPr lang="en-US" sz="4500" dirty="0"/>
              <a:t>ML workloads</a:t>
            </a:r>
          </a:p>
          <a:p>
            <a:pPr marL="0" indent="0">
              <a:buNone/>
            </a:pPr>
            <a:br>
              <a:rPr lang="en-US" sz="4500" dirty="0"/>
            </a:br>
            <a:endParaRPr lang="en-US" sz="4500" dirty="0"/>
          </a:p>
          <a:p>
            <a:pPr marL="0" indent="0">
              <a:buNone/>
            </a:pPr>
            <a:r>
              <a:rPr lang="en-US" sz="4500" dirty="0"/>
              <a:t>4️⃣ Governance Layer</a:t>
            </a:r>
          </a:p>
          <a:p>
            <a:r>
              <a:rPr lang="en-US" sz="4500" dirty="0"/>
              <a:t>Access control</a:t>
            </a:r>
          </a:p>
          <a:p>
            <a:r>
              <a:rPr lang="en-US" sz="4500" dirty="0"/>
              <a:t>Metadata management</a:t>
            </a:r>
          </a:p>
          <a:p>
            <a:r>
              <a:rPr lang="en-US" sz="4500" dirty="0"/>
              <a:t>Auditing</a:t>
            </a:r>
          </a:p>
          <a:p>
            <a:r>
              <a:rPr lang="en-US" sz="4500" dirty="0"/>
              <a:t>Data lineage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7383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BA009A-13AD-F775-85A8-8CF3162DA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02091"/>
            <a:ext cx="3291840" cy="277021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/>
              <a:t>Medallion Architecture (Inside Lakehouse)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9D7B6BE-A4E0-4483-BEC5-493AC3E5D2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4596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6F09D22-2819-68E3-8CA4-44357DFEEA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3954881"/>
              </p:ext>
            </p:extLst>
          </p:nvPr>
        </p:nvGraphicFramePr>
        <p:xfrm>
          <a:off x="4443984" y="1742586"/>
          <a:ext cx="7086600" cy="3322540"/>
        </p:xfrm>
        <a:graphic>
          <a:graphicData uri="http://schemas.openxmlformats.org/drawingml/2006/table">
            <a:tbl>
              <a:tblPr/>
              <a:tblGrid>
                <a:gridCol w="2498847">
                  <a:extLst>
                    <a:ext uri="{9D8B030D-6E8A-4147-A177-3AD203B41FA5}">
                      <a16:colId xmlns:a16="http://schemas.microsoft.com/office/drawing/2014/main" val="2886985829"/>
                    </a:ext>
                  </a:extLst>
                </a:gridCol>
                <a:gridCol w="4587753">
                  <a:extLst>
                    <a:ext uri="{9D8B030D-6E8A-4147-A177-3AD203B41FA5}">
                      <a16:colId xmlns:a16="http://schemas.microsoft.com/office/drawing/2014/main" val="1718836529"/>
                    </a:ext>
                  </a:extLst>
                </a:gridCol>
              </a:tblGrid>
              <a:tr h="70966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200" b="0" i="0" u="none" strike="noStrike">
                          <a:effectLst/>
                          <a:latin typeface="Arial" panose="020B0604020202020204" pitchFamily="34" charset="0"/>
                        </a:rPr>
                        <a:t>Layer</a:t>
                      </a:r>
                    </a:p>
                  </a:txBody>
                  <a:tcPr marL="161288" marR="161288" marT="80644" marB="806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200" b="0" i="0" u="none" strike="noStrike">
                          <a:effectLst/>
                          <a:latin typeface="Arial" panose="020B0604020202020204" pitchFamily="34" charset="0"/>
                        </a:rPr>
                        <a:t>Purpose</a:t>
                      </a:r>
                    </a:p>
                  </a:txBody>
                  <a:tcPr marL="161288" marR="161288" marT="80644" marB="806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3655437"/>
                  </a:ext>
                </a:extLst>
              </a:tr>
              <a:tr h="70966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200" b="0" i="0" u="none" strike="noStrike">
                          <a:effectLst/>
                          <a:latin typeface="Arial" panose="020B0604020202020204" pitchFamily="34" charset="0"/>
                        </a:rPr>
                        <a:t>🥉 Bronze</a:t>
                      </a:r>
                    </a:p>
                  </a:txBody>
                  <a:tcPr marL="161288" marR="161288" marT="80644" marB="806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200" b="0" i="0" u="none" strike="noStrike">
                          <a:effectLst/>
                          <a:latin typeface="Arial" panose="020B0604020202020204" pitchFamily="34" charset="0"/>
                        </a:rPr>
                        <a:t>Raw data</a:t>
                      </a:r>
                    </a:p>
                  </a:txBody>
                  <a:tcPr marL="161288" marR="161288" marT="80644" marB="806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00217"/>
                  </a:ext>
                </a:extLst>
              </a:tr>
              <a:tr h="70966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200" b="0" i="0" u="none" strike="noStrike">
                          <a:effectLst/>
                          <a:latin typeface="Arial" panose="020B0604020202020204" pitchFamily="34" charset="0"/>
                        </a:rPr>
                        <a:t>🥈 Silver</a:t>
                      </a:r>
                    </a:p>
                  </a:txBody>
                  <a:tcPr marL="161288" marR="161288" marT="80644" marB="806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200" b="0" i="0" u="none" strike="noStrike">
                          <a:effectLst/>
                          <a:latin typeface="Arial" panose="020B0604020202020204" pitchFamily="34" charset="0"/>
                        </a:rPr>
                        <a:t>Cleaned data</a:t>
                      </a:r>
                    </a:p>
                  </a:txBody>
                  <a:tcPr marL="161288" marR="161288" marT="80644" marB="806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975212"/>
                  </a:ext>
                </a:extLst>
              </a:tr>
              <a:tr h="11935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200" b="0" i="0" u="none" strike="noStrike">
                          <a:effectLst/>
                          <a:latin typeface="Arial" panose="020B0604020202020204" pitchFamily="34" charset="0"/>
                        </a:rPr>
                        <a:t>🥇 Gold</a:t>
                      </a:r>
                    </a:p>
                  </a:txBody>
                  <a:tcPr marL="161288" marR="161288" marT="80644" marB="806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200" b="0" i="0" u="none" strike="noStrike" dirty="0">
                          <a:effectLst/>
                          <a:latin typeface="Arial" panose="020B0604020202020204" pitchFamily="34" charset="0"/>
                        </a:rPr>
                        <a:t>Aggregated / business-ready</a:t>
                      </a:r>
                    </a:p>
                  </a:txBody>
                  <a:tcPr marL="161288" marR="161288" marT="80644" marB="806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69443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4403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EB653-1FCA-F4DA-EA7A-B809CA4B3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0"/>
            <a:ext cx="10890929" cy="1097280"/>
          </a:xfrm>
        </p:spPr>
        <p:txBody>
          <a:bodyPr/>
          <a:lstStyle/>
          <a:p>
            <a:r>
              <a:rPr lang="en-US" dirty="0"/>
              <a:t>How Data Flows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0A213-8023-B5CD-7B97-6BD7F40633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365" y="1645920"/>
            <a:ext cx="10890928" cy="35661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</a:rPr>
              <a:t>Raw Data (JSON, CSV, Parquet)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</a:rPr>
              <a:t>        ↓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</a:rPr>
              <a:t>Bronze Layer (Delta)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</a:rPr>
              <a:t>        ↓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</a:rPr>
              <a:t>Silver Layer (Cleaned Delta)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</a:rPr>
              <a:t>        ↓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</a:rPr>
              <a:t>Gold Layer (Aggregated Delta)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</a:rPr>
              <a:t>        ↓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</a:rPr>
              <a:t>BI / ML / Dashboards</a:t>
            </a:r>
          </a:p>
        </p:txBody>
      </p:sp>
    </p:spTree>
    <p:extLst>
      <p:ext uri="{BB962C8B-B14F-4D97-AF65-F5344CB8AC3E}">
        <p14:creationId xmlns:p14="http://schemas.microsoft.com/office/powerpoint/2010/main" val="2872667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14120-25BA-CB78-4EB2-716D675DF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6251" y="2880360"/>
            <a:ext cx="10890929" cy="1097280"/>
          </a:xfrm>
        </p:spPr>
        <p:txBody>
          <a:bodyPr/>
          <a:lstStyle/>
          <a:p>
            <a:r>
              <a:rPr lang="en-US" dirty="0"/>
              <a:t>Spark vs Databricks</a:t>
            </a:r>
          </a:p>
        </p:txBody>
      </p:sp>
    </p:spTree>
    <p:extLst>
      <p:ext uri="{BB962C8B-B14F-4D97-AF65-F5344CB8AC3E}">
        <p14:creationId xmlns:p14="http://schemas.microsoft.com/office/powerpoint/2010/main" val="4803646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9EE91F-F9E4-1011-473F-0D97C4670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02091"/>
            <a:ext cx="3291840" cy="277021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/>
              <a:t>Core Difference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9D7B6BE-A4E0-4483-BEC5-493AC3E5D2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4596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4FA5C5F-A0B1-F3F5-FD6B-D77D9E854E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2104104"/>
              </p:ext>
            </p:extLst>
          </p:nvPr>
        </p:nvGraphicFramePr>
        <p:xfrm>
          <a:off x="4160956" y="599090"/>
          <a:ext cx="8031045" cy="6258913"/>
        </p:xfrm>
        <a:graphic>
          <a:graphicData uri="http://schemas.openxmlformats.org/drawingml/2006/table">
            <a:tbl>
              <a:tblPr/>
              <a:tblGrid>
                <a:gridCol w="2798609">
                  <a:extLst>
                    <a:ext uri="{9D8B030D-6E8A-4147-A177-3AD203B41FA5}">
                      <a16:colId xmlns:a16="http://schemas.microsoft.com/office/drawing/2014/main" val="312064246"/>
                    </a:ext>
                  </a:extLst>
                </a:gridCol>
                <a:gridCol w="2769426">
                  <a:extLst>
                    <a:ext uri="{9D8B030D-6E8A-4147-A177-3AD203B41FA5}">
                      <a16:colId xmlns:a16="http://schemas.microsoft.com/office/drawing/2014/main" val="2277503658"/>
                    </a:ext>
                  </a:extLst>
                </a:gridCol>
                <a:gridCol w="2463010">
                  <a:extLst>
                    <a:ext uri="{9D8B030D-6E8A-4147-A177-3AD203B41FA5}">
                      <a16:colId xmlns:a16="http://schemas.microsoft.com/office/drawing/2014/main" val="225073420"/>
                    </a:ext>
                  </a:extLst>
                </a:gridCol>
              </a:tblGrid>
              <a:tr h="7209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highlight>
                            <a:srgbClr val="FFFF00"/>
                          </a:highlight>
                        </a:rPr>
                        <a:t>Feature</a:t>
                      </a:r>
                    </a:p>
                  </a:txBody>
                  <a:tcPr marL="92703" marR="92703" marT="46351" marB="463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highlight>
                            <a:srgbClr val="FFFF00"/>
                          </a:highlight>
                        </a:rPr>
                        <a:t>Apache Spark</a:t>
                      </a:r>
                    </a:p>
                  </a:txBody>
                  <a:tcPr marL="92703" marR="92703" marT="46351" marB="463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highlight>
                            <a:srgbClr val="FFFF00"/>
                          </a:highlight>
                        </a:rPr>
                        <a:t>Databricks</a:t>
                      </a:r>
                    </a:p>
                  </a:txBody>
                  <a:tcPr marL="92703" marR="92703" marT="46351" marB="463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2443133"/>
                  </a:ext>
                </a:extLst>
              </a:tr>
              <a:tr h="12124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Type</a:t>
                      </a:r>
                    </a:p>
                  </a:txBody>
                  <a:tcPr marL="92703" marR="92703" marT="46351" marB="463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Open-source engine</a:t>
                      </a:r>
                    </a:p>
                  </a:txBody>
                  <a:tcPr marL="92703" marR="92703" marT="46351" marB="463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Managed cloud platform</a:t>
                      </a:r>
                    </a:p>
                  </a:txBody>
                  <a:tcPr marL="92703" marR="92703" marT="46351" marB="463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06017"/>
                  </a:ext>
                </a:extLst>
              </a:tr>
              <a:tr h="7209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Setup</a:t>
                      </a:r>
                    </a:p>
                  </a:txBody>
                  <a:tcPr marL="92703" marR="92703" marT="46351" marB="463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Manual install</a:t>
                      </a:r>
                    </a:p>
                  </a:txBody>
                  <a:tcPr marL="92703" marR="92703" marT="46351" marB="463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Fully managed</a:t>
                      </a:r>
                    </a:p>
                  </a:txBody>
                  <a:tcPr marL="92703" marR="92703" marT="46351" marB="463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252801"/>
                  </a:ext>
                </a:extLst>
              </a:tr>
              <a:tr h="7209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Cluster Management</a:t>
                      </a:r>
                    </a:p>
                  </a:txBody>
                  <a:tcPr marL="92703" marR="92703" marT="46351" marB="463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You manage</a:t>
                      </a:r>
                    </a:p>
                  </a:txBody>
                  <a:tcPr marL="92703" marR="92703" marT="46351" marB="463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Auto-managed</a:t>
                      </a:r>
                    </a:p>
                  </a:txBody>
                  <a:tcPr marL="92703" marR="92703" marT="46351" marB="463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5005664"/>
                  </a:ext>
                </a:extLst>
              </a:tr>
              <a:tr h="7209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Cost</a:t>
                      </a:r>
                    </a:p>
                  </a:txBody>
                  <a:tcPr marL="92703" marR="92703" marT="46351" marB="463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Free (infra cost only)</a:t>
                      </a:r>
                    </a:p>
                  </a:txBody>
                  <a:tcPr marL="92703" marR="92703" marT="46351" marB="463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Paid service</a:t>
                      </a:r>
                    </a:p>
                  </a:txBody>
                  <a:tcPr marL="92703" marR="92703" marT="46351" marB="463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2998454"/>
                  </a:ext>
                </a:extLst>
              </a:tr>
              <a:tr h="7209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Storage Layer</a:t>
                      </a:r>
                    </a:p>
                  </a:txBody>
                  <a:tcPr marL="92703" marR="92703" marT="46351" marB="463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External</a:t>
                      </a:r>
                    </a:p>
                  </a:txBody>
                  <a:tcPr marL="92703" marR="92703" marT="46351" marB="463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Delta Lake built-in</a:t>
                      </a:r>
                    </a:p>
                  </a:txBody>
                  <a:tcPr marL="92703" marR="92703" marT="46351" marB="463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4561950"/>
                  </a:ext>
                </a:extLst>
              </a:tr>
              <a:tr h="7209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Governance</a:t>
                      </a:r>
                    </a:p>
                  </a:txBody>
                  <a:tcPr marL="92703" marR="92703" marT="46351" marB="463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Manual</a:t>
                      </a:r>
                    </a:p>
                  </a:txBody>
                  <a:tcPr marL="92703" marR="92703" marT="46351" marB="463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Unity Catalog</a:t>
                      </a:r>
                    </a:p>
                  </a:txBody>
                  <a:tcPr marL="92703" marR="92703" marT="46351" marB="463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3465645"/>
                  </a:ext>
                </a:extLst>
              </a:tr>
              <a:tr h="7209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Collaboration</a:t>
                      </a:r>
                    </a:p>
                  </a:txBody>
                  <a:tcPr marL="92703" marR="92703" marT="46351" marB="463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Limited</a:t>
                      </a:r>
                    </a:p>
                  </a:txBody>
                  <a:tcPr marL="92703" marR="92703" marT="46351" marB="463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Notebooks + Git</a:t>
                      </a:r>
                    </a:p>
                  </a:txBody>
                  <a:tcPr marL="92703" marR="92703" marT="46351" marB="463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26677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48770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9B0C8-A054-76FB-12D8-80EF11F5F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79" y="0"/>
            <a:ext cx="10890929" cy="1097280"/>
          </a:xfrm>
        </p:spPr>
        <p:txBody>
          <a:bodyPr/>
          <a:lstStyle/>
          <a:p>
            <a:r>
              <a:rPr lang="en-US" dirty="0"/>
              <a:t>Databricks-Pricing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91464-1B0B-517B-4613-E3ED3CB48C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252" y="1468700"/>
            <a:ext cx="10890928" cy="3566160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Pricing Is Usage-Based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Databricks doesn’t charge one flat fee — it uses a </a:t>
            </a:r>
            <a:r>
              <a:rPr lang="en-US" b="1" dirty="0">
                <a:solidFill>
                  <a:srgbClr val="FF0000"/>
                </a:solidFill>
              </a:rPr>
              <a:t>pay-as-you-use model</a:t>
            </a:r>
            <a:r>
              <a:rPr lang="en-US" dirty="0">
                <a:solidFill>
                  <a:srgbClr val="FF0000"/>
                </a:solidFill>
              </a:rPr>
              <a:t> where you pay for what you consume: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✔ Compute resources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✔ Databricks processing units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✔ Storage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✔ Additional services and features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Your </a:t>
            </a:r>
            <a:r>
              <a:rPr lang="en-US" b="1" dirty="0">
                <a:solidFill>
                  <a:srgbClr val="FF0000"/>
                </a:solidFill>
              </a:rPr>
              <a:t>total cost depends on cloud provider (AWS, Azure, or GCP), cluster size, workload type, and region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971380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FF2DC-46C1-8317-DA9F-7DC4B31C7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79" y="109728"/>
            <a:ext cx="10890929" cy="1097280"/>
          </a:xfrm>
        </p:spPr>
        <p:txBody>
          <a:bodyPr/>
          <a:lstStyle/>
          <a:p>
            <a:r>
              <a:rPr lang="en-US" dirty="0"/>
              <a:t>2. Core Billing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F6401-4C58-77BC-0C5D-3D0EF59628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DBUs (Databricks Units)</a:t>
            </a:r>
          </a:p>
          <a:p>
            <a:r>
              <a:rPr lang="en-US" dirty="0"/>
              <a:t>Cloud Compute Costs</a:t>
            </a:r>
          </a:p>
          <a:p>
            <a:r>
              <a:rPr lang="en-US" dirty="0"/>
              <a:t>Storage and Other Charges</a:t>
            </a:r>
          </a:p>
        </p:txBody>
      </p:sp>
    </p:spTree>
    <p:extLst>
      <p:ext uri="{BB962C8B-B14F-4D97-AF65-F5344CB8AC3E}">
        <p14:creationId xmlns:p14="http://schemas.microsoft.com/office/powerpoint/2010/main" val="473591811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510</Words>
  <Application>Microsoft Office PowerPoint</Application>
  <PresentationFormat>Widescreen</PresentationFormat>
  <Paragraphs>119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Grandview Display</vt:lpstr>
      <vt:lpstr>DashVTI</vt:lpstr>
      <vt:lpstr>Databricks</vt:lpstr>
      <vt:lpstr>Intro</vt:lpstr>
      <vt:lpstr>1️⃣ What is Databricks?</vt:lpstr>
      <vt:lpstr>2️⃣ Why Databricks?</vt:lpstr>
      <vt:lpstr>Databricks Architecture Overview</vt:lpstr>
      <vt:lpstr>Lakehouse Architecture</vt:lpstr>
      <vt:lpstr>Lakehouse Architecture Layers</vt:lpstr>
      <vt:lpstr>PowerPoint Presentation</vt:lpstr>
      <vt:lpstr>Medallion Architecture (Inside Lakehouse)</vt:lpstr>
      <vt:lpstr>How Data Flows</vt:lpstr>
      <vt:lpstr>Spark vs Databricks</vt:lpstr>
      <vt:lpstr>Core Difference</vt:lpstr>
      <vt:lpstr>Databricks-Pricing</vt:lpstr>
      <vt:lpstr>2. Core Billing Components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Kumar Devabhaktuni</dc:creator>
  <cp:lastModifiedBy>Rajesh Kumar Devabhaktuni</cp:lastModifiedBy>
  <cp:revision>7</cp:revision>
  <dcterms:created xsi:type="dcterms:W3CDTF">2026-02-22T12:48:28Z</dcterms:created>
  <dcterms:modified xsi:type="dcterms:W3CDTF">2026-03-02T03:56:25Z</dcterms:modified>
</cp:coreProperties>
</file>