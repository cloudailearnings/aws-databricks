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5" r:id="rId8"/>
    <p:sldId id="26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F3062-4589-B920-6537-3D53380790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91C8DA-2DDD-64BE-2EA9-143CB88E9F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F5CD4-C270-34B7-7D11-4F67A8660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19A81-53D4-46ED-9763-4B3823F97E6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22B5D5-F769-BA77-A939-DA25CA339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27263-4DFC-BC33-3FB3-647E5432C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FEB92-097E-414E-A41C-DAADF53A0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5202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64171-CDF2-F30D-3EC5-24ACE4DE0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55622-ED36-AEF9-4D37-2552F8E7B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EC1AF-0A30-4125-DF32-F17012ABC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19A81-53D4-46ED-9763-4B3823F97E6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C9E50-7FF4-EE5F-152E-5D4E86A37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DCAC9-A28A-2A67-EAFF-767B644CC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FEB92-097E-414E-A41C-DAADF53A0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9051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4EE45-EA6D-B47E-F12F-65967285D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7DE64E-FF16-F0D6-BC5D-CA0716BEE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C5A898-3767-43ED-7910-FF7F55408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19A81-53D4-46ED-9763-4B3823F97E6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CFE5F-3CA7-B1E8-FE8C-1A7290CBC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7C3ED-B1D3-7D29-97C6-CBD96514A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FEB92-097E-414E-A41C-DAADF53A0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9343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52B5B-D616-5E08-C52F-BEB85D484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5FAF9-ADC3-4E9B-70AC-351BDF7C49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47708D-1512-6CF4-5395-CB86F89929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F84160-FDF9-13FF-40D9-7C9ED8321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19A81-53D4-46ED-9763-4B3823F97E6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E2699F-5968-1EAC-5277-301B435E4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34A26B-F991-1502-D02A-B402430C0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FEB92-097E-414E-A41C-DAADF53A0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9835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D5669-B66B-4AF9-DFE8-7810C11F6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CD4C25-9181-2140-E263-0EC7D71C7F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9217C5-EDB4-F6AA-DD7B-7E7A8B42AC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29AB8C-9E4A-FD13-F17D-925923F448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5C3F13-764E-A73C-814E-2DC408B3A5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776637-5619-D79B-C4EF-D83B6D803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19A81-53D4-46ED-9763-4B3823F97E6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F75D2C-1E99-31EA-9236-33C6E8612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E9C4CD-CE68-0835-7AE7-FEF715C48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FEB92-097E-414E-A41C-DAADF53A0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2574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CE9EF-08A7-0BC4-6776-F813C8AEA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58ACBE-B2BC-A324-9F50-32A90F976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19A81-53D4-46ED-9763-4B3823F97E6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EB4032-518C-12AC-A333-030200002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B5655F-095B-2F3C-AB2D-489496C71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FEB92-097E-414E-A41C-DAADF53A0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1756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8C7656-F636-6432-BADE-6CBC216EA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19A81-53D4-46ED-9763-4B3823F97E6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64737C-69D5-ED80-3478-B05BDE565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C9966-E644-8864-1BEA-0EFC7E2C7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FEB92-097E-414E-A41C-DAADF53A0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7142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F7296-D360-74A6-32A0-11D27BD3E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14C14-AA05-6D89-6A73-C9813AB5B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251AF9-0FAC-6D0B-A048-6EE87A0858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36B25B-54F0-6AB7-A36F-CACC75EEF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19A81-53D4-46ED-9763-4B3823F97E6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EF84F7-2D2F-1232-EE2C-71CD7B6CE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E5BCD9-E098-3749-86FE-A2BA68A2B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FEB92-097E-414E-A41C-DAADF53A0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656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F35C8-C9B9-A6AD-D60F-09F9DA72F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C552D7-28E9-1F15-8FF2-61D9ACBCC8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FB60AF-13E3-0C29-7E44-306F99D48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92C9FD-B92D-EFC4-8874-4A906E881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19A81-53D4-46ED-9763-4B3823F97E6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79004-AE87-47AB-03D1-2111F6C2B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735980-8A2F-AD51-604D-C5E0CB873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FEB92-097E-414E-A41C-DAADF53A0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9067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FAC18-673C-E5B2-1BC0-E319E3D56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7962F1-488C-0B35-FB2D-EDC8C17006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23450-ACE0-305A-E280-A7C6123CE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19A81-53D4-46ED-9763-4B3823F97E6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87426-A835-3C9F-BFD5-36169202B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8A84B-AF3D-85ED-5121-2AAD343D8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FEB92-097E-414E-A41C-DAADF53A0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771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ECF5A5-E366-5BC6-2448-03CE85D0F9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DF8388-C08D-9E89-CD18-7D87564CD8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31F5B-A26D-9332-3384-A7ED69804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19A81-53D4-46ED-9763-4B3823F97E6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7E02A1-7A31-A655-C8A9-4A020BB6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17864-74C7-F1F8-2B44-3B663E1AF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FEB92-097E-414E-A41C-DAADF53A0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1505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E541D4-1FC1-80D6-C974-1AA3BFC82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174082-862B-457C-590E-C3635718DB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4E113A-885B-AD80-6B69-97FF77ECB9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C19A81-53D4-46ED-9763-4B3823F97E6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6954E-6C5D-6A01-74BA-47637A2451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7B9C4-D64A-E81E-D0E1-95253ECF04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7FEB92-097E-414E-A41C-DAADF53A0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112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6C430-7126-C3FC-5C3F-96D9843036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Mounting Amazon S3 in Databricks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896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AFE0B4-87D8-AD49-23D1-D56520568B00}"/>
              </a:ext>
            </a:extLst>
          </p:cNvPr>
          <p:cNvSpPr txBox="1"/>
          <p:nvPr/>
        </p:nvSpPr>
        <p:spPr>
          <a:xfrm>
            <a:off x="3241490" y="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What Is S3 Mounting?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227B6FB-B4EC-315C-9272-4502CCA1E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350" y="1120676"/>
            <a:ext cx="999861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Mounting S3 in Databricks means creating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persistent path in DBFS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(Databricks File System) that points to an S3 bucket.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You can then access S3 like a local file system: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          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                      /</a:t>
            </a:r>
            <a:r>
              <a:rPr lang="en-US" altLang="en-US" b="1" dirty="0" err="1">
                <a:latin typeface="Arial" panose="020B0604020202020204" pitchFamily="34" charset="0"/>
              </a:rPr>
              <a:t>mnt</a:t>
            </a:r>
            <a:r>
              <a:rPr lang="en-US" altLang="en-US" b="1" dirty="0">
                <a:latin typeface="Arial" panose="020B0604020202020204" pitchFamily="34" charset="0"/>
              </a:rPr>
              <a:t>/&lt;mount-name&gt;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2A0488-A5ED-7829-FDFB-B2E9D2C18556}"/>
              </a:ext>
            </a:extLst>
          </p:cNvPr>
          <p:cNvSpPr txBox="1"/>
          <p:nvPr/>
        </p:nvSpPr>
        <p:spPr>
          <a:xfrm>
            <a:off x="363350" y="3545958"/>
            <a:ext cx="64361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Useful for: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Easy file access (</a:t>
            </a:r>
            <a:r>
              <a:rPr lang="en-IN" b="1" dirty="0">
                <a:latin typeface="Courier New" panose="02070309020205020404" pitchFamily="49" charset="0"/>
              </a:rPr>
              <a:t>dbutils.fs.ls</a:t>
            </a:r>
            <a:r>
              <a:rPr lang="en-IN" b="1" dirty="0"/>
              <a:t>, pandas, Spark)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Simplified ETL pipelines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Consistent paths for notebooks &amp; jobs</a:t>
            </a:r>
          </a:p>
        </p:txBody>
      </p:sp>
    </p:spTree>
    <p:extLst>
      <p:ext uri="{BB962C8B-B14F-4D97-AF65-F5344CB8AC3E}">
        <p14:creationId xmlns:p14="http://schemas.microsoft.com/office/powerpoint/2010/main" val="2550677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E87BC8-DAB0-EC90-11FF-BE1D4CEAC818}"/>
              </a:ext>
            </a:extLst>
          </p:cNvPr>
          <p:cNvSpPr txBox="1"/>
          <p:nvPr/>
        </p:nvSpPr>
        <p:spPr>
          <a:xfrm>
            <a:off x="4103017" y="97899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i="0" dirty="0">
                <a:solidFill>
                  <a:srgbClr val="0A0A0A"/>
                </a:solidFill>
                <a:effectLst/>
                <a:latin typeface="Google Sans"/>
              </a:rPr>
              <a:t>Prerequisites</a:t>
            </a:r>
            <a:endParaRPr lang="en-IN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1DDD8A-E625-D2B5-2A4E-AF37EBA33A05}"/>
              </a:ext>
            </a:extLst>
          </p:cNvPr>
          <p:cNvSpPr txBox="1"/>
          <p:nvPr/>
        </p:nvSpPr>
        <p:spPr>
          <a:xfrm>
            <a:off x="305477" y="1104849"/>
            <a:ext cx="11558574" cy="165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A0A0A"/>
                </a:solidFill>
                <a:effectLst/>
                <a:latin typeface="Google Sans"/>
              </a:rPr>
              <a:t>An AWS account with an S3 bucket and an IAM user with programmatic access (Access Key ID and Secret Access Key) and </a:t>
            </a:r>
            <a:r>
              <a:rPr lang="en-US" sz="24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AmazonS3FullAccess</a:t>
            </a:r>
            <a:r>
              <a:rPr lang="en-US" sz="2400" b="0" i="0" dirty="0">
                <a:solidFill>
                  <a:srgbClr val="0A0A0A"/>
                </a:solidFill>
                <a:effectLst/>
                <a:latin typeface="Google Sans"/>
              </a:rPr>
              <a:t> policy attached.</a:t>
            </a:r>
          </a:p>
          <a:p>
            <a:pPr algn="l">
              <a:lnSpc>
                <a:spcPts val="18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A0A0A"/>
                </a:solidFill>
                <a:effectLst/>
                <a:latin typeface="Google Sans"/>
              </a:rPr>
              <a:t>A running Databricks cluster.</a:t>
            </a:r>
          </a:p>
          <a:p>
            <a:pPr algn="l">
              <a:lnSpc>
                <a:spcPts val="18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A0A0A"/>
                </a:solidFill>
                <a:effectLst/>
                <a:latin typeface="Google Sans"/>
              </a:rPr>
              <a:t>A Databricks secret scope to securely store your AWS credentials.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A7739A-571A-3FBA-C79A-7DFB36855EAF}"/>
              </a:ext>
            </a:extLst>
          </p:cNvPr>
          <p:cNvSpPr txBox="1"/>
          <p:nvPr/>
        </p:nvSpPr>
        <p:spPr>
          <a:xfrm>
            <a:off x="513821" y="3167828"/>
            <a:ext cx="609442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Before mounting S3, ensure: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S3 bucket exists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IAM User or Role created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Permission attached: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400" dirty="0">
                <a:latin typeface="Courier New" panose="02070309020205020404" pitchFamily="49" charset="0"/>
              </a:rPr>
              <a:t>s3:ListBucket</a:t>
            </a:r>
            <a:endParaRPr lang="en-US" sz="2400" dirty="0"/>
          </a:p>
          <a:p>
            <a:pPr marL="742950" lvl="1" indent="-285750">
              <a:buFont typeface="+mj-lt"/>
              <a:buAutoNum type="arabicPeriod"/>
            </a:pPr>
            <a:r>
              <a:rPr lang="en-US" sz="2400" dirty="0">
                <a:latin typeface="Courier New" panose="02070309020205020404" pitchFamily="49" charset="0"/>
              </a:rPr>
              <a:t>s3:GetObject</a:t>
            </a:r>
            <a:endParaRPr lang="en-US" sz="2400" dirty="0"/>
          </a:p>
          <a:p>
            <a:pPr marL="742950" lvl="1" indent="-285750">
              <a:buFont typeface="+mj-lt"/>
              <a:buAutoNum type="arabicPeriod"/>
            </a:pPr>
            <a:r>
              <a:rPr lang="en-US" sz="2400" dirty="0">
                <a:latin typeface="Courier New" panose="02070309020205020404" pitchFamily="49" charset="0"/>
              </a:rPr>
              <a:t>s3:PutObject</a:t>
            </a:r>
            <a:endParaRPr lang="en-US" sz="2400" dirty="0"/>
          </a:p>
          <a:p>
            <a:pPr>
              <a:buFont typeface="+mj-lt"/>
              <a:buAutoNum type="arabicPeriod"/>
            </a:pPr>
            <a:r>
              <a:rPr lang="en-US" sz="2400" dirty="0"/>
              <a:t>Access &amp; Secret keys available OR IAM role for Databricks cluster</a:t>
            </a:r>
          </a:p>
        </p:txBody>
      </p:sp>
    </p:spTree>
    <p:extLst>
      <p:ext uri="{BB962C8B-B14F-4D97-AF65-F5344CB8AC3E}">
        <p14:creationId xmlns:p14="http://schemas.microsoft.com/office/powerpoint/2010/main" val="568594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C37F38-1603-E7B0-4E7C-412E640C1208}"/>
              </a:ext>
            </a:extLst>
          </p:cNvPr>
          <p:cNvSpPr txBox="1"/>
          <p:nvPr/>
        </p:nvSpPr>
        <p:spPr>
          <a:xfrm>
            <a:off x="96655" y="0"/>
            <a:ext cx="97001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dirty="0">
                <a:solidFill>
                  <a:srgbClr val="0A0A0A"/>
                </a:solidFill>
                <a:effectLst/>
                <a:latin typeface="Google Sans"/>
              </a:rPr>
              <a:t>Step-by-Step Guide (Legacy Method with Access Keys)</a:t>
            </a:r>
            <a:endParaRPr lang="en-IN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C5C1EE-8DBA-1EFC-9561-B466E32A469A}"/>
              </a:ext>
            </a:extLst>
          </p:cNvPr>
          <p:cNvSpPr txBox="1"/>
          <p:nvPr/>
        </p:nvSpPr>
        <p:spPr>
          <a:xfrm>
            <a:off x="269289" y="1077088"/>
            <a:ext cx="1169893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IN" sz="2400" b="1" dirty="0"/>
              <a:t>Store AWS Credentials Securely in Databricks Secrets </a:t>
            </a:r>
          </a:p>
          <a:p>
            <a:pPr marL="457200" indent="-457200">
              <a:buAutoNum type="arabicPeriod"/>
            </a:pPr>
            <a:endParaRPr lang="en-IN" sz="24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i="1" dirty="0"/>
              <a:t>Store your AWS credentials in Databricks using a secret scope to avoid hardcoding them in notebooks.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400" i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i="1" dirty="0"/>
              <a:t>Create a secret scope (e.g., </a:t>
            </a:r>
            <a:r>
              <a:rPr lang="en-IN" sz="2400" i="1" dirty="0" err="1"/>
              <a:t>aws_scope</a:t>
            </a:r>
            <a:r>
              <a:rPr lang="en-IN" sz="2400" i="1" dirty="0"/>
              <a:t>) using the Databricks CLI or REST API.</a:t>
            </a:r>
          </a:p>
          <a:p>
            <a:r>
              <a:rPr lang="en-IN" sz="2400" i="1" dirty="0"/>
              <a:t>Add your </a:t>
            </a:r>
            <a:r>
              <a:rPr lang="en-IN" sz="2400" i="1" dirty="0" err="1"/>
              <a:t>aws</a:t>
            </a:r>
            <a:r>
              <a:rPr lang="en-IN" sz="2400" i="1" dirty="0"/>
              <a:t>-access-key and </a:t>
            </a:r>
            <a:r>
              <a:rPr lang="en-IN" sz="2400" i="1" dirty="0" err="1"/>
              <a:t>aws</a:t>
            </a:r>
            <a:r>
              <a:rPr lang="en-IN" sz="2400" i="1" dirty="0"/>
              <a:t>-secret-key as secrets within that scope.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4E9A00-AB2B-F073-0C7F-230A2CAB3E72}"/>
              </a:ext>
            </a:extLst>
          </p:cNvPr>
          <p:cNvSpPr txBox="1"/>
          <p:nvPr/>
        </p:nvSpPr>
        <p:spPr>
          <a:xfrm>
            <a:off x="421432" y="3993514"/>
            <a:ext cx="816125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2. Configure the Databricks Notebook</a:t>
            </a:r>
          </a:p>
          <a:p>
            <a:endParaRPr lang="en-IN" sz="28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800" dirty="0"/>
              <a:t>Open a new or existing Databricks notebook and attach it to your running cluster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09354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CA189A-9466-2E8B-DAC5-087D563109BF}"/>
              </a:ext>
            </a:extLst>
          </p:cNvPr>
          <p:cNvSpPr txBox="1"/>
          <p:nvPr/>
        </p:nvSpPr>
        <p:spPr>
          <a:xfrm>
            <a:off x="501191" y="152400"/>
            <a:ext cx="111896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 </a:t>
            </a:r>
            <a:r>
              <a:rPr lang="en-US" sz="3600" b="1" dirty="0">
                <a:solidFill>
                  <a:srgbClr val="0A0A0A"/>
                </a:solidFill>
                <a:latin typeface="Google Sans"/>
              </a:rPr>
              <a:t>Step 3.</a:t>
            </a:r>
            <a:r>
              <a:rPr lang="en-US" sz="3600" b="1" i="0" dirty="0">
                <a:solidFill>
                  <a:srgbClr val="0A0A0A"/>
                </a:solidFill>
                <a:effectLst/>
                <a:latin typeface="Google Sans"/>
              </a:rPr>
              <a:t>Mount the S3 Bucket using </a:t>
            </a:r>
            <a:r>
              <a:rPr lang="en-US" sz="3600" b="1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dbutils.fs.mount</a:t>
            </a:r>
            <a:endParaRPr lang="en-IN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ADDAB1-574E-B3D8-B36F-59FF271B485C}"/>
              </a:ext>
            </a:extLst>
          </p:cNvPr>
          <p:cNvSpPr txBox="1"/>
          <p:nvPr/>
        </p:nvSpPr>
        <p:spPr>
          <a:xfrm>
            <a:off x="690627" y="1097983"/>
            <a:ext cx="6766088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ACCESS_KEY = "&lt;YOUR-AWS-ACCESS-KEY&gt;"</a:t>
            </a:r>
          </a:p>
          <a:p>
            <a:r>
              <a:rPr lang="en-IN" dirty="0"/>
              <a:t>SECRET_KEY = "&lt;YOUR-AWS-SECRET-KEY&gt;"</a:t>
            </a:r>
          </a:p>
          <a:p>
            <a:r>
              <a:rPr lang="en-IN" dirty="0"/>
              <a:t>ENCODED_SECRET = </a:t>
            </a:r>
            <a:r>
              <a:rPr lang="en-IN" dirty="0" err="1"/>
              <a:t>SECRET_KEY.replace</a:t>
            </a:r>
            <a:r>
              <a:rPr lang="en-IN" dirty="0"/>
              <a:t>("/", "%2F")</a:t>
            </a:r>
          </a:p>
          <a:p>
            <a:endParaRPr lang="en-IN" dirty="0"/>
          </a:p>
          <a:p>
            <a:r>
              <a:rPr lang="en-IN" sz="2800" b="1" dirty="0" err="1">
                <a:solidFill>
                  <a:srgbClr val="FF0000"/>
                </a:solidFill>
              </a:rPr>
              <a:t>dbutils.fs.mount</a:t>
            </a:r>
            <a:r>
              <a:rPr lang="en-IN" sz="2800" b="1" dirty="0">
                <a:solidFill>
                  <a:srgbClr val="FF0000"/>
                </a:solidFill>
              </a:rPr>
              <a:t>(</a:t>
            </a:r>
          </a:p>
          <a:p>
            <a:r>
              <a:rPr lang="en-IN" sz="2800" b="1" dirty="0">
                <a:solidFill>
                  <a:srgbClr val="FF0000"/>
                </a:solidFill>
              </a:rPr>
              <a:t>  source = f"s3a://{ACCESS_KEY}:{ENCODED_SECRET}@your-bucket-name",</a:t>
            </a:r>
          </a:p>
          <a:p>
            <a:r>
              <a:rPr lang="en-IN" sz="2800" b="1" dirty="0">
                <a:solidFill>
                  <a:srgbClr val="FF0000"/>
                </a:solidFill>
              </a:rPr>
              <a:t>  </a:t>
            </a:r>
            <a:r>
              <a:rPr lang="en-IN" sz="2800" b="1" dirty="0" err="1">
                <a:solidFill>
                  <a:srgbClr val="FF0000"/>
                </a:solidFill>
              </a:rPr>
              <a:t>mount_point</a:t>
            </a:r>
            <a:r>
              <a:rPr lang="en-IN" sz="2800" b="1" dirty="0">
                <a:solidFill>
                  <a:srgbClr val="FF0000"/>
                </a:solidFill>
              </a:rPr>
              <a:t> = "/</a:t>
            </a:r>
            <a:r>
              <a:rPr lang="en-IN" sz="2800" b="1" dirty="0" err="1">
                <a:solidFill>
                  <a:srgbClr val="FF0000"/>
                </a:solidFill>
              </a:rPr>
              <a:t>mnt</a:t>
            </a:r>
            <a:r>
              <a:rPr lang="en-IN" sz="2800" b="1" dirty="0">
                <a:solidFill>
                  <a:srgbClr val="FF0000"/>
                </a:solidFill>
              </a:rPr>
              <a:t>/</a:t>
            </a:r>
            <a:r>
              <a:rPr lang="en-IN" sz="2800" b="1" dirty="0" err="1">
                <a:solidFill>
                  <a:srgbClr val="FF0000"/>
                </a:solidFill>
              </a:rPr>
              <a:t>mybucket</a:t>
            </a:r>
            <a:r>
              <a:rPr lang="en-IN" sz="2800" b="1" dirty="0">
                <a:solidFill>
                  <a:srgbClr val="FF0000"/>
                </a:solidFill>
              </a:rPr>
              <a:t>",</a:t>
            </a:r>
          </a:p>
          <a:p>
            <a:r>
              <a:rPr lang="en-IN" sz="2800" b="1" dirty="0">
                <a:solidFill>
                  <a:srgbClr val="FF0000"/>
                </a:solidFill>
              </a:rPr>
              <a:t>  </a:t>
            </a:r>
            <a:r>
              <a:rPr lang="en-IN" sz="2800" b="1" dirty="0" err="1">
                <a:solidFill>
                  <a:srgbClr val="FF0000"/>
                </a:solidFill>
              </a:rPr>
              <a:t>extra_configs</a:t>
            </a:r>
            <a:r>
              <a:rPr lang="en-IN" sz="2800" b="1" dirty="0">
                <a:solidFill>
                  <a:srgbClr val="FF0000"/>
                </a:solidFill>
              </a:rPr>
              <a:t> = {</a:t>
            </a:r>
          </a:p>
          <a:p>
            <a:r>
              <a:rPr lang="en-IN" sz="2800" b="1" dirty="0">
                <a:solidFill>
                  <a:srgbClr val="FF0000"/>
                </a:solidFill>
              </a:rPr>
              <a:t>    "fs.s3a.access.key": ACCESS_KEY,</a:t>
            </a:r>
          </a:p>
          <a:p>
            <a:r>
              <a:rPr lang="en-IN" sz="2800" b="1" dirty="0">
                <a:solidFill>
                  <a:srgbClr val="FF0000"/>
                </a:solidFill>
              </a:rPr>
              <a:t>    "fs.s3a.secret.key": SECRET_KEY</a:t>
            </a:r>
          </a:p>
          <a:p>
            <a:r>
              <a:rPr lang="en-IN" sz="2800" b="1" dirty="0">
                <a:solidFill>
                  <a:srgbClr val="FF0000"/>
                </a:solidFill>
              </a:rPr>
              <a:t>  }</a:t>
            </a:r>
          </a:p>
          <a:p>
            <a:r>
              <a:rPr lang="en-IN" sz="2800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23A6EF-09A2-C085-0674-F9CD3C30E58E}"/>
              </a:ext>
            </a:extLst>
          </p:cNvPr>
          <p:cNvSpPr txBox="1"/>
          <p:nvPr/>
        </p:nvSpPr>
        <p:spPr>
          <a:xfrm>
            <a:off x="3189514" y="2874219"/>
            <a:ext cx="6379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solidFill>
                  <a:srgbClr val="0A0A0A"/>
                </a:solidFill>
                <a:effectLst/>
                <a:latin typeface="Google Sans"/>
              </a:rPr>
              <a:t>Mount the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051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169089-23A6-58E0-FDF1-452CA95759F2}"/>
              </a:ext>
            </a:extLst>
          </p:cNvPr>
          <p:cNvSpPr txBox="1"/>
          <p:nvPr/>
        </p:nvSpPr>
        <p:spPr>
          <a:xfrm>
            <a:off x="266904" y="442496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Step 4: Validate the Mount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EA8F91-DBD1-A21B-D64D-7FE128AEEABB}"/>
              </a:ext>
            </a:extLst>
          </p:cNvPr>
          <p:cNvSpPr txBox="1"/>
          <p:nvPr/>
        </p:nvSpPr>
        <p:spPr>
          <a:xfrm>
            <a:off x="5411553" y="392629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800" b="1" dirty="0">
                <a:solidFill>
                  <a:srgbClr val="FF0000"/>
                </a:solidFill>
              </a:rPr>
              <a:t>dbutils.fs.ls("/</a:t>
            </a:r>
            <a:r>
              <a:rPr lang="en-IN" sz="2800" b="1" dirty="0" err="1">
                <a:solidFill>
                  <a:srgbClr val="FF0000"/>
                </a:solidFill>
              </a:rPr>
              <a:t>mnt</a:t>
            </a:r>
            <a:r>
              <a:rPr lang="en-IN" sz="2800" b="1" dirty="0">
                <a:solidFill>
                  <a:srgbClr val="FF0000"/>
                </a:solidFill>
              </a:rPr>
              <a:t>/</a:t>
            </a:r>
            <a:r>
              <a:rPr lang="en-IN" sz="2800" b="1" dirty="0" err="1">
                <a:solidFill>
                  <a:srgbClr val="FF0000"/>
                </a:solidFill>
              </a:rPr>
              <a:t>mybucket</a:t>
            </a:r>
            <a:r>
              <a:rPr lang="en-IN" sz="2800" b="1" dirty="0">
                <a:solidFill>
                  <a:srgbClr val="FF0000"/>
                </a:solidFill>
              </a:rPr>
              <a:t>")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CFC16A-1D10-78F3-6C47-3851709A6C76}"/>
              </a:ext>
            </a:extLst>
          </p:cNvPr>
          <p:cNvSpPr txBox="1"/>
          <p:nvPr/>
        </p:nvSpPr>
        <p:spPr>
          <a:xfrm>
            <a:off x="266904" y="1540558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Step 5: Reading Files from Mounted S3</a:t>
            </a:r>
            <a:endParaRPr lang="en-IN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C79CA9-F56B-31DD-734B-61B65DEC0153}"/>
              </a:ext>
            </a:extLst>
          </p:cNvPr>
          <p:cNvSpPr txBox="1"/>
          <p:nvPr/>
        </p:nvSpPr>
        <p:spPr>
          <a:xfrm>
            <a:off x="5411553" y="1540558"/>
            <a:ext cx="609442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3200" dirty="0" err="1">
                <a:solidFill>
                  <a:srgbClr val="FF0000"/>
                </a:solidFill>
              </a:rPr>
              <a:t>df</a:t>
            </a:r>
            <a:r>
              <a:rPr lang="en-IN" sz="3200" dirty="0">
                <a:solidFill>
                  <a:srgbClr val="FF0000"/>
                </a:solidFill>
              </a:rPr>
              <a:t> = spark.read.csv("/</a:t>
            </a:r>
            <a:r>
              <a:rPr lang="en-IN" sz="3200" dirty="0" err="1">
                <a:solidFill>
                  <a:srgbClr val="FF0000"/>
                </a:solidFill>
              </a:rPr>
              <a:t>mnt</a:t>
            </a:r>
            <a:r>
              <a:rPr lang="en-IN" sz="3200" dirty="0">
                <a:solidFill>
                  <a:srgbClr val="FF0000"/>
                </a:solidFill>
              </a:rPr>
              <a:t>/</a:t>
            </a:r>
            <a:r>
              <a:rPr lang="en-IN" sz="3200" dirty="0" err="1">
                <a:solidFill>
                  <a:srgbClr val="FF0000"/>
                </a:solidFill>
              </a:rPr>
              <a:t>mybucket</a:t>
            </a:r>
            <a:r>
              <a:rPr lang="en-IN" sz="3200" dirty="0">
                <a:solidFill>
                  <a:srgbClr val="FF0000"/>
                </a:solidFill>
              </a:rPr>
              <a:t>/data/file.csv", header=True)</a:t>
            </a:r>
          </a:p>
          <a:p>
            <a:r>
              <a:rPr lang="en-IN" sz="3200" dirty="0">
                <a:solidFill>
                  <a:srgbClr val="FF0000"/>
                </a:solidFill>
              </a:rPr>
              <a:t>     </a:t>
            </a:r>
            <a:r>
              <a:rPr lang="en-IN" sz="3200" dirty="0" err="1">
                <a:solidFill>
                  <a:srgbClr val="FF0000"/>
                </a:solidFill>
              </a:rPr>
              <a:t>df.show</a:t>
            </a:r>
            <a:r>
              <a:rPr lang="en-IN" sz="3200" dirty="0">
                <a:solidFill>
                  <a:srgbClr val="FF0000"/>
                </a:solidFill>
              </a:rPr>
              <a:t>()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5B850B-ABB2-AEDE-CFE3-866B9DA63C68}"/>
              </a:ext>
            </a:extLst>
          </p:cNvPr>
          <p:cNvSpPr txBox="1"/>
          <p:nvPr/>
        </p:nvSpPr>
        <p:spPr>
          <a:xfrm>
            <a:off x="115786" y="4241603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Step 6.Writing Files to Mounted S3</a:t>
            </a:r>
            <a:endParaRPr lang="en-IN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D2FBCF-4F00-94D9-CB9C-DED615FE0183}"/>
              </a:ext>
            </a:extLst>
          </p:cNvPr>
          <p:cNvSpPr txBox="1"/>
          <p:nvPr/>
        </p:nvSpPr>
        <p:spPr>
          <a:xfrm>
            <a:off x="5246524" y="4241603"/>
            <a:ext cx="609442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3200" dirty="0" err="1">
                <a:solidFill>
                  <a:srgbClr val="FF0000"/>
                </a:solidFill>
              </a:rPr>
              <a:t>df.write.parquet</a:t>
            </a:r>
            <a:r>
              <a:rPr lang="en-IN" sz="3200" dirty="0">
                <a:solidFill>
                  <a:srgbClr val="FF0000"/>
                </a:solidFill>
              </a:rPr>
              <a:t>("/</a:t>
            </a:r>
            <a:r>
              <a:rPr lang="en-IN" sz="3200" dirty="0" err="1">
                <a:solidFill>
                  <a:srgbClr val="FF0000"/>
                </a:solidFill>
              </a:rPr>
              <a:t>mnt</a:t>
            </a:r>
            <a:r>
              <a:rPr lang="en-IN" sz="3200" dirty="0">
                <a:solidFill>
                  <a:srgbClr val="FF0000"/>
                </a:solidFill>
              </a:rPr>
              <a:t>/</a:t>
            </a:r>
            <a:r>
              <a:rPr lang="en-IN" sz="3200" dirty="0" err="1">
                <a:solidFill>
                  <a:srgbClr val="FF0000"/>
                </a:solidFill>
              </a:rPr>
              <a:t>mybucket</a:t>
            </a:r>
            <a:r>
              <a:rPr lang="en-IN" sz="3200" dirty="0">
                <a:solidFill>
                  <a:srgbClr val="FF0000"/>
                </a:solidFill>
              </a:rPr>
              <a:t>/output/</a:t>
            </a:r>
            <a:r>
              <a:rPr lang="en-IN" sz="3200" dirty="0" err="1">
                <a:solidFill>
                  <a:srgbClr val="FF0000"/>
                </a:solidFill>
              </a:rPr>
              <a:t>mydata</a:t>
            </a:r>
            <a:r>
              <a:rPr lang="en-IN" sz="3200" dirty="0">
                <a:solidFill>
                  <a:srgbClr val="FF0000"/>
                </a:solidFill>
              </a:rPr>
              <a:t>/")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EDAC5F-1F65-F188-5E44-CCCB3FC38F42}"/>
              </a:ext>
            </a:extLst>
          </p:cNvPr>
          <p:cNvSpPr txBox="1"/>
          <p:nvPr/>
        </p:nvSpPr>
        <p:spPr>
          <a:xfrm>
            <a:off x="115786" y="5928408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Step 7.Unmounting S3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886375-76C1-048F-3890-36E9EE8F4E02}"/>
              </a:ext>
            </a:extLst>
          </p:cNvPr>
          <p:cNvSpPr txBox="1"/>
          <p:nvPr/>
        </p:nvSpPr>
        <p:spPr>
          <a:xfrm>
            <a:off x="5246524" y="5928408"/>
            <a:ext cx="609442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800" b="1" dirty="0" err="1">
                <a:solidFill>
                  <a:srgbClr val="FF0000"/>
                </a:solidFill>
              </a:rPr>
              <a:t>dbutils.fs.unmount</a:t>
            </a:r>
            <a:r>
              <a:rPr lang="en-IN" sz="2800" b="1" dirty="0">
                <a:solidFill>
                  <a:srgbClr val="FF0000"/>
                </a:solidFill>
              </a:rPr>
              <a:t>("/</a:t>
            </a:r>
            <a:r>
              <a:rPr lang="en-IN" sz="2800" b="1" dirty="0" err="1">
                <a:solidFill>
                  <a:srgbClr val="FF0000"/>
                </a:solidFill>
              </a:rPr>
              <a:t>mnt</a:t>
            </a:r>
            <a:r>
              <a:rPr lang="en-IN" sz="2800" b="1" dirty="0">
                <a:solidFill>
                  <a:srgbClr val="FF0000"/>
                </a:solidFill>
              </a:rPr>
              <a:t>/</a:t>
            </a:r>
            <a:r>
              <a:rPr lang="en-IN" sz="2800" b="1" dirty="0" err="1">
                <a:solidFill>
                  <a:srgbClr val="FF0000"/>
                </a:solidFill>
              </a:rPr>
              <a:t>mybucket</a:t>
            </a:r>
            <a:r>
              <a:rPr lang="en-IN" sz="2800" b="1" dirty="0">
                <a:solidFill>
                  <a:srgbClr val="FF0000"/>
                </a:solidFill>
              </a:rPr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222514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B5F92A-9470-8E9E-9BF2-C129C68F93B8}"/>
              </a:ext>
            </a:extLst>
          </p:cNvPr>
          <p:cNvSpPr txBox="1"/>
          <p:nvPr/>
        </p:nvSpPr>
        <p:spPr>
          <a:xfrm>
            <a:off x="2594728" y="729734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/>
              <a:t>Direct S3 Access </a:t>
            </a:r>
            <a:r>
              <a:rPr lang="en-US" sz="2400" b="1" dirty="0"/>
              <a:t>vs</a:t>
            </a:r>
            <a:r>
              <a:rPr lang="en-US" sz="3600" b="1" dirty="0"/>
              <a:t> Mounting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C454EFD-A870-7121-0062-475F6085C9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1220104"/>
              </p:ext>
            </p:extLst>
          </p:nvPr>
        </p:nvGraphicFramePr>
        <p:xfrm>
          <a:off x="1834037" y="1888588"/>
          <a:ext cx="8128000" cy="359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81913539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890249526"/>
                    </a:ext>
                  </a:extLst>
                </a:gridCol>
              </a:tblGrid>
              <a:tr h="719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Use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Recommended Method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8984682"/>
                  </a:ext>
                </a:extLst>
              </a:tr>
              <a:tr h="719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Automated pipelines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Direct S3 or IAM roles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0297173"/>
                  </a:ext>
                </a:extLst>
              </a:tr>
              <a:tr h="719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Analytics team access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Mounting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2733654"/>
                  </a:ext>
                </a:extLst>
              </a:tr>
              <a:tr h="719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High-security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IAM roles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1033236"/>
                  </a:ext>
                </a:extLst>
              </a:tr>
              <a:tr h="719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Ad-hoc data exploration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Mounting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3671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9577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F0B98D-F53A-CB22-E072-86BA490BA594}"/>
              </a:ext>
            </a:extLst>
          </p:cNvPr>
          <p:cNvSpPr txBox="1"/>
          <p:nvPr/>
        </p:nvSpPr>
        <p:spPr>
          <a:xfrm>
            <a:off x="3773079" y="1050245"/>
            <a:ext cx="6094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End-to-End Workflow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C446C81-4DCC-462A-216F-4C737F5F6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9242" y="2314185"/>
            <a:ext cx="4099199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S3 bucket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Configure IAM policy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 keys in Databricks Secrets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Mount bucket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ETL using Spark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Unmount or control access if required</a:t>
            </a:r>
          </a:p>
        </p:txBody>
      </p:sp>
    </p:spTree>
    <p:extLst>
      <p:ext uri="{BB962C8B-B14F-4D97-AF65-F5344CB8AC3E}">
        <p14:creationId xmlns:p14="http://schemas.microsoft.com/office/powerpoint/2010/main" val="1820524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498</Words>
  <Application>Microsoft Office PowerPoint</Application>
  <PresentationFormat>Widescreen</PresentationFormat>
  <Paragraphs>79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Google Sans</vt:lpstr>
      <vt:lpstr>Wingdings</vt:lpstr>
      <vt:lpstr>Office Theme</vt:lpstr>
      <vt:lpstr>Mounting Amazon S3 in Databricks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Syed Ameer</dc:creator>
  <cp:lastModifiedBy>Rajesh Kumar Devabhaktuni</cp:lastModifiedBy>
  <cp:revision>6</cp:revision>
  <dcterms:created xsi:type="dcterms:W3CDTF">2025-11-23T16:09:57Z</dcterms:created>
  <dcterms:modified xsi:type="dcterms:W3CDTF">2026-03-14T05:54:26Z</dcterms:modified>
</cp:coreProperties>
</file>