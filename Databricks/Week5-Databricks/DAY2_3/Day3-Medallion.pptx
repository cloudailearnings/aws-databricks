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8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97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3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9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3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2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8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8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91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76A8D-6850-4CA3-5C42-897ECF02D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15" b="877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B04E8-F6E4-8D4B-7968-3B175CF90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8138160" cy="1061981"/>
          </a:xfrm>
        </p:spPr>
        <p:txBody>
          <a:bodyPr anchor="t">
            <a:normAutofit/>
          </a:bodyPr>
          <a:lstStyle/>
          <a:p>
            <a:pPr algn="l"/>
            <a:r>
              <a:rPr lang="en-US" sz="4400" dirty="0"/>
              <a:t>Day3-Medallion</a:t>
            </a:r>
          </a:p>
        </p:txBody>
      </p:sp>
    </p:spTree>
    <p:extLst>
      <p:ext uri="{BB962C8B-B14F-4D97-AF65-F5344CB8AC3E}">
        <p14:creationId xmlns:p14="http://schemas.microsoft.com/office/powerpoint/2010/main" val="564419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25DA1-CD05-DC04-8143-F4291E25B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653579" cy="695597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design pattern commonly used in Databricks Lakehouse environments with Delta Lake.</a:t>
            </a:r>
          </a:p>
          <a:p>
            <a:r>
              <a:rPr lang="en-US" dirty="0"/>
              <a:t>It organizes data into </a:t>
            </a:r>
            <a:r>
              <a:rPr lang="en-US" b="1" dirty="0"/>
              <a:t>three logical layers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1️⃣ Bronze Layer (Raw Data):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What it contains:</a:t>
            </a:r>
          </a:p>
          <a:p>
            <a:r>
              <a:rPr lang="en-US" dirty="0"/>
              <a:t>Raw ingested data</a:t>
            </a:r>
          </a:p>
          <a:p>
            <a:r>
              <a:rPr lang="en-US" dirty="0"/>
              <a:t>JSON, CSV, logs, streaming data</a:t>
            </a:r>
          </a:p>
          <a:p>
            <a:r>
              <a:rPr lang="en-US" dirty="0"/>
              <a:t>No major transformations</a:t>
            </a:r>
          </a:p>
          <a:p>
            <a:r>
              <a:rPr lang="en-US" b="1" dirty="0"/>
              <a:t>🎯 Purpose:</a:t>
            </a:r>
          </a:p>
          <a:p>
            <a:r>
              <a:rPr lang="en-US" dirty="0"/>
              <a:t>Preserve original data</a:t>
            </a:r>
          </a:p>
          <a:p>
            <a:r>
              <a:rPr lang="en-US" dirty="0"/>
              <a:t>Enable replay &amp; reprocessing</a:t>
            </a:r>
          </a:p>
          <a:p>
            <a:r>
              <a:rPr lang="en-US" dirty="0"/>
              <a:t>Audit trail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Raw sales transactions from API → Stored as-is</a:t>
            </a:r>
          </a:p>
          <a:p>
            <a:r>
              <a:rPr lang="en-US" dirty="0"/>
              <a:t>👉 Minimal validation only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2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CC2A2-DD69-EFC5-4516-25E4CB4A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53578" cy="1132258"/>
          </a:xfrm>
        </p:spPr>
        <p:txBody>
          <a:bodyPr/>
          <a:lstStyle/>
          <a:p>
            <a:r>
              <a:rPr lang="en-US" dirty="0"/>
              <a:t>2️⃣ Silver Layer (Cleaned &amp; Processed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4F7C9-DE45-E8DD-FC04-230C7C9D2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7" y="986189"/>
            <a:ext cx="10653579" cy="575206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What it contains:</a:t>
            </a:r>
          </a:p>
          <a:p>
            <a:r>
              <a:rPr lang="en-US" dirty="0"/>
              <a:t>Cleaned data</a:t>
            </a:r>
          </a:p>
          <a:p>
            <a:r>
              <a:rPr lang="en-US" dirty="0"/>
              <a:t>Deduplicated records</a:t>
            </a:r>
          </a:p>
          <a:p>
            <a:r>
              <a:rPr lang="en-US" dirty="0"/>
              <a:t>Schema enforced</a:t>
            </a:r>
          </a:p>
          <a:p>
            <a:r>
              <a:rPr lang="en-US" dirty="0"/>
              <a:t>Standardized formats</a:t>
            </a:r>
          </a:p>
          <a:p>
            <a:pPr marL="0" indent="0">
              <a:buNone/>
            </a:pPr>
            <a:r>
              <a:rPr lang="en-US" b="1" dirty="0"/>
              <a:t>🎯 Purpose:</a:t>
            </a:r>
          </a:p>
          <a:p>
            <a:r>
              <a:rPr lang="en-US" dirty="0"/>
              <a:t>Prepare data for analytics</a:t>
            </a:r>
          </a:p>
          <a:p>
            <a:r>
              <a:rPr lang="en-US" dirty="0"/>
              <a:t>Apply business rules</a:t>
            </a:r>
          </a:p>
          <a:p>
            <a:r>
              <a:rPr lang="en-US" dirty="0"/>
              <a:t>Remove corrupt records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Remove null customer IDs</a:t>
            </a:r>
          </a:p>
          <a:p>
            <a:r>
              <a:rPr lang="en-US" dirty="0"/>
              <a:t>Standardize date formats</a:t>
            </a:r>
          </a:p>
          <a:p>
            <a:r>
              <a:rPr lang="en-US" dirty="0"/>
              <a:t>Filter invalid transactions</a:t>
            </a:r>
          </a:p>
          <a:p>
            <a:r>
              <a:rPr lang="en-US" dirty="0"/>
              <a:t>👉 This is where most transformations happen.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36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AE81-0579-ECAA-19E0-849F8122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653579" cy="6858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3️⃣ Gold Layer (Business-Ready Data)</a:t>
            </a:r>
          </a:p>
          <a:p>
            <a:pPr marL="0" indent="0">
              <a:buNone/>
            </a:pPr>
            <a:r>
              <a:rPr lang="en-US" b="1" dirty="0"/>
              <a:t>What it contains:</a:t>
            </a:r>
          </a:p>
          <a:p>
            <a:r>
              <a:rPr lang="en-US" dirty="0"/>
              <a:t>Aggregated data</a:t>
            </a:r>
          </a:p>
          <a:p>
            <a:r>
              <a:rPr lang="en-US" dirty="0"/>
              <a:t>KPI tables</a:t>
            </a:r>
          </a:p>
          <a:p>
            <a:r>
              <a:rPr lang="en-US" dirty="0"/>
              <a:t>Reporting datasets</a:t>
            </a:r>
          </a:p>
          <a:p>
            <a:r>
              <a:rPr lang="en-US" dirty="0"/>
              <a:t>Data marts</a:t>
            </a:r>
          </a:p>
          <a:p>
            <a:pPr marL="0" indent="0">
              <a:buNone/>
            </a:pPr>
            <a:r>
              <a:rPr lang="en-US" b="1" dirty="0"/>
              <a:t>🎯 Purpose:</a:t>
            </a:r>
          </a:p>
          <a:p>
            <a:r>
              <a:rPr lang="en-US" dirty="0"/>
              <a:t>Direct consumption by BI tools</a:t>
            </a:r>
          </a:p>
          <a:p>
            <a:r>
              <a:rPr lang="en-US" dirty="0"/>
              <a:t>Executive dashboards</a:t>
            </a:r>
          </a:p>
          <a:p>
            <a:r>
              <a:rPr lang="en-US" dirty="0"/>
              <a:t>Machine learning features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Monthly revenue by region</a:t>
            </a:r>
          </a:p>
          <a:p>
            <a:r>
              <a:rPr lang="en-US" dirty="0"/>
              <a:t>Customer lifetime value</a:t>
            </a:r>
          </a:p>
          <a:p>
            <a:r>
              <a:rPr lang="en-US" dirty="0"/>
              <a:t>Sales summary dashboard</a:t>
            </a:r>
          </a:p>
          <a:p>
            <a:r>
              <a:rPr lang="en-US" dirty="0"/>
              <a:t>👉 Optimized for fast queries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9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1C6C-1E59-1154-BBC0-86331155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BFE7-DADA-A594-B8CF-7C32D968F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 → Bronze → Silver → Gold → BI / ML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Each layer improves:</a:t>
            </a:r>
          </a:p>
          <a:p>
            <a:r>
              <a:rPr lang="en-US" dirty="0"/>
              <a:t>Data quality</a:t>
            </a:r>
          </a:p>
          <a:p>
            <a:r>
              <a:rPr lang="en-US" dirty="0"/>
              <a:t>Structure</a:t>
            </a:r>
          </a:p>
          <a:p>
            <a:r>
              <a:rPr lang="en-US" dirty="0"/>
              <a:t>Business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95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0883-3D8B-04C1-D907-A2F112E10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Use Medallion Architecture?</a:t>
            </a:r>
          </a:p>
          <a:p>
            <a:r>
              <a:rPr lang="en-US" dirty="0"/>
              <a:t>✅ Improves data quality gradually</a:t>
            </a:r>
            <a:br>
              <a:rPr lang="en-US" dirty="0"/>
            </a:br>
            <a:r>
              <a:rPr lang="en-US" dirty="0"/>
              <a:t>✅ Keeps raw data safe</a:t>
            </a:r>
            <a:br>
              <a:rPr lang="en-US" dirty="0"/>
            </a:br>
            <a:r>
              <a:rPr lang="en-US" dirty="0"/>
              <a:t>✅ Makes debugging easier</a:t>
            </a:r>
            <a:br>
              <a:rPr lang="en-US" dirty="0"/>
            </a:br>
            <a:r>
              <a:rPr lang="en-US" dirty="0"/>
              <a:t>✅ Supports reprocessing</a:t>
            </a:r>
            <a:br>
              <a:rPr lang="en-US" dirty="0"/>
            </a:br>
            <a:r>
              <a:rPr lang="en-US" dirty="0"/>
              <a:t>✅ Scales for enterprise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4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21C6D2-1DE7-4B6A-AE0A-215A78049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098877"/>
              </p:ext>
            </p:extLst>
          </p:nvPr>
        </p:nvGraphicFramePr>
        <p:xfrm>
          <a:off x="1383901" y="2037806"/>
          <a:ext cx="9429301" cy="4066432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2389421">
                  <a:extLst>
                    <a:ext uri="{9D8B030D-6E8A-4147-A177-3AD203B41FA5}">
                      <a16:colId xmlns:a16="http://schemas.microsoft.com/office/drawing/2014/main" val="2129846370"/>
                    </a:ext>
                  </a:extLst>
                </a:gridCol>
                <a:gridCol w="3170359">
                  <a:extLst>
                    <a:ext uri="{9D8B030D-6E8A-4147-A177-3AD203B41FA5}">
                      <a16:colId xmlns:a16="http://schemas.microsoft.com/office/drawing/2014/main" val="2997638786"/>
                    </a:ext>
                  </a:extLst>
                </a:gridCol>
                <a:gridCol w="3869521">
                  <a:extLst>
                    <a:ext uri="{9D8B030D-6E8A-4147-A177-3AD203B41FA5}">
                      <a16:colId xmlns:a16="http://schemas.microsoft.com/office/drawing/2014/main" val="1639896886"/>
                    </a:ext>
                  </a:extLst>
                </a:gridCol>
              </a:tblGrid>
              <a:tr h="101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Layer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Data Type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b="1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Users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63505"/>
                  </a:ext>
                </a:extLst>
              </a:tr>
              <a:tr h="101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Bronze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Raw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Data Engineers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5776"/>
                  </a:ext>
                </a:extLst>
              </a:tr>
              <a:tr h="101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Silver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Cleaned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Analysts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444594"/>
                  </a:ext>
                </a:extLst>
              </a:tr>
              <a:tr h="101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Gold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Aggregated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100" cap="none" spc="0" dirty="0">
                          <a:solidFill>
                            <a:schemeClr val="tx1"/>
                          </a:solidFill>
                        </a:rPr>
                        <a:t>Business Users</a:t>
                      </a:r>
                    </a:p>
                  </a:txBody>
                  <a:tcPr marL="431764" marR="431764" marT="235508" marB="21588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90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46328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VanillaVTI</vt:lpstr>
      <vt:lpstr>Day3-Medallion</vt:lpstr>
      <vt:lpstr>PowerPoint Presentation</vt:lpstr>
      <vt:lpstr>2️⃣ Silver Layer (Cleaned &amp; Processed Data)</vt:lpstr>
      <vt:lpstr>PowerPoint Presentation</vt:lpstr>
      <vt:lpstr>Data Flow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3</cp:revision>
  <dcterms:created xsi:type="dcterms:W3CDTF">2026-02-22T13:55:49Z</dcterms:created>
  <dcterms:modified xsi:type="dcterms:W3CDTF">2026-03-03T06:53:52Z</dcterms:modified>
</cp:coreProperties>
</file>