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DF9E-69AF-07BB-FB67-878C5B3A3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C5AB43-2B6D-0A0D-4049-CF10A7E63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F661D-664C-2FA9-A381-26F1F673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77F5F-04B2-4B67-804A-D2741787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10389-A803-7023-095D-24249DC4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81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5154-8212-EE50-0153-B10E08B12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6BF01-57FA-6695-7B6E-72CC63B89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8E56D-3546-0B4A-4225-DA0702D5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F3443-B748-860A-6596-3D62C82F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DFF9C-36D1-94DD-73A0-5EAC6C04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8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267B2-CED2-4614-A0E9-E966866F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3986B-1639-C990-087A-30313DB7B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566E5-AF28-15FB-91A5-AEBA7DA9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4E966-8751-2EC1-CA4C-DB0D6934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5D330-7F8A-0EE9-DFEC-84ED9D508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9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5139-ED54-B69C-D0A2-9695145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99968-5D64-5694-1330-F68E75122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4D834-A44A-B81D-DB9B-D5245E442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D292D-DF3C-D3AE-A46F-7C8CB254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1D4B6-7E48-9B01-98D9-442C24A4E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92385-7401-4EEE-114C-6426C342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6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81FF1-E2FC-63B3-4F69-7F069FD8C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A369D-B72B-8488-A644-B4EB6ED48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74C26-1400-7DC1-A630-427F04478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417-B67A-32FB-FE9B-DE07B3EDD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BF53A8-17A4-4BAD-BCD0-FAD3A53D2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7C0AF-8217-43E0-98CB-2E95ABE44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86CA08-2725-61AE-8677-3B8E319E2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2910C-5471-CB74-BCF4-F49CE355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65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6298D-1333-67FA-8823-8DE4D09FC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4F418-4D20-09AB-BEFF-9E1B711EB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C950B-C869-CCB2-FCB0-B677B0AA7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499E1-D2CE-51CC-8E17-8C7A4560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0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B98F2-D7DB-C9D1-1FF0-F0CB8A1B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F65492-C273-AAB4-E743-26E20C8A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3E4AB-6CA8-3B73-A4FB-E48EDEED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5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6EE4-316D-7622-A98F-4246C1D4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241DB-DD66-481B-DD40-2CC8B21D2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0CD78-BF52-4BF8-1A90-4FBC7BDB3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0C3FF-725E-C34E-200E-959A09F7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1FDDF-1808-588C-72C2-2186B409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5E5E5-19B6-7F1F-01D9-046BCF6D1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0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FA29-9E91-17A5-4C3D-0237D4212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5FEFF-A76F-4BA0-D4DC-F820FD678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AB752-D64A-D54E-D7EB-907EEFAA3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E5DC3-1B45-D4AC-3178-EC29388B8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4B027-899D-1A81-FA59-9A9294436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C7C10-9C7A-AF17-E9FE-113EFED4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9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96BF6-17F9-1D5F-E6CE-511E73FD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8C6578-ADC2-8D9F-9C05-46A40CF96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C7102-2622-C224-9DBE-C6D2AFFBC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A0BBF-A236-3DA8-28FC-2C250C5A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3BBFF-7137-E51B-3F04-09E3A27E1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68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10AF67-9761-D24D-167C-F9696CC40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18F19-7FAB-5B5D-1C49-99FE3B6A5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010C-C770-0AC3-61EC-874749BF0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8BB61-3216-2432-30DE-D2C66DE9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BA99A-2CF6-2956-B9EC-3638ED90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7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780245-4253-E979-26EB-9FBF00E26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B68A0-E4B3-5F80-8EC1-3DA6FF8B0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676F9-2114-77E3-1C51-0A68794E7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FA499-E084-4EFD-9B70-F1ABF9149C4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D55D2-58B5-7E32-99A0-3EA82E1F4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5138D-E013-ED7F-5AFA-9CA516213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ADE03-A844-49A9-A261-156E1D8FA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7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57A8-66F7-88F5-FF42-7C4F099093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Cross-Layer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592714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0D40-D43E-5383-5592-C4F6CB54A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32258"/>
          </a:xfrm>
        </p:spPr>
        <p:txBody>
          <a:bodyPr>
            <a:normAutofit fontScale="90000"/>
          </a:bodyPr>
          <a:lstStyle/>
          <a:p>
            <a:r>
              <a:rPr lang="en-US" dirty="0"/>
              <a:t>Cross-Layer Considerations in Medallion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98AD0-15BB-895F-C390-C2039ACD7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33" y="1132086"/>
            <a:ext cx="11982124" cy="572591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a Medallion setup (Bronze → Silver → Gold) on Databricks using Delta Lake, some design principles apply </a:t>
            </a:r>
            <a:r>
              <a:rPr lang="en-US" b="1" dirty="0"/>
              <a:t>across all layers</a:t>
            </a:r>
            <a:r>
              <a:rPr lang="en-US" dirty="0"/>
              <a:t> — not just one.</a:t>
            </a:r>
          </a:p>
          <a:p>
            <a:r>
              <a:rPr lang="en-US" dirty="0"/>
              <a:t>These are called </a:t>
            </a:r>
            <a:r>
              <a:rPr lang="en-US" b="1" dirty="0"/>
              <a:t>cross-layer considerations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1️⃣ Data Governance &amp; Security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Applies to all layers:</a:t>
            </a:r>
          </a:p>
          <a:p>
            <a:r>
              <a:rPr lang="en-US" dirty="0"/>
              <a:t>Role-based access control</a:t>
            </a:r>
          </a:p>
          <a:p>
            <a:r>
              <a:rPr lang="en-US" dirty="0"/>
              <a:t>Table-level permissions</a:t>
            </a:r>
          </a:p>
          <a:p>
            <a:r>
              <a:rPr lang="en-US" dirty="0"/>
              <a:t>Column-level masking</a:t>
            </a:r>
          </a:p>
          <a:p>
            <a:r>
              <a:rPr lang="en-US" dirty="0"/>
              <a:t>Row-level security</a:t>
            </a:r>
          </a:p>
          <a:p>
            <a:r>
              <a:rPr lang="en-US" dirty="0"/>
              <a:t>Audit logging</a:t>
            </a:r>
          </a:p>
          <a:p>
            <a:r>
              <a:rPr lang="en-US" dirty="0"/>
              <a:t>👉 Bronze may be restricted</a:t>
            </a:r>
            <a:br>
              <a:rPr lang="en-US" dirty="0"/>
            </a:br>
            <a:r>
              <a:rPr lang="en-US" dirty="0"/>
              <a:t>👉 Gold may be widely accessible</a:t>
            </a:r>
          </a:p>
          <a:p>
            <a:r>
              <a:rPr lang="en-US" dirty="0"/>
              <a:t>Best practice: Use Unity Catalog for centralized governance.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9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30F3-2B75-CC35-147E-772C60AA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489"/>
            <a:ext cx="12192000" cy="1132258"/>
          </a:xfrm>
        </p:spPr>
        <p:txBody>
          <a:bodyPr>
            <a:normAutofit fontScale="90000"/>
          </a:bodyPr>
          <a:lstStyle/>
          <a:p>
            <a:r>
              <a:rPr lang="en-US" dirty="0"/>
              <a:t>Cross-Layer Considerations in Medallion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0B0DC-9ED3-D469-A69D-D5153329B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2️⃣ Schema Management</a:t>
            </a:r>
          </a:p>
          <a:p>
            <a:r>
              <a:rPr lang="en-US" dirty="0"/>
              <a:t>Across layers you must manage:</a:t>
            </a:r>
          </a:p>
          <a:p>
            <a:r>
              <a:rPr lang="en-US" dirty="0"/>
              <a:t>Schema evolution</a:t>
            </a:r>
          </a:p>
          <a:p>
            <a:r>
              <a:rPr lang="en-US" dirty="0"/>
              <a:t>Backward compatibility</a:t>
            </a:r>
          </a:p>
          <a:p>
            <a:r>
              <a:rPr lang="en-US" dirty="0"/>
              <a:t>Data contracts</a:t>
            </a:r>
          </a:p>
          <a:p>
            <a:r>
              <a:rPr lang="en-US" dirty="0"/>
              <a:t>Versioning strategy</a:t>
            </a:r>
          </a:p>
          <a:p>
            <a:pPr marL="0" indent="0">
              <a:buNone/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If a new column is added in Bronze → ensure Silver transformation handles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408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DC6F-E7B1-7B48-EA3F-D92820C0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17489"/>
            <a:ext cx="12377057" cy="1132258"/>
          </a:xfrm>
        </p:spPr>
        <p:txBody>
          <a:bodyPr/>
          <a:lstStyle/>
          <a:p>
            <a:r>
              <a:rPr lang="en-US" dirty="0"/>
              <a:t>Cross-Layer Considerations in Medallion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0344A-E5C2-2FFC-9458-8939DCEED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33" y="899104"/>
            <a:ext cx="10653579" cy="459382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3️⃣ Data Quality</a:t>
            </a:r>
          </a:p>
          <a:p>
            <a:r>
              <a:rPr lang="en-US" dirty="0"/>
              <a:t>Quality improves per layer, but monitoring must exist everywhere: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Use:</a:t>
            </a:r>
          </a:p>
          <a:p>
            <a:r>
              <a:rPr lang="en-US" dirty="0"/>
              <a:t>Null checks</a:t>
            </a:r>
          </a:p>
          <a:p>
            <a:r>
              <a:rPr lang="en-US" dirty="0"/>
              <a:t>Deduplication logic</a:t>
            </a:r>
          </a:p>
          <a:p>
            <a:r>
              <a:rPr lang="en-US" dirty="0"/>
              <a:t>Referential integrity validation</a:t>
            </a:r>
          </a:p>
          <a:p>
            <a:r>
              <a:rPr lang="en-US" dirty="0"/>
              <a:t>Business rule validation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74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1F551-E504-E9F7-28E6-44B0C3E22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4️⃣ Performance Optimization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All layers need:</a:t>
            </a:r>
          </a:p>
          <a:p>
            <a:r>
              <a:rPr lang="en-US" dirty="0"/>
              <a:t>Partition strategy</a:t>
            </a:r>
          </a:p>
          <a:p>
            <a:r>
              <a:rPr lang="en-US" dirty="0"/>
              <a:t>File size optimization</a:t>
            </a:r>
          </a:p>
          <a:p>
            <a:r>
              <a:rPr lang="en-US" dirty="0"/>
              <a:t>Z-Ordering</a:t>
            </a:r>
          </a:p>
          <a:p>
            <a:r>
              <a:rPr lang="en-US" dirty="0"/>
              <a:t>Indexing</a:t>
            </a:r>
          </a:p>
          <a:p>
            <a:r>
              <a:rPr lang="en-US" dirty="0"/>
              <a:t>Vacuum strategy</a:t>
            </a:r>
          </a:p>
          <a:p>
            <a:pPr marL="0" indent="0">
              <a:buNone/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Bronze → Partition by ingestion date</a:t>
            </a:r>
            <a:br>
              <a:rPr lang="en-US" dirty="0"/>
            </a:br>
            <a:r>
              <a:rPr lang="en-US" dirty="0"/>
              <a:t>Gold → Partition by business key (region/month)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245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Cross-Layer Considerations</vt:lpstr>
      <vt:lpstr>Cross-Layer Considerations in Medallion Architecture</vt:lpstr>
      <vt:lpstr>Cross-Layer Considerations in Medallion Architecture</vt:lpstr>
      <vt:lpstr>Cross-Layer Considerations in Medallion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</cp:revision>
  <dcterms:created xsi:type="dcterms:W3CDTF">2026-03-03T06:53:53Z</dcterms:created>
  <dcterms:modified xsi:type="dcterms:W3CDTF">2026-03-03T06:54:28Z</dcterms:modified>
</cp:coreProperties>
</file>