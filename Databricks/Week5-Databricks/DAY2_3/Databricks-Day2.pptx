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sldIdLst>
    <p:sldId id="256" r:id="rId2"/>
    <p:sldId id="257" r:id="rId3"/>
    <p:sldId id="258" r:id="rId4"/>
    <p:sldId id="259" r:id="rId5"/>
    <p:sldId id="263" r:id="rId6"/>
    <p:sldId id="264" r:id="rId7"/>
    <p:sldId id="265" r:id="rId8"/>
    <p:sldId id="266" r:id="rId9"/>
    <p:sldId id="271" r:id="rId10"/>
    <p:sldId id="272" r:id="rId11"/>
    <p:sldId id="273" r:id="rId12"/>
    <p:sldId id="274" r:id="rId13"/>
    <p:sldId id="275" r:id="rId14"/>
    <p:sldId id="276" r:id="rId15"/>
    <p:sldId id="268" r:id="rId16"/>
    <p:sldId id="269" r:id="rId17"/>
    <p:sldId id="267" r:id="rId18"/>
    <p:sldId id="270" r:id="rId19"/>
    <p:sldId id="260" r:id="rId20"/>
    <p:sldId id="277" r:id="rId21"/>
    <p:sldId id="261" r:id="rId22"/>
    <p:sldId id="262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0136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82824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88115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49122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3/1/2026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88168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3/1/2026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20805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3/1/2026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4491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11319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70119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77638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72310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293488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66" r:id="rId6"/>
    <p:sldLayoutId id="2147483662" r:id="rId7"/>
    <p:sldLayoutId id="2147483663" r:id="rId8"/>
    <p:sldLayoutId id="2147483664" r:id="rId9"/>
    <p:sldLayoutId id="2147483665" r:id="rId10"/>
    <p:sldLayoutId id="2147483667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0E52DF2-6802-459B-AC2A-AF976DEB1D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E93AD6-F819-A92F-4414-42DB341E11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02184" y="2386295"/>
            <a:ext cx="3730839" cy="3569150"/>
          </a:xfrm>
        </p:spPr>
        <p:txBody>
          <a:bodyPr anchor="b">
            <a:normAutofit/>
          </a:bodyPr>
          <a:lstStyle/>
          <a:p>
            <a:r>
              <a:rPr lang="en-US" sz="4000" dirty="0"/>
              <a:t>Databricks-Day2-Part1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BE71CD4-BF24-8FA8-BA24-FBEBC9428B0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" b="6322"/>
          <a:stretch>
            <a:fillRect/>
          </a:stretch>
        </p:blipFill>
        <p:spPr>
          <a:xfrm>
            <a:off x="20" y="10"/>
            <a:ext cx="7320707" cy="6857985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115300" y="723900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64642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CF4CFD-9F95-3900-1439-663410F70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3410712" cy="5376672"/>
          </a:xfrm>
        </p:spPr>
        <p:txBody>
          <a:bodyPr>
            <a:normAutofit/>
          </a:bodyPr>
          <a:lstStyle/>
          <a:p>
            <a:r>
              <a:rPr lang="en-US" sz="4000" dirty="0"/>
              <a:t>1️⃣ Clusters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E59CBF-7E04-0B4C-C47A-01A3EB1AAC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6008" y="1042416"/>
            <a:ext cx="7031736" cy="5312664"/>
          </a:xfrm>
        </p:spPr>
        <p:txBody>
          <a:bodyPr>
            <a:normAutofit/>
          </a:bodyPr>
          <a:lstStyle/>
          <a:p>
            <a:r>
              <a:rPr lang="en-US" dirty="0"/>
              <a:t>Compute resources in Databricks where you run notebooks, jobs, and queries.</a:t>
            </a:r>
          </a:p>
          <a:p>
            <a:r>
              <a:rPr lang="en-US" dirty="0"/>
              <a:t>Can be </a:t>
            </a:r>
            <a:r>
              <a:rPr lang="en-US" b="1" dirty="0"/>
              <a:t>All-purpose clusters</a:t>
            </a:r>
            <a:r>
              <a:rPr lang="en-US" dirty="0"/>
              <a:t> (interactive work)</a:t>
            </a:r>
          </a:p>
          <a:p>
            <a:r>
              <a:rPr lang="en-US" dirty="0"/>
              <a:t>Or </a:t>
            </a:r>
            <a:r>
              <a:rPr lang="en-US" b="1" dirty="0"/>
              <a:t>Job clusters</a:t>
            </a:r>
            <a:r>
              <a:rPr lang="en-US" dirty="0"/>
              <a:t> (scheduled/automated jobs)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26753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F40921-27C2-DB72-12CF-057B5DA7B3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2️⃣ Using Notebooks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6983F5-AF2F-8A44-9743-FAA1148693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Covers how to:</a:t>
            </a:r>
          </a:p>
          <a:p>
            <a:r>
              <a:rPr lang="en-US" sz="3200" b="1" dirty="0">
                <a:solidFill>
                  <a:srgbClr val="FF0000"/>
                </a:solidFill>
              </a:rPr>
              <a:t>Create notebooks</a:t>
            </a:r>
          </a:p>
          <a:p>
            <a:r>
              <a:rPr lang="en-US" sz="3200" b="1" dirty="0">
                <a:solidFill>
                  <a:srgbClr val="FF0000"/>
                </a:solidFill>
              </a:rPr>
              <a:t>Run Spark / SQL / Python / Scala code</a:t>
            </a:r>
          </a:p>
          <a:p>
            <a:r>
              <a:rPr lang="en-US" sz="3200" b="1" dirty="0">
                <a:solidFill>
                  <a:srgbClr val="FF0000"/>
                </a:solidFill>
              </a:rPr>
              <a:t>Share notebooks</a:t>
            </a:r>
          </a:p>
          <a:p>
            <a:r>
              <a:rPr lang="en-US" sz="3200" b="1" dirty="0">
                <a:solidFill>
                  <a:srgbClr val="FF0000"/>
                </a:solidFill>
              </a:rPr>
              <a:t>Use %</a:t>
            </a:r>
            <a:r>
              <a:rPr lang="en-US" sz="3200" b="1" dirty="0" err="1">
                <a:solidFill>
                  <a:srgbClr val="FF0000"/>
                </a:solidFill>
              </a:rPr>
              <a:t>sql</a:t>
            </a:r>
            <a:r>
              <a:rPr lang="en-US" sz="3200" b="1" dirty="0">
                <a:solidFill>
                  <a:srgbClr val="FF0000"/>
                </a:solidFill>
              </a:rPr>
              <a:t>, %python, %fs magic commands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28352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C0F061-06D1-FCCB-A5E4-F5634715F5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1155680" cy="676221"/>
          </a:xfrm>
        </p:spPr>
        <p:txBody>
          <a:bodyPr>
            <a:normAutofit fontScale="90000"/>
          </a:bodyPr>
          <a:lstStyle/>
          <a:p>
            <a:r>
              <a:rPr lang="en-US" dirty="0"/>
              <a:t>3️⃣ Databricks </a:t>
            </a:r>
            <a:r>
              <a:rPr lang="en-US" dirty="0" err="1"/>
              <a:t>FileStore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705E09-D824-074A-D1F0-6303B70B7F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7294" y="1130807"/>
            <a:ext cx="11155680" cy="5465935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A special DBFS location:   </a:t>
            </a:r>
            <a:r>
              <a:rPr lang="en-US" dirty="0" err="1"/>
              <a:t>dbfs</a:t>
            </a:r>
            <a:r>
              <a:rPr lang="en-US" dirty="0"/>
              <a:t>:/</a:t>
            </a:r>
            <a:r>
              <a:rPr lang="en-US" dirty="0" err="1"/>
              <a:t>FileStore</a:t>
            </a:r>
            <a:r>
              <a:rPr lang="en-US" dirty="0"/>
              <a:t>/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🔹 Why DBFS is Used?</a:t>
            </a:r>
          </a:p>
          <a:p>
            <a:r>
              <a:rPr lang="en-US" dirty="0"/>
              <a:t>Store input/output data</a:t>
            </a:r>
          </a:p>
          <a:p>
            <a:r>
              <a:rPr lang="en-US" dirty="0"/>
              <a:t>Store model files</a:t>
            </a:r>
          </a:p>
          <a:p>
            <a:r>
              <a:rPr lang="en-US" dirty="0"/>
              <a:t>Store temporary files</a:t>
            </a:r>
          </a:p>
          <a:p>
            <a:r>
              <a:rPr lang="en-US" dirty="0"/>
              <a:t>Share data between notebooks</a:t>
            </a:r>
          </a:p>
          <a:p>
            <a:r>
              <a:rPr lang="en-US" dirty="0"/>
              <a:t>Mount external storage (S3, ADLS) : </a:t>
            </a:r>
            <a:r>
              <a:rPr lang="en-US" b="1" dirty="0">
                <a:solidFill>
                  <a:srgbClr val="FF0000"/>
                </a:solidFill>
              </a:rPr>
              <a:t>Mounting means linking external cloud storage into DBFS so it appears like a local folder.</a:t>
            </a:r>
          </a:p>
          <a:p>
            <a:r>
              <a:rPr lang="en-US" dirty="0" err="1"/>
              <a:t>dbutils.fs.mount</a:t>
            </a:r>
            <a:r>
              <a:rPr lang="en-US" dirty="0"/>
              <a:t>(</a:t>
            </a:r>
            <a:br>
              <a:rPr lang="en-US" dirty="0"/>
            </a:br>
            <a:r>
              <a:rPr lang="en-US" dirty="0"/>
              <a:t>source = "s3a://my-bucket",</a:t>
            </a:r>
            <a:br>
              <a:rPr lang="en-US" dirty="0"/>
            </a:br>
            <a:r>
              <a:rPr lang="en-US" dirty="0" err="1"/>
              <a:t>mount_point</a:t>
            </a:r>
            <a:r>
              <a:rPr lang="en-US" dirty="0"/>
              <a:t> = "/</a:t>
            </a:r>
            <a:r>
              <a:rPr lang="en-US" dirty="0" err="1"/>
              <a:t>mnt</a:t>
            </a:r>
            <a:r>
              <a:rPr lang="en-US" dirty="0"/>
              <a:t>/</a:t>
            </a:r>
            <a:r>
              <a:rPr lang="en-US" dirty="0" err="1"/>
              <a:t>mydata</a:t>
            </a:r>
            <a:r>
              <a:rPr lang="en-US" dirty="0"/>
              <a:t>"</a:t>
            </a:r>
            <a:br>
              <a:rPr lang="en-US" dirty="0"/>
            </a:b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b="1" dirty="0">
                <a:highlight>
                  <a:srgbClr val="FFFF00"/>
                </a:highlight>
              </a:rPr>
              <a:t>Example: LISTING FILES IN FILE STORE</a:t>
            </a:r>
          </a:p>
          <a:p>
            <a:r>
              <a:rPr lang="en-US" dirty="0"/>
              <a:t>dbutils.fs.ls("</a:t>
            </a:r>
            <a:r>
              <a:rPr lang="en-US" dirty="0" err="1"/>
              <a:t>dbfs</a:t>
            </a:r>
            <a:r>
              <a:rPr lang="en-US" dirty="0"/>
              <a:t>:/</a:t>
            </a:r>
            <a:r>
              <a:rPr lang="en-US" dirty="0" err="1"/>
              <a:t>FileStore</a:t>
            </a:r>
            <a:r>
              <a:rPr lang="en-US" dirty="0"/>
              <a:t>/")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14734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BD39D-8641-EF3B-72C3-8CB82421FF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691265" cy="587829"/>
          </a:xfrm>
        </p:spPr>
        <p:txBody>
          <a:bodyPr>
            <a:normAutofit fontScale="90000"/>
          </a:bodyPr>
          <a:lstStyle/>
          <a:p>
            <a:r>
              <a:rPr lang="en-US" dirty="0"/>
              <a:t>DBFS in Databricks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CD4CFD-EA2C-A877-6CDD-C758FA67DE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235" y="1046335"/>
            <a:ext cx="11883251" cy="3739896"/>
          </a:xfrm>
        </p:spPr>
        <p:txBody>
          <a:bodyPr/>
          <a:lstStyle/>
          <a:p>
            <a:r>
              <a:rPr lang="en-US" b="1" dirty="0"/>
              <a:t>DBFS (Databricks File System)</a:t>
            </a:r>
            <a:r>
              <a:rPr lang="en-US" dirty="0"/>
              <a:t> is a distributed file system available in Databricks.</a:t>
            </a:r>
            <a:br>
              <a:rPr lang="en-US" dirty="0"/>
            </a:br>
            <a:r>
              <a:rPr lang="en-US" dirty="0"/>
              <a:t>It is an abstraction layer over cloud storage like:</a:t>
            </a:r>
          </a:p>
          <a:p>
            <a:r>
              <a:rPr lang="en-US" dirty="0"/>
              <a:t>Amazon S3</a:t>
            </a:r>
          </a:p>
          <a:p>
            <a:r>
              <a:rPr lang="en-US" dirty="0"/>
              <a:t>Azure Data Lake Storage</a:t>
            </a:r>
          </a:p>
          <a:p>
            <a:r>
              <a:rPr lang="en-US" dirty="0"/>
              <a:t>Google Cloud Storage</a:t>
            </a:r>
          </a:p>
          <a:p>
            <a:r>
              <a:rPr lang="en-US" dirty="0"/>
              <a:t>DBFS allows you to store and access files in your Databricks workspace as if it were a local file system.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83538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86E4C7-DF2A-0C90-20B9-EE12F97500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691265" cy="1307592"/>
          </a:xfrm>
        </p:spPr>
        <p:txBody>
          <a:bodyPr/>
          <a:lstStyle/>
          <a:p>
            <a:r>
              <a:rPr lang="en-US" dirty="0"/>
              <a:t>🔹 DBFS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D25B8B-FAD5-83DA-369C-EBD91AC86C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4950" y="1166077"/>
            <a:ext cx="10691265" cy="3739896"/>
          </a:xfrm>
        </p:spPr>
        <p:txBody>
          <a:bodyPr/>
          <a:lstStyle/>
          <a:p>
            <a:r>
              <a:rPr lang="en-US" dirty="0"/>
              <a:t>DBFS is </a:t>
            </a:r>
            <a:r>
              <a:rPr lang="en-US" b="1" dirty="0"/>
              <a:t>not actual storage</a:t>
            </a:r>
            <a:r>
              <a:rPr lang="en-US" dirty="0"/>
              <a:t> — it is a layer on top of cloud storage.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Cloud Storage (S3 / ADLS / GCS)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        ↓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      DBFS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        ↓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 Databricks Clusters</a:t>
            </a:r>
          </a:p>
        </p:txBody>
      </p:sp>
    </p:spTree>
    <p:extLst>
      <p:ext uri="{BB962C8B-B14F-4D97-AF65-F5344CB8AC3E}">
        <p14:creationId xmlns:p14="http://schemas.microsoft.com/office/powerpoint/2010/main" val="26271946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149E9D-C7DC-D3D7-987D-FCA4EF6B4F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691265" cy="1307592"/>
          </a:xfrm>
        </p:spPr>
        <p:txBody>
          <a:bodyPr/>
          <a:lstStyle/>
          <a:p>
            <a:r>
              <a:rPr lang="en-US" dirty="0"/>
              <a:t>🔹 DBFS Path Formats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3D0D1E-6A53-D74A-44CC-E6598FC758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4063" y="1046335"/>
            <a:ext cx="10691265" cy="4995236"/>
          </a:xfrm>
        </p:spPr>
        <p:txBody>
          <a:bodyPr/>
          <a:lstStyle/>
          <a:p>
            <a:r>
              <a:rPr lang="en-US" dirty="0"/>
              <a:t>There are 2 ways to access DBFS: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1️⃣ DBFS Path (Recommended)</a:t>
            </a:r>
          </a:p>
          <a:p>
            <a:r>
              <a:rPr lang="en-US" dirty="0" err="1"/>
              <a:t>dbfs</a:t>
            </a:r>
            <a:r>
              <a:rPr lang="en-US" dirty="0"/>
              <a:t>:/</a:t>
            </a:r>
            <a:r>
              <a:rPr lang="en-US" dirty="0" err="1"/>
              <a:t>FileStore</a:t>
            </a:r>
            <a:r>
              <a:rPr lang="en-US" dirty="0"/>
              <a:t>/data.csv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2️⃣ Local Driver Path</a:t>
            </a:r>
          </a:p>
          <a:p>
            <a:r>
              <a:rPr lang="en-US" dirty="0"/>
              <a:t>/</a:t>
            </a:r>
            <a:r>
              <a:rPr lang="en-US" dirty="0" err="1"/>
              <a:t>dbfs</a:t>
            </a:r>
            <a:r>
              <a:rPr lang="en-US" dirty="0"/>
              <a:t>/</a:t>
            </a:r>
            <a:r>
              <a:rPr lang="en-US" dirty="0" err="1"/>
              <a:t>FileStore</a:t>
            </a:r>
            <a:r>
              <a:rPr lang="en-US" dirty="0"/>
              <a:t>/data.csv</a:t>
            </a:r>
          </a:p>
          <a:p>
            <a:r>
              <a:rPr lang="en-US" dirty="0"/>
              <a:t>👉 </a:t>
            </a:r>
            <a:r>
              <a:rPr lang="en-US" dirty="0" err="1"/>
              <a:t>dbfs</a:t>
            </a:r>
            <a:r>
              <a:rPr lang="en-US" dirty="0"/>
              <a:t>:/ is used inside Spark</a:t>
            </a:r>
            <a:br>
              <a:rPr lang="en-US" dirty="0"/>
            </a:br>
            <a:r>
              <a:rPr lang="en-US" dirty="0"/>
              <a:t>👉 /</a:t>
            </a:r>
            <a:r>
              <a:rPr lang="en-US" dirty="0" err="1"/>
              <a:t>dbfs</a:t>
            </a:r>
            <a:r>
              <a:rPr lang="en-US" dirty="0"/>
              <a:t>/ is used in Python / shell</a:t>
            </a:r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83BD158-EEA7-8098-A6BB-880427B8DC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7535508"/>
              </p:ext>
            </p:extLst>
          </p:nvPr>
        </p:nvGraphicFramePr>
        <p:xfrm>
          <a:off x="5138057" y="1708603"/>
          <a:ext cx="6803572" cy="3266167"/>
        </p:xfrm>
        <a:graphic>
          <a:graphicData uri="http://schemas.openxmlformats.org/drawingml/2006/table">
            <a:tbl>
              <a:tblPr/>
              <a:tblGrid>
                <a:gridCol w="3401786">
                  <a:extLst>
                    <a:ext uri="{9D8B030D-6E8A-4147-A177-3AD203B41FA5}">
                      <a16:colId xmlns:a16="http://schemas.microsoft.com/office/drawing/2014/main" val="3317934342"/>
                    </a:ext>
                  </a:extLst>
                </a:gridCol>
                <a:gridCol w="3401786">
                  <a:extLst>
                    <a:ext uri="{9D8B030D-6E8A-4147-A177-3AD203B41FA5}">
                      <a16:colId xmlns:a16="http://schemas.microsoft.com/office/drawing/2014/main" val="3052861338"/>
                    </a:ext>
                  </a:extLst>
                </a:gridCol>
              </a:tblGrid>
              <a:tr h="5680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solidFill>
                            <a:srgbClr val="FF0000"/>
                          </a:solidFill>
                        </a:rPr>
                        <a:t>Location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Purpose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2146181"/>
                  </a:ext>
                </a:extLst>
              </a:tr>
              <a:tr h="5680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i="1" dirty="0" err="1">
                          <a:latin typeface="Courier New" panose="02070309020205020404" pitchFamily="49" charset="0"/>
                        </a:rPr>
                        <a:t>dbfs</a:t>
                      </a:r>
                      <a:r>
                        <a:rPr lang="en-US" b="1" i="1" dirty="0">
                          <a:latin typeface="Courier New" panose="02070309020205020404" pitchFamily="49" charset="0"/>
                        </a:rPr>
                        <a:t>:/</a:t>
                      </a:r>
                      <a:r>
                        <a:rPr lang="en-US" b="1" i="1" dirty="0" err="1">
                          <a:latin typeface="Courier New" panose="02070309020205020404" pitchFamily="49" charset="0"/>
                        </a:rPr>
                        <a:t>FileStore</a:t>
                      </a:r>
                      <a:r>
                        <a:rPr lang="en-US" b="1" i="1" dirty="0">
                          <a:latin typeface="Courier New" panose="02070309020205020404" pitchFamily="49" charset="0"/>
                        </a:rPr>
                        <a:t>/</a:t>
                      </a:r>
                      <a:endParaRPr lang="en-US" b="1" i="1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i="1"/>
                        <a:t>Upload files manually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6238445"/>
                  </a:ext>
                </a:extLst>
              </a:tr>
              <a:tr h="5680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i="1" dirty="0" err="1">
                          <a:latin typeface="Courier New" panose="02070309020205020404" pitchFamily="49" charset="0"/>
                        </a:rPr>
                        <a:t>dbfs</a:t>
                      </a:r>
                      <a:r>
                        <a:rPr lang="en-US" b="1" i="1" dirty="0">
                          <a:latin typeface="Courier New" panose="02070309020205020404" pitchFamily="49" charset="0"/>
                        </a:rPr>
                        <a:t>:/</a:t>
                      </a:r>
                      <a:r>
                        <a:rPr lang="en-US" b="1" i="1" dirty="0" err="1">
                          <a:latin typeface="Courier New" panose="02070309020205020404" pitchFamily="49" charset="0"/>
                        </a:rPr>
                        <a:t>mnt</a:t>
                      </a:r>
                      <a:r>
                        <a:rPr lang="en-US" b="1" i="1" dirty="0">
                          <a:latin typeface="Courier New" panose="02070309020205020404" pitchFamily="49" charset="0"/>
                        </a:rPr>
                        <a:t>/</a:t>
                      </a:r>
                      <a:endParaRPr lang="en-US" b="1" i="1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i="1"/>
                        <a:t>Mounted external storage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1640609"/>
                  </a:ext>
                </a:extLst>
              </a:tr>
              <a:tr h="5680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i="1" dirty="0" err="1">
                          <a:latin typeface="Courier New" panose="02070309020205020404" pitchFamily="49" charset="0"/>
                        </a:rPr>
                        <a:t>dbfs</a:t>
                      </a:r>
                      <a:r>
                        <a:rPr lang="en-US" b="1" i="1" dirty="0">
                          <a:latin typeface="Courier New" panose="02070309020205020404" pitchFamily="49" charset="0"/>
                        </a:rPr>
                        <a:t>:/</a:t>
                      </a:r>
                      <a:r>
                        <a:rPr lang="en-US" b="1" i="1" dirty="0" err="1">
                          <a:latin typeface="Courier New" panose="02070309020205020404" pitchFamily="49" charset="0"/>
                        </a:rPr>
                        <a:t>tmp</a:t>
                      </a:r>
                      <a:r>
                        <a:rPr lang="en-US" b="1" i="1" dirty="0">
                          <a:latin typeface="Courier New" panose="02070309020205020404" pitchFamily="49" charset="0"/>
                        </a:rPr>
                        <a:t>/</a:t>
                      </a:r>
                      <a:endParaRPr lang="en-US" b="1" i="1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i="1"/>
                        <a:t>Temporary files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3146538"/>
                  </a:ext>
                </a:extLst>
              </a:tr>
              <a:tr h="9940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i="1" dirty="0" err="1">
                          <a:latin typeface="Courier New" panose="02070309020205020404" pitchFamily="49" charset="0"/>
                        </a:rPr>
                        <a:t>dbfs</a:t>
                      </a:r>
                      <a:r>
                        <a:rPr lang="en-US" b="1" i="1" dirty="0">
                          <a:latin typeface="Courier New" panose="02070309020205020404" pitchFamily="49" charset="0"/>
                        </a:rPr>
                        <a:t>:/</a:t>
                      </a:r>
                      <a:r>
                        <a:rPr lang="en-US" b="1" i="1" dirty="0" err="1">
                          <a:latin typeface="Courier New" panose="02070309020205020404" pitchFamily="49" charset="0"/>
                        </a:rPr>
                        <a:t>databricks</a:t>
                      </a:r>
                      <a:r>
                        <a:rPr lang="en-US" b="1" i="1" dirty="0">
                          <a:latin typeface="Courier New" panose="02070309020205020404" pitchFamily="49" charset="0"/>
                        </a:rPr>
                        <a:t>-datasets/</a:t>
                      </a:r>
                      <a:endParaRPr lang="en-US" b="1" i="1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i="1" dirty="0"/>
                        <a:t>Sample datasets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52941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667570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CFEF90-B2F9-E5DB-7650-08EFC0BA78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04908" y="0"/>
            <a:ext cx="10691265" cy="1307592"/>
          </a:xfrm>
        </p:spPr>
        <p:txBody>
          <a:bodyPr/>
          <a:lstStyle/>
          <a:p>
            <a:r>
              <a:rPr lang="en-US" dirty="0"/>
              <a:t>🔹 Upload File to DBFS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1344AB-431C-421B-24F7-4C0DA02ED4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4064" y="1122534"/>
            <a:ext cx="10691265" cy="37398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Method 1: UI</a:t>
            </a:r>
          </a:p>
          <a:p>
            <a:r>
              <a:rPr lang="en-US" dirty="0"/>
              <a:t>Workspace → Data → Upload → Select file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Method 2: Notebook</a:t>
            </a:r>
          </a:p>
          <a:p>
            <a:r>
              <a:rPr lang="en-US" dirty="0" err="1"/>
              <a:t>dbutils.fs.cp</a:t>
            </a:r>
            <a:r>
              <a:rPr lang="en-US" dirty="0"/>
              <a:t>("file:/local/path/data.csv", "</a:t>
            </a:r>
            <a:r>
              <a:rPr lang="en-US" dirty="0" err="1"/>
              <a:t>dbfs</a:t>
            </a:r>
            <a:r>
              <a:rPr lang="en-US" dirty="0"/>
              <a:t>:/</a:t>
            </a:r>
            <a:r>
              <a:rPr lang="en-US" dirty="0" err="1"/>
              <a:t>FileStore</a:t>
            </a:r>
            <a:r>
              <a:rPr lang="en-US" dirty="0"/>
              <a:t>/data.csv")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10723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F300C7-5500-7887-A5FB-083F758918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9006" y="0"/>
            <a:ext cx="10691265" cy="1307592"/>
          </a:xfrm>
        </p:spPr>
        <p:txBody>
          <a:bodyPr/>
          <a:lstStyle/>
          <a:p>
            <a:r>
              <a:rPr lang="en-US" dirty="0"/>
              <a:t>Upload file using UI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C40D548-D4A2-6ED9-63D1-84E1C7C29A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006" y="1019979"/>
            <a:ext cx="5536880" cy="489096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6591C81-9706-1A87-AF5E-43BE4121CD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4743" y="834063"/>
            <a:ext cx="5912379" cy="5076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03071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3D2F7E-5829-C189-97F5-C65ADFB96B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57" y="-76200"/>
            <a:ext cx="10455729" cy="1307592"/>
          </a:xfrm>
        </p:spPr>
        <p:txBody>
          <a:bodyPr/>
          <a:lstStyle/>
          <a:p>
            <a:r>
              <a:rPr lang="en-US" dirty="0"/>
              <a:t>Browse to upload files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093A913-9A2E-9B47-C936-A719B37D65C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21723" y="1123042"/>
            <a:ext cx="10348554" cy="4842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38628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03354C-18A0-5401-6FE8-5BC7E4DC39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149" y="0"/>
            <a:ext cx="10691265" cy="1307592"/>
          </a:xfrm>
        </p:spPr>
        <p:txBody>
          <a:bodyPr>
            <a:normAutofit/>
          </a:bodyPr>
          <a:lstStyle/>
          <a:p>
            <a:r>
              <a:rPr lang="en-US" sz="3200" dirty="0"/>
              <a:t>Create a Volume &amp; Specify Catalog &amp; Schema Name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EFBAC37-7918-F76F-4CB8-1784275CA4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997" y="826734"/>
            <a:ext cx="11482374" cy="5955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5057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5AE093D7-0317-E8B8-50D4-099453C5C2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42481"/>
            <a:ext cx="12386364" cy="6900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25480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C58F7C0-EF2A-CFB3-A440-B4EA975EEB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7" y="0"/>
            <a:ext cx="1217992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14382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479833C7-FDE4-4657-B0B1-32BE833C24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ABE7C0B-A2D9-4202-A524-532DA2E2D5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8E21E9B-0449-9B90-95CC-1E2E81DDF6D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333"/>
          <a:stretch>
            <a:fillRect/>
          </a:stretch>
        </p:blipFill>
        <p:spPr>
          <a:xfrm>
            <a:off x="20" y="10"/>
            <a:ext cx="12191979" cy="6857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5528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985184E4-C93A-4E34-8365-1886AAC5DE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ED8045-DBE1-3BB1-65BC-0A11DD68BA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502" y="2553993"/>
            <a:ext cx="4872499" cy="4559890"/>
          </a:xfrm>
        </p:spPr>
        <p:txBody>
          <a:bodyPr>
            <a:normAutofit/>
          </a:bodyPr>
          <a:lstStyle/>
          <a:p>
            <a:r>
              <a:rPr lang="en-US" dirty="0"/>
              <a:t>🔹 DBFS vs Mount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AB0D40B-37F7-4F1F-B956-AFC12066AB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4868972" y="723901"/>
            <a:ext cx="15948" cy="545007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EFAE0A5-699B-AF05-2495-3CC5431F530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56911851"/>
              </p:ext>
            </p:extLst>
          </p:nvPr>
        </p:nvGraphicFramePr>
        <p:xfrm>
          <a:off x="5715000" y="2024062"/>
          <a:ext cx="5715001" cy="2809876"/>
        </p:xfrm>
        <a:graphic>
          <a:graphicData uri="http://schemas.openxmlformats.org/drawingml/2006/table">
            <a:tbl>
              <a:tblPr/>
              <a:tblGrid>
                <a:gridCol w="3287448">
                  <a:extLst>
                    <a:ext uri="{9D8B030D-6E8A-4147-A177-3AD203B41FA5}">
                      <a16:colId xmlns:a16="http://schemas.microsoft.com/office/drawing/2014/main" val="2100707617"/>
                    </a:ext>
                  </a:extLst>
                </a:gridCol>
                <a:gridCol w="2427553">
                  <a:extLst>
                    <a:ext uri="{9D8B030D-6E8A-4147-A177-3AD203B41FA5}">
                      <a16:colId xmlns:a16="http://schemas.microsoft.com/office/drawing/2014/main" val="2546865812"/>
                    </a:ext>
                  </a:extLst>
                </a:gridCol>
              </a:tblGrid>
              <a:tr h="52387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300" b="0" i="0" u="none" strike="noStrike">
                          <a:solidFill>
                            <a:srgbClr val="FF0000"/>
                          </a:solidFill>
                          <a:effectLst/>
                          <a:highlight>
                            <a:srgbClr val="FFFF00"/>
                          </a:highlight>
                          <a:latin typeface="Arial" panose="020B0604020202020204" pitchFamily="34" charset="0"/>
                        </a:rPr>
                        <a:t>DBFS Root</a:t>
                      </a:r>
                    </a:p>
                  </a:txBody>
                  <a:tcPr marL="119063" marR="119063" marT="59531" marB="595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300" b="0" i="0" u="none" strike="noStrike" dirty="0">
                          <a:solidFill>
                            <a:srgbClr val="FF0000"/>
                          </a:solidFill>
                          <a:effectLst/>
                          <a:highlight>
                            <a:srgbClr val="FFFF00"/>
                          </a:highlight>
                          <a:latin typeface="Arial" panose="020B0604020202020204" pitchFamily="34" charset="0"/>
                        </a:rPr>
                        <a:t>Mount</a:t>
                      </a:r>
                    </a:p>
                  </a:txBody>
                  <a:tcPr marL="119063" marR="119063" marT="59531" marB="595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60231"/>
                  </a:ext>
                </a:extLst>
              </a:tr>
              <a:tr h="88106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300" b="0" i="0" u="none" strike="noStrike" dirty="0">
                          <a:effectLst/>
                          <a:latin typeface="Arial" panose="020B0604020202020204" pitchFamily="34" charset="0"/>
                        </a:rPr>
                        <a:t>Workspace storage</a:t>
                      </a:r>
                    </a:p>
                  </a:txBody>
                  <a:tcPr marL="119063" marR="119063" marT="59531" marB="595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300" b="0" i="0" u="none" strike="noStrike">
                          <a:effectLst/>
                          <a:latin typeface="Arial" panose="020B0604020202020204" pitchFamily="34" charset="0"/>
                        </a:rPr>
                        <a:t>External cloud storage</a:t>
                      </a:r>
                    </a:p>
                  </a:txBody>
                  <a:tcPr marL="119063" marR="119063" marT="59531" marB="595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9445387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300" b="0" i="0" u="none" strike="noStrike">
                          <a:effectLst/>
                          <a:latin typeface="Arial" panose="020B0604020202020204" pitchFamily="34" charset="0"/>
                        </a:rPr>
                        <a:t>Limited</a:t>
                      </a:r>
                    </a:p>
                  </a:txBody>
                  <a:tcPr marL="119063" marR="119063" marT="59531" marB="595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300" b="0" i="0" u="none" strike="noStrike">
                          <a:effectLst/>
                          <a:latin typeface="Arial" panose="020B0604020202020204" pitchFamily="34" charset="0"/>
                        </a:rPr>
                        <a:t>Scalable</a:t>
                      </a:r>
                    </a:p>
                  </a:txBody>
                  <a:tcPr marL="119063" marR="119063" marT="59531" marB="595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3237257"/>
                  </a:ext>
                </a:extLst>
              </a:tr>
              <a:tr h="88106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300" b="0" i="0" u="none" strike="noStrike">
                          <a:effectLst/>
                          <a:latin typeface="Arial" panose="020B0604020202020204" pitchFamily="34" charset="0"/>
                        </a:rPr>
                        <a:t>Not recommended for production</a:t>
                      </a:r>
                    </a:p>
                  </a:txBody>
                  <a:tcPr marL="119063" marR="119063" marT="59531" marB="595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300" b="0" i="0" u="none" strike="noStrike" dirty="0">
                          <a:effectLst/>
                          <a:latin typeface="Arial" panose="020B0604020202020204" pitchFamily="34" charset="0"/>
                        </a:rPr>
                        <a:t>Recommended</a:t>
                      </a:r>
                    </a:p>
                  </a:txBody>
                  <a:tcPr marL="119063" marR="119063" marT="59531" marB="595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19294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834189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C50560-041C-C861-6BFC-E3DAE36E6E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Important (2026 Update)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CFA4F5-6495-61E9-894A-1F587BFE7F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>
                <a:highlight>
                  <a:srgbClr val="FFFF00"/>
                </a:highlight>
              </a:rPr>
              <a:t>Databricks now recommends:</a:t>
            </a:r>
          </a:p>
          <a:p>
            <a:r>
              <a:rPr lang="en-US" dirty="0">
                <a:highlight>
                  <a:srgbClr val="FFFF00"/>
                </a:highlight>
              </a:rPr>
              <a:t>Using </a:t>
            </a:r>
            <a:r>
              <a:rPr lang="en-US" b="1" dirty="0">
                <a:highlight>
                  <a:srgbClr val="FFFF00"/>
                </a:highlight>
              </a:rPr>
              <a:t>Unity Catalog external locations</a:t>
            </a:r>
            <a:endParaRPr lang="en-US" dirty="0">
              <a:highlight>
                <a:srgbClr val="FFFF00"/>
              </a:highlight>
            </a:endParaRPr>
          </a:p>
          <a:p>
            <a:r>
              <a:rPr lang="en-US" b="1" dirty="0">
                <a:solidFill>
                  <a:srgbClr val="FF0000"/>
                </a:solidFill>
              </a:rPr>
              <a:t>Avoid storing production data in DBFS root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6312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D6A54D-E7DB-75D1-197D-3639A918F9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0967357" cy="685800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>
                <a:highlight>
                  <a:srgbClr val="FFFF00"/>
                </a:highlight>
              </a:rPr>
              <a:t>🔹 </a:t>
            </a:r>
            <a:r>
              <a:rPr lang="en-US" b="1" dirty="0">
                <a:highlight>
                  <a:srgbClr val="FFFF00"/>
                </a:highlight>
              </a:rPr>
              <a:t>Read File from DBFS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df</a:t>
            </a:r>
            <a:r>
              <a:rPr lang="en-US" dirty="0"/>
              <a:t> = spark.read.csv("</a:t>
            </a:r>
            <a:r>
              <a:rPr lang="en-US" dirty="0" err="1"/>
              <a:t>dbfs</a:t>
            </a:r>
            <a:r>
              <a:rPr lang="en-US" dirty="0"/>
              <a:t>:/</a:t>
            </a:r>
            <a:r>
              <a:rPr lang="en-US" dirty="0" err="1"/>
              <a:t>FileStore</a:t>
            </a:r>
            <a:r>
              <a:rPr lang="en-US" dirty="0"/>
              <a:t>/data.csv", header=True, </a:t>
            </a:r>
            <a:r>
              <a:rPr lang="en-US" dirty="0" err="1"/>
              <a:t>inferSchema</a:t>
            </a:r>
            <a:r>
              <a:rPr lang="en-US" dirty="0"/>
              <a:t>=True)</a:t>
            </a:r>
          </a:p>
          <a:p>
            <a:pPr marL="0" indent="0">
              <a:buNone/>
            </a:pPr>
            <a:r>
              <a:rPr lang="en-US" dirty="0" err="1"/>
              <a:t>df.show</a:t>
            </a:r>
            <a:r>
              <a:rPr lang="en-US" dirty="0"/>
              <a:t>()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>
                <a:highlight>
                  <a:srgbClr val="FFFF00"/>
                </a:highlight>
              </a:rPr>
              <a:t>🔹 Mount S3 to DBFS (Example)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dbutils.fs.mount</a:t>
            </a:r>
            <a:r>
              <a:rPr lang="en-US" dirty="0"/>
              <a:t>(</a:t>
            </a:r>
          </a:p>
          <a:p>
            <a:pPr marL="0" indent="0">
              <a:buNone/>
            </a:pPr>
            <a:r>
              <a:rPr lang="en-US" dirty="0"/>
              <a:t>  source = "s3a://my-bucket",</a:t>
            </a:r>
          </a:p>
          <a:p>
            <a:pPr marL="0" indent="0">
              <a:buNone/>
            </a:pPr>
            <a:r>
              <a:rPr lang="en-US" dirty="0"/>
              <a:t>  </a:t>
            </a:r>
            <a:r>
              <a:rPr lang="en-US" dirty="0" err="1"/>
              <a:t>mount_point</a:t>
            </a:r>
            <a:r>
              <a:rPr lang="en-US" dirty="0"/>
              <a:t> = "/</a:t>
            </a:r>
            <a:r>
              <a:rPr lang="en-US" dirty="0" err="1"/>
              <a:t>mnt</a:t>
            </a:r>
            <a:r>
              <a:rPr lang="en-US" dirty="0"/>
              <a:t>/</a:t>
            </a:r>
            <a:r>
              <a:rPr lang="en-US" dirty="0" err="1"/>
              <a:t>mydata</a:t>
            </a:r>
            <a:r>
              <a:rPr lang="en-US" dirty="0"/>
              <a:t>",</a:t>
            </a:r>
          </a:p>
          <a:p>
            <a:pPr marL="0" indent="0">
              <a:buNone/>
            </a:pPr>
            <a:r>
              <a:rPr lang="en-US" dirty="0"/>
              <a:t>  </a:t>
            </a:r>
            <a:r>
              <a:rPr lang="en-US" dirty="0" err="1"/>
              <a:t>extra_configs</a:t>
            </a:r>
            <a:r>
              <a:rPr lang="en-US" dirty="0"/>
              <a:t> = {"fs.s3a.access.key": "XXX",</a:t>
            </a:r>
          </a:p>
          <a:p>
            <a:pPr marL="0" indent="0">
              <a:buNone/>
            </a:pPr>
            <a:r>
              <a:rPr lang="en-US" dirty="0"/>
              <a:t>                   "fs.s3a.secret.key": "XXX"})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Then access: </a:t>
            </a:r>
            <a:r>
              <a:rPr lang="en-US" dirty="0" err="1"/>
              <a:t>dbfs</a:t>
            </a:r>
            <a:r>
              <a:rPr lang="en-US" dirty="0"/>
              <a:t>:/</a:t>
            </a:r>
            <a:r>
              <a:rPr lang="en-US" dirty="0" err="1"/>
              <a:t>mnt</a:t>
            </a:r>
            <a:r>
              <a:rPr lang="en-US" dirty="0"/>
              <a:t>/</a:t>
            </a:r>
            <a:r>
              <a:rPr lang="en-US" dirty="0" err="1"/>
              <a:t>mydata</a:t>
            </a:r>
            <a:r>
              <a:rPr lang="en-US" dirty="0"/>
              <a:t>/file.csv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>
                <a:highlight>
                  <a:srgbClr val="FFFF00"/>
                </a:highlight>
              </a:rPr>
              <a:t>🔹 List Files in DBFS                 </a:t>
            </a:r>
            <a:r>
              <a:rPr lang="en-US" dirty="0"/>
              <a:t>dbutils.fs.ls("</a:t>
            </a:r>
            <a:r>
              <a:rPr lang="en-US" dirty="0" err="1"/>
              <a:t>dbfs</a:t>
            </a:r>
            <a:r>
              <a:rPr lang="en-US" dirty="0"/>
              <a:t>:/</a:t>
            </a:r>
            <a:r>
              <a:rPr lang="en-US" dirty="0" err="1"/>
              <a:t>FileStore</a:t>
            </a:r>
            <a:r>
              <a:rPr lang="en-US" dirty="0"/>
              <a:t>/")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77699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F68B2C62-7648-4430-90D5-AE0F252AF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80F9935-62AA-DDAB-C670-EF171BFEE2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73222"/>
            <a:ext cx="10798176" cy="1051914"/>
          </a:xfrm>
        </p:spPr>
        <p:txBody>
          <a:bodyPr>
            <a:normAutofit/>
          </a:bodyPr>
          <a:lstStyle/>
          <a:p>
            <a:r>
              <a:rPr lang="en-US" dirty="0"/>
              <a:t>🔹 Difference Between </a:t>
            </a:r>
            <a:r>
              <a:rPr lang="en-US" dirty="0" err="1"/>
              <a:t>dbfs</a:t>
            </a:r>
            <a:r>
              <a:rPr lang="en-US" dirty="0"/>
              <a:t>:/ and /</a:t>
            </a:r>
            <a:r>
              <a:rPr lang="en-US" dirty="0" err="1"/>
              <a:t>dbfs</a:t>
            </a:r>
            <a:r>
              <a:rPr lang="en-US" dirty="0"/>
              <a:t>/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9BB96FAB-CCBF-4D1E-9D0D-B038ACC2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A474170-4B82-9514-AEB6-39839C9B021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20169728"/>
              </p:ext>
            </p:extLst>
          </p:nvPr>
        </p:nvGraphicFramePr>
        <p:xfrm>
          <a:off x="84137" y="1167242"/>
          <a:ext cx="10629901" cy="2852055"/>
        </p:xfrm>
        <a:graphic>
          <a:graphicData uri="http://schemas.openxmlformats.org/drawingml/2006/table">
            <a:tbl>
              <a:tblPr/>
              <a:tblGrid>
                <a:gridCol w="1573213">
                  <a:extLst>
                    <a:ext uri="{9D8B030D-6E8A-4147-A177-3AD203B41FA5}">
                      <a16:colId xmlns:a16="http://schemas.microsoft.com/office/drawing/2014/main" val="89067669"/>
                    </a:ext>
                  </a:extLst>
                </a:gridCol>
                <a:gridCol w="5104367">
                  <a:extLst>
                    <a:ext uri="{9D8B030D-6E8A-4147-A177-3AD203B41FA5}">
                      <a16:colId xmlns:a16="http://schemas.microsoft.com/office/drawing/2014/main" val="166611056"/>
                    </a:ext>
                  </a:extLst>
                </a:gridCol>
                <a:gridCol w="3952321">
                  <a:extLst>
                    <a:ext uri="{9D8B030D-6E8A-4147-A177-3AD203B41FA5}">
                      <a16:colId xmlns:a16="http://schemas.microsoft.com/office/drawing/2014/main" val="1345959286"/>
                    </a:ext>
                  </a:extLst>
                </a:gridCol>
              </a:tblGrid>
              <a:tr h="57041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400" b="1" i="0" u="none" strike="noStrike">
                          <a:effectLst/>
                          <a:latin typeface="Arial" panose="020B0604020202020204" pitchFamily="34" charset="0"/>
                        </a:rPr>
                        <a:t>Feature</a:t>
                      </a:r>
                    </a:p>
                  </a:txBody>
                  <a:tcPr marL="77160" marR="77160" marT="38580" marB="385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400" b="1" i="0" u="none" strike="noStrike" dirty="0" err="1">
                          <a:effectLst/>
                          <a:latin typeface="Courier New" panose="02070309020205020404" pitchFamily="49" charset="0"/>
                        </a:rPr>
                        <a:t>dbfs</a:t>
                      </a:r>
                      <a:r>
                        <a:rPr lang="en-US" sz="2400" b="1" i="0" u="none" strike="noStrike" dirty="0">
                          <a:effectLst/>
                          <a:latin typeface="Courier New" panose="02070309020205020404" pitchFamily="49" charset="0"/>
                        </a:rPr>
                        <a:t>:/</a:t>
                      </a:r>
                      <a:endParaRPr lang="en-US" sz="2400" b="1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160" marR="77160" marT="38580" marB="385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400" b="1" i="0" u="none" strike="noStrike" dirty="0">
                          <a:effectLst/>
                          <a:latin typeface="Courier New" panose="02070309020205020404" pitchFamily="49" charset="0"/>
                        </a:rPr>
                        <a:t>/</a:t>
                      </a:r>
                      <a:r>
                        <a:rPr lang="en-US" sz="2400" b="1" i="0" u="none" strike="noStrike" dirty="0" err="1">
                          <a:effectLst/>
                          <a:latin typeface="Courier New" panose="02070309020205020404" pitchFamily="49" charset="0"/>
                        </a:rPr>
                        <a:t>dbfs</a:t>
                      </a:r>
                      <a:r>
                        <a:rPr lang="en-US" sz="2400" b="1" i="0" u="none" strike="noStrike" dirty="0">
                          <a:effectLst/>
                          <a:latin typeface="Courier New" panose="02070309020205020404" pitchFamily="49" charset="0"/>
                        </a:rPr>
                        <a:t>/</a:t>
                      </a:r>
                      <a:endParaRPr lang="en-US" sz="2400" b="1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160" marR="77160" marT="38580" marB="385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5238556"/>
                  </a:ext>
                </a:extLst>
              </a:tr>
              <a:tr h="57041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500" b="0" i="0" u="none" strike="noStrike">
                          <a:effectLst/>
                          <a:latin typeface="Arial" panose="020B0604020202020204" pitchFamily="34" charset="0"/>
                        </a:rPr>
                        <a:t>Used in</a:t>
                      </a:r>
                    </a:p>
                  </a:txBody>
                  <a:tcPr marL="77160" marR="77160" marT="38580" marB="385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500" b="0" i="0" u="none" strike="noStrike">
                          <a:effectLst/>
                          <a:latin typeface="Arial" panose="020B0604020202020204" pitchFamily="34" charset="0"/>
                        </a:rPr>
                        <a:t>Spark APIs</a:t>
                      </a:r>
                    </a:p>
                  </a:txBody>
                  <a:tcPr marL="77160" marR="77160" marT="38580" marB="385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500" b="0" i="0" u="none" strike="noStrike">
                          <a:effectLst/>
                          <a:latin typeface="Arial" panose="020B0604020202020204" pitchFamily="34" charset="0"/>
                        </a:rPr>
                        <a:t>Driver (Python, shell)</a:t>
                      </a:r>
                    </a:p>
                  </a:txBody>
                  <a:tcPr marL="77160" marR="77160" marT="38580" marB="385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6795393"/>
                  </a:ext>
                </a:extLst>
              </a:tr>
              <a:tr h="57041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500" b="0" i="0" u="none" strike="noStrike">
                          <a:effectLst/>
                          <a:latin typeface="Arial" panose="020B0604020202020204" pitchFamily="34" charset="0"/>
                        </a:rPr>
                        <a:t>Type</a:t>
                      </a:r>
                    </a:p>
                  </a:txBody>
                  <a:tcPr marL="77160" marR="77160" marT="38580" marB="385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500" b="0" i="0" u="none" strike="noStrike" dirty="0">
                          <a:effectLst/>
                          <a:latin typeface="Arial" panose="020B0604020202020204" pitchFamily="34" charset="0"/>
                        </a:rPr>
                        <a:t>Virtual DBFS path</a:t>
                      </a:r>
                    </a:p>
                  </a:txBody>
                  <a:tcPr marL="77160" marR="77160" marT="38580" marB="385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500" b="0" i="0" u="none" strike="noStrike">
                          <a:effectLst/>
                          <a:latin typeface="Arial" panose="020B0604020202020204" pitchFamily="34" charset="0"/>
                        </a:rPr>
                        <a:t>Local file system path</a:t>
                      </a:r>
                    </a:p>
                  </a:txBody>
                  <a:tcPr marL="77160" marR="77160" marT="38580" marB="385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6080892"/>
                  </a:ext>
                </a:extLst>
              </a:tr>
              <a:tr h="57041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500" b="0" i="0" u="none" strike="noStrike">
                          <a:effectLst/>
                          <a:latin typeface="Arial" panose="020B0604020202020204" pitchFamily="34" charset="0"/>
                        </a:rPr>
                        <a:t>Example</a:t>
                      </a:r>
                    </a:p>
                  </a:txBody>
                  <a:tcPr marL="77160" marR="77160" marT="38580" marB="385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500" b="0" i="0" u="none" strike="noStrike">
                          <a:effectLst/>
                          <a:latin typeface="Courier New" panose="02070309020205020404" pitchFamily="49" charset="0"/>
                        </a:rPr>
                        <a:t>spark.read.csv("dbfs:/FileStore/data.csv")</a:t>
                      </a:r>
                      <a:endParaRPr lang="en-US" sz="15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160" marR="77160" marT="38580" marB="385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500" b="0" i="0" u="none" strike="noStrike">
                          <a:effectLst/>
                          <a:latin typeface="Courier New" panose="02070309020205020404" pitchFamily="49" charset="0"/>
                        </a:rPr>
                        <a:t>open("/dbfs/FileStore/data.csv")</a:t>
                      </a:r>
                      <a:endParaRPr lang="en-US" sz="15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160" marR="77160" marT="38580" marB="385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9791470"/>
                  </a:ext>
                </a:extLst>
              </a:tr>
              <a:tr h="57041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500" b="0" i="0" u="none" strike="noStrike">
                          <a:effectLst/>
                          <a:latin typeface="Arial" panose="020B0604020202020204" pitchFamily="34" charset="0"/>
                        </a:rPr>
                        <a:t>Recommended</a:t>
                      </a:r>
                    </a:p>
                  </a:txBody>
                  <a:tcPr marL="77160" marR="77160" marT="38580" marB="385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500" b="0" i="0" u="none" strike="noStrike" dirty="0">
                          <a:effectLst/>
                          <a:latin typeface="Arial" panose="020B0604020202020204" pitchFamily="34" charset="0"/>
                        </a:rPr>
                        <a:t>✅ Yes</a:t>
                      </a:r>
                    </a:p>
                  </a:txBody>
                  <a:tcPr marL="77160" marR="77160" marT="38580" marB="385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500" b="0" i="0" u="none" strike="noStrike" dirty="0">
                          <a:effectLst/>
                          <a:latin typeface="Arial" panose="020B0604020202020204" pitchFamily="34" charset="0"/>
                        </a:rPr>
                        <a:t>Only when needed</a:t>
                      </a:r>
                    </a:p>
                  </a:txBody>
                  <a:tcPr marL="77160" marR="77160" marT="38580" marB="385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9458445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97F2A6C4-6961-3331-91E8-7333034BE1D5}"/>
              </a:ext>
            </a:extLst>
          </p:cNvPr>
          <p:cNvSpPr txBox="1"/>
          <p:nvPr/>
        </p:nvSpPr>
        <p:spPr>
          <a:xfrm>
            <a:off x="1992085" y="4611078"/>
            <a:ext cx="8556171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Use </a:t>
            </a:r>
            <a:r>
              <a:rPr lang="en-US" sz="2800" b="1" dirty="0" err="1"/>
              <a:t>dbfs</a:t>
            </a:r>
            <a:r>
              <a:rPr lang="en-US" sz="2800" b="1" dirty="0"/>
              <a:t>:/ inside Spark</a:t>
            </a:r>
          </a:p>
          <a:p>
            <a:endParaRPr lang="en-US" sz="2800" b="1" dirty="0"/>
          </a:p>
          <a:p>
            <a:r>
              <a:rPr lang="en-US" sz="2800" b="1" dirty="0"/>
              <a:t>Use /</a:t>
            </a:r>
            <a:r>
              <a:rPr lang="en-US" sz="2800" b="1" dirty="0" err="1"/>
              <a:t>dbfs</a:t>
            </a:r>
            <a:r>
              <a:rPr lang="en-US" sz="2800" b="1" dirty="0"/>
              <a:t>/ when accessing from Python OS or bash</a:t>
            </a:r>
          </a:p>
        </p:txBody>
      </p:sp>
    </p:spTree>
    <p:extLst>
      <p:ext uri="{BB962C8B-B14F-4D97-AF65-F5344CB8AC3E}">
        <p14:creationId xmlns:p14="http://schemas.microsoft.com/office/powerpoint/2010/main" val="18122031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890BDB1-D287-4AD2-DD5B-CF8DF0C0F3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6239599" cy="1307590"/>
          </a:xfrm>
        </p:spPr>
        <p:txBody>
          <a:bodyPr>
            <a:normAutofit/>
          </a:bodyPr>
          <a:lstStyle/>
          <a:p>
            <a:r>
              <a:rPr lang="en-US" dirty="0"/>
              <a:t>4️⃣ </a:t>
            </a:r>
            <a:r>
              <a:rPr lang="en-US"/>
              <a:t>Hive Metastore</a:t>
            </a:r>
            <a:endParaRPr lang="en-US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815BE95-1337-20E2-B2EF-5DA486F72F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42B492-3CBE-0224-5363-A41D29664A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4088" y="2221992"/>
            <a:ext cx="6239599" cy="3941064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700"/>
              <a:t>Legacy metadata store in Databricks used to:</a:t>
            </a:r>
          </a:p>
          <a:p>
            <a:pPr>
              <a:lnSpc>
                <a:spcPct val="100000"/>
              </a:lnSpc>
            </a:pPr>
            <a:r>
              <a:rPr lang="en-US" sz="1700"/>
              <a:t>Store table definitions</a:t>
            </a:r>
          </a:p>
          <a:p>
            <a:pPr>
              <a:lnSpc>
                <a:spcPct val="100000"/>
              </a:lnSpc>
            </a:pPr>
            <a:r>
              <a:rPr lang="en-US" sz="1700"/>
              <a:t>Manage schemas and databases</a:t>
            </a:r>
          </a:p>
          <a:p>
            <a:pPr>
              <a:lnSpc>
                <a:spcPct val="100000"/>
              </a:lnSpc>
            </a:pPr>
            <a:r>
              <a:rPr lang="en-US" sz="1700"/>
              <a:t>Integrate with external systems like AWS Glue</a:t>
            </a:r>
          </a:p>
          <a:p>
            <a:pPr>
              <a:lnSpc>
                <a:spcPct val="100000"/>
              </a:lnSpc>
            </a:pPr>
            <a:endParaRPr lang="en-US" sz="1700"/>
          </a:p>
          <a:p>
            <a:pPr>
              <a:lnSpc>
                <a:spcPct val="100000"/>
              </a:lnSpc>
            </a:pPr>
            <a:r>
              <a:rPr lang="en-US" sz="1700"/>
              <a:t>👉 It does </a:t>
            </a:r>
            <a:r>
              <a:rPr lang="en-US" sz="1700" b="1"/>
              <a:t>NOT store actual data</a:t>
            </a:r>
          </a:p>
          <a:p>
            <a:pPr>
              <a:lnSpc>
                <a:spcPct val="100000"/>
              </a:lnSpc>
            </a:pPr>
            <a:r>
              <a:rPr lang="en-US" sz="1700"/>
              <a:t>👉 It stores only </a:t>
            </a:r>
            <a:r>
              <a:rPr lang="en-US" sz="1700" b="1"/>
              <a:t>metadata about data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700"/>
              <a:t>Example:</a:t>
            </a:r>
          </a:p>
          <a:p>
            <a:pPr>
              <a:lnSpc>
                <a:spcPct val="100000"/>
              </a:lnSpc>
            </a:pPr>
            <a:r>
              <a:rPr lang="en-US" sz="1700"/>
              <a:t>SHOW DATABASES;</a:t>
            </a:r>
            <a:br>
              <a:rPr lang="en-US" sz="1700"/>
            </a:br>
            <a:r>
              <a:rPr lang="en-US" sz="1700"/>
              <a:t>SHOW TABLES;</a:t>
            </a:r>
          </a:p>
          <a:p>
            <a:pPr marL="0" indent="0">
              <a:lnSpc>
                <a:spcPct val="100000"/>
              </a:lnSpc>
              <a:buNone/>
            </a:pPr>
            <a:endParaRPr lang="en-US" sz="17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882D671-83A2-B829-C696-B8A7E5DEF98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2727"/>
          <a:stretch>
            <a:fillRect/>
          </a:stretch>
        </p:blipFill>
        <p:spPr>
          <a:xfrm>
            <a:off x="7583424" y="10"/>
            <a:ext cx="4608576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80923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200203-D456-51D5-48CB-DCCA15A852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691265" cy="1307592"/>
          </a:xfrm>
        </p:spPr>
        <p:txBody>
          <a:bodyPr>
            <a:normAutofit/>
          </a:bodyPr>
          <a:lstStyle/>
          <a:p>
            <a:r>
              <a:rPr lang="en-US" sz="2700" b="1" dirty="0"/>
              <a:t>🔹 Why Hive </a:t>
            </a:r>
            <a:r>
              <a:rPr lang="en-US" sz="2700" b="1" dirty="0" err="1"/>
              <a:t>Metastore</a:t>
            </a:r>
            <a:r>
              <a:rPr lang="en-US" sz="2700" b="1" dirty="0"/>
              <a:t> Is Being Replaced with Unity Catalog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E12B9F-FF94-863C-1999-DFC36AE381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3178" y="1176963"/>
            <a:ext cx="10691265" cy="5114979"/>
          </a:xfrm>
        </p:spPr>
        <p:txBody>
          <a:bodyPr>
            <a:normAutofit/>
          </a:bodyPr>
          <a:lstStyle/>
          <a:p>
            <a:r>
              <a:rPr lang="en-US" dirty="0"/>
              <a:t>❌ No centralized governance</a:t>
            </a:r>
            <a:br>
              <a:rPr lang="en-US" dirty="0"/>
            </a:br>
            <a:r>
              <a:rPr lang="en-US" dirty="0"/>
              <a:t>❌ No data lineage</a:t>
            </a:r>
            <a:br>
              <a:rPr lang="en-US" dirty="0"/>
            </a:br>
            <a:r>
              <a:rPr lang="en-US" dirty="0"/>
              <a:t>❌ Limited security</a:t>
            </a:r>
            <a:br>
              <a:rPr lang="en-US" dirty="0"/>
            </a:br>
            <a:r>
              <a:rPr lang="en-US" dirty="0"/>
              <a:t>❌ Not cross-workspace</a:t>
            </a:r>
          </a:p>
          <a:p>
            <a:pPr marL="0" indent="0">
              <a:buNone/>
            </a:pPr>
            <a:r>
              <a:rPr lang="en-US" dirty="0"/>
              <a:t>✅ Unity Catalog provides:</a:t>
            </a:r>
          </a:p>
          <a:p>
            <a:r>
              <a:rPr lang="en-US" dirty="0"/>
              <a:t>Fine-grained access control</a:t>
            </a:r>
          </a:p>
          <a:p>
            <a:r>
              <a:rPr lang="en-US" dirty="0"/>
              <a:t>Data lineage</a:t>
            </a:r>
          </a:p>
          <a:p>
            <a:r>
              <a:rPr lang="en-US" dirty="0"/>
              <a:t>Cross-workspace sharing</a:t>
            </a:r>
          </a:p>
          <a:p>
            <a:r>
              <a:rPr lang="en-US" dirty="0"/>
              <a:t>External locations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02291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09C05-F7DA-7ED4-D5D8-9A5934CD6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1757"/>
            <a:ext cx="11155680" cy="523821"/>
          </a:xfrm>
        </p:spPr>
        <p:txBody>
          <a:bodyPr>
            <a:normAutofit fontScale="90000"/>
          </a:bodyPr>
          <a:lstStyle/>
          <a:p>
            <a:r>
              <a:rPr lang="en-US" dirty="0"/>
              <a:t>5️⃣ File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51CF8F-8626-0335-DC26-789E449691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7293" y="1435608"/>
            <a:ext cx="11155680" cy="376732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Common formats supported in Databricks:</a:t>
            </a:r>
          </a:p>
          <a:p>
            <a:r>
              <a:rPr lang="en-US" dirty="0"/>
              <a:t>CSV</a:t>
            </a:r>
          </a:p>
          <a:p>
            <a:r>
              <a:rPr lang="en-US" dirty="0"/>
              <a:t>JSON</a:t>
            </a:r>
          </a:p>
          <a:p>
            <a:r>
              <a:rPr lang="en-US" dirty="0"/>
              <a:t>Parquet</a:t>
            </a:r>
          </a:p>
          <a:p>
            <a:r>
              <a:rPr lang="en-US" dirty="0"/>
              <a:t>ORC</a:t>
            </a:r>
          </a:p>
          <a:p>
            <a:r>
              <a:rPr lang="en-US" dirty="0"/>
              <a:t>Delta Lake</a:t>
            </a:r>
          </a:p>
          <a:p>
            <a:r>
              <a:rPr lang="en-US" dirty="0"/>
              <a:t>Avro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863464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B7DC39-12F4-68F6-D702-D0E8153578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66185"/>
            <a:ext cx="11155680" cy="578249"/>
          </a:xfrm>
        </p:spPr>
        <p:txBody>
          <a:bodyPr>
            <a:normAutofit fontScale="90000"/>
          </a:bodyPr>
          <a:lstStyle/>
          <a:p>
            <a:r>
              <a:rPr lang="en-US" dirty="0"/>
              <a:t>6️⃣ Databricks Security Fundamentals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FDAE19-2469-3AF3-5E00-71960C9667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160" y="1402951"/>
            <a:ext cx="11155680" cy="376732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Covers:</a:t>
            </a:r>
          </a:p>
          <a:p>
            <a:r>
              <a:rPr lang="en-US" dirty="0"/>
              <a:t>IAM roles</a:t>
            </a:r>
          </a:p>
          <a:p>
            <a:r>
              <a:rPr lang="en-US" dirty="0"/>
              <a:t>Access control</a:t>
            </a:r>
          </a:p>
          <a:p>
            <a:r>
              <a:rPr lang="en-US" dirty="0"/>
              <a:t>Workspace permissions</a:t>
            </a:r>
          </a:p>
          <a:p>
            <a:r>
              <a:rPr lang="en-US" dirty="0"/>
              <a:t>Data encryption</a:t>
            </a:r>
          </a:p>
          <a:p>
            <a:r>
              <a:rPr lang="en-US" dirty="0"/>
              <a:t>Unity Catalog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2027122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</TotalTime>
  <Words>773</Words>
  <Application>Microsoft Office PowerPoint</Application>
  <PresentationFormat>Widescreen</PresentationFormat>
  <Paragraphs>144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Arial</vt:lpstr>
      <vt:lpstr>Calisto MT</vt:lpstr>
      <vt:lpstr>Courier New</vt:lpstr>
      <vt:lpstr>Univers Condensed</vt:lpstr>
      <vt:lpstr>ChronicleVTI</vt:lpstr>
      <vt:lpstr>Databricks-Day2-Part1</vt:lpstr>
      <vt:lpstr>1️⃣ Clusters</vt:lpstr>
      <vt:lpstr>2️⃣ Using Notebooks</vt:lpstr>
      <vt:lpstr>3️⃣ Databricks FileStore</vt:lpstr>
      <vt:lpstr>DBFS in Databricks</vt:lpstr>
      <vt:lpstr>🔹 DBFS Architecture</vt:lpstr>
      <vt:lpstr>🔹 DBFS Path Formats</vt:lpstr>
      <vt:lpstr>🔹 Upload File to DBFS</vt:lpstr>
      <vt:lpstr>Upload file using UI</vt:lpstr>
      <vt:lpstr>Browse to upload files</vt:lpstr>
      <vt:lpstr>Create a Volume &amp; Specify Catalog &amp; Schema Name</vt:lpstr>
      <vt:lpstr>PowerPoint Presentation</vt:lpstr>
      <vt:lpstr>PowerPoint Presentation</vt:lpstr>
      <vt:lpstr>PowerPoint Presentation</vt:lpstr>
      <vt:lpstr>🔹 DBFS vs Mount</vt:lpstr>
      <vt:lpstr>Important (2026 Update) </vt:lpstr>
      <vt:lpstr>PowerPoint Presentation</vt:lpstr>
      <vt:lpstr>🔹 Difference Between dbfs:/ and /dbfs/</vt:lpstr>
      <vt:lpstr>4️⃣ Hive Metastore</vt:lpstr>
      <vt:lpstr>🔹 Why Hive Metastore Is Being Replaced with Unity Catalog </vt:lpstr>
      <vt:lpstr>5️⃣ File Types</vt:lpstr>
      <vt:lpstr>6️⃣ Databricks Security Fundamentals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Rajesh Kumar Devabhaktuni</dc:creator>
  <cp:lastModifiedBy>Rajesh Kumar Devabhaktuni</cp:lastModifiedBy>
  <cp:revision>13</cp:revision>
  <dcterms:created xsi:type="dcterms:W3CDTF">2026-02-28T01:54:42Z</dcterms:created>
  <dcterms:modified xsi:type="dcterms:W3CDTF">2026-03-01T05:09:37Z</dcterms:modified>
</cp:coreProperties>
</file>