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65" r:id="rId3"/>
    <p:sldId id="264" r:id="rId4"/>
    <p:sldId id="263" r:id="rId5"/>
    <p:sldId id="266" r:id="rId6"/>
    <p:sldId id="267" r:id="rId7"/>
    <p:sldId id="268" r:id="rId8"/>
    <p:sldId id="269" r:id="rId9"/>
    <p:sldId id="271" r:id="rId10"/>
    <p:sldId id="272" r:id="rId11"/>
    <p:sldId id="273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6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7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6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31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3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6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6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8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2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7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85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879B3-110F-9904-DC02-F36FB76206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41" r="9091" b="867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26F87-7C60-10F6-9350-16D54D54C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 dirty="0"/>
              <a:t>Day2-Databricks-Part2</a:t>
            </a:r>
          </a:p>
        </p:txBody>
      </p:sp>
    </p:spTree>
    <p:extLst>
      <p:ext uri="{BB962C8B-B14F-4D97-AF65-F5344CB8AC3E}">
        <p14:creationId xmlns:p14="http://schemas.microsoft.com/office/powerpoint/2010/main" val="236119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B531-7413-132A-BBF3-36EE05EEB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351" y="2697480"/>
            <a:ext cx="11155680" cy="1463040"/>
          </a:xfrm>
        </p:spPr>
        <p:txBody>
          <a:bodyPr/>
          <a:lstStyle/>
          <a:p>
            <a:r>
              <a:rPr lang="en-US" dirty="0"/>
              <a:t>DELTA LAKE AND DATA MANAGEMENT</a:t>
            </a:r>
          </a:p>
        </p:txBody>
      </p:sp>
    </p:spTree>
    <p:extLst>
      <p:ext uri="{BB962C8B-B14F-4D97-AF65-F5344CB8AC3E}">
        <p14:creationId xmlns:p14="http://schemas.microsoft.com/office/powerpoint/2010/main" val="61165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3458-7210-085C-A465-F39E0048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278"/>
            <a:ext cx="11155680" cy="502049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 UI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B028-4A78-0DCF-73DA-CC6F5F69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283208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typically refers to the </a:t>
            </a:r>
            <a:r>
              <a:rPr lang="en-US" b="1" dirty="0"/>
              <a:t>Databricks workspace interface</a:t>
            </a:r>
            <a:r>
              <a:rPr lang="en-US" dirty="0"/>
              <a:t>, where you manage data and Delta tables.</a:t>
            </a:r>
          </a:p>
          <a:p>
            <a:pPr marL="0" indent="0">
              <a:buNone/>
            </a:pPr>
            <a:r>
              <a:rPr lang="en-US" dirty="0"/>
              <a:t>Key components:</a:t>
            </a:r>
          </a:p>
          <a:p>
            <a:r>
              <a:rPr lang="en-US" b="1" dirty="0"/>
              <a:t>Workspace</a:t>
            </a:r>
            <a:r>
              <a:rPr lang="en-US" dirty="0"/>
              <a:t> – Notebooks, folders, repos</a:t>
            </a:r>
          </a:p>
          <a:p>
            <a:r>
              <a:rPr lang="en-US" b="1" dirty="0"/>
              <a:t>Data tab / Catalog</a:t>
            </a:r>
            <a:r>
              <a:rPr lang="en-US" dirty="0"/>
              <a:t> – View databases, tables, schema</a:t>
            </a:r>
          </a:p>
          <a:p>
            <a:r>
              <a:rPr lang="en-US" b="1" dirty="0"/>
              <a:t>Compute</a:t>
            </a:r>
            <a:r>
              <a:rPr lang="en-US" dirty="0"/>
              <a:t> – Create and manage clusters</a:t>
            </a:r>
          </a:p>
          <a:p>
            <a:r>
              <a:rPr lang="en-US" b="1" dirty="0"/>
              <a:t>Jobs &amp; Workflows</a:t>
            </a:r>
            <a:r>
              <a:rPr lang="en-US" dirty="0"/>
              <a:t> – Schedule pipelines</a:t>
            </a:r>
          </a:p>
          <a:p>
            <a:r>
              <a:rPr lang="en-US" b="1" dirty="0"/>
              <a:t>SQL Editor</a:t>
            </a:r>
            <a:r>
              <a:rPr lang="en-US" dirty="0"/>
              <a:t> – Run SQL queries on Delta tables</a:t>
            </a:r>
          </a:p>
          <a:p>
            <a:r>
              <a:rPr lang="en-US" dirty="0"/>
              <a:t>The UI helps manage Delta Lake operations visually.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3EC4-CEEF-814D-FA81-797CFA91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1049" y="0"/>
            <a:ext cx="11155680" cy="402771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Delta Lake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1D465-1650-7808-7217-662063CA4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065" y="1446494"/>
            <a:ext cx="11155680" cy="49651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Delta Lake</a:t>
            </a:r>
            <a:r>
              <a:rPr lang="en-US" sz="2800" dirty="0"/>
              <a:t> is an open-source storage layer built on top of data lakes (like S3, ADLS, GCS).</a:t>
            </a:r>
          </a:p>
          <a:p>
            <a:pPr marL="0" indent="0">
              <a:buNone/>
            </a:pPr>
            <a:r>
              <a:rPr lang="en-US" sz="2800" dirty="0"/>
              <a:t>It provides:</a:t>
            </a:r>
          </a:p>
          <a:p>
            <a:r>
              <a:rPr lang="en-US" sz="2800" dirty="0"/>
              <a:t>ACID transactions</a:t>
            </a:r>
          </a:p>
          <a:p>
            <a:r>
              <a:rPr lang="en-US" sz="2800" dirty="0"/>
              <a:t>Schema enforcement</a:t>
            </a:r>
          </a:p>
          <a:p>
            <a:r>
              <a:rPr lang="en-US" sz="2800" dirty="0"/>
              <a:t>Schema evolution</a:t>
            </a:r>
          </a:p>
          <a:p>
            <a:r>
              <a:rPr lang="en-US" sz="2800" dirty="0"/>
              <a:t>Time travel</a:t>
            </a:r>
          </a:p>
          <a:p>
            <a:r>
              <a:rPr lang="en-US" sz="2800" dirty="0"/>
              <a:t>High performance with optimizations</a:t>
            </a:r>
          </a:p>
          <a:p>
            <a:r>
              <a:rPr lang="en-US" sz="2800" dirty="0"/>
              <a:t>It stores data in </a:t>
            </a:r>
            <a:r>
              <a:rPr lang="en-US" sz="2800" b="1" dirty="0"/>
              <a:t>Parquet format</a:t>
            </a:r>
            <a:r>
              <a:rPr lang="en-US" sz="2800" dirty="0"/>
              <a:t> with a transaction log (_</a:t>
            </a:r>
            <a:r>
              <a:rPr lang="en-US" sz="2800" dirty="0" err="1"/>
              <a:t>delta_log</a:t>
            </a:r>
            <a:r>
              <a:rPr lang="en-US" sz="2800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36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6B4E-07D9-0DA2-D3A6-321D9B6E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1049" y="-88392"/>
            <a:ext cx="11155680" cy="512935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ACID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A441B-EC37-A0EA-A515-C6B97C81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545336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Delta Lake ensures:</a:t>
            </a:r>
          </a:p>
          <a:p>
            <a:r>
              <a:rPr lang="en-US" sz="2400" b="1" dirty="0"/>
              <a:t>Atomicity</a:t>
            </a:r>
            <a:r>
              <a:rPr lang="en-US" sz="2400" dirty="0"/>
              <a:t> – All operations succeed or fail together</a:t>
            </a:r>
          </a:p>
          <a:p>
            <a:r>
              <a:rPr lang="en-US" sz="2400" b="1" dirty="0"/>
              <a:t>Consistency</a:t>
            </a:r>
            <a:r>
              <a:rPr lang="en-US" sz="2400" dirty="0"/>
              <a:t> – Data remains valid after transactions</a:t>
            </a:r>
          </a:p>
          <a:p>
            <a:r>
              <a:rPr lang="en-US" sz="2400" b="1" dirty="0"/>
              <a:t>Isolation</a:t>
            </a:r>
            <a:r>
              <a:rPr lang="en-US" sz="2400" dirty="0"/>
              <a:t> – Concurrent writes don’t corrupt data</a:t>
            </a:r>
          </a:p>
          <a:p>
            <a:r>
              <a:rPr lang="en-US" sz="2400" b="1" dirty="0"/>
              <a:t>Durability</a:t>
            </a:r>
            <a:r>
              <a:rPr lang="en-US" sz="2400" dirty="0"/>
              <a:t> – Committed data is never lost</a:t>
            </a:r>
          </a:p>
          <a:p>
            <a:r>
              <a:rPr lang="en-US" sz="2400" dirty="0"/>
              <a:t>This is achieved through the </a:t>
            </a:r>
            <a:r>
              <a:rPr lang="en-US" sz="2400" b="1" dirty="0"/>
              <a:t>Delta transaction log</a:t>
            </a:r>
            <a:r>
              <a:rPr lang="en-US" sz="2400" dirty="0"/>
              <a:t>, enabling reliable streaming + batch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34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102C-D214-8300-F27F-641A6077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1049" y="-98842"/>
            <a:ext cx="11155680" cy="610906"/>
          </a:xfrm>
        </p:spPr>
        <p:txBody>
          <a:bodyPr>
            <a:normAutofit fontScale="90000"/>
          </a:bodyPr>
          <a:lstStyle/>
          <a:p>
            <a:r>
              <a:rPr lang="en-US" dirty="0"/>
              <a:t>4️⃣ Schema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88D01-68C2-30FD-EEF8-1109B3E53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076379"/>
            <a:ext cx="11155680" cy="37673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Schema Evolution allows modifying table structure without breaking pipelines.</a:t>
            </a:r>
          </a:p>
          <a:p>
            <a:pPr marL="0" indent="0">
              <a:buNone/>
            </a:pPr>
            <a:r>
              <a:rPr lang="en-US" sz="2800" b="1" dirty="0"/>
              <a:t>Examples:</a:t>
            </a:r>
          </a:p>
          <a:p>
            <a:r>
              <a:rPr lang="en-US" sz="2800" dirty="0"/>
              <a:t>Adding new columns</a:t>
            </a:r>
          </a:p>
          <a:p>
            <a:r>
              <a:rPr lang="en-US" sz="2800" dirty="0"/>
              <a:t>Changing column types (in some cases)</a:t>
            </a:r>
          </a:p>
          <a:p>
            <a:r>
              <a:rPr lang="en-US" sz="2800" dirty="0"/>
              <a:t>Merging schemas during writes</a:t>
            </a:r>
          </a:p>
          <a:p>
            <a:pPr marL="0" indent="0">
              <a:buNone/>
            </a:pPr>
            <a:r>
              <a:rPr lang="en-US" sz="2800" dirty="0"/>
              <a:t>Options in Spark:</a:t>
            </a:r>
          </a:p>
          <a:p>
            <a:r>
              <a:rPr lang="en-US" sz="2800" dirty="0"/>
              <a:t>.option("</a:t>
            </a:r>
            <a:r>
              <a:rPr lang="en-US" sz="2800" dirty="0" err="1"/>
              <a:t>mergeSchema</a:t>
            </a:r>
            <a:r>
              <a:rPr lang="en-US" sz="2800" dirty="0"/>
              <a:t>", "true")</a:t>
            </a:r>
          </a:p>
          <a:p>
            <a:r>
              <a:rPr lang="en-US" sz="2800" dirty="0"/>
              <a:t>It supports gradual schema changes in evolving data 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83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BF75-67F9-7A80-0497-96E1DA7E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55680" cy="381000"/>
          </a:xfrm>
        </p:spPr>
        <p:txBody>
          <a:bodyPr>
            <a:normAutofit fontScale="90000"/>
          </a:bodyPr>
          <a:lstStyle/>
          <a:p>
            <a:r>
              <a:rPr lang="en-US" dirty="0"/>
              <a:t>5️⃣ Time Travel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0CF85-91C4-FAA7-F2BB-26E7C0447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37" y="891974"/>
            <a:ext cx="11155680" cy="59660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dirty="0"/>
              <a:t>Time Travel allows querying historical versions of a Delta table.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Time Travel in Databricks works on </a:t>
            </a:r>
            <a:r>
              <a:rPr lang="en-US" sz="3200" b="1" dirty="0"/>
              <a:t>Delta tables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It allows you to query </a:t>
            </a:r>
            <a:r>
              <a:rPr lang="en-US" sz="3200" b="1" dirty="0"/>
              <a:t>previous versions</a:t>
            </a:r>
            <a:r>
              <a:rPr lang="en-US" sz="3200" dirty="0"/>
              <a:t> of a table.</a:t>
            </a:r>
          </a:p>
          <a:p>
            <a:r>
              <a:rPr lang="en-US" sz="3200" dirty="0"/>
              <a:t>✅ Works with Unity Catalog</a:t>
            </a:r>
            <a:br>
              <a:rPr lang="en-US" sz="3200" dirty="0"/>
            </a:br>
            <a:r>
              <a:rPr lang="en-US" sz="3200" dirty="0"/>
              <a:t>✅ Works only for Delta tables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Can:</a:t>
            </a:r>
          </a:p>
          <a:p>
            <a:r>
              <a:rPr lang="en-US" sz="3200" dirty="0"/>
              <a:t>Query previous versions</a:t>
            </a:r>
          </a:p>
          <a:p>
            <a:r>
              <a:rPr lang="en-US" sz="3200" dirty="0"/>
              <a:t>Restore deleted data</a:t>
            </a:r>
          </a:p>
          <a:p>
            <a:r>
              <a:rPr lang="en-US" sz="3200" dirty="0"/>
              <a:t>Audit changes</a:t>
            </a:r>
          </a:p>
          <a:p>
            <a:pPr marL="0" indent="0">
              <a:buNone/>
            </a:pPr>
            <a:r>
              <a:rPr lang="en-US" sz="3200" b="1" dirty="0"/>
              <a:t>Example:</a:t>
            </a:r>
          </a:p>
          <a:p>
            <a:r>
              <a:rPr lang="en-US" sz="3200" dirty="0"/>
              <a:t>SELECT * FROM table VERSION AS OF 5;</a:t>
            </a:r>
          </a:p>
          <a:p>
            <a:r>
              <a:rPr lang="en-US" sz="3200" dirty="0"/>
              <a:t>Useful for debugging, auditing, and rollback.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21672-7B1F-B9E3-9726-65CA21FB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029" y="1871820"/>
            <a:ext cx="5237334" cy="429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9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DC87A-4DCC-01E4-B324-B6873883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757"/>
            <a:ext cx="11155680" cy="523821"/>
          </a:xfrm>
        </p:spPr>
        <p:txBody>
          <a:bodyPr>
            <a:normAutofit fontScale="90000"/>
          </a:bodyPr>
          <a:lstStyle/>
          <a:p>
            <a:r>
              <a:rPr lang="en-US" dirty="0"/>
              <a:t>6️⃣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410FE-8603-2173-8805-BF47EFB34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545336"/>
            <a:ext cx="11155680" cy="376732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dirty="0"/>
              <a:t>Optimization improves query performance.</a:t>
            </a:r>
          </a:p>
          <a:p>
            <a:pPr marL="0" indent="0">
              <a:buNone/>
            </a:pPr>
            <a:r>
              <a:rPr lang="en-US" sz="2800" b="1" dirty="0"/>
              <a:t>Common techniques:</a:t>
            </a:r>
          </a:p>
          <a:p>
            <a:r>
              <a:rPr lang="en-US" sz="2800" b="1" dirty="0"/>
              <a:t>OPTIMIZE</a:t>
            </a:r>
            <a:r>
              <a:rPr lang="en-US" sz="2800" dirty="0"/>
              <a:t> (compaction – reduces small files)</a:t>
            </a:r>
          </a:p>
          <a:p>
            <a:r>
              <a:rPr lang="en-US" sz="2800" b="1" dirty="0"/>
              <a:t>Z-ORDER</a:t>
            </a:r>
            <a:r>
              <a:rPr lang="en-US" sz="2800" dirty="0"/>
              <a:t> (cluster data for faster filtering)</a:t>
            </a:r>
          </a:p>
          <a:p>
            <a:r>
              <a:rPr lang="en-US" sz="2800" b="1" dirty="0"/>
              <a:t>VACUUM</a:t>
            </a:r>
            <a:r>
              <a:rPr lang="en-US" sz="2800" dirty="0"/>
              <a:t> (remove old files)</a:t>
            </a:r>
          </a:p>
          <a:p>
            <a:pPr marL="0" indent="0">
              <a:buNone/>
            </a:pPr>
            <a:r>
              <a:rPr lang="en-US" sz="2800" b="1" dirty="0"/>
              <a:t>Partitioning strategy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r>
              <a:rPr lang="en-US" sz="2800" dirty="0"/>
              <a:t>OPTIMIZE sales ZORDER BY (</a:t>
            </a:r>
            <a:r>
              <a:rPr lang="en-US" sz="2800" dirty="0" err="1"/>
              <a:t>customer_id</a:t>
            </a:r>
            <a:r>
              <a:rPr lang="en-US" sz="2800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71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34A4-F4D6-FDA0-1080-8EE4A38C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50" y="-152400"/>
            <a:ext cx="11155680" cy="827314"/>
          </a:xfrm>
        </p:spPr>
        <p:txBody>
          <a:bodyPr>
            <a:normAutofit/>
          </a:bodyPr>
          <a:lstStyle/>
          <a:p>
            <a:r>
              <a:rPr lang="en-US" dirty="0"/>
              <a:t>Optimize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6A752-A664-D7EF-D25D-771EAB5E3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408" y="1011064"/>
            <a:ext cx="11155680" cy="57707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Problem:</a:t>
            </a:r>
          </a:p>
          <a:p>
            <a:r>
              <a:rPr lang="en-US" dirty="0"/>
              <a:t>When you continuously write data (streaming or frequent inserts), many </a:t>
            </a:r>
            <a:r>
              <a:rPr lang="en-US" b="1" dirty="0"/>
              <a:t>small files</a:t>
            </a:r>
            <a:r>
              <a:rPr lang="en-US" dirty="0"/>
              <a:t> are created.</a:t>
            </a:r>
          </a:p>
          <a:p>
            <a:r>
              <a:rPr lang="en-US" dirty="0"/>
              <a:t>Too many small files =</a:t>
            </a:r>
            <a:br>
              <a:rPr lang="en-US" dirty="0"/>
            </a:br>
            <a:r>
              <a:rPr lang="en-US" dirty="0"/>
              <a:t>❌ Slow reads</a:t>
            </a:r>
            <a:br>
              <a:rPr lang="en-US" dirty="0"/>
            </a:br>
            <a:r>
              <a:rPr lang="en-US" dirty="0"/>
              <a:t>❌ More metadata overhead</a:t>
            </a:r>
            <a:br>
              <a:rPr lang="en-US" dirty="0"/>
            </a:br>
            <a:r>
              <a:rPr lang="en-US" dirty="0"/>
              <a:t>❌ Poor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Solution: OPTIMIZE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OPTIMIZE sales;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This:</a:t>
            </a:r>
          </a:p>
          <a:p>
            <a:r>
              <a:rPr lang="en-US" dirty="0"/>
              <a:t>Combines small files into larger files</a:t>
            </a:r>
          </a:p>
          <a:p>
            <a:r>
              <a:rPr lang="en-US" dirty="0"/>
              <a:t>Improves read performance</a:t>
            </a:r>
          </a:p>
          <a:p>
            <a:r>
              <a:rPr lang="en-US" dirty="0"/>
              <a:t>Reduces file count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61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18A1-31D2-C3CD-5A86-61D51D76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23" y="0"/>
            <a:ext cx="11155680" cy="1463040"/>
          </a:xfrm>
        </p:spPr>
        <p:txBody>
          <a:bodyPr>
            <a:normAutofit/>
          </a:bodyPr>
          <a:lstStyle/>
          <a:p>
            <a:r>
              <a:rPr lang="en-US" sz="2400" dirty="0"/>
              <a:t>2️⃣ Z-ORDER (Cluster Data for Faster Filtering)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DD40D-08A6-0297-81A6-66BA3F3A6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494" y="836893"/>
            <a:ext cx="11155680" cy="58795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🔥 Problem:</a:t>
            </a:r>
          </a:p>
          <a:p>
            <a:r>
              <a:rPr lang="en-US" dirty="0"/>
              <a:t>If you filter frequently on a column:       </a:t>
            </a:r>
            <a:r>
              <a:rPr lang="en-US" b="1" dirty="0">
                <a:highlight>
                  <a:srgbClr val="FFFF00"/>
                </a:highlight>
              </a:rPr>
              <a:t>SELECT * FROM sales WHERE </a:t>
            </a:r>
            <a:r>
              <a:rPr lang="en-US" b="1" dirty="0" err="1">
                <a:highlight>
                  <a:srgbClr val="FFFF00"/>
                </a:highlight>
              </a:rPr>
              <a:t>customer_id</a:t>
            </a:r>
            <a:r>
              <a:rPr lang="en-US" b="1" dirty="0">
                <a:highlight>
                  <a:srgbClr val="FFFF00"/>
                </a:highlight>
              </a:rPr>
              <a:t> = 101;</a:t>
            </a:r>
          </a:p>
          <a:p>
            <a:r>
              <a:rPr lang="en-US" b="1" dirty="0">
                <a:solidFill>
                  <a:srgbClr val="FF0000"/>
                </a:solidFill>
              </a:rPr>
              <a:t>Without clustering → full scan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With Z-ORDER → faster skipping of irrelevant files</a:t>
            </a:r>
          </a:p>
          <a:p>
            <a:pPr marL="0" indent="0">
              <a:buNone/>
            </a:pPr>
            <a:r>
              <a:rPr lang="en-US" dirty="0"/>
              <a:t>✅ Use Z-ORDER</a:t>
            </a:r>
          </a:p>
          <a:p>
            <a:pPr marL="0" indent="0">
              <a:buNone/>
            </a:pPr>
            <a:r>
              <a:rPr lang="en-US" dirty="0"/>
              <a:t>This:</a:t>
            </a:r>
          </a:p>
          <a:p>
            <a:r>
              <a:rPr lang="en-US" dirty="0"/>
              <a:t>Physically reorganizes data</a:t>
            </a:r>
          </a:p>
          <a:p>
            <a:r>
              <a:rPr lang="en-US" dirty="0"/>
              <a:t>Groups similar values together</a:t>
            </a:r>
          </a:p>
          <a:p>
            <a:r>
              <a:rPr lang="en-US" dirty="0"/>
              <a:t>Improves filtering &amp; join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When to Use Z-ORDER?</a:t>
            </a:r>
          </a:p>
          <a:p>
            <a:pPr marL="0" indent="0">
              <a:buNone/>
            </a:pPr>
            <a:r>
              <a:rPr lang="en-US" b="1" dirty="0"/>
              <a:t>Use when:</a:t>
            </a:r>
          </a:p>
          <a:p>
            <a:r>
              <a:rPr lang="en-US" b="1" dirty="0"/>
              <a:t>Large tables (100GB+)</a:t>
            </a:r>
          </a:p>
          <a:p>
            <a:r>
              <a:rPr lang="en-US" b="1" dirty="0"/>
              <a:t>Frequent filtering on certain columns</a:t>
            </a:r>
          </a:p>
          <a:p>
            <a:r>
              <a:rPr lang="en-US" b="1" dirty="0"/>
              <a:t>High-cardinality columns (</a:t>
            </a:r>
            <a:r>
              <a:rPr lang="en-US" b="1" dirty="0" err="1"/>
              <a:t>customer_id</a:t>
            </a:r>
            <a:r>
              <a:rPr lang="en-US" b="1" dirty="0"/>
              <a:t>, </a:t>
            </a:r>
            <a:r>
              <a:rPr lang="en-US" b="1" dirty="0" err="1"/>
              <a:t>order_id</a:t>
            </a:r>
            <a:r>
              <a:rPr lang="en-US" b="1" dirty="0"/>
              <a:t>)</a:t>
            </a:r>
          </a:p>
          <a:p>
            <a:r>
              <a:rPr lang="en-US" b="1" dirty="0"/>
              <a:t>⚠️ Do NOT overuse on many columns.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37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EDEA-0D5A-2BE8-2CE5-85D730C29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1049"/>
            <a:ext cx="11155680" cy="523821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VACUUM (Remove Old Files)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651D5-4115-3A3D-A7B2-7A6926C6E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94" y="880436"/>
            <a:ext cx="11155680" cy="590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Needed?</a:t>
            </a:r>
          </a:p>
          <a:p>
            <a:pPr marL="0" indent="0">
              <a:buNone/>
            </a:pPr>
            <a:r>
              <a:rPr lang="en-US" dirty="0"/>
              <a:t>VACUUM permanently deletes old data files from a Delta table that are no longer needed and older than the retention period. It helps reduce storage but removes time travel ability for those versions.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✅ Use VACUUM - </a:t>
            </a:r>
            <a:r>
              <a:rPr lang="en-US" dirty="0"/>
              <a:t>VACUUM is a </a:t>
            </a:r>
            <a:r>
              <a:rPr lang="en-US" b="1" dirty="0"/>
              <a:t>Delta Lake cleanup command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VACUUM sales;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Default: Removes files older than 7 days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If you vacuum aggressively:</a:t>
            </a:r>
          </a:p>
          <a:p>
            <a:r>
              <a:rPr lang="en-US" dirty="0"/>
              <a:t>VACUUM sales RETAIN 0 HOURS;</a:t>
            </a:r>
          </a:p>
          <a:p>
            <a:r>
              <a:rPr lang="en-US" dirty="0"/>
              <a:t>❌ You lose time travel ability permanently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In production:</a:t>
            </a:r>
          </a:p>
          <a:p>
            <a:r>
              <a:rPr lang="en-US" b="1" dirty="0">
                <a:highlight>
                  <a:srgbClr val="FFFF00"/>
                </a:highlight>
              </a:rPr>
              <a:t>VACUUM sales RETAIN 168 HOURS; -- 7 days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534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7921-A2EF-D657-3A9E-F7DCD7FF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507" y="-77506"/>
            <a:ext cx="11155680" cy="480278"/>
          </a:xfrm>
        </p:spPr>
        <p:txBody>
          <a:bodyPr>
            <a:normAutofit fontScale="90000"/>
          </a:bodyPr>
          <a:lstStyle/>
          <a:p>
            <a:r>
              <a:rPr lang="en-US" dirty="0"/>
              <a:t>7️⃣ Data Quality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CADCB-CB0F-A58D-0A50-9D9BD64DF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337637"/>
            <a:ext cx="11155680" cy="3767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Delta Lake supports enforcing data correctness through: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Schema Enforcement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(no unexpected columns)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NOT NULL constraints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CHECK constraints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Deduplication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Expectations (in Delta Live Tables)</a:t>
            </a:r>
          </a:p>
          <a:p>
            <a:r>
              <a:rPr lang="en-US" sz="2800" dirty="0"/>
              <a:t>This ensures clean, reliable data for analytics and ML.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2345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657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Bierstadt</vt:lpstr>
      <vt:lpstr>GestaltVTI</vt:lpstr>
      <vt:lpstr>Day2-Databricks-Part2</vt:lpstr>
      <vt:lpstr>DELTA LAKE AND DATA MANAGEMENT</vt:lpstr>
      <vt:lpstr>1️⃣ UI Overview</vt:lpstr>
      <vt:lpstr>2️⃣ Delta Lake Overview</vt:lpstr>
      <vt:lpstr>3️⃣ ACID Transactions</vt:lpstr>
      <vt:lpstr>4️⃣ Schema Evolution</vt:lpstr>
      <vt:lpstr>5️⃣ Time Travel</vt:lpstr>
      <vt:lpstr>6️⃣ Optimization</vt:lpstr>
      <vt:lpstr>Optimize</vt:lpstr>
      <vt:lpstr>2️⃣ Z-ORDER (Cluster Data for Faster Filtering)</vt:lpstr>
      <vt:lpstr>3️⃣ VACUUM (Remove Old Files)</vt:lpstr>
      <vt:lpstr>7️⃣ Data Quality &amp;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7</cp:revision>
  <dcterms:created xsi:type="dcterms:W3CDTF">2026-02-28T01:48:28Z</dcterms:created>
  <dcterms:modified xsi:type="dcterms:W3CDTF">2026-03-01T06:45:35Z</dcterms:modified>
</cp:coreProperties>
</file>