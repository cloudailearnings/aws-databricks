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09AB9-56F8-AB1C-0B59-022107152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AD66A-454E-C63B-CC92-0ECE19A4BB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676B4-0A3D-8D01-3825-FD30CB997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1D3D3-B786-17B0-6124-B1FE6FB10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71629-7B0E-2F25-728E-01202B4AB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4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EDC48-C9EC-E47A-B008-9349DC3E5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7D4BD-1A20-D815-296C-8B3242B51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86256-08D5-F286-920C-72F3FE61B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6D866-6787-1CAE-B30C-10518A107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0EF88-6531-815A-AA5F-C4B1B617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3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52306-88EA-4D61-924B-1AF0C8B1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AE000-97E2-D5E0-FABE-9DCCD9143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CD3FD-6DB7-C611-52D9-F66AEE04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373C-8ED9-8A67-C2EB-7185EAC1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94339-1EC5-9FDE-664E-24CA8023E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5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F4651-CE95-80C5-56F7-F8BC18385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EF865-214C-C6A7-6D68-45BD4F82F0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2DF587-DD32-F14B-70D8-71E13F58DE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141C2-FD21-6650-5693-B7249391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A17B59-9FCD-E495-43FA-2E52EFF87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4C0B1-6431-2144-5E39-97797A409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710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8EDC-62CB-3911-860C-CCB71E470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93030-1BC1-4781-F266-A50B41E0C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749AC4-3394-9881-37DD-2D41DE359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AD19A-FD06-A666-7170-8D79F0DBD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148AD-D83A-A314-986F-80D1C53C60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E86C49-16F0-26BA-F62F-29D54FC10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ADF753-627B-CBB1-E154-BB98EF674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1BAF2-B972-2860-61FE-757699441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99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B8F-9BA4-F20A-650A-DB3B7D2A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0EBAFA-99C3-0555-0B83-B990B5FAB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E6D11C-4DE5-CB54-0C08-B69B93342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734C5-7C90-292F-9BA8-083610DDD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9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0E17C4-7041-C60C-5133-5643D0DB4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5EEA9-A860-8553-4717-58990F9CC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80FEC-0DA6-2725-D8AA-57F31BC07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482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41398-642B-A204-CE9B-0EF332827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CBBA3-90DD-95E2-7B5B-C8DC9BCE4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C86B6-73A8-74EE-A2D5-9968EF828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2F5B2-E9F1-3B41-027E-170D80375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E439C-071A-3F47-3B13-AD89CFD60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F3E37-F870-8F0E-BA78-0BB571D3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1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FA46-C65F-6C59-B41E-2F40FE3D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E8D2D2-AC55-0311-8706-C70E1C1D7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60BFA-0CC0-502B-6EA5-61A14A89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62E4F-32C6-DB61-7380-F52E2B16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5017F-400E-4BE8-050C-F9B3D3DBC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EF24B-0524-863B-4CB6-87846E03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415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027F8-96FA-0ECC-9505-E6B55CCF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BD4F8-938D-0D84-4748-DAD2B2CC0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75DDF-04C9-DDB0-7DD4-446B68426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DCF81-795B-F489-DA36-C19EE63B9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6E4DB-AF0A-A284-FF22-E162612DD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47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F2E4EF-AB4A-1CAD-6ABC-813427C72C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3A6DE-99D3-057E-EB39-23D622E991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7499A-E967-E8A0-FE3E-3418E468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10596-978B-F031-8DC3-8243E7A3D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E0E52-5D04-7F4C-99E0-C4828A04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11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4A5CA4-5D40-6431-442A-E1263731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B6A44-F598-EE6D-85E8-F62E68649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78806-E96F-C8CC-FDE2-CD3698D7D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293833-14DF-4FBF-BADC-194D48E883F3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576AF8-7EE9-25E1-3856-180F318195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167ED-73EE-A913-3E04-49FE46A5D5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BD3688-88FE-4E23-A420-4B0AE09D4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22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7E863-F8F3-0E0C-F103-5E1EAE7BB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AUTOLOADER IN DATABRICKS</a:t>
            </a:r>
          </a:p>
        </p:txBody>
      </p:sp>
    </p:spTree>
    <p:extLst>
      <p:ext uri="{BB962C8B-B14F-4D97-AF65-F5344CB8AC3E}">
        <p14:creationId xmlns:p14="http://schemas.microsoft.com/office/powerpoint/2010/main" val="136483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68E66-D153-7806-31ED-72F6D173B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743" y="987425"/>
            <a:ext cx="11898086" cy="4351338"/>
          </a:xfrm>
        </p:spPr>
        <p:txBody>
          <a:bodyPr/>
          <a:lstStyle/>
          <a:p>
            <a:r>
              <a:rPr lang="en-US" b="1" dirty="0"/>
              <a:t>Auto Loader</a:t>
            </a:r>
            <a:r>
              <a:rPr lang="en-US" dirty="0"/>
              <a:t> in Databricks is a feature used to </a:t>
            </a:r>
            <a:r>
              <a:rPr lang="en-US" b="1" dirty="0"/>
              <a:t>automatically and incrementally load new files from cloud storage into Delta tables</a:t>
            </a:r>
            <a:r>
              <a:rPr lang="en-US" dirty="0"/>
              <a:t>.</a:t>
            </a:r>
          </a:p>
          <a:p>
            <a:r>
              <a:rPr lang="en-US" dirty="0"/>
              <a:t>Auto Loader provides </a:t>
            </a:r>
            <a:r>
              <a:rPr lang="en-US" b="1" dirty="0"/>
              <a:t>efficient incremental ingestion, automatic schema inference, scalability, and fault tolerance</a:t>
            </a:r>
            <a:r>
              <a:rPr lang="en-US" dirty="0"/>
              <a:t> for continuously arriving files.</a:t>
            </a:r>
          </a:p>
          <a:p>
            <a:r>
              <a:rPr lang="en-US" dirty="0"/>
              <a:t> It is mainly used in </a:t>
            </a:r>
            <a:r>
              <a:rPr lang="en-US" b="1" dirty="0"/>
              <a:t>streaming data ingestion pipelines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860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2145-754C-09D0-F09D-4442F159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0B240-056C-9296-B77B-F088464A7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It works very well with cloud storage like:</a:t>
            </a:r>
          </a:p>
          <a:p>
            <a:r>
              <a:rPr lang="en-US" dirty="0"/>
              <a:t>Amazon S3</a:t>
            </a:r>
          </a:p>
          <a:p>
            <a:r>
              <a:rPr lang="en-US" dirty="0"/>
              <a:t>Azure Data Lake Storage</a:t>
            </a:r>
          </a:p>
          <a:p>
            <a:r>
              <a:rPr lang="en-US" dirty="0"/>
              <a:t>Google Cloud Storage</a:t>
            </a:r>
          </a:p>
          <a:p>
            <a:r>
              <a:rPr lang="en-US" dirty="0"/>
              <a:t>Auto Loader is commonly used with </a:t>
            </a:r>
            <a:r>
              <a:rPr lang="en-US" b="1" dirty="0"/>
              <a:t>Apache Spark Structured Streaming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3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0E74F-AF02-1755-2668-1D2AE0BD8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38200"/>
          </a:xfrm>
        </p:spPr>
        <p:txBody>
          <a:bodyPr/>
          <a:lstStyle/>
          <a:p>
            <a:r>
              <a:rPr lang="en-US" dirty="0"/>
              <a:t>What Auto Loader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3806-1F3B-E2F3-096E-1E0816DB6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422853"/>
            <a:ext cx="1159328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Auto Loader </a:t>
            </a:r>
            <a:r>
              <a:rPr lang="en-US" b="1" dirty="0"/>
              <a:t>detects new files automatically</a:t>
            </a:r>
            <a:r>
              <a:rPr lang="en-US" dirty="0"/>
              <a:t> when they arrive in a storage location and loads them into a table.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flow:</a:t>
            </a:r>
          </a:p>
          <a:p>
            <a:r>
              <a:rPr lang="en-US" dirty="0"/>
              <a:t>S3 Folder → Auto Loader → Delta Table → Databricks SQL / Analytics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EF9E92-A58D-3482-7B27-3AAE524E53BE}"/>
              </a:ext>
            </a:extLst>
          </p:cNvPr>
          <p:cNvSpPr txBox="1"/>
          <p:nvPr/>
        </p:nvSpPr>
        <p:spPr>
          <a:xfrm>
            <a:off x="1118508" y="4089738"/>
            <a:ext cx="622118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s3://sales-data/raw/</a:t>
            </a:r>
          </a:p>
          <a:p>
            <a:r>
              <a:rPr lang="en-US" dirty="0"/>
              <a:t>      |</a:t>
            </a:r>
          </a:p>
          <a:p>
            <a:r>
              <a:rPr lang="en-US" dirty="0"/>
              <a:t>      |  New CSV/JSON/Parquet files arrive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Auto Loader detects new files</a:t>
            </a:r>
          </a:p>
          <a:p>
            <a:r>
              <a:rPr lang="en-US" dirty="0"/>
              <a:t>      ↓</a:t>
            </a:r>
          </a:p>
          <a:p>
            <a:r>
              <a:rPr lang="en-US" dirty="0"/>
              <a:t>Loads them into Delta Table</a:t>
            </a:r>
          </a:p>
        </p:txBody>
      </p:sp>
    </p:spTree>
    <p:extLst>
      <p:ext uri="{BB962C8B-B14F-4D97-AF65-F5344CB8AC3E}">
        <p14:creationId xmlns:p14="http://schemas.microsoft.com/office/powerpoint/2010/main" val="991897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3915-8C11-CD59-A553-3F65F9D6C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92629"/>
          </a:xfrm>
        </p:spPr>
        <p:txBody>
          <a:bodyPr/>
          <a:lstStyle/>
          <a:p>
            <a:r>
              <a:rPr lang="en-US" dirty="0"/>
              <a:t>Why Auto Loader is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071FF-DC56-416A-44A0-60DC207B0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5754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Traditional ingestion methods scan entire folders repeatedly.</a:t>
            </a:r>
          </a:p>
          <a:p>
            <a:r>
              <a:rPr lang="en-US" dirty="0"/>
              <a:t>Auto Loader solves this problem by </a:t>
            </a:r>
            <a:r>
              <a:rPr lang="en-US" b="1" dirty="0"/>
              <a:t>tracking only new files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Benefits: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✅ Handles </a:t>
            </a:r>
            <a:r>
              <a:rPr lang="en-US" b="1" dirty="0"/>
              <a:t>millions of files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Incremental ingestion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Schema inference &amp; evolution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Fault tolerant</a:t>
            </a:r>
            <a:br>
              <a:rPr lang="en-US" dirty="0"/>
            </a:br>
            <a:r>
              <a:rPr lang="en-US" dirty="0"/>
              <a:t>✅ </a:t>
            </a:r>
            <a:r>
              <a:rPr lang="en-US" b="1" dirty="0"/>
              <a:t>Highly scalable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407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B93A-08D1-F416-F18F-D5C5F87DC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Auto Loader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5269E-8F4E-0B39-CF1C-A411B454DD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2843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Two modes are used to detect files.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1. Directory Listing Mode: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Auto Loader scans folder for new files.</a:t>
            </a:r>
          </a:p>
          <a:p>
            <a:pPr marL="0" indent="0">
              <a:buNone/>
            </a:pPr>
            <a:r>
              <a:rPr lang="en-US" dirty="0"/>
              <a:t>Cloud Storage → Directory Listing → Auto Loader → Delta Table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Option used: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cloudFiles.useNotifications</a:t>
            </a:r>
            <a:r>
              <a:rPr lang="en-US" dirty="0"/>
              <a:t> = false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136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2B2D7-8034-446A-2AF1-544F61BE2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52602"/>
          </a:xfrm>
        </p:spPr>
        <p:txBody>
          <a:bodyPr/>
          <a:lstStyle/>
          <a:p>
            <a:r>
              <a:rPr lang="fr-FR" dirty="0"/>
              <a:t>2. File Notification Mode (</a:t>
            </a:r>
            <a:r>
              <a:rPr lang="fr-FR" dirty="0" err="1"/>
              <a:t>Recommended</a:t>
            </a:r>
            <a:r>
              <a:rPr lang="fr-FR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981AB-D643-2887-84D7-5B91F4D7F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Cloud storage sends notifications when files arrive.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 with AWS:</a:t>
            </a:r>
          </a:p>
          <a:p>
            <a:r>
              <a:rPr lang="en-US" dirty="0"/>
              <a:t>S3 → SNS → SQS → Databricks Auto Loader</a:t>
            </a:r>
          </a:p>
          <a:p>
            <a:r>
              <a:rPr lang="en-US" dirty="0"/>
              <a:t>Much faster and scalable.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30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8E90A-826D-9AA4-E013-C8D363C6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5257800" cy="1325563"/>
          </a:xfrm>
        </p:spPr>
        <p:txBody>
          <a:bodyPr>
            <a:normAutofit/>
          </a:bodyPr>
          <a:lstStyle/>
          <a:p>
            <a:r>
              <a:rPr lang="en-US" dirty="0"/>
              <a:t>Auto Loader Example (</a:t>
            </a:r>
            <a:r>
              <a:rPr lang="en-US" dirty="0" err="1"/>
              <a:t>PySpark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A21B3-FDB3-E796-F74F-69E1D738E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86" y="1975723"/>
            <a:ext cx="5769427" cy="47625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df</a:t>
            </a:r>
            <a:r>
              <a:rPr lang="en-US" sz="1800" dirty="0"/>
              <a:t> = (</a:t>
            </a:r>
            <a:r>
              <a:rPr lang="en-US" sz="1800" dirty="0" err="1"/>
              <a:t>spark.readStream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   .format("</a:t>
            </a:r>
            <a:r>
              <a:rPr lang="en-US" sz="1800" dirty="0" err="1"/>
              <a:t>cloudFiles</a:t>
            </a:r>
            <a:r>
              <a:rPr lang="en-US" sz="1800" dirty="0"/>
              <a:t>")</a:t>
            </a:r>
          </a:p>
          <a:p>
            <a:pPr marL="0" indent="0">
              <a:buNone/>
            </a:pPr>
            <a:r>
              <a:rPr lang="en-US" sz="1800" dirty="0"/>
              <a:t>      .option("</a:t>
            </a:r>
            <a:r>
              <a:rPr lang="en-US" sz="1800" dirty="0" err="1"/>
              <a:t>cloudFiles.format</a:t>
            </a:r>
            <a:r>
              <a:rPr lang="en-US" sz="1800" dirty="0"/>
              <a:t>", "csv")</a:t>
            </a:r>
          </a:p>
          <a:p>
            <a:pPr marL="0" indent="0">
              <a:buNone/>
            </a:pPr>
            <a:r>
              <a:rPr lang="en-US" sz="1800" dirty="0"/>
              <a:t>      .option("</a:t>
            </a:r>
            <a:r>
              <a:rPr lang="en-US" sz="1800" dirty="0" err="1"/>
              <a:t>cloudFiles.schemaLocation</a:t>
            </a:r>
            <a:r>
              <a:rPr lang="en-US" sz="1800" dirty="0"/>
              <a:t>", "/</a:t>
            </a:r>
            <a:r>
              <a:rPr lang="en-US" sz="1800" dirty="0" err="1"/>
              <a:t>mnt</a:t>
            </a:r>
            <a:r>
              <a:rPr lang="en-US" sz="1800" dirty="0"/>
              <a:t>/schema")</a:t>
            </a:r>
          </a:p>
          <a:p>
            <a:pPr marL="0" indent="0">
              <a:buNone/>
            </a:pPr>
            <a:r>
              <a:rPr lang="en-US" sz="1800" dirty="0"/>
              <a:t>      .load("s3://sales-data/raw/"))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(</a:t>
            </a:r>
            <a:r>
              <a:rPr lang="en-US" sz="1800" dirty="0" err="1"/>
              <a:t>df.writeStream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   .format("delta")</a:t>
            </a:r>
          </a:p>
          <a:p>
            <a:pPr marL="0" indent="0">
              <a:buNone/>
            </a:pPr>
            <a:r>
              <a:rPr lang="en-US" sz="1800" dirty="0"/>
              <a:t>   .option("</a:t>
            </a:r>
            <a:r>
              <a:rPr lang="en-US" sz="1800" dirty="0" err="1"/>
              <a:t>checkpointLocation</a:t>
            </a:r>
            <a:r>
              <a:rPr lang="en-US" sz="1800" dirty="0"/>
              <a:t>", "/</a:t>
            </a:r>
            <a:r>
              <a:rPr lang="en-US" sz="1800" dirty="0" err="1"/>
              <a:t>mnt</a:t>
            </a:r>
            <a:r>
              <a:rPr lang="en-US" sz="1800" dirty="0"/>
              <a:t>/checkpoint")</a:t>
            </a:r>
          </a:p>
          <a:p>
            <a:pPr marL="0" indent="0">
              <a:buNone/>
            </a:pPr>
            <a:r>
              <a:rPr lang="en-US" sz="1800" dirty="0"/>
              <a:t>   .table("</a:t>
            </a:r>
            <a:r>
              <a:rPr lang="en-US" sz="1800" dirty="0" err="1"/>
              <a:t>sales_table</a:t>
            </a:r>
            <a:r>
              <a:rPr lang="en-US" sz="1800" dirty="0"/>
              <a:t>"))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5F7A01D-D923-4C6B-7A1C-3F25A98DC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89724"/>
              </p:ext>
            </p:extLst>
          </p:nvPr>
        </p:nvGraphicFramePr>
        <p:xfrm>
          <a:off x="6541053" y="2168207"/>
          <a:ext cx="4777381" cy="2348880"/>
        </p:xfrm>
        <a:graphic>
          <a:graphicData uri="http://schemas.openxmlformats.org/drawingml/2006/table">
            <a:tbl>
              <a:tblPr/>
              <a:tblGrid>
                <a:gridCol w="2471631">
                  <a:extLst>
                    <a:ext uri="{9D8B030D-6E8A-4147-A177-3AD203B41FA5}">
                      <a16:colId xmlns:a16="http://schemas.microsoft.com/office/drawing/2014/main" val="3982112332"/>
                    </a:ext>
                  </a:extLst>
                </a:gridCol>
                <a:gridCol w="2305750">
                  <a:extLst>
                    <a:ext uri="{9D8B030D-6E8A-4147-A177-3AD203B41FA5}">
                      <a16:colId xmlns:a16="http://schemas.microsoft.com/office/drawing/2014/main" val="2912085031"/>
                    </a:ext>
                  </a:extLst>
                </a:gridCol>
              </a:tblGrid>
              <a:tr h="437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Option</a:t>
                      </a:r>
                    </a:p>
                  </a:txBody>
                  <a:tcPr marL="99529" marR="99529" marT="49764" marB="49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99529" marR="99529" marT="49764" marB="49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067141"/>
                  </a:ext>
                </a:extLst>
              </a:tr>
              <a:tr h="4379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cloudFiles.format</a:t>
                      </a:r>
                    </a:p>
                  </a:txBody>
                  <a:tcPr marL="99529" marR="99529" marT="49764" marB="49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File type</a:t>
                      </a:r>
                    </a:p>
                  </a:txBody>
                  <a:tcPr marL="99529" marR="99529" marT="49764" marB="49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828640"/>
                  </a:ext>
                </a:extLst>
              </a:tr>
              <a:tr h="7365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schemaLocation</a:t>
                      </a:r>
                    </a:p>
                  </a:txBody>
                  <a:tcPr marL="99529" marR="99529" marT="49764" marB="49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Stores inferred schema</a:t>
                      </a:r>
                    </a:p>
                  </a:txBody>
                  <a:tcPr marL="99529" marR="99529" marT="49764" marB="49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719994"/>
                  </a:ext>
                </a:extLst>
              </a:tr>
              <a:tr h="73651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>
                          <a:effectLst/>
                          <a:latin typeface="Arial" panose="020B0604020202020204" pitchFamily="34" charset="0"/>
                        </a:rPr>
                        <a:t>checkpointLocation</a:t>
                      </a:r>
                    </a:p>
                  </a:txBody>
                  <a:tcPr marL="99529" marR="99529" marT="49764" marB="49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000" b="0" i="0" u="none" strike="noStrike" dirty="0">
                          <a:effectLst/>
                          <a:latin typeface="Arial" panose="020B0604020202020204" pitchFamily="34" charset="0"/>
                        </a:rPr>
                        <a:t>Tracks processed files</a:t>
                      </a:r>
                    </a:p>
                  </a:txBody>
                  <a:tcPr marL="99529" marR="99529" marT="49764" marB="497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4753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8728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39D07-B49F-8AF6-C049-BD75290AD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38200"/>
          </a:xfrm>
        </p:spPr>
        <p:txBody>
          <a:bodyPr/>
          <a:lstStyle/>
          <a:p>
            <a:r>
              <a:rPr lang="en-US" dirty="0" err="1"/>
              <a:t>Sql</a:t>
            </a:r>
            <a:r>
              <a:rPr lang="en-US" dirty="0"/>
              <a:t> 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CEE61-506C-3CA0-A159-454F1F11A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772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CREATE STREAMING TABLE </a:t>
            </a:r>
            <a:r>
              <a:rPr lang="en-US" dirty="0" err="1"/>
              <a:t>sales_bronze</a:t>
            </a:r>
            <a:br>
              <a:rPr lang="en-US" dirty="0"/>
            </a:br>
            <a:r>
              <a:rPr lang="en-US" dirty="0"/>
              <a:t>AS SELECT *</a:t>
            </a:r>
            <a:br>
              <a:rPr lang="en-US" dirty="0"/>
            </a:br>
            <a:r>
              <a:rPr lang="en-US" dirty="0"/>
              <a:t>FROM </a:t>
            </a:r>
            <a:r>
              <a:rPr lang="en-US" dirty="0" err="1"/>
              <a:t>cloud_files</a:t>
            </a:r>
            <a:r>
              <a:rPr lang="en-US" dirty="0"/>
              <a:t>(</a:t>
            </a:r>
            <a:br>
              <a:rPr lang="en-US" dirty="0"/>
            </a:br>
            <a:r>
              <a:rPr lang="en-US" dirty="0"/>
              <a:t>"s3://sales-data/raw/",</a:t>
            </a:r>
            <a:br>
              <a:rPr lang="en-US" dirty="0"/>
            </a:br>
            <a:r>
              <a:rPr lang="en-US" dirty="0"/>
              <a:t>"</a:t>
            </a:r>
            <a:r>
              <a:rPr lang="en-US" dirty="0" err="1"/>
              <a:t>json</a:t>
            </a:r>
            <a:r>
              <a:rPr lang="en-US" dirty="0"/>
              <a:t>"</a:t>
            </a:r>
            <a:br>
              <a:rPr lang="en-US" dirty="0"/>
            </a:b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23971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F1FBB-4C74-F64E-4535-EF806688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Supported File Formats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9803A-D6A9-89AB-05A4-E6AFDEF14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Auto Loader supports:</a:t>
            </a:r>
          </a:p>
          <a:p>
            <a:r>
              <a:rPr lang="en-US" dirty="0"/>
              <a:t>CSV</a:t>
            </a:r>
          </a:p>
          <a:p>
            <a:r>
              <a:rPr lang="en-US" dirty="0"/>
              <a:t>JSON</a:t>
            </a:r>
          </a:p>
          <a:p>
            <a:r>
              <a:rPr lang="en-US" dirty="0"/>
              <a:t>Parquet</a:t>
            </a:r>
          </a:p>
          <a:p>
            <a:r>
              <a:rPr lang="en-US" dirty="0"/>
              <a:t>Avro</a:t>
            </a:r>
          </a:p>
          <a:p>
            <a:r>
              <a:rPr lang="en-US" dirty="0"/>
              <a:t>Text</a:t>
            </a:r>
          </a:p>
          <a:p>
            <a:r>
              <a:rPr lang="en-US" dirty="0"/>
              <a:t>Binary files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705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E66DB-B5C8-ADF6-134C-9F89B7606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0515600" cy="863488"/>
          </a:xfrm>
        </p:spPr>
        <p:txBody>
          <a:bodyPr/>
          <a:lstStyle/>
          <a:p>
            <a:r>
              <a:rPr lang="en-US" dirty="0"/>
              <a:t>Schema Evolution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F252E-91F0-D4EF-BC23-B332D5309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253330"/>
            <a:ext cx="10515600" cy="5452269"/>
          </a:xfrm>
        </p:spPr>
        <p:txBody>
          <a:bodyPr/>
          <a:lstStyle/>
          <a:p>
            <a:r>
              <a:rPr lang="en-US" dirty="0"/>
              <a:t>Auto Loader automatically detects new columns.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Old file:</a:t>
            </a:r>
          </a:p>
          <a:p>
            <a:pPr marL="0" indent="0">
              <a:buNone/>
            </a:pPr>
            <a:r>
              <a:rPr lang="en-US" dirty="0" err="1"/>
              <a:t>id,name</a:t>
            </a:r>
            <a:br>
              <a:rPr lang="en-US" dirty="0"/>
            </a:br>
            <a:r>
              <a:rPr lang="en-US" dirty="0"/>
              <a:t>1,John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New file:</a:t>
            </a:r>
          </a:p>
          <a:p>
            <a:pPr marL="0" indent="0">
              <a:buNone/>
            </a:pPr>
            <a:r>
              <a:rPr lang="en-US" dirty="0" err="1"/>
              <a:t>id,name,city</a:t>
            </a:r>
            <a:br>
              <a:rPr lang="en-US" dirty="0"/>
            </a:br>
            <a:r>
              <a:rPr lang="en-US" dirty="0"/>
              <a:t>2,Alice,London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F7183-331B-5956-00A5-272F8DFD8FA0}"/>
              </a:ext>
            </a:extLst>
          </p:cNvPr>
          <p:cNvSpPr txBox="1"/>
          <p:nvPr/>
        </p:nvSpPr>
        <p:spPr>
          <a:xfrm>
            <a:off x="4950280" y="2743591"/>
            <a:ext cx="6221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Auto Loader automatically </a:t>
            </a:r>
            <a:r>
              <a:rPr lang="en-US" b="1" dirty="0"/>
              <a:t>adds the new column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7956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1FAAF-1DA8-1948-4146-F030A4010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Raw Data (S3)</a:t>
            </a:r>
          </a:p>
          <a:p>
            <a:pPr marL="0" indent="0">
              <a:buNone/>
            </a:pPr>
            <a:r>
              <a:rPr lang="en-US" dirty="0"/>
              <a:t>     |</a:t>
            </a:r>
          </a:p>
          <a:p>
            <a:pPr marL="0" indent="0">
              <a:buNone/>
            </a:pPr>
            <a:r>
              <a:rPr lang="en-US" dirty="0"/>
              <a:t>     |  Auto Loader</a:t>
            </a:r>
          </a:p>
          <a:p>
            <a:pPr marL="0" indent="0">
              <a:buNone/>
            </a:pPr>
            <a:r>
              <a:rPr lang="en-US" dirty="0"/>
              <a:t>     |</a:t>
            </a:r>
          </a:p>
          <a:p>
            <a:pPr marL="0" indent="0">
              <a:buNone/>
            </a:pPr>
            <a:r>
              <a:rPr lang="en-US" dirty="0"/>
              <a:t>Bronze Delta Table</a:t>
            </a:r>
          </a:p>
          <a:p>
            <a:pPr marL="0" indent="0">
              <a:buNone/>
            </a:pPr>
            <a:r>
              <a:rPr lang="en-US" dirty="0"/>
              <a:t>     |</a:t>
            </a:r>
          </a:p>
          <a:p>
            <a:pPr marL="0" indent="0">
              <a:buNone/>
            </a:pPr>
            <a:r>
              <a:rPr lang="en-US" dirty="0"/>
              <a:t>     |  Databricks Jobs / Delta Live Tables</a:t>
            </a:r>
          </a:p>
          <a:p>
            <a:pPr marL="0" indent="0">
              <a:buNone/>
            </a:pPr>
            <a:r>
              <a:rPr lang="en-US" dirty="0"/>
              <a:t>     |</a:t>
            </a:r>
          </a:p>
          <a:p>
            <a:pPr marL="0" indent="0">
              <a:buNone/>
            </a:pPr>
            <a:r>
              <a:rPr lang="en-US" dirty="0"/>
              <a:t>Silver Table</a:t>
            </a:r>
          </a:p>
          <a:p>
            <a:pPr marL="0" indent="0">
              <a:buNone/>
            </a:pPr>
            <a:r>
              <a:rPr lang="en-US" dirty="0"/>
              <a:t>     |</a:t>
            </a:r>
          </a:p>
          <a:p>
            <a:pPr marL="0" indent="0">
              <a:buNone/>
            </a:pPr>
            <a:r>
              <a:rPr lang="en-US" dirty="0"/>
              <a:t>Gold Table (Analytics)</a:t>
            </a:r>
          </a:p>
        </p:txBody>
      </p:sp>
    </p:spTree>
    <p:extLst>
      <p:ext uri="{BB962C8B-B14F-4D97-AF65-F5344CB8AC3E}">
        <p14:creationId xmlns:p14="http://schemas.microsoft.com/office/powerpoint/2010/main" val="1588769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507</Words>
  <Application>Microsoft Office PowerPoint</Application>
  <PresentationFormat>Widescreen</PresentationFormat>
  <Paragraphs>96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AUTOLOADER IN DATABRICKS</vt:lpstr>
      <vt:lpstr>PowerPoint Presentation</vt:lpstr>
      <vt:lpstr>PowerPoint Presentation</vt:lpstr>
      <vt:lpstr>What Auto Loader Does</vt:lpstr>
      <vt:lpstr>Why Auto Loader is Used</vt:lpstr>
      <vt:lpstr>Auto Loader Architecture</vt:lpstr>
      <vt:lpstr>2. File Notification Mode (Recommended)</vt:lpstr>
      <vt:lpstr>Auto Loader Example (PySpark)</vt:lpstr>
      <vt:lpstr>Sql Version</vt:lpstr>
      <vt:lpstr>Supported File Formats</vt:lpstr>
      <vt:lpstr>Schema Evolution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 Devabhaktuni</dc:creator>
  <cp:lastModifiedBy>Rajesh Kumar Devabhaktuni</cp:lastModifiedBy>
  <cp:revision>2</cp:revision>
  <dcterms:created xsi:type="dcterms:W3CDTF">2026-03-16T04:55:01Z</dcterms:created>
  <dcterms:modified xsi:type="dcterms:W3CDTF">2026-03-16T05:03:04Z</dcterms:modified>
</cp:coreProperties>
</file>