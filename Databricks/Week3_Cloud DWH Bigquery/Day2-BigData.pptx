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80" r:id="rId4"/>
    <p:sldId id="259" r:id="rId5"/>
    <p:sldId id="260" r:id="rId6"/>
    <p:sldId id="262" r:id="rId7"/>
    <p:sldId id="263" r:id="rId8"/>
    <p:sldId id="264" r:id="rId9"/>
    <p:sldId id="265" r:id="rId10"/>
    <p:sldId id="281" r:id="rId11"/>
    <p:sldId id="266" r:id="rId12"/>
    <p:sldId id="282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0" roundtripDataSignature="AMtx7mhGV6yzu7fHYOUuKzKMFYxzWpFA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624F22F-3336-4E7E-86E5-797D85529C0E}">
  <a:tblStyle styleId="{4624F22F-3336-4E7E-86E5-797D85529C0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107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0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3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IN" b="1">
                <a:highlight>
                  <a:srgbClr val="FFFF00"/>
                </a:highlight>
              </a:rPr>
              <a:t>BigData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>
            <a:spLocks noGrp="1"/>
          </p:cNvSpPr>
          <p:nvPr>
            <p:ph type="title"/>
          </p:nvPr>
        </p:nvSpPr>
        <p:spPr>
          <a:xfrm>
            <a:off x="2957946" y="194900"/>
            <a:ext cx="10515600" cy="480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IN">
                <a:highlight>
                  <a:srgbClr val="FFFF00"/>
                </a:highlight>
              </a:rPr>
              <a:t>What is Big Data?</a:t>
            </a:r>
            <a:endParaRPr>
              <a:highlight>
                <a:srgbClr val="FFFF00"/>
              </a:highlight>
            </a:endParaRPr>
          </a:p>
        </p:txBody>
      </p:sp>
      <p:sp>
        <p:nvSpPr>
          <p:cNvPr id="90" name="Google Shape;90;p2"/>
          <p:cNvSpPr txBox="1">
            <a:spLocks noGrp="1"/>
          </p:cNvSpPr>
          <p:nvPr>
            <p:ph type="body" idx="1"/>
          </p:nvPr>
        </p:nvSpPr>
        <p:spPr>
          <a:xfrm>
            <a:off x="131625" y="1597025"/>
            <a:ext cx="11829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b="1" dirty="0"/>
              <a:t>Big Data</a:t>
            </a:r>
            <a:r>
              <a:rPr lang="en-IN" dirty="0"/>
              <a:t> refers to </a:t>
            </a:r>
            <a:r>
              <a:rPr lang="en-IN" b="1" dirty="0"/>
              <a:t>large and complex datasets</a:t>
            </a:r>
            <a:r>
              <a:rPr lang="en-IN" dirty="0"/>
              <a:t> that are difficult to process, store, or </a:t>
            </a:r>
            <a:r>
              <a:rPr lang="en-IN" dirty="0" err="1"/>
              <a:t>analyze</a:t>
            </a:r>
            <a:r>
              <a:rPr lang="en-IN" dirty="0"/>
              <a:t> using traditional data management tools.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dirty="0"/>
              <a:t>These datasets come from multiple sources — sensors, social media, transactions, IoT devices, etc.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9CDAC2-7CB8-F638-8AAC-C4E1B36F70AA}"/>
              </a:ext>
            </a:extLst>
          </p:cNvPr>
          <p:cNvSpPr txBox="1"/>
          <p:nvPr/>
        </p:nvSpPr>
        <p:spPr>
          <a:xfrm>
            <a:off x="275512" y="3532263"/>
            <a:ext cx="1053524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Big Data Architecture Components &amp; Technologies</a:t>
            </a:r>
          </a:p>
          <a:p>
            <a:pPr>
              <a:buNone/>
            </a:pPr>
            <a:endParaRPr lang="en-US" sz="2400" b="1" dirty="0"/>
          </a:p>
          <a:p>
            <a:r>
              <a:rPr lang="en-US" sz="2400" b="1" dirty="0"/>
              <a:t>	Storage		</a:t>
            </a:r>
            <a:r>
              <a:rPr lang="en-US" sz="2400" dirty="0"/>
              <a:t>: HDFS, Cloud Storage(AWS S3 </a:t>
            </a:r>
            <a:r>
              <a:rPr lang="en-US" sz="2400" dirty="0" err="1"/>
              <a:t>etc</a:t>
            </a:r>
            <a:r>
              <a:rPr lang="en-US" sz="2400" dirty="0"/>
              <a:t>)</a:t>
            </a:r>
          </a:p>
          <a:p>
            <a:r>
              <a:rPr lang="en-US" sz="2400" b="1" dirty="0"/>
              <a:t>	Processing		</a:t>
            </a:r>
            <a:r>
              <a:rPr lang="en-US" sz="2400" dirty="0"/>
              <a:t>: Spark, Flink</a:t>
            </a:r>
          </a:p>
          <a:p>
            <a:r>
              <a:rPr lang="en-US" sz="2400" b="1" dirty="0"/>
              <a:t>	Streaming		</a:t>
            </a:r>
            <a:r>
              <a:rPr lang="en-US" sz="2400" dirty="0"/>
              <a:t>: Kafka, Kinesis</a:t>
            </a:r>
          </a:p>
          <a:p>
            <a:r>
              <a:rPr lang="en-US" sz="2400" b="1" dirty="0"/>
              <a:t>	Querying		</a:t>
            </a:r>
            <a:r>
              <a:rPr lang="en-US" sz="2400" dirty="0"/>
              <a:t>: Hive, </a:t>
            </a:r>
            <a:r>
              <a:rPr lang="en-US" sz="2400" dirty="0" err="1"/>
              <a:t>BigQuery</a:t>
            </a:r>
            <a:endParaRPr lang="en-US" sz="2400" dirty="0"/>
          </a:p>
          <a:p>
            <a:r>
              <a:rPr lang="en-US" sz="2400" b="1" dirty="0"/>
              <a:t>	Visualization	</a:t>
            </a:r>
            <a:r>
              <a:rPr lang="en-US" sz="2400" dirty="0"/>
              <a:t>: Tableau, Power BI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4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7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0" name="Picture 2" descr="Big Data Architecture - Learn now for ...">
            <a:extLst>
              <a:ext uri="{FF2B5EF4-FFF2-40B4-BE49-F238E27FC236}">
                <a16:creationId xmlns:a16="http://schemas.microsoft.com/office/drawing/2014/main" id="{75D5F612-DBAA-B031-2B6A-7BAF7C7CCA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38885" y="1286934"/>
            <a:ext cx="8914231" cy="4105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6390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 txBox="1">
            <a:spLocks noGrp="1"/>
          </p:cNvSpPr>
          <p:nvPr>
            <p:ph type="title"/>
          </p:nvPr>
        </p:nvSpPr>
        <p:spPr>
          <a:xfrm>
            <a:off x="173621" y="261324"/>
            <a:ext cx="12190597" cy="750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b="1" dirty="0"/>
              <a:t>Big Data Architecture Components &amp; Technologies</a:t>
            </a:r>
          </a:p>
        </p:txBody>
      </p:sp>
      <p:graphicFrame>
        <p:nvGraphicFramePr>
          <p:cNvPr id="102" name="Google Shape;102;p4"/>
          <p:cNvGraphicFramePr/>
          <p:nvPr>
            <p:extLst>
              <p:ext uri="{D42A27DB-BD31-4B8C-83A1-F6EECF244321}">
                <p14:modId xmlns:p14="http://schemas.microsoft.com/office/powerpoint/2010/main" val="1355581695"/>
              </p:ext>
            </p:extLst>
          </p:nvPr>
        </p:nvGraphicFramePr>
        <p:xfrm>
          <a:off x="349250" y="1790859"/>
          <a:ext cx="10515600" cy="3291900"/>
        </p:xfrm>
        <a:graphic>
          <a:graphicData uri="http://schemas.openxmlformats.org/drawingml/2006/table">
            <a:tbl>
              <a:tblPr>
                <a:noFill/>
                <a:tableStyleId>{4624F22F-3336-4E7E-86E5-797D85529C0E}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b="1" u="none" strike="noStrike" cap="none">
                          <a:highlight>
                            <a:srgbClr val="FFFF00"/>
                          </a:highlight>
                        </a:rPr>
                        <a:t>Category</a:t>
                      </a:r>
                      <a:endParaRPr sz="1800" u="none" strike="noStrike" cap="none">
                        <a:highlight>
                          <a:srgbClr val="FFFF00"/>
                        </a:highlight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b="1" u="none" strike="noStrike" cap="none">
                          <a:highlight>
                            <a:srgbClr val="FFFF00"/>
                          </a:highlight>
                        </a:rPr>
                        <a:t>Tools/Frameworks</a:t>
                      </a:r>
                      <a:endParaRPr sz="1800" u="none" strike="noStrike" cap="none">
                        <a:highlight>
                          <a:srgbClr val="FFFF00"/>
                        </a:highlight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b="1" u="none" strike="noStrike" cap="none" dirty="0">
                          <a:highlight>
                            <a:srgbClr val="FFFF00"/>
                          </a:highlight>
                        </a:rPr>
                        <a:t>Description</a:t>
                      </a:r>
                      <a:endParaRPr sz="1800" u="none" strike="noStrike" cap="none" dirty="0">
                        <a:highlight>
                          <a:srgbClr val="FFFF00"/>
                        </a:highlight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b="1" u="none" strike="noStrike" cap="none"/>
                        <a:t>Storage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strike="noStrike" cap="none"/>
                        <a:t>HDFS, Amazon S3, Google Cloud Storage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strike="noStrike" cap="none"/>
                        <a:t>Stores massive datasets.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b="1" u="none" strike="noStrike" cap="none"/>
                        <a:t>Processing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strike="noStrike" cap="none"/>
                        <a:t>Hadoop, Spark, Flink, Storm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strike="noStrike" cap="none"/>
                        <a:t>Parallel and distributed processing.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b="1" u="none" strike="noStrike" cap="none"/>
                        <a:t>Data Ingestion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strike="noStrike" cap="none"/>
                        <a:t>Kafka, Flume, Sqoop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strike="noStrike" cap="none"/>
                        <a:t>Collects and moves data into storage.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b="1" u="none" strike="noStrike" cap="none"/>
                        <a:t>NoSQL Databases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strike="noStrike" cap="none"/>
                        <a:t>Cassandra, MongoDB, HBase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strike="noStrike" cap="none"/>
                        <a:t>Handles unstructured/semi-structured data.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b="1" u="none" strike="noStrike" cap="none"/>
                        <a:t>Analytics &amp; Visualization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strike="noStrike" cap="none"/>
                        <a:t>Power BI, Tableau, Zeppelin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strike="noStrike" cap="none" dirty="0"/>
                        <a:t>Data insights and visualization.</a:t>
                      </a:r>
                      <a:endParaRPr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 txBox="1">
            <a:spLocks noGrp="1"/>
          </p:cNvSpPr>
          <p:nvPr>
            <p:ph type="title"/>
          </p:nvPr>
        </p:nvSpPr>
        <p:spPr>
          <a:xfrm>
            <a:off x="2635827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b="1"/>
              <a:t>Big Data Processing Types</a:t>
            </a:r>
            <a:br>
              <a:rPr lang="en-IN" b="1"/>
            </a:br>
            <a:endParaRPr/>
          </a:p>
        </p:txBody>
      </p:sp>
      <p:graphicFrame>
        <p:nvGraphicFramePr>
          <p:cNvPr id="108" name="Google Shape;108;p5"/>
          <p:cNvGraphicFramePr/>
          <p:nvPr>
            <p:extLst>
              <p:ext uri="{D42A27DB-BD31-4B8C-83A1-F6EECF244321}">
                <p14:modId xmlns:p14="http://schemas.microsoft.com/office/powerpoint/2010/main" val="137128500"/>
              </p:ext>
            </p:extLst>
          </p:nvPr>
        </p:nvGraphicFramePr>
        <p:xfrm>
          <a:off x="838200" y="2858294"/>
          <a:ext cx="10515600" cy="2286040"/>
        </p:xfrm>
        <a:graphic>
          <a:graphicData uri="http://schemas.openxmlformats.org/drawingml/2006/table">
            <a:tbl>
              <a:tblPr>
                <a:noFill/>
                <a:tableStyleId>{4624F22F-3336-4E7E-86E5-797D85529C0E}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b="1" u="none" strike="noStrike" cap="none">
                          <a:highlight>
                            <a:srgbClr val="FFFF00"/>
                          </a:highlight>
                        </a:rPr>
                        <a:t>Type</a:t>
                      </a:r>
                      <a:endParaRPr sz="1800" u="none" strike="noStrike" cap="none">
                        <a:highlight>
                          <a:srgbClr val="FFFF00"/>
                        </a:highlight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b="1" u="none" strike="noStrike" cap="none" dirty="0">
                          <a:highlight>
                            <a:srgbClr val="FFFF00"/>
                          </a:highlight>
                        </a:rPr>
                        <a:t>Description</a:t>
                      </a:r>
                      <a:endParaRPr sz="1800" u="none" strike="noStrike" cap="none" dirty="0">
                        <a:highlight>
                          <a:srgbClr val="FFFF00"/>
                        </a:highlight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b="1" u="none" strike="noStrike" cap="none" dirty="0">
                          <a:highlight>
                            <a:srgbClr val="FFFF00"/>
                          </a:highlight>
                        </a:rPr>
                        <a:t>Tools</a:t>
                      </a:r>
                      <a:endParaRPr sz="1800" u="none" strike="noStrike" cap="none" dirty="0">
                        <a:highlight>
                          <a:srgbClr val="FFFF00"/>
                        </a:highlight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b="1" u="none" strike="noStrike" cap="none"/>
                        <a:t>Batch Processing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strike="noStrike" cap="none"/>
                        <a:t>Processes large volumes at once (periodic).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strike="noStrike" cap="none"/>
                        <a:t>Hadoop MapReduce, Spark Batch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b="1" u="none" strike="noStrike" cap="none"/>
                        <a:t>Stream Processing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strike="noStrike" cap="none"/>
                        <a:t>Processes data in real-time as it arrives.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strike="noStrike" cap="none"/>
                        <a:t>Spark Streaming, Flink, Storm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b="1" u="none" strike="noStrike" cap="none"/>
                        <a:t>Interactive Processing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strike="noStrike" cap="none"/>
                        <a:t>Ad-hoc queries and real-time analytics.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strike="noStrike" cap="none" dirty="0"/>
                        <a:t>Hive, Presto, Impala</a:t>
                      </a:r>
                      <a:endParaRPr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"/>
          <p:cNvSpPr txBox="1">
            <a:spLocks noGrp="1"/>
          </p:cNvSpPr>
          <p:nvPr>
            <p:ph type="title"/>
          </p:nvPr>
        </p:nvSpPr>
        <p:spPr>
          <a:xfrm>
            <a:off x="1762991" y="18255"/>
            <a:ext cx="10515600" cy="74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Benefits of Big Data</a:t>
            </a:r>
            <a:endParaRPr/>
          </a:p>
        </p:txBody>
      </p:sp>
      <p:sp>
        <p:nvSpPr>
          <p:cNvPr id="120" name="Google Shape;120;p7"/>
          <p:cNvSpPr txBox="1">
            <a:spLocks noGrp="1"/>
          </p:cNvSpPr>
          <p:nvPr>
            <p:ph type="body" idx="1"/>
          </p:nvPr>
        </p:nvSpPr>
        <p:spPr>
          <a:xfrm>
            <a:off x="0" y="1038545"/>
            <a:ext cx="10515600" cy="5478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i="1" dirty="0">
                <a:highlight>
                  <a:srgbClr val="FFFF00"/>
                </a:highlight>
              </a:rPr>
              <a:t>Real-time analytics and forecasting.</a:t>
            </a:r>
            <a:endParaRPr i="1" dirty="0">
              <a:highlight>
                <a:srgbClr val="FFFF00"/>
              </a:highlight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i="1" dirty="0">
              <a:highlight>
                <a:srgbClr val="FFFF00"/>
              </a:highlight>
            </a:endParaRPr>
          </a:p>
          <a:p>
            <a:pPr marL="228600" lvl="0" indent="-228600">
              <a:buSzPts val="2800"/>
            </a:pPr>
            <a:r>
              <a:rPr lang="en-US" i="1" dirty="0">
                <a:highlight>
                  <a:srgbClr val="FFFF00"/>
                </a:highlight>
              </a:rPr>
              <a:t>Better &amp; Faster Decision Making</a:t>
            </a:r>
          </a:p>
          <a:p>
            <a:pPr marL="228600" lvl="0" indent="-228600">
              <a:buSzPts val="2800"/>
            </a:pPr>
            <a:endParaRPr i="1" dirty="0">
              <a:highlight>
                <a:srgbClr val="FFFF00"/>
              </a:highlight>
            </a:endParaRPr>
          </a:p>
          <a:p>
            <a:pPr marL="228600" lvl="0" indent="-228600">
              <a:buSzPts val="2800"/>
            </a:pPr>
            <a:r>
              <a:rPr lang="en-US" i="1" dirty="0">
                <a:highlight>
                  <a:srgbClr val="FFFF00"/>
                </a:highlight>
              </a:rPr>
              <a:t>Scalability &amp; Flexibility</a:t>
            </a:r>
          </a:p>
          <a:p>
            <a:pPr marL="228600" lvl="0" indent="-228600">
              <a:buSzPts val="2800"/>
            </a:pPr>
            <a:endParaRPr i="1" dirty="0">
              <a:highlight>
                <a:srgbClr val="FFFF00"/>
              </a:highlight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i="1" dirty="0">
                <a:highlight>
                  <a:srgbClr val="FFFF00"/>
                </a:highlight>
              </a:rPr>
              <a:t>Optimized operations and cost savings.</a:t>
            </a:r>
            <a:endParaRPr i="1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b="1"/>
              <a:t>Challenges in Big Data</a:t>
            </a:r>
            <a:br>
              <a:rPr lang="en-IN" b="1"/>
            </a:br>
            <a:endParaRPr/>
          </a:p>
        </p:txBody>
      </p:sp>
      <p:sp>
        <p:nvSpPr>
          <p:cNvPr id="126" name="Google Shape;126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dirty="0"/>
              <a:t>Data security &amp; privacy.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dirty="0"/>
              <a:t>Integration of multiple data sources.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dirty="0"/>
              <a:t>Managing data quality.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dirty="0"/>
              <a:t>Lack of skilled professionals.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dirty="0"/>
              <a:t>High infrastructure costs.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"/>
          <p:cNvSpPr txBox="1">
            <a:spLocks noGrp="1"/>
          </p:cNvSpPr>
          <p:nvPr>
            <p:ph type="title"/>
          </p:nvPr>
        </p:nvSpPr>
        <p:spPr>
          <a:xfrm>
            <a:off x="3636818" y="18256"/>
            <a:ext cx="8555182" cy="662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IN" dirty="0"/>
              <a:t>Data Lifecycle Stages</a:t>
            </a:r>
            <a:endParaRPr dirty="0"/>
          </a:p>
        </p:txBody>
      </p:sp>
      <p:sp>
        <p:nvSpPr>
          <p:cNvPr id="132" name="Google Shape;132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dirty="0"/>
              <a:t>The </a:t>
            </a:r>
            <a:r>
              <a:rPr lang="en-IN" b="1" dirty="0"/>
              <a:t>Data Lifecycle</a:t>
            </a:r>
            <a:r>
              <a:rPr lang="en-IN" dirty="0"/>
              <a:t> represents the </a:t>
            </a:r>
            <a:r>
              <a:rPr lang="en-IN" b="1" dirty="0"/>
              <a:t>journey of data</a:t>
            </a:r>
            <a:r>
              <a:rPr lang="en-IN" dirty="0"/>
              <a:t> through different phases — from its initial creation or capture to its final deletion or archival.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"/>
          <p:cNvSpPr txBox="1">
            <a:spLocks noGrp="1"/>
          </p:cNvSpPr>
          <p:nvPr>
            <p:ph type="body" idx="1"/>
          </p:nvPr>
        </p:nvSpPr>
        <p:spPr>
          <a:xfrm>
            <a:off x="90053" y="0"/>
            <a:ext cx="12260133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IN" b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IN" b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b="1" dirty="0"/>
              <a:t>1️⃣ Data Generation / Creation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b="1" dirty="0"/>
              <a:t>What happens:</a:t>
            </a:r>
            <a:r>
              <a:rPr lang="en-IN" dirty="0"/>
              <a:t> Data is created or captured from various sources.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b="1" dirty="0"/>
              <a:t>Sources:</a:t>
            </a:r>
            <a:r>
              <a:rPr lang="en-IN" dirty="0"/>
              <a:t> Sensors, transactions, IoT devices, social media, applications, surveys, etc.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b="1" dirty="0"/>
              <a:t>Example:</a:t>
            </a:r>
            <a:r>
              <a:rPr lang="en-IN" dirty="0"/>
              <a:t> A user posts on Instagram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br>
              <a:rPr lang="en-IN" dirty="0"/>
            </a:b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b="1" dirty="0"/>
              <a:t>2️⃣ Data Collection / Ingestion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b="1" dirty="0"/>
              <a:t>What happens:</a:t>
            </a:r>
            <a:r>
              <a:rPr lang="en-IN" dirty="0"/>
              <a:t> Data is gathered and brought into the system.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b="1" dirty="0"/>
              <a:t>Methods:</a:t>
            </a:r>
            <a:r>
              <a:rPr lang="en-IN" dirty="0"/>
              <a:t> APIs, logs, forms, IoT data streams, ETL (Extract, Transform, Load).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b="1" dirty="0"/>
              <a:t>Example:</a:t>
            </a:r>
            <a:r>
              <a:rPr lang="en-IN" dirty="0"/>
              <a:t> Sales data collected from multiple branches into a central database.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br>
              <a:rPr lang="en-IN" dirty="0"/>
            </a:b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8BF0F2-C82A-7C20-3D07-AFE327475A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9486" y="421367"/>
            <a:ext cx="10515600" cy="6338661"/>
          </a:xfrm>
        </p:spPr>
        <p:txBody>
          <a:bodyPr>
            <a:normAutofit fontScale="92500" lnSpcReduction="20000"/>
          </a:bodyPr>
          <a:lstStyle/>
          <a:p>
            <a:pPr marL="228600" lvl="0" indent="-228600">
              <a:buSzPct val="100000"/>
            </a:pPr>
            <a:endParaRPr lang="en-US" dirty="0"/>
          </a:p>
          <a:p>
            <a:pPr marL="0" lvl="0" indent="0">
              <a:buSzPct val="100000"/>
              <a:buNone/>
            </a:pPr>
            <a:r>
              <a:rPr lang="en-US" b="1" dirty="0"/>
              <a:t>3️⃣ Data Storage</a:t>
            </a:r>
            <a:endParaRPr lang="en-US" dirty="0"/>
          </a:p>
          <a:p>
            <a:pPr marL="228600" lvl="0" indent="-228600">
              <a:buSzPct val="100000"/>
            </a:pPr>
            <a:r>
              <a:rPr lang="en-US" b="1" dirty="0"/>
              <a:t>What happens:</a:t>
            </a:r>
            <a:r>
              <a:rPr lang="en-US" dirty="0"/>
              <a:t> Data is stored in structured or unstructured formats.</a:t>
            </a:r>
          </a:p>
          <a:p>
            <a:pPr marL="228600" lvl="0" indent="-228600">
              <a:buSzPct val="100000"/>
            </a:pPr>
            <a:r>
              <a:rPr lang="en-US" b="1" dirty="0"/>
              <a:t>Tools/Technologies:</a:t>
            </a:r>
            <a:endParaRPr lang="en-US" dirty="0"/>
          </a:p>
          <a:p>
            <a:pPr marL="685800" lvl="1" indent="-228600">
              <a:buSzPct val="100000"/>
            </a:pPr>
            <a:r>
              <a:rPr lang="en-US" dirty="0"/>
              <a:t>Databases (SQL, NoSQL)</a:t>
            </a:r>
          </a:p>
          <a:p>
            <a:pPr marL="685800" lvl="1" indent="-228600">
              <a:buSzPct val="100000"/>
            </a:pPr>
            <a:r>
              <a:rPr lang="en-US" dirty="0"/>
              <a:t>Data Lakes (HDFS, S3)</a:t>
            </a:r>
          </a:p>
          <a:p>
            <a:pPr marL="685800" lvl="1" indent="-228600">
              <a:buSzPct val="100000"/>
            </a:pPr>
            <a:r>
              <a:rPr lang="en-US" dirty="0"/>
              <a:t>Data Warehouses (Snowflake, </a:t>
            </a:r>
            <a:r>
              <a:rPr lang="en-US" dirty="0" err="1"/>
              <a:t>BigQuery</a:t>
            </a:r>
            <a:r>
              <a:rPr lang="en-US" dirty="0"/>
              <a:t>, Redshift)</a:t>
            </a:r>
          </a:p>
          <a:p>
            <a:pPr marL="228600" lvl="0" indent="-228600">
              <a:buSzPct val="100000"/>
            </a:pPr>
            <a:r>
              <a:rPr lang="en-US" b="1" dirty="0"/>
              <a:t>Goal:</a:t>
            </a:r>
            <a:r>
              <a:rPr lang="en-US" dirty="0"/>
              <a:t> Ensure availability, scalability, and security.</a:t>
            </a:r>
          </a:p>
          <a:p>
            <a:pPr marL="0" lvl="0" indent="0">
              <a:buSzPct val="100000"/>
              <a:buNone/>
            </a:pPr>
            <a:br>
              <a:rPr lang="en-US" dirty="0"/>
            </a:br>
            <a:endParaRPr lang="en-US" dirty="0"/>
          </a:p>
          <a:p>
            <a:pPr marL="0" lvl="0" indent="0">
              <a:buSzPct val="100000"/>
              <a:buNone/>
            </a:pPr>
            <a:r>
              <a:rPr lang="en-US" b="1" dirty="0"/>
              <a:t>4️⃣ Data Processing</a:t>
            </a:r>
            <a:endParaRPr lang="en-US" dirty="0"/>
          </a:p>
          <a:p>
            <a:pPr marL="228600" lvl="0" indent="-228600">
              <a:buSzPct val="100000"/>
            </a:pPr>
            <a:r>
              <a:rPr lang="en-US" b="1" dirty="0"/>
              <a:t>What happens:</a:t>
            </a:r>
            <a:r>
              <a:rPr lang="en-US" dirty="0"/>
              <a:t> Raw data is cleaned, transformed, and organized for analysis.</a:t>
            </a:r>
          </a:p>
          <a:p>
            <a:pPr marL="228600" lvl="0" indent="-228600">
              <a:buSzPct val="100000"/>
            </a:pPr>
            <a:r>
              <a:rPr lang="en-US" b="1" dirty="0"/>
              <a:t>Techniques:</a:t>
            </a:r>
            <a:r>
              <a:rPr lang="en-US" dirty="0"/>
              <a:t> Data cleaning, normalization, aggregation, and enrichment.</a:t>
            </a:r>
          </a:p>
          <a:p>
            <a:pPr marL="228600" lvl="0" indent="-228600">
              <a:buSzPct val="100000"/>
            </a:pPr>
            <a:r>
              <a:rPr lang="en-US" b="1" dirty="0"/>
              <a:t>Tools:</a:t>
            </a:r>
            <a:r>
              <a:rPr lang="en-US" dirty="0"/>
              <a:t> Apache Spark, Hadoop, ETL pipelines.</a:t>
            </a:r>
          </a:p>
          <a:p>
            <a:pPr marL="228600" lvl="0" indent="-228600">
              <a:buSzPct val="100000"/>
            </a:pPr>
            <a:r>
              <a:rPr lang="en-US" b="1" dirty="0"/>
              <a:t>Example:</a:t>
            </a:r>
            <a:r>
              <a:rPr lang="en-US" dirty="0"/>
              <a:t> Removing duplicates and formatting timestamps before analysis.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91465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"/>
          <p:cNvSpPr txBox="1">
            <a:spLocks noGrp="1"/>
          </p:cNvSpPr>
          <p:nvPr>
            <p:ph type="body" idx="1"/>
          </p:nvPr>
        </p:nvSpPr>
        <p:spPr>
          <a:xfrm>
            <a:off x="0" y="587828"/>
            <a:ext cx="10515600" cy="627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b="1" dirty="0"/>
              <a:t>5️⃣ Data Analysis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b="1" dirty="0"/>
              <a:t>What happens:</a:t>
            </a:r>
            <a:r>
              <a:rPr lang="en-IN" dirty="0"/>
              <a:t> Data is </a:t>
            </a:r>
            <a:r>
              <a:rPr lang="en-IN" dirty="0" err="1"/>
              <a:t>analyzed</a:t>
            </a:r>
            <a:r>
              <a:rPr lang="en-IN" dirty="0"/>
              <a:t> to extract insights and patterns.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b="1" dirty="0"/>
              <a:t>Techniques:</a:t>
            </a:r>
            <a:r>
              <a:rPr lang="en-IN" dirty="0"/>
              <a:t> Statistical analysis, machine learning, data mining, visualization.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b="1" dirty="0"/>
              <a:t>Tools:</a:t>
            </a:r>
            <a:r>
              <a:rPr lang="en-IN" dirty="0"/>
              <a:t> Python (Pandas, Scikit-learn), Power BI, Tableau.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b="1" dirty="0"/>
              <a:t>Goal:</a:t>
            </a:r>
            <a:r>
              <a:rPr lang="en-IN" dirty="0"/>
              <a:t> Support business decisions and innovation.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br>
              <a:rPr lang="en-IN" dirty="0"/>
            </a:b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b="1" dirty="0"/>
              <a:t>6️⃣ Data Visualization &amp; Reporting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b="1" dirty="0"/>
              <a:t>What happens:</a:t>
            </a:r>
            <a:r>
              <a:rPr lang="en-IN" dirty="0"/>
              <a:t> Analytical results are represented visually.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b="1" dirty="0"/>
              <a:t>Outputs:</a:t>
            </a:r>
            <a:r>
              <a:rPr lang="en-IN" dirty="0"/>
              <a:t> Dashboards, charts, reports.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b="1" dirty="0"/>
              <a:t>Tools:</a:t>
            </a:r>
            <a:r>
              <a:rPr lang="en-IN" dirty="0"/>
              <a:t> Tableau, Power BI, Matplotlib, Looker.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b="1" dirty="0"/>
              <a:t>Example:</a:t>
            </a:r>
            <a:r>
              <a:rPr lang="en-IN" dirty="0"/>
              <a:t> Displaying sales trends by region in a dashboard.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br>
              <a:rPr lang="en-IN" dirty="0"/>
            </a:b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D8A1E9-7661-4AB8-2A80-5AA2AA1B95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9857" y="922110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0" lvl="0" indent="0">
              <a:buSzPct val="100000"/>
              <a:buNone/>
            </a:pPr>
            <a:r>
              <a:rPr lang="en-US" b="1" dirty="0"/>
              <a:t>7️⃣ Data Archival</a:t>
            </a:r>
            <a:endParaRPr lang="en-US" dirty="0"/>
          </a:p>
          <a:p>
            <a:pPr marL="228600" lvl="0" indent="-228600">
              <a:buSzPct val="100000"/>
            </a:pPr>
            <a:r>
              <a:rPr lang="en-US" b="1" dirty="0"/>
              <a:t>What happens:</a:t>
            </a:r>
            <a:r>
              <a:rPr lang="en-US" dirty="0"/>
              <a:t> Older or less frequently used data is moved to low-cost storage.</a:t>
            </a:r>
          </a:p>
          <a:p>
            <a:pPr marL="228600" lvl="0" indent="-228600">
              <a:buSzPct val="100000"/>
            </a:pPr>
            <a:r>
              <a:rPr lang="en-US" b="1" dirty="0"/>
              <a:t>Goal:</a:t>
            </a:r>
            <a:r>
              <a:rPr lang="en-US" dirty="0"/>
              <a:t> Retain data for compliance, auditing, or future analysis.</a:t>
            </a:r>
          </a:p>
          <a:p>
            <a:pPr marL="228600" lvl="0" indent="-228600">
              <a:buSzPct val="100000"/>
            </a:pPr>
            <a:r>
              <a:rPr lang="en-US" b="1" dirty="0"/>
              <a:t>Tools:</a:t>
            </a:r>
            <a:r>
              <a:rPr lang="en-US" dirty="0"/>
              <a:t> Glacier, Azure Archive, </a:t>
            </a:r>
            <a:r>
              <a:rPr lang="en-US" dirty="0" err="1"/>
              <a:t>Coldline</a:t>
            </a:r>
            <a:r>
              <a:rPr lang="en-US" dirty="0"/>
              <a:t> Storage.</a:t>
            </a:r>
          </a:p>
          <a:p>
            <a:pPr marL="228600" lvl="0" indent="-228600">
              <a:buSzPct val="100000"/>
            </a:pPr>
            <a:r>
              <a:rPr lang="en-US" b="1" dirty="0"/>
              <a:t>Example:</a:t>
            </a:r>
            <a:r>
              <a:rPr lang="en-US" dirty="0"/>
              <a:t> Storing 5-year-old transaction data for legal reasons.</a:t>
            </a:r>
          </a:p>
          <a:p>
            <a:pPr marL="0" lvl="0" indent="0">
              <a:buSzPct val="100000"/>
              <a:buNone/>
            </a:pPr>
            <a:br>
              <a:rPr lang="en-US" dirty="0"/>
            </a:br>
            <a:endParaRPr lang="en-US" dirty="0"/>
          </a:p>
          <a:p>
            <a:pPr marL="0" lvl="0" indent="0">
              <a:buSzPct val="100000"/>
              <a:buNone/>
            </a:pPr>
            <a:r>
              <a:rPr lang="en-US" b="1" dirty="0"/>
              <a:t>8️⃣ Data Deletion / Disposal</a:t>
            </a:r>
            <a:endParaRPr lang="en-US" dirty="0"/>
          </a:p>
          <a:p>
            <a:pPr marL="228600" lvl="0" indent="-228600">
              <a:buSzPct val="100000"/>
            </a:pPr>
            <a:r>
              <a:rPr lang="en-US" b="1" dirty="0"/>
              <a:t>What happens:</a:t>
            </a:r>
            <a:r>
              <a:rPr lang="en-US" dirty="0"/>
              <a:t> Data is permanently removed when no longer needed.</a:t>
            </a:r>
          </a:p>
          <a:p>
            <a:pPr marL="228600" lvl="0" indent="-228600">
              <a:buSzPct val="100000"/>
            </a:pPr>
            <a:r>
              <a:rPr lang="en-US" b="1" dirty="0"/>
              <a:t>Goal:</a:t>
            </a:r>
            <a:r>
              <a:rPr lang="en-US" dirty="0"/>
              <a:t> Free up storage, ensure privacy compliance (GDPR, HIPAA).</a:t>
            </a:r>
          </a:p>
          <a:p>
            <a:pPr marL="228600" lvl="0" indent="-228600">
              <a:buSzPct val="100000"/>
            </a:pPr>
            <a:r>
              <a:rPr lang="en-US" b="1" dirty="0"/>
              <a:t>Methods:</a:t>
            </a:r>
            <a:r>
              <a:rPr lang="en-US" dirty="0"/>
              <a:t> Secure deletion, anonymization, shredding backups.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73389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0163" y="218209"/>
            <a:ext cx="11731337" cy="651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3"/>
          <p:cNvSpPr txBox="1">
            <a:spLocks noGrp="1"/>
          </p:cNvSpPr>
          <p:nvPr>
            <p:ph type="title"/>
          </p:nvPr>
        </p:nvSpPr>
        <p:spPr>
          <a:xfrm>
            <a:off x="2594264" y="0"/>
            <a:ext cx="10515600" cy="681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IN"/>
              <a:t>Types of Data</a:t>
            </a:r>
            <a:endParaRPr/>
          </a:p>
        </p:txBody>
      </p:sp>
      <p:sp>
        <p:nvSpPr>
          <p:cNvPr id="153" name="Google Shape;153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b="1"/>
              <a:t>Structured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b="1"/>
              <a:t>Semi structured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b="1"/>
              <a:t>Unstructured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b="1"/>
              <a:t>a. Structured Data</a:t>
            </a:r>
            <a:br>
              <a:rPr lang="en-IN" b="1"/>
            </a:br>
            <a:endParaRPr/>
          </a:p>
        </p:txBody>
      </p:sp>
      <p:sp>
        <p:nvSpPr>
          <p:cNvPr id="159" name="Google Shape;159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b="1"/>
              <a:t>Definition:</a:t>
            </a:r>
            <a:r>
              <a:rPr lang="en-IN"/>
              <a:t> Data that is organized in a fixed format (rows &amp; columns).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b="1"/>
              <a:t>Storage:</a:t>
            </a:r>
            <a:r>
              <a:rPr lang="en-IN"/>
              <a:t> Relational databases (SQL, Excel).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b="1"/>
              <a:t>Examples: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Customer table: Name, ID, Age, Salary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Transaction records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b="1"/>
              <a:t>Tools:</a:t>
            </a:r>
            <a:r>
              <a:rPr lang="en-IN"/>
              <a:t> MySQL, Oracle, SQL Server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🧠 </a:t>
            </a:r>
            <a:r>
              <a:rPr lang="en-IN" i="1"/>
              <a:t>Easy to store, search, and analyze using SQL.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b="1"/>
              <a:t>b. Semi-Structured Data</a:t>
            </a:r>
            <a:br>
              <a:rPr lang="en-IN" b="1"/>
            </a:br>
            <a:endParaRPr/>
          </a:p>
        </p:txBody>
      </p:sp>
      <p:sp>
        <p:nvSpPr>
          <p:cNvPr id="165" name="Google Shape;165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b="1"/>
              <a:t>Definition:</a:t>
            </a:r>
            <a:r>
              <a:rPr lang="en-IN"/>
              <a:t> Data that does not follow a strict structure but has some organizational elements (tags, key-value pairs).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b="1"/>
              <a:t>Storage:</a:t>
            </a:r>
            <a:r>
              <a:rPr lang="en-IN"/>
              <a:t> NoSQL databases, XML, JSON.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b="1"/>
              <a:t>Examples: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JSON: { "name": "Kumar", "age": 30 }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XML, Logs, Emails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b="1"/>
              <a:t>Tools:</a:t>
            </a:r>
            <a:r>
              <a:rPr lang="en-IN"/>
              <a:t> MongoDB, Cassandra, Elasticsearch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🧠 </a:t>
            </a:r>
            <a:r>
              <a:rPr lang="en-IN" i="1"/>
              <a:t>More flexible — structure can vary record by record.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b="1"/>
              <a:t>c. Unstructured Data</a:t>
            </a:r>
            <a:br>
              <a:rPr lang="en-IN" b="1"/>
            </a:br>
            <a:endParaRPr/>
          </a:p>
        </p:txBody>
      </p:sp>
      <p:sp>
        <p:nvSpPr>
          <p:cNvPr id="171" name="Google Shape;171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b="1"/>
              <a:t>Definition:</a:t>
            </a:r>
            <a:r>
              <a:rPr lang="en-IN"/>
              <a:t> Data with no predefined model or format.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b="1"/>
              <a:t>Storage:</a:t>
            </a:r>
            <a:r>
              <a:rPr lang="en-IN"/>
              <a:t> Data lakes, object storage.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b="1"/>
              <a:t>Examples: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Text documents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Audio, Video, Images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Social media posts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b="1"/>
              <a:t>Tools:</a:t>
            </a:r>
            <a:r>
              <a:rPr lang="en-IN"/>
              <a:t> Hadoop HDFS, Amazon S3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🧠 </a:t>
            </a:r>
            <a:r>
              <a:rPr lang="en-IN" i="1"/>
              <a:t>Requires AI/ML or NLP techniques for analysis.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7"/>
          <p:cNvSpPr txBox="1">
            <a:spLocks noGrp="1"/>
          </p:cNvSpPr>
          <p:nvPr>
            <p:ph type="title"/>
          </p:nvPr>
        </p:nvSpPr>
        <p:spPr>
          <a:xfrm>
            <a:off x="3744686" y="267289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b="1"/>
              <a:t>Bigdata File types</a:t>
            </a:r>
            <a:br>
              <a:rPr lang="en-IN" b="1"/>
            </a:br>
            <a:endParaRPr b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In </a:t>
            </a:r>
            <a:r>
              <a:rPr lang="en-IN" b="1"/>
              <a:t>Big Data systems</a:t>
            </a:r>
            <a:r>
              <a:rPr lang="en-IN"/>
              <a:t>, data is stored and exchanged in a variety of </a:t>
            </a:r>
            <a:r>
              <a:rPr lang="en-IN" b="1"/>
              <a:t>file types (formats)</a:t>
            </a:r>
            <a:r>
              <a:rPr lang="en-IN"/>
              <a:t> — each optimized for specific </a:t>
            </a:r>
            <a:r>
              <a:rPr lang="en-IN" b="1"/>
              <a:t>use cases, performance needs, and data processing frameworks</a:t>
            </a:r>
            <a:r>
              <a:rPr lang="en-IN"/>
              <a:t>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9"/>
          <p:cNvSpPr txBox="1">
            <a:spLocks noGrp="1"/>
          </p:cNvSpPr>
          <p:nvPr>
            <p:ph type="title"/>
          </p:nvPr>
        </p:nvSpPr>
        <p:spPr>
          <a:xfrm>
            <a:off x="2460171" y="18256"/>
            <a:ext cx="10515600" cy="787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1. </a:t>
            </a:r>
            <a:r>
              <a:rPr lang="en-IN" b="1"/>
              <a:t>Text-Based Formats</a:t>
            </a:r>
            <a:endParaRPr/>
          </a:p>
        </p:txBody>
      </p:sp>
      <p:pic>
        <p:nvPicPr>
          <p:cNvPr id="188" name="Google Shape;188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1886" y="914400"/>
            <a:ext cx="11593285" cy="53666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0"/>
          <p:cNvSpPr txBox="1">
            <a:spLocks noGrp="1"/>
          </p:cNvSpPr>
          <p:nvPr>
            <p:ph type="title"/>
          </p:nvPr>
        </p:nvSpPr>
        <p:spPr>
          <a:xfrm>
            <a:off x="1371600" y="33791"/>
            <a:ext cx="10515600" cy="647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IN"/>
              <a:t>2. </a:t>
            </a:r>
            <a:r>
              <a:rPr lang="en-IN" b="1"/>
              <a:t>Binary Row-Based Formats</a:t>
            </a:r>
            <a:endParaRPr/>
          </a:p>
        </p:txBody>
      </p:sp>
      <p:pic>
        <p:nvPicPr>
          <p:cNvPr id="194" name="Google Shape;194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1370" y="1338943"/>
            <a:ext cx="11114315" cy="50727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1"/>
          <p:cNvSpPr txBox="1">
            <a:spLocks noGrp="1"/>
          </p:cNvSpPr>
          <p:nvPr>
            <p:ph type="title"/>
          </p:nvPr>
        </p:nvSpPr>
        <p:spPr>
          <a:xfrm>
            <a:off x="762000" y="18256"/>
            <a:ext cx="11146971" cy="798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3. </a:t>
            </a:r>
            <a:r>
              <a:rPr lang="en-IN" b="1"/>
              <a:t>Columnar Formats</a:t>
            </a:r>
            <a:r>
              <a:rPr lang="en-IN"/>
              <a:t> (for analytical workloads)</a:t>
            </a:r>
            <a:endParaRPr/>
          </a:p>
        </p:txBody>
      </p:sp>
      <p:pic>
        <p:nvPicPr>
          <p:cNvPr id="200" name="Google Shape;200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3029" y="1164771"/>
            <a:ext cx="11713027" cy="510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2"/>
          <p:cNvSpPr txBox="1">
            <a:spLocks noGrp="1"/>
          </p:cNvSpPr>
          <p:nvPr>
            <p:ph type="title"/>
          </p:nvPr>
        </p:nvSpPr>
        <p:spPr>
          <a:xfrm>
            <a:off x="1240972" y="125641"/>
            <a:ext cx="10515600" cy="56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IN"/>
              <a:t>4. </a:t>
            </a:r>
            <a:r>
              <a:rPr lang="en-IN" b="1"/>
              <a:t>Semi-Structured and Unstructured Formats</a:t>
            </a:r>
            <a:endParaRPr/>
          </a:p>
        </p:txBody>
      </p:sp>
      <p:pic>
        <p:nvPicPr>
          <p:cNvPr id="206" name="Google Shape;206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6315" y="1217403"/>
            <a:ext cx="10972800" cy="49221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3"/>
          <p:cNvSpPr txBox="1">
            <a:spLocks noGrp="1"/>
          </p:cNvSpPr>
          <p:nvPr>
            <p:ph type="title"/>
          </p:nvPr>
        </p:nvSpPr>
        <p:spPr>
          <a:xfrm>
            <a:off x="1883229" y="18256"/>
            <a:ext cx="10515600" cy="863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File Format Selection Guidelines</a:t>
            </a:r>
            <a:endParaRPr/>
          </a:p>
        </p:txBody>
      </p:sp>
      <p:pic>
        <p:nvPicPr>
          <p:cNvPr id="212" name="Google Shape;212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5286" y="1328058"/>
            <a:ext cx="10341427" cy="47679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959</Words>
  <Application>Microsoft Office PowerPoint</Application>
  <PresentationFormat>Widescreen</PresentationFormat>
  <Paragraphs>149</Paragraphs>
  <Slides>24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BigData </vt:lpstr>
      <vt:lpstr>What is Big Data?</vt:lpstr>
      <vt:lpstr>PowerPoint Presentation</vt:lpstr>
      <vt:lpstr>Big Data Architecture Components &amp; Technologies</vt:lpstr>
      <vt:lpstr>Big Data Processing Types </vt:lpstr>
      <vt:lpstr>Benefits of Big Data</vt:lpstr>
      <vt:lpstr>Challenges in Big Data </vt:lpstr>
      <vt:lpstr>Data Lifecycle Stages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Types of Data</vt:lpstr>
      <vt:lpstr>a. Structured Data </vt:lpstr>
      <vt:lpstr>b. Semi-Structured Data </vt:lpstr>
      <vt:lpstr>c. Unstructured Data </vt:lpstr>
      <vt:lpstr>Bigdata File types </vt:lpstr>
      <vt:lpstr>PowerPoint Presentation</vt:lpstr>
      <vt:lpstr>1. Text-Based Formats</vt:lpstr>
      <vt:lpstr>2. Binary Row-Based Formats</vt:lpstr>
      <vt:lpstr>3. Columnar Formats (for analytical workloads)</vt:lpstr>
      <vt:lpstr>4. Semi-Structured and Unstructured Formats</vt:lpstr>
      <vt:lpstr>File Format Selection Guidelines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Data Engineering</dc:creator>
  <cp:lastModifiedBy>Rajesh Kumar Devabhaktuni</cp:lastModifiedBy>
  <cp:revision>5</cp:revision>
  <dcterms:created xsi:type="dcterms:W3CDTF">2025-10-22T06:38:01Z</dcterms:created>
  <dcterms:modified xsi:type="dcterms:W3CDTF">2026-02-15T15:25:48Z</dcterms:modified>
</cp:coreProperties>
</file>