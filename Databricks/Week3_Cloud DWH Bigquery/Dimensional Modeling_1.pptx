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FF58-9044-5BF1-5263-6E9716095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22135-24D0-472B-42D5-CED5D4CC1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4643C-EC36-703B-0370-F6824AF82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BD2F4-28D8-D7C3-FEB5-F4DFB0CE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C41A6-F715-BF18-F0CD-FF0AC9F2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0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4709-A4C6-F69E-85E9-AB28F897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F748B-48A7-9832-1205-BA9A2FE95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DBA5B-BB24-47C3-91C6-5C42DC7D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AD283-B0CD-8A64-44EC-17420545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C16F8-9AAB-79F3-094B-E64EDF51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7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654F1-85A0-5E04-1D9A-8D01FD35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10959-D3A4-B850-203D-4B011856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AC25-5A72-1213-1987-E5B7D0FDE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D4E7C-8E80-882F-72A1-2CD3D0C6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65408-58CC-3D98-CDA2-4A6E1145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D34C-BC2B-E4A2-AA9E-09B47ADF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1D3E9-ADC3-BCFA-B3AF-B082AAC55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9165E-DAE7-CEF0-E85D-343381DBD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97D29-0B23-9915-5DC1-4F772D085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F27C9-6C0D-FB4B-85CB-599AAA5B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A2531-273E-03F1-6E03-CC992311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3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0D47E-BECC-8017-186D-88826A61F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F4C0-3609-3C45-BADF-32C14F574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8C10B-321A-20A5-11C3-5EB962D32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E1A58-1A31-37E2-CA92-763B71AB7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9CAF6-73B8-7F1E-7A96-ADCB8AFCC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AA6A9C-9E64-85E4-942D-746ABD3F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B55A4-1825-DF1D-F161-E0115E78D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54D410-259E-AE92-76B8-21D8D40E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04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8D55-620F-718A-8AC4-79761C01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309DA-B40A-6E41-985B-F28669012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541AF-24E5-AF14-104C-FE404551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8BD9B-71C3-1C8B-7D59-9D29C620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8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23D3A-D9F9-1AB1-B0F6-0DEAD8BC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50C28-0333-DB63-82ED-A58FF8CC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E5612-F29F-8556-06AC-2CFE79BC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8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1A60-AED4-8133-7158-D99E89DF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35A16-A8EE-1812-9DFB-6483DD5D5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84C1A-EA36-F380-826A-699166127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86ECB-E76C-298B-B226-7DF692AA0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F5841-7DBA-3A20-9E5C-ABCA375E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120CF-04EB-BA96-EAEF-6E975B267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92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D75B-B826-203B-9C8B-195ADB80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3C2E06-43F2-6139-D19F-AC497701D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456D9-16BA-9217-7662-62E69DD90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CDF9F-6151-7B22-2991-F93B04C60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1954E-30AF-2359-17C3-409C3374C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32ADA-B2CC-076D-0D61-672F516E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6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77DC-A7A1-9B5B-B595-065BD11F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8FA53-0DEC-558F-EE14-C91FE200D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59227-C2E0-B4C1-3C9E-61C037319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4920-BE65-03B1-990A-832B0C5D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0A833-5A94-F04B-8B88-AE5B08A7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98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23D67-96C0-24E2-FA44-7318AD9F8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32F54-6AA6-F445-609F-2AF102E22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CC952-30E4-BB91-9AB9-1EDFA12F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90336-3761-0F1F-D0AB-0C6DC3B1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40E76-8BA3-B1DC-BCA4-BA3E2E67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36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BDA83-67BA-7563-5AD7-7826CF69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1C64E-E1F0-38D9-5B07-2877AC55C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A016E-34F6-C4C0-3A17-F3B7E0937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3C767-9A2C-4780-9E8C-00E464E736C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9024C-BD5B-6472-4ACD-8A9168703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400BD-53F0-619F-BE05-5EC5FF902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FD6BD-308D-477E-8B03-975EBE7B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93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datacamp.com/courses/data-warehousing-concept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camp.com/tutorial/normalization-in-sq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133E-4B09-15A3-858F-97D9484FC6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Dimensional Modeling</a:t>
            </a:r>
          </a:p>
        </p:txBody>
      </p:sp>
    </p:spTree>
    <p:extLst>
      <p:ext uri="{BB962C8B-B14F-4D97-AF65-F5344CB8AC3E}">
        <p14:creationId xmlns:p14="http://schemas.microsoft.com/office/powerpoint/2010/main" val="56165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6EA0-C6FE-CF1C-B99B-5CCBEA27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4457" y="2103437"/>
            <a:ext cx="10515600" cy="1325563"/>
          </a:xfrm>
        </p:spPr>
        <p:txBody>
          <a:bodyPr/>
          <a:lstStyle/>
          <a:p>
            <a:r>
              <a:rPr lang="en-US" dirty="0"/>
              <a:t>Data Modelling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86E7C-D610-93EF-A163-7863C4F9F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916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EE634-513F-4F06-AC7D-F0929139B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38200"/>
          </a:xfrm>
        </p:spPr>
        <p:txBody>
          <a:bodyPr/>
          <a:lstStyle/>
          <a:p>
            <a:r>
              <a:rPr lang="en-US" dirty="0"/>
              <a:t>Data Modelling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AC7C4-6415-F6F5-EDDD-D5C2441FD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5" y="926760"/>
            <a:ext cx="11919858" cy="4351338"/>
          </a:xfrm>
        </p:spPr>
        <p:txBody>
          <a:bodyPr/>
          <a:lstStyle/>
          <a:p>
            <a:r>
              <a:rPr lang="en-US" dirty="0"/>
              <a:t>These describe </a:t>
            </a:r>
            <a:r>
              <a:rPr lang="en-US" b="1" dirty="0"/>
              <a:t>how detailed your data model is</a:t>
            </a:r>
            <a:r>
              <a:rPr lang="en-US" dirty="0"/>
              <a:t>, from business idea to actual tables.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🔹 Conceptual Data Model (CDM)</a:t>
            </a:r>
          </a:p>
          <a:p>
            <a:pPr marL="0" indent="0">
              <a:buNone/>
            </a:pPr>
            <a:r>
              <a:rPr lang="en-US" dirty="0"/>
              <a:t>🔹 Logical Data Model (LDM)</a:t>
            </a:r>
          </a:p>
          <a:p>
            <a:pPr marL="0" indent="0">
              <a:buNone/>
            </a:pPr>
            <a:r>
              <a:rPr lang="en-US" dirty="0"/>
              <a:t>🔹 Physical Data Model (PDM)</a:t>
            </a:r>
          </a:p>
        </p:txBody>
      </p:sp>
    </p:spTree>
    <p:extLst>
      <p:ext uri="{BB962C8B-B14F-4D97-AF65-F5344CB8AC3E}">
        <p14:creationId xmlns:p14="http://schemas.microsoft.com/office/powerpoint/2010/main" val="342936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10046-ECE7-7833-5B84-8603B511D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CDM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E3638-B0E1-23B8-6400-03A96B794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020082"/>
            <a:ext cx="10515600" cy="56964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Business view of data</a:t>
            </a:r>
            <a:endParaRPr lang="en-US" dirty="0"/>
          </a:p>
          <a:p>
            <a:r>
              <a:rPr lang="en-US" dirty="0"/>
              <a:t>High-level</a:t>
            </a:r>
          </a:p>
          <a:p>
            <a:r>
              <a:rPr lang="en-US" dirty="0"/>
              <a:t>No technical details</a:t>
            </a:r>
          </a:p>
          <a:p>
            <a:r>
              <a:rPr lang="en-US" dirty="0"/>
              <a:t>Focuses on </a:t>
            </a:r>
            <a:r>
              <a:rPr lang="en-US" b="1" dirty="0"/>
              <a:t>what</a:t>
            </a:r>
            <a:r>
              <a:rPr lang="en-US" dirty="0"/>
              <a:t> data exists, not how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Entities</a:t>
            </a:r>
          </a:p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Relationships</a:t>
            </a:r>
          </a:p>
          <a:p>
            <a:r>
              <a:rPr lang="en-US" dirty="0">
                <a:solidFill>
                  <a:srgbClr val="FF0000"/>
                </a:solidFill>
              </a:rPr>
              <a:t>No attributes, no data types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endParaRPr lang="en-US" dirty="0"/>
          </a:p>
          <a:p>
            <a:r>
              <a:rPr lang="en-US" dirty="0"/>
              <a:t>Customer ── places ── Order ── contains ── Product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Used by: Business users, architects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Answers: </a:t>
            </a:r>
            <a:r>
              <a:rPr lang="en-US" b="1" i="1" dirty="0">
                <a:highlight>
                  <a:srgbClr val="FFFF00"/>
                </a:highlight>
              </a:rPr>
              <a:t>What data do we care about?</a:t>
            </a: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19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668E-E017-9ED7-3EC8-39C7CED7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460716"/>
          </a:xfrm>
        </p:spPr>
        <p:txBody>
          <a:bodyPr>
            <a:normAutofit fontScale="90000"/>
          </a:bodyPr>
          <a:lstStyle/>
          <a:p>
            <a:r>
              <a:rPr lang="en-US" dirty="0"/>
              <a:t>🔹 Logical Data Model (LDM)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E4146-6107-2E8D-B96D-A6E784078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1074511"/>
            <a:ext cx="10515600" cy="55331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Detailed structure, still DB-agnostic</a:t>
            </a:r>
            <a:endParaRPr lang="en-US" dirty="0"/>
          </a:p>
          <a:p>
            <a:r>
              <a:rPr lang="en-US" dirty="0"/>
              <a:t>Adds attributes</a:t>
            </a:r>
          </a:p>
          <a:p>
            <a:r>
              <a:rPr lang="en-US" dirty="0"/>
              <a:t>Defines primary &amp; foreign keys</a:t>
            </a:r>
          </a:p>
          <a:p>
            <a:r>
              <a:rPr lang="en-US" dirty="0"/>
              <a:t>Normalized (3NF)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Entity attributes</a:t>
            </a:r>
          </a:p>
          <a:p>
            <a:r>
              <a:rPr lang="en-US" dirty="0">
                <a:highlight>
                  <a:srgbClr val="FFFF00"/>
                </a:highlight>
              </a:rPr>
              <a:t>Relationships</a:t>
            </a:r>
          </a:p>
          <a:p>
            <a:r>
              <a:rPr lang="en-US" dirty="0"/>
              <a:t>No database-specific types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endParaRPr lang="en-US" dirty="0"/>
          </a:p>
          <a:p>
            <a:r>
              <a:rPr lang="en-US" dirty="0"/>
              <a:t>Customer (</a:t>
            </a:r>
            <a:r>
              <a:rPr lang="en-US" dirty="0" err="1"/>
              <a:t>Customer_ID</a:t>
            </a:r>
            <a:r>
              <a:rPr lang="en-US" dirty="0"/>
              <a:t>, Name, Email)</a:t>
            </a:r>
          </a:p>
          <a:p>
            <a:r>
              <a:rPr lang="en-US" dirty="0"/>
              <a:t>Order    (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Order_Date</a:t>
            </a:r>
            <a:r>
              <a:rPr lang="en-US" dirty="0"/>
              <a:t>, </a:t>
            </a:r>
            <a:r>
              <a:rPr lang="en-US" dirty="0" err="1"/>
              <a:t>Customer_ID</a:t>
            </a:r>
            <a:r>
              <a:rPr lang="en-US" dirty="0"/>
              <a:t>)</a:t>
            </a:r>
          </a:p>
          <a:p>
            <a:r>
              <a:rPr lang="en-US" dirty="0"/>
              <a:t>Product  (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Price)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>
                <a:highlight>
                  <a:srgbClr val="FFFF00"/>
                </a:highlight>
              </a:rPr>
              <a:t>Used by: Data architects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 Answers: </a:t>
            </a:r>
            <a:r>
              <a:rPr lang="en-US" b="1" i="1" dirty="0">
                <a:highlight>
                  <a:srgbClr val="FFFF00"/>
                </a:highlight>
              </a:rPr>
              <a:t>How is data logically structured?</a:t>
            </a:r>
            <a:endParaRPr lang="en-US" b="1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9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7C7-2E45-C779-25AD-DD2DE78B2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🔹 Physical Data Model (PDM)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009FD-9379-8C51-7B53-D1285655E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998310"/>
            <a:ext cx="10515600" cy="5239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Implementation in a specific database</a:t>
            </a:r>
            <a:endParaRPr lang="en-US" dirty="0"/>
          </a:p>
          <a:p>
            <a:r>
              <a:rPr lang="en-US" dirty="0"/>
              <a:t>Tables, columns</a:t>
            </a:r>
          </a:p>
          <a:p>
            <a:r>
              <a:rPr lang="en-US" dirty="0"/>
              <a:t>Data types</a:t>
            </a:r>
          </a:p>
          <a:p>
            <a:r>
              <a:rPr lang="en-US" dirty="0"/>
              <a:t>Indexes, partitions</a:t>
            </a:r>
          </a:p>
          <a:p>
            <a:pPr marL="0" indent="0">
              <a:buNone/>
            </a:pPr>
            <a:r>
              <a:rPr lang="en-US" b="1" dirty="0"/>
              <a:t>Example (MySQL)</a:t>
            </a:r>
            <a:endParaRPr lang="en-US" dirty="0"/>
          </a:p>
          <a:p>
            <a:r>
              <a:rPr lang="en-US" dirty="0" err="1"/>
              <a:t>customer_id</a:t>
            </a:r>
            <a:r>
              <a:rPr lang="en-US" dirty="0"/>
              <a:t> INT PRIMARY KEY,</a:t>
            </a:r>
          </a:p>
          <a:p>
            <a:r>
              <a:rPr lang="en-US" dirty="0"/>
              <a:t>email VARCHAR(100),</a:t>
            </a:r>
          </a:p>
          <a:p>
            <a:r>
              <a:rPr lang="en-US" dirty="0" err="1"/>
              <a:t>created_at</a:t>
            </a:r>
            <a:r>
              <a:rPr lang="en-US" dirty="0"/>
              <a:t> TIMESTAMP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Used by: DBAs, engineers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Answers: </a:t>
            </a:r>
            <a:r>
              <a:rPr lang="en-US" b="1" i="1" dirty="0">
                <a:highlight>
                  <a:srgbClr val="FFFF00"/>
                </a:highlight>
              </a:rPr>
              <a:t>How is data stored physically?</a:t>
            </a: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24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7936-3D01-EE07-4A61-75B6964C4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43745"/>
          </a:xfrm>
        </p:spPr>
        <p:txBody>
          <a:bodyPr/>
          <a:lstStyle/>
          <a:p>
            <a:r>
              <a:rPr lang="en-US" dirty="0"/>
              <a:t>Dimensional Data Modelling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24028-5974-65C9-5A19-9718DB1C3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 Schema </a:t>
            </a:r>
          </a:p>
          <a:p>
            <a:r>
              <a:rPr lang="en-US" dirty="0"/>
              <a:t>Snowflake Schema ❄️</a:t>
            </a:r>
          </a:p>
        </p:txBody>
      </p:sp>
    </p:spTree>
    <p:extLst>
      <p:ext uri="{BB962C8B-B14F-4D97-AF65-F5344CB8AC3E}">
        <p14:creationId xmlns:p14="http://schemas.microsoft.com/office/powerpoint/2010/main" val="3982615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38B6-B342-0619-302D-C2707CCA3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What is a Star Schema?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75BFF-3FAB-7A09-2C63-A1545E439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2818"/>
            <a:ext cx="4880278" cy="557949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star schema is a way to organize data in a database, especially in </a:t>
            </a:r>
            <a:r>
              <a:rPr lang="en-US" b="1" dirty="0">
                <a:hlinkClick r:id="rId2"/>
              </a:rPr>
              <a:t>data warehouses</a:t>
            </a:r>
            <a:r>
              <a:rPr lang="en-US" dirty="0"/>
              <a:t>, to make it easier and faster to analyze. </a:t>
            </a:r>
          </a:p>
          <a:p>
            <a:r>
              <a:rPr lang="en-US" dirty="0"/>
              <a:t>At the center, there's a main table called the </a:t>
            </a:r>
            <a:r>
              <a:rPr lang="en-US" b="1" dirty="0"/>
              <a:t>fact table</a:t>
            </a:r>
            <a:r>
              <a:rPr lang="en-US" dirty="0"/>
              <a:t>, which holds measurable data like sales or revenue. </a:t>
            </a:r>
          </a:p>
          <a:p>
            <a:r>
              <a:rPr lang="en-US" dirty="0"/>
              <a:t>Around it are </a:t>
            </a:r>
            <a:r>
              <a:rPr lang="en-US" b="1" dirty="0"/>
              <a:t>dimension tables</a:t>
            </a:r>
            <a:r>
              <a:rPr lang="en-US" dirty="0"/>
              <a:t>, which add details like product names, customer info, or dates. </a:t>
            </a:r>
          </a:p>
          <a:p>
            <a:r>
              <a:rPr lang="en-US" dirty="0"/>
              <a:t>This layout forms a star-like shape.</a:t>
            </a:r>
          </a:p>
        </p:txBody>
      </p:sp>
      <p:sp>
        <p:nvSpPr>
          <p:cNvPr id="4" name="AutoShape 2" descr="Star schema layout.">
            <a:extLst>
              <a:ext uri="{FF2B5EF4-FFF2-40B4-BE49-F238E27FC236}">
                <a16:creationId xmlns:a16="http://schemas.microsoft.com/office/drawing/2014/main" id="{991A362D-F2AE-CAFF-AD8D-6E6BFD5324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BA83F3-920B-9151-F781-41FFF9AAA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971" y="565947"/>
            <a:ext cx="6527951" cy="597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43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F827E-25C3-5B86-1F96-E29E075A8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key features of the star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7D559-F1ED-8F4D-2F3D-1100F1242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2" y="1085396"/>
            <a:ext cx="11767457" cy="4351338"/>
          </a:xfrm>
        </p:spPr>
        <p:txBody>
          <a:bodyPr>
            <a:normAutofit/>
          </a:bodyPr>
          <a:lstStyle/>
          <a:p>
            <a:r>
              <a:rPr lang="en-US" b="1" dirty="0"/>
              <a:t>Single-level dimension tables</a:t>
            </a:r>
            <a:r>
              <a:rPr lang="en-US" dirty="0"/>
              <a:t>: The dimension tables connect directly to the fact table without extra layers. Each table focuses on one area, like products, regions, or time, making it simple to use.</a:t>
            </a:r>
          </a:p>
          <a:p>
            <a:r>
              <a:rPr lang="en-US" b="1" dirty="0"/>
              <a:t>Denormalized design</a:t>
            </a:r>
            <a:r>
              <a:rPr lang="en-US" dirty="0"/>
              <a:t>: In a star schema, related data is stored together in one table using a denormalized approach. For example, a product table may include the product ID, name, and category in the same place. While this may mean some data repetition, it processes queries faster.</a:t>
            </a:r>
          </a:p>
          <a:p>
            <a:r>
              <a:rPr lang="en-US" b="1" dirty="0"/>
              <a:t>Common in data warehousing</a:t>
            </a:r>
            <a:r>
              <a:rPr lang="en-US" dirty="0"/>
              <a:t>: The star schema is used for quick analysis. It can easily filter or calculate totals, so it’s likely a good choice for data warehouses where fast insights are required.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075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235F2-95D1-B1CD-6946-9D0DB67FD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72886"/>
          </a:xfrm>
        </p:spPr>
        <p:txBody>
          <a:bodyPr/>
          <a:lstStyle/>
          <a:p>
            <a:r>
              <a:rPr lang="en-US" dirty="0"/>
              <a:t>Star Schema Design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8D4F7-53FC-2C3E-15CE-121B65A47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1206"/>
            <a:ext cx="12192000" cy="57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76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AB96-C46C-CF2B-D51D-7467241D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0600"/>
          </a:xfrm>
        </p:spPr>
        <p:txBody>
          <a:bodyPr>
            <a:norm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SQL example for setting up a star schema with a Sales fact table and dimension tables for Product, Customer, and Date: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08F84-DE50-40F3-C138-DBB1F31BE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253331"/>
            <a:ext cx="10515600" cy="56046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-- Fact table</a:t>
            </a:r>
          </a:p>
          <a:p>
            <a:pPr marL="0" indent="0">
              <a:buNone/>
            </a:pPr>
            <a:r>
              <a:rPr lang="en-US" dirty="0"/>
              <a:t>CREATE TABLE Sales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Sales_ID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Product_ID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Date_ID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Sales_Amount</a:t>
            </a:r>
            <a:r>
              <a:rPr lang="en-US" dirty="0"/>
              <a:t> DECIMAL(10, 2),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Product_ID</a:t>
            </a:r>
            <a:r>
              <a:rPr lang="en-US" dirty="0"/>
              <a:t>) REFERENCES Product(</a:t>
            </a:r>
            <a:r>
              <a:rPr lang="en-US" dirty="0" err="1"/>
              <a:t>Product_ID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Customer_ID</a:t>
            </a:r>
            <a:r>
              <a:rPr lang="en-US" dirty="0"/>
              <a:t>) REFERENCES Customer(</a:t>
            </a:r>
            <a:r>
              <a:rPr lang="en-US" dirty="0" err="1"/>
              <a:t>Customer_ID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Date_ID</a:t>
            </a:r>
            <a:r>
              <a:rPr lang="en-US" dirty="0"/>
              <a:t>) REFERENCES Date(</a:t>
            </a:r>
            <a:r>
              <a:rPr lang="en-US" dirty="0" err="1"/>
              <a:t>Date_ID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74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DE022-23C6-297B-8B2E-D44A0F573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0515600" cy="672737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-- Dimension table: Product</a:t>
            </a:r>
          </a:p>
          <a:p>
            <a:pPr marL="0" indent="0">
              <a:buNone/>
            </a:pPr>
            <a:r>
              <a:rPr lang="en-US" dirty="0"/>
              <a:t>CREATE TABLE Product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Product_ID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Product_Name</a:t>
            </a:r>
            <a:r>
              <a:rPr lang="en-US" dirty="0"/>
              <a:t> VARCHAR(100),</a:t>
            </a:r>
          </a:p>
          <a:p>
            <a:pPr marL="0" indent="0">
              <a:buNone/>
            </a:pPr>
            <a:r>
              <a:rPr lang="en-US" dirty="0"/>
              <a:t>    Category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-- Dimension table: Customer</a:t>
            </a:r>
          </a:p>
          <a:p>
            <a:pPr marL="0" indent="0">
              <a:buNone/>
            </a:pPr>
            <a:r>
              <a:rPr lang="en-US" dirty="0"/>
              <a:t>CREATE TABLE Customer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Customer_Name</a:t>
            </a:r>
            <a:r>
              <a:rPr lang="en-US" dirty="0"/>
              <a:t> VARCHAR(100),</a:t>
            </a:r>
          </a:p>
          <a:p>
            <a:pPr marL="0" indent="0">
              <a:buNone/>
            </a:pPr>
            <a:r>
              <a:rPr lang="en-US" dirty="0"/>
              <a:t>    Location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-- Dimension table: Date</a:t>
            </a:r>
          </a:p>
          <a:p>
            <a:pPr marL="0" indent="0">
              <a:buNone/>
            </a:pPr>
            <a:r>
              <a:rPr lang="en-US" dirty="0"/>
              <a:t>CREATE TABLE Date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Date_ID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Date </a:t>
            </a:r>
            <a:r>
              <a:rPr lang="en-US" dirty="0" err="1"/>
              <a:t>DATE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Year INT,</a:t>
            </a:r>
          </a:p>
          <a:p>
            <a:pPr marL="0" indent="0">
              <a:buNone/>
            </a:pPr>
            <a:r>
              <a:rPr lang="en-US" dirty="0"/>
              <a:t>    Month VARCHAR(20)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577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A73D1-8A1B-15F7-951E-5CE054D6D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00339"/>
            <a:ext cx="12061371" cy="4351338"/>
          </a:xfrm>
        </p:spPr>
        <p:txBody>
          <a:bodyPr/>
          <a:lstStyle/>
          <a:p>
            <a:r>
              <a:rPr lang="en-US" b="1" dirty="0"/>
              <a:t>To retrieve total sales grouped by customer location.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c.Location</a:t>
            </a:r>
            <a:r>
              <a:rPr lang="en-US" dirty="0"/>
              <a:t>, SUM(</a:t>
            </a:r>
            <a:r>
              <a:rPr lang="en-US" dirty="0" err="1"/>
              <a:t>s.Sales_Amount</a:t>
            </a:r>
            <a:r>
              <a:rPr lang="en-US" dirty="0"/>
              <a:t>) AS </a:t>
            </a:r>
            <a:r>
              <a:rPr lang="en-US" dirty="0" err="1"/>
              <a:t>TotalSales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Sales s</a:t>
            </a:r>
          </a:p>
          <a:p>
            <a:pPr marL="0" indent="0">
              <a:buNone/>
            </a:pPr>
            <a:r>
              <a:rPr lang="en-US" dirty="0"/>
              <a:t>JOIN Customer c ON </a:t>
            </a:r>
            <a:r>
              <a:rPr lang="en-US" dirty="0" err="1"/>
              <a:t>s.Customer_ID</a:t>
            </a:r>
            <a:r>
              <a:rPr lang="en-US" dirty="0"/>
              <a:t> = </a:t>
            </a:r>
            <a:r>
              <a:rPr lang="en-US" dirty="0" err="1"/>
              <a:t>c.Customer_ID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c.Location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42254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FC3C9-3624-A6DC-A14C-4C131694D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r>
              <a:rPr lang="en-US" dirty="0"/>
              <a:t>Denormalized dimensions</a:t>
            </a:r>
          </a:p>
          <a:p>
            <a:r>
              <a:rPr lang="en-US" dirty="0"/>
              <a:t>Simple joins</a:t>
            </a:r>
          </a:p>
          <a:p>
            <a:r>
              <a:rPr lang="en-US" dirty="0"/>
              <a:t>Excellent performance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720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C131-556A-5AFE-5CD9-20897F3F9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What is a Snowflake Schema?</a:t>
            </a:r>
            <a:br>
              <a:rPr lang="en-US" b="1" dirty="0"/>
            </a:br>
            <a:r>
              <a:rPr lang="en-US" b="1" dirty="0"/>
              <a:t>	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0767E-081A-2B45-5B01-E5B9ECDD9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" y="965653"/>
            <a:ext cx="5094515" cy="532629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snowflake schema</a:t>
            </a:r>
            <a:r>
              <a:rPr lang="en-US" dirty="0"/>
              <a:t> is another way of organizing data. In this schema, dimension tables are split into smaller sub-dimensions to keep data more organized and detailed — just like snowflakes in a large lake.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68B71-7296-BF61-43BE-CA7EE7FD8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960" y="768236"/>
            <a:ext cx="6617040" cy="366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73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E819-C393-4E5F-DF53-BF63CABCD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017829" cy="6858000"/>
          </a:xfrm>
        </p:spPr>
        <p:txBody>
          <a:bodyPr>
            <a:normAutofit/>
          </a:bodyPr>
          <a:lstStyle/>
          <a:p>
            <a:r>
              <a:rPr lang="en-US" b="1" dirty="0"/>
              <a:t>Multi-level dimension tables</a:t>
            </a:r>
            <a:r>
              <a:rPr lang="en-US" dirty="0"/>
              <a:t>: We can break down our dimension tables into smaller, more specific tables. For example, if I want to track store locations, instead of putting all location details in one big table, I can split them into separate tables for countries, states, and cities. This way, each table would contain only the information it needs to reduce redundancy and improve organization.</a:t>
            </a:r>
          </a:p>
          <a:p>
            <a:r>
              <a:rPr lang="en-US" b="1" dirty="0"/>
              <a:t>Normalization for storage efficiency</a:t>
            </a:r>
            <a:r>
              <a:rPr lang="en-US" dirty="0"/>
              <a:t>: Unlike star schema, the snowflake schema follows a </a:t>
            </a:r>
            <a:r>
              <a:rPr lang="en-US" b="1" dirty="0">
                <a:hlinkClick r:id="rId2"/>
              </a:rPr>
              <a:t>normalized design</a:t>
            </a:r>
            <a:r>
              <a:rPr lang="en-US" dirty="0"/>
              <a:t>, which avoids data duplication. For example, rather than repeating a product category like Electronics for every product, I can store the category in a separate table and link it to individual products.</a:t>
            </a:r>
          </a:p>
          <a:p>
            <a:r>
              <a:rPr lang="en-US" dirty="0"/>
              <a:t>Suitability for complex data environments: The snowflake schema works best for complex data environments because it uses multi-level tables to handle intricate relationships and hierarchical data structures.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930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3A8154-2971-373E-CB24-0F673A911C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39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E13D08-F223-3ABE-F11A-285BCB0D9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683" r="2219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35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79712E-136B-1C71-B139-C3339B853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228600"/>
            <a:ext cx="11832771" cy="630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21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73F58-9162-CFFA-9DCA-1D56C1E8D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/>
              <a:t>SELECT </a:t>
            </a:r>
            <a:r>
              <a:rPr lang="en-US" b="1" i="1" dirty="0" err="1"/>
              <a:t>cat.Category_Name</a:t>
            </a:r>
            <a:r>
              <a:rPr lang="en-US" b="1" i="1" dirty="0"/>
              <a:t>, SUM(</a:t>
            </a:r>
            <a:r>
              <a:rPr lang="en-US" b="1" i="1" dirty="0" err="1"/>
              <a:t>s.Sales_Amount</a:t>
            </a:r>
            <a:r>
              <a:rPr lang="en-US" b="1" i="1" dirty="0"/>
              <a:t>) AS </a:t>
            </a:r>
            <a:r>
              <a:rPr lang="en-US" b="1" i="1" dirty="0" err="1"/>
              <a:t>TotalSales</a:t>
            </a:r>
            <a:r>
              <a:rPr lang="en-US" b="1" i="1" dirty="0"/>
              <a:t> </a:t>
            </a:r>
          </a:p>
          <a:p>
            <a:pPr marL="0" indent="0">
              <a:buNone/>
            </a:pPr>
            <a:r>
              <a:rPr lang="en-US" b="1" i="1" dirty="0"/>
              <a:t>FROM Sales s </a:t>
            </a:r>
          </a:p>
          <a:p>
            <a:pPr marL="0" indent="0">
              <a:buNone/>
            </a:pPr>
            <a:r>
              <a:rPr lang="en-US" b="1" i="1" dirty="0"/>
              <a:t>JOIN Product p</a:t>
            </a:r>
          </a:p>
          <a:p>
            <a:pPr marL="0" indent="0">
              <a:buNone/>
            </a:pPr>
            <a:r>
              <a:rPr lang="en-US" b="1" i="1" dirty="0"/>
              <a:t>ON </a:t>
            </a:r>
            <a:r>
              <a:rPr lang="en-US" b="1" i="1" dirty="0" err="1"/>
              <a:t>s.Product_ID</a:t>
            </a:r>
            <a:r>
              <a:rPr lang="en-US" b="1" i="1" dirty="0"/>
              <a:t> = </a:t>
            </a:r>
            <a:r>
              <a:rPr lang="en-US" b="1" i="1" dirty="0" err="1"/>
              <a:t>p.Product_ID</a:t>
            </a:r>
            <a:r>
              <a:rPr lang="en-US" b="1" i="1" dirty="0"/>
              <a:t> </a:t>
            </a:r>
          </a:p>
          <a:p>
            <a:pPr marL="0" indent="0">
              <a:buNone/>
            </a:pPr>
            <a:r>
              <a:rPr lang="en-US" b="1" i="1" dirty="0"/>
              <a:t>JOIN Category cat </a:t>
            </a:r>
          </a:p>
          <a:p>
            <a:pPr marL="0" indent="0">
              <a:buNone/>
            </a:pPr>
            <a:r>
              <a:rPr lang="en-US" b="1" i="1" dirty="0"/>
              <a:t>ON </a:t>
            </a:r>
            <a:r>
              <a:rPr lang="en-US" b="1" i="1" dirty="0" err="1"/>
              <a:t>p.Category_ID</a:t>
            </a:r>
            <a:r>
              <a:rPr lang="en-US" b="1" i="1" dirty="0"/>
              <a:t> = </a:t>
            </a:r>
            <a:r>
              <a:rPr lang="en-US" b="1" i="1" dirty="0" err="1"/>
              <a:t>cat.Category_ID</a:t>
            </a:r>
            <a:r>
              <a:rPr lang="en-US" b="1" i="1" dirty="0"/>
              <a:t> </a:t>
            </a:r>
          </a:p>
          <a:p>
            <a:pPr marL="0" indent="0">
              <a:buNone/>
            </a:pPr>
            <a:r>
              <a:rPr lang="en-US" b="1" i="1" dirty="0"/>
              <a:t>GROUP BY </a:t>
            </a:r>
            <a:r>
              <a:rPr lang="en-US" b="1" i="1" dirty="0" err="1"/>
              <a:t>cat.Category_Name</a:t>
            </a:r>
            <a:r>
              <a:rPr lang="en-US" b="1" i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49456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3429-C8D8-2559-131B-35BE0FC3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9FC00-F0A0-D841-B7BE-9EF7DD10C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r>
              <a:rPr lang="en-US" dirty="0"/>
              <a:t>More joins</a:t>
            </a:r>
          </a:p>
          <a:p>
            <a:r>
              <a:rPr lang="en-US" dirty="0"/>
              <a:t>Less redundancy</a:t>
            </a:r>
          </a:p>
          <a:p>
            <a:r>
              <a:rPr lang="en-US" dirty="0"/>
              <a:t>More complex queries</a:t>
            </a:r>
          </a:p>
          <a:p>
            <a:r>
              <a:rPr lang="en-US" dirty="0"/>
              <a:t>📌 Pros: Storage efficient</a:t>
            </a:r>
            <a:br>
              <a:rPr lang="en-US" dirty="0"/>
            </a:br>
            <a:r>
              <a:rPr lang="en-US" dirty="0"/>
              <a:t>📌 Cons: Slower queries</a:t>
            </a:r>
            <a:br>
              <a:rPr lang="en-US" dirty="0"/>
            </a:br>
            <a:r>
              <a:rPr lang="en-US" dirty="0"/>
              <a:t>📌 Used when dimensions are very large or hierarchical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918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124AAF-9A50-3716-9E59-D3335EDBE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620004"/>
              </p:ext>
            </p:extLst>
          </p:nvPr>
        </p:nvGraphicFramePr>
        <p:xfrm>
          <a:off x="1027218" y="1216151"/>
          <a:ext cx="10137564" cy="4425696"/>
        </p:xfrm>
        <a:graphic>
          <a:graphicData uri="http://schemas.openxmlformats.org/drawingml/2006/table">
            <a:tbl>
              <a:tblPr/>
              <a:tblGrid>
                <a:gridCol w="2975610">
                  <a:extLst>
                    <a:ext uri="{9D8B030D-6E8A-4147-A177-3AD203B41FA5}">
                      <a16:colId xmlns:a16="http://schemas.microsoft.com/office/drawing/2014/main" val="4027988730"/>
                    </a:ext>
                  </a:extLst>
                </a:gridCol>
                <a:gridCol w="2998894">
                  <a:extLst>
                    <a:ext uri="{9D8B030D-6E8A-4147-A177-3AD203B41FA5}">
                      <a16:colId xmlns:a16="http://schemas.microsoft.com/office/drawing/2014/main" val="2953348869"/>
                    </a:ext>
                  </a:extLst>
                </a:gridCol>
                <a:gridCol w="4163060">
                  <a:extLst>
                    <a:ext uri="{9D8B030D-6E8A-4147-A177-3AD203B41FA5}">
                      <a16:colId xmlns:a16="http://schemas.microsoft.com/office/drawing/2014/main" val="3711293818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highlight>
                            <a:srgbClr val="FFFF00"/>
                          </a:highlight>
                        </a:rPr>
                        <a:t>Star Schema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>
                          <a:highlight>
                            <a:srgbClr val="FFFF00"/>
                          </a:highlight>
                        </a:rPr>
                        <a:t>Snowflake Schema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327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Complexity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Simple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Complex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60286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Joins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Fewer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More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31931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Performance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Faster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Slower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86551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Storage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More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Less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26899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BI Friendly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✅ Yes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❌ Less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114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76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1043</Words>
  <Application>Microsoft Office PowerPoint</Application>
  <PresentationFormat>Widescreen</PresentationFormat>
  <Paragraphs>137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Dimensional Modeling</vt:lpstr>
      <vt:lpstr>Data Modelling </vt:lpstr>
      <vt:lpstr>Data Modelling levels</vt:lpstr>
      <vt:lpstr>CDM</vt:lpstr>
      <vt:lpstr>🔹 Logical Data Model (LDM)</vt:lpstr>
      <vt:lpstr>🔹 Physical Data Model (PDM)</vt:lpstr>
      <vt:lpstr>Dimensional Data Modelling Approaches</vt:lpstr>
      <vt:lpstr>What is a Star Schema? </vt:lpstr>
      <vt:lpstr>key features of the star schema</vt:lpstr>
      <vt:lpstr>Star Schema Design Example</vt:lpstr>
      <vt:lpstr>SQL example for setting up a star schema with a Sales fact table and dimension tables for Product, Customer, and Date:</vt:lpstr>
      <vt:lpstr>PowerPoint Presentation</vt:lpstr>
      <vt:lpstr>PowerPoint Presentation</vt:lpstr>
      <vt:lpstr>PowerPoint Presentation</vt:lpstr>
      <vt:lpstr>What is a Snowflake Schema?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9</cp:revision>
  <dcterms:created xsi:type="dcterms:W3CDTF">2026-02-17T06:24:34Z</dcterms:created>
  <dcterms:modified xsi:type="dcterms:W3CDTF">2026-02-19T03:47:08Z</dcterms:modified>
</cp:coreProperties>
</file>