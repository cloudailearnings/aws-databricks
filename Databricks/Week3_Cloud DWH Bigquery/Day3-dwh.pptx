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jrgG6ULpnHLSVUlcKL+zWkcMhR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0BB1A6-C2C6-41A7-882F-22415DC26183}">
  <a:tblStyle styleId="{8B0BB1A6-C2C6-41A7-882F-22415DC2618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7"/>
          <p:cNvSpPr/>
          <p:nvPr>
            <p:ph idx="2" type="pic"/>
          </p:nvPr>
        </p:nvSpPr>
        <p:spPr>
          <a:xfrm>
            <a:off x="5183188" y="987425"/>
            <a:ext cx="6172200" cy="4873625"/>
          </a:xfrm>
          <a:prstGeom prst="rect">
            <a:avLst/>
          </a:prstGeom>
          <a:noFill/>
          <a:ln>
            <a:noFill/>
          </a:ln>
        </p:spPr>
      </p:sp>
      <p:sp>
        <p:nvSpPr>
          <p:cNvPr id="64" name="Google Shape;64;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google.com/search?q=OLAP+and+data+warehousing&amp;oq=denorma&amp;gs_lcrp=EgZjaHJvbWUqBwgAEAAYgAQyBwgAEAAYgAQyBwgBEAAYgAQyBwgCEAAYgAQyBwgDEAAYgAQyBggEEEUYOTIHCAUQABiABDIHCAYQABiABDIHCAcQABiABDIHCAgQABiABDIHCAkQABiABNIBCTgzODFqMGoxNagCCLACAfEFM4cb5gCmb9U&amp;sourceid=chrome&amp;ie=UTF-8&amp;ved=2ahUKEwiKk5jJvMaQAxXyS2wGHcwGKMMQgK4QegYIAQgAEB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google.com/search?q=fact+tables&amp;sca_esv=fe06bbe1a7ea018c&amp;ei=bX4AacqoLfKXseMPzI2gmQw&amp;ved=2ahUKEwj7h9yyv8aQAxWYTGwGHVkCH4cQgK4QegQIBRAD&amp;uact=5&amp;oq=dimesntional+modelling+with+conceptuala+dnlogical+modelling%27&amp;gs_lp=Egxnd3Mtd2l6LXNlcnAiPGRpbWVzbnRpb25hbCBtb2RlbGxpbmcgd2l0aCBjb25jZXB0dWFsYSBkbmxvZ2ljYWwgbW9kZWxsaW5nJzIHECEYoAEYCjIHECEYoAEYCkinrAFQAFj2pwFwBngAkAEAmAH3AaABzlCqAQYwLjYxLjW4AQPIAQD4AQGYAkigAuJWwgIKEAAYgAQYQxiKBcICCxAAGIAEGJECGIoFwgIIEAAYgAQYsQPCAgsQABiABBixAxiDAcICCBAuGIAEGLEDwgIFEAAYgATCAgsQLhiABBjHARivAcICCxAuGIAEGLEDGIoFwgIKEAAYgAQYRhj5AcICChAAGIAEGLEDGArCAgcQABiABBgKwgIFEC4YgATCAiQQABiABBhGGPkBGJcFGIwFGN0EGEYY-QEY9AMY9QMY9gPYAQHCAgoQABiABBixAxgNwgIHEAAYgAQYDcICBhAAGBYYHsICCxAAGIAEGIYDGIoFwgIIEAAYgAQYogTCAggQABiiBBiJBcICBRAAGO8FwgIIEAAYFhgKGB6YAwC6BgYIARABGBOSBwY2LjU3LjmgB5aUBLIHBjAuNTcuObgHilbCBwwwLjEwLjM0LjIzLjXIB7EE&amp;sclient=gws-wiz-serp&amp;mstk=AUtExfDnk334El8a04vxRcBIeW3Jrek5dyNQILe3U_C5eOftvLCRSfL9YPHWEYxsfOoNsA3AldWoVANV7Cn7YuJk92tfW9GTMeYix_SRtURUgMaZ_g7CWNLMGKjoxlvj7K24nVEwMjId3xroAN-gDKg-TvGNyH538SlG4bXOvFmYQL6EuI0&amp;csui=3" TargetMode="External"/><Relationship Id="rId4" Type="http://schemas.openxmlformats.org/officeDocument/2006/relationships/hyperlink" Target="https://www.google.com/search?q=dimension+tables&amp;sca_esv=fe06bbe1a7ea018c&amp;ei=bX4AacqoLfKXseMPzI2gmQw&amp;ved=2ahUKEwj7h9yyv8aQAxWYTGwGHVkCH4cQgK4QegQIBRAE&amp;uact=5&amp;oq=dimesntional+modelling+with+conceptuala+dnlogical+modelling%27&amp;gs_lp=Egxnd3Mtd2l6LXNlcnAiPGRpbWVzbnRpb25hbCBtb2RlbGxpbmcgd2l0aCBjb25jZXB0dWFsYSBkbmxvZ2ljYWwgbW9kZWxsaW5nJzIHECEYoAEYCjIHECEYoAEYCkinrAFQAFj2pwFwBngAkAEAmAH3AaABzlCqAQYwLjYxLjW4AQPIAQD4AQGYAkigAuJWwgIKEAAYgAQYQxiKBcICCxAAGIAEGJECGIoFwgIIEAAYgAQYsQPCAgsQABiABBixAxiDAcICCBAuGIAEGLEDwgIFEAAYgATCAgsQLhiABBjHARivAcICCxAuGIAEGLEDGIoFwgIKEAAYgAQYRhj5AcICChAAGIAEGLEDGArCAgcQABiABBgKwgIFEC4YgATCAiQQABiABBhGGPkBGJcFGIwFGN0EGEYY-QEY9AMY9QMY9gPYAQHCAgoQABiABBixAxgNwgIHEAAYgAQYDcICBhAAGBYYHsICCxAAGIAEGIYDGIoFwgIIEAAYgAQYogTCAggQABiiBBiJBcICBRAAGO8FwgIIEAAYFhgKGB6YAwC6BgYIARABGBOSBwY2LjU3LjmgB5aUBLIHBjAuNTcuObgHilbCBwwwLjEwLjM0LjIzLjXIB7EE&amp;sclient=gws-wiz-serp&amp;mstk=AUtExfDnk334El8a04vxRcBIeW3Jrek5dyNQILe3U_C5eOftvLCRSfL9YPHWEYxsfOoNsA3AldWoVANV7Cn7YuJk92tfW9GTMeYix_SRtURUgMaZ_g7CWNLMGKjoxlvj7K24nVEwMjId3xroAN-gDKg-TvGNyH538SlG4bXOvFmYQL6EuI0&amp;csui=3" TargetMode="External"/><Relationship Id="rId5" Type="http://schemas.openxmlformats.org/officeDocument/2006/relationships/hyperlink" Target="https://www.google.com/search?q=star+schema&amp;sca_esv=fe06bbe1a7ea018c&amp;ei=bX4AacqoLfKXseMPzI2gmQw&amp;ved=2ahUKEwj7h9yyv8aQAxWYTGwGHVkCH4cQgK4QegQIBRAH&amp;uact=5&amp;oq=dimesntional+modelling+with+conceptuala+dnlogical+modelling%27&amp;gs_lp=Egxnd3Mtd2l6LXNlcnAiPGRpbWVzbnRpb25hbCBtb2RlbGxpbmcgd2l0aCBjb25jZXB0dWFsYSBkbmxvZ2ljYWwgbW9kZWxsaW5nJzIHECEYoAEYCjIHECEYoAEYCkinrAFQAFj2pwFwBngAkAEAmAH3AaABzlCqAQYwLjYxLjW4AQPIAQD4AQGYAkigAuJWwgIKEAAYgAQYQxiKBcICCxAAGIAEGJECGIoFwgIIEAAYgAQYsQPCAgsQABiABBixAxiDAcICCBAuGIAEGLEDwgIFEAAYgATCAgsQLhiABBjHARivAcICCxAuGIAEGLEDGIoFwgIKEAAYgAQYRhj5AcICChAAGIAEGLEDGArCAgcQABiABBgKwgIFEC4YgATCAiQQABiABBhGGPkBGJcFGIwFGN0EGEYY-QEY9AMY9QMY9gPYAQHCAgoQABiABBixAxgNwgIHEAAYgAQYDcICBhAAGBYYHsICCxAAGIAEGIYDGIoFwgIIEAAYgAQYogTCAggQABiiBBiJBcICBRAAGO8FwgIIEAAYFhgKGB6YAwC6BgYIARABGBOSBwY2LjU3LjmgB5aUBLIHBjAuNTcuObgHilbCBwwwLjEwLjM0LjIzLjXIB7EE&amp;sclient=gws-wiz-serp&amp;mstk=AUtExfDnk334El8a04vxRcBIeW3Jrek5dyNQILe3U_C5eOftvLCRSfL9YPHWEYxsfOoNsA3AldWoVANV7Cn7YuJk92tfW9GTMeYix_SRtURUgMaZ_g7CWNLMGKjoxlvj7K24nVEwMjId3xroAN-gDKg-TvGNyH538SlG4bXOvFmYQL6EuI0&amp;csui=3" TargetMode="External"/><Relationship Id="rId6" Type="http://schemas.openxmlformats.org/officeDocument/2006/relationships/hyperlink" Target="https://www.google.com/search?q=snowflake+schema&amp;sca_esv=fe06bbe1a7ea018c&amp;ei=bX4AacqoLfKXseMPzI2gmQw&amp;ved=2ahUKEwj7h9yyv8aQAxWYTGwGHVkCH4cQgK4QegQIBRAI&amp;uact=5&amp;oq=dimesntional+modelling+with+conceptuala+dnlogical+modelling%27&amp;gs_lp=Egxnd3Mtd2l6LXNlcnAiPGRpbWVzbnRpb25hbCBtb2RlbGxpbmcgd2l0aCBjb25jZXB0dWFsYSBkbmxvZ2ljYWwgbW9kZWxsaW5nJzIHECEYoAEYCjIHECEYoAEYCkinrAFQAFj2pwFwBngAkAEAmAH3AaABzlCqAQYwLjYxLjW4AQPIAQD4AQGYAkigAuJWwgIKEAAYgAQYQxiKBcICCxAAGIAEGJECGIoFwgIIEAAYgAQYsQPCAgsQABiABBixAxiDAcICCBAuGIAEGLEDwgIFEAAYgATCAgsQLhiABBjHARivAcICCxAuGIAEGLEDGIoFwgIKEAAYgAQYRhj5AcICChAAGIAEGLEDGArCAgcQABiABBgKwgIFEC4YgATCAiQQABiABBhGGPkBGJcFGIwFGN0EGEYY-QEY9AMY9QMY9gPYAQHCAgoQABiABBixAxgNwgIHEAAYgAQYDcICBhAAGBYYHsICCxAAGIAEGIYDGIoFwgIIEAAYgAQYogTCAggQABiiBBiJBcICBRAAGO8FwgIIEAAYFhgKGB6YAwC6BgYIARABGBOSBwY2LjU3LjmgB5aUBLIHBjAuNTcuObgHilbCBwwwLjEwLjM0LjIzLjXIB7EE&amp;sclient=gws-wiz-serp&amp;mstk=AUtExfDnk334El8a04vxRcBIeW3Jrek5dyNQILe3U_C5eOftvLCRSfL9YPHWEYxsfOoNsA3AldWoVANV7Cn7YuJk92tfW9GTMeYix_SRtURUgMaZ_g7CWNLMGKjoxlvj7K24nVEwMjId3xroAN-gDKg-TvGNyH538SlG4bXOvFmYQL6EuI0&amp;csui=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geeksforgeeks.org/dbms/rolap-relational-olap/" TargetMode="External"/><Relationship Id="rId4" Type="http://schemas.openxmlformats.org/officeDocument/2006/relationships/hyperlink" Target="https://www.geeksforgeeks.org/dbms/molap-multidimensional-olap/" TargetMode="External"/><Relationship Id="rId5" Type="http://schemas.openxmlformats.org/officeDocument/2006/relationships/hyperlink" Target="https://www.geeksforgeeks.org/dbms/holap-hybrid-olap/"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www.geeksforgeeks.org/power-bi/what-is-business-intelligenc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Day3-Datawarehouse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2064327" y="1"/>
            <a:ext cx="10515600" cy="820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What is a Data Warehouse?</a:t>
            </a:r>
            <a:endParaRPr/>
          </a:p>
        </p:txBody>
      </p:sp>
      <p:sp>
        <p:nvSpPr>
          <p:cNvPr id="90" name="Google Shape;90;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a:t>
            </a:r>
            <a:r>
              <a:rPr b="1" lang="en-US"/>
              <a:t>Data Warehouse (DW)</a:t>
            </a:r>
            <a:r>
              <a:rPr lang="en-US"/>
              <a:t> is a </a:t>
            </a:r>
            <a:r>
              <a:rPr b="1" lang="en-US"/>
              <a:t>centralized repository</a:t>
            </a:r>
            <a:r>
              <a:rPr lang="en-US"/>
              <a:t> that stores </a:t>
            </a:r>
            <a:r>
              <a:rPr b="1" lang="en-US"/>
              <a:t>historical and integrated data</a:t>
            </a:r>
            <a:r>
              <a:rPr lang="en-US"/>
              <a:t> from multiple sources, designed specifically for </a:t>
            </a:r>
            <a:r>
              <a:rPr b="1" lang="en-US"/>
              <a:t>reporting and analysis</a:t>
            </a:r>
            <a:r>
              <a:rPr lang="en-US"/>
              <a:t> (not for daily operations).</a:t>
            </a:r>
            <a:endParaRPr/>
          </a:p>
          <a:p>
            <a:pPr indent="-228600" lvl="0" marL="228600" rtl="0" algn="l">
              <a:lnSpc>
                <a:spcPct val="90000"/>
              </a:lnSpc>
              <a:spcBef>
                <a:spcPts val="1000"/>
              </a:spcBef>
              <a:spcAft>
                <a:spcPts val="0"/>
              </a:spcAft>
              <a:buClr>
                <a:schemeClr val="dk1"/>
              </a:buClr>
              <a:buSzPts val="2800"/>
              <a:buChar char="•"/>
            </a:pPr>
            <a:r>
              <a:rPr lang="en-US"/>
              <a:t>It enables organizations to make </a:t>
            </a:r>
            <a:r>
              <a:rPr b="1" lang="en-US"/>
              <a:t>data-driven business decisions</a:t>
            </a:r>
            <a:r>
              <a:rPr lang="en-US"/>
              <a:t> through trends, patterns, and insights.</a:t>
            </a:r>
            <a:endParaRPr/>
          </a:p>
          <a:p>
            <a:pPr indent="-228600" lvl="0" marL="228600" rtl="0" algn="l">
              <a:lnSpc>
                <a:spcPct val="90000"/>
              </a:lnSpc>
              <a:spcBef>
                <a:spcPts val="1000"/>
              </a:spcBef>
              <a:spcAft>
                <a:spcPts val="0"/>
              </a:spcAft>
              <a:buClr>
                <a:schemeClr val="dk1"/>
              </a:buClr>
              <a:buSzPts val="2800"/>
              <a:buChar char="•"/>
            </a:pPr>
            <a:r>
              <a:rPr lang="en-US"/>
              <a:t>🧠 </a:t>
            </a:r>
            <a:r>
              <a:rPr i="1" lang="en-US"/>
              <a:t>Think of it as the “single source of truth” for all organizational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t>
            </a:r>
            <a:r>
              <a:rPr b="1" lang="en-US"/>
              <a:t>Core Characteristics of a Data Warehouse</a:t>
            </a:r>
            <a:endParaRPr/>
          </a:p>
        </p:txBody>
      </p:sp>
      <p:graphicFrame>
        <p:nvGraphicFramePr>
          <p:cNvPr id="96" name="Google Shape;96;p3"/>
          <p:cNvGraphicFramePr/>
          <p:nvPr/>
        </p:nvGraphicFramePr>
        <p:xfrm>
          <a:off x="838200" y="2538254"/>
          <a:ext cx="3000000" cy="3000000"/>
        </p:xfrm>
        <a:graphic>
          <a:graphicData uri="http://schemas.openxmlformats.org/drawingml/2006/table">
            <a:tbl>
              <a:tblPr>
                <a:noFill/>
                <a:tableStyleId>{8B0BB1A6-C2C6-41A7-882F-22415DC26183}</a:tableStyleId>
              </a:tblPr>
              <a:tblGrid>
                <a:gridCol w="5257800"/>
                <a:gridCol w="5257800"/>
              </a:tblGrid>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Characteristic</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Meaning</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Subject-Oriented</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Organized around key business areas (sales, customers, products).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Integrated</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Combines data from various sources into a consistent format.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Non-Volatile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Data is stable; once entered, it’s not changed or deleted frequently.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Time-Variant</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Stores historical data for trend analysis (data has timestamps).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3995057" y="1"/>
            <a:ext cx="3918858" cy="8273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Denormalization</a:t>
            </a:r>
            <a:endParaRPr/>
          </a:p>
        </p:txBody>
      </p:sp>
      <p:sp>
        <p:nvSpPr>
          <p:cNvPr id="102" name="Google Shape;102;p4"/>
          <p:cNvSpPr txBox="1"/>
          <p:nvPr>
            <p:ph idx="1" type="body"/>
          </p:nvPr>
        </p:nvSpPr>
        <p:spPr>
          <a:xfrm>
            <a:off x="272143" y="1411968"/>
            <a:ext cx="1159328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Denormalization is a database optimization technique that involves adding redundant data to tables to improve read performance and avoid costly JOIN operations.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It is a strategy applied after a database has been normalized, and it trades off data integrity and write performance for faster query execution, making it suitable for analytical and reporting systems.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4474029" y="18256"/>
            <a:ext cx="10515600" cy="48248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Use cases</a:t>
            </a:r>
            <a:endParaRPr/>
          </a:p>
        </p:txBody>
      </p:sp>
      <p:sp>
        <p:nvSpPr>
          <p:cNvPr id="108" name="Google Shape;108;p5"/>
          <p:cNvSpPr txBox="1"/>
          <p:nvPr>
            <p:ph idx="1" type="body"/>
          </p:nvPr>
        </p:nvSpPr>
        <p:spPr>
          <a:xfrm>
            <a:off x="566057" y="153171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u="sng">
                <a:solidFill>
                  <a:schemeClr val="hlink"/>
                </a:solidFill>
                <a:hlinkClick r:id="rId3"/>
              </a:rPr>
              <a:t>OLAP and data warehousing</a:t>
            </a:r>
            <a:r>
              <a:rPr b="1" lang="en-US"/>
              <a:t>:</a:t>
            </a:r>
            <a:r>
              <a:rPr lang="en-US"/>
              <a:t> Denormalization is commonly used in data warehouses and analytical systems where the priority is fast querying and report generation, rather than frequent data updates.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descr="denormalization" id="113" name="Google Shape;113;p6"/>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4" name="Google Shape;114;p6"/>
          <p:cNvPicPr preferRelativeResize="0"/>
          <p:nvPr/>
        </p:nvPicPr>
        <p:blipFill rotWithShape="1">
          <a:blip r:embed="rId3">
            <a:alphaModFix/>
          </a:blip>
          <a:srcRect b="0" l="0" r="0" t="0"/>
          <a:stretch/>
        </p:blipFill>
        <p:spPr>
          <a:xfrm>
            <a:off x="0" y="0"/>
            <a:ext cx="12192000" cy="6857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2340429" y="18256"/>
            <a:ext cx="10515600" cy="9396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Dimensional modelling</a:t>
            </a:r>
            <a:endParaRPr/>
          </a:p>
        </p:txBody>
      </p:sp>
      <p:sp>
        <p:nvSpPr>
          <p:cNvPr id="120" name="Google Shape;120;p7"/>
          <p:cNvSpPr txBox="1"/>
          <p:nvPr>
            <p:ph idx="1" type="body"/>
          </p:nvPr>
        </p:nvSpPr>
        <p:spPr>
          <a:xfrm>
            <a:off x="359229" y="1499054"/>
            <a:ext cx="115062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Dimensional modeling uses a conceptual approach to design data warehouses for analytics, distinguishing it from the more detailed logical and physical models. </a:t>
            </a:r>
            <a:endParaRPr/>
          </a:p>
          <a:p>
            <a:pPr indent="-228600" lvl="0" marL="228600" rtl="0" algn="l">
              <a:lnSpc>
                <a:spcPct val="90000"/>
              </a:lnSpc>
              <a:spcBef>
                <a:spcPts val="1000"/>
              </a:spcBef>
              <a:spcAft>
                <a:spcPts val="0"/>
              </a:spcAft>
              <a:buClr>
                <a:schemeClr val="dk1"/>
              </a:buClr>
              <a:buSzPts val="2800"/>
              <a:buChar char="•"/>
            </a:pPr>
            <a:r>
              <a:rPr lang="en-US"/>
              <a:t>The conceptual phase defines the high-level business requirements and entities, while the logical model translates this into a detailed schema with attributes, primary keys, and foreign keys, which then serves as a blueprint for the physical implementation. </a:t>
            </a:r>
            <a:endParaRPr/>
          </a:p>
          <a:p>
            <a:pPr indent="-228600" lvl="0" marL="228600" rtl="0" algn="l">
              <a:lnSpc>
                <a:spcPct val="90000"/>
              </a:lnSpc>
              <a:spcBef>
                <a:spcPts val="1000"/>
              </a:spcBef>
              <a:spcAft>
                <a:spcPts val="0"/>
              </a:spcAft>
              <a:buClr>
                <a:schemeClr val="dk1"/>
              </a:buClr>
              <a:buSzPts val="2800"/>
              <a:buChar char="•"/>
            </a:pPr>
            <a:r>
              <a:rPr lang="en-US"/>
              <a:t>Dimensional modeling uses this overall framework but focuses on a star schema or snowflake schema design for the logical and physical levels to optimize for reporting.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3004457" y="18256"/>
            <a:ext cx="10515600" cy="66278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Conceptual phase(High-Level)</a:t>
            </a:r>
            <a:endParaRPr/>
          </a:p>
        </p:txBody>
      </p:sp>
      <p:sp>
        <p:nvSpPr>
          <p:cNvPr id="126" name="Google Shape;126;p8"/>
          <p:cNvSpPr txBox="1"/>
          <p:nvPr>
            <p:ph idx="1" type="body"/>
          </p:nvPr>
        </p:nvSpPr>
        <p:spPr>
          <a:xfrm>
            <a:off x="293914" y="1477283"/>
            <a:ext cx="11734799"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highlight>
                  <a:srgbClr val="FFFF00"/>
                </a:highlight>
              </a:rPr>
              <a:t>What it is: </a:t>
            </a:r>
            <a:r>
              <a:rPr lang="en-US"/>
              <a:t>A high-level representation of data entities and their relationships based on business requirements.</a:t>
            </a:r>
            <a:endParaRPr/>
          </a:p>
          <a:p>
            <a:pPr indent="0" lvl="0" marL="0" rtl="0" algn="l">
              <a:lnSpc>
                <a:spcPct val="90000"/>
              </a:lnSpc>
              <a:spcBef>
                <a:spcPts val="1000"/>
              </a:spcBef>
              <a:spcAft>
                <a:spcPts val="0"/>
              </a:spcAft>
              <a:buClr>
                <a:schemeClr val="dk1"/>
              </a:buClr>
              <a:buSzPts val="2800"/>
              <a:buNone/>
            </a:pPr>
            <a:r>
              <a:rPr lang="en-US">
                <a:highlight>
                  <a:srgbClr val="FFFF00"/>
                </a:highlight>
              </a:rPr>
              <a:t>Key activities:</a:t>
            </a:r>
            <a:endParaRPr/>
          </a:p>
          <a:p>
            <a:pPr indent="-228600" lvl="0" marL="228600" rtl="0" algn="l">
              <a:lnSpc>
                <a:spcPct val="90000"/>
              </a:lnSpc>
              <a:spcBef>
                <a:spcPts val="1000"/>
              </a:spcBef>
              <a:spcAft>
                <a:spcPts val="0"/>
              </a:spcAft>
              <a:buClr>
                <a:schemeClr val="dk1"/>
              </a:buClr>
              <a:buSzPts val="2800"/>
              <a:buChar char="•"/>
            </a:pPr>
            <a:r>
              <a:rPr i="1" lang="en-US"/>
              <a:t>Identify key business processes.</a:t>
            </a:r>
            <a:endParaRPr/>
          </a:p>
          <a:p>
            <a:pPr indent="-228600" lvl="0" marL="228600" rtl="0" algn="l">
              <a:lnSpc>
                <a:spcPct val="90000"/>
              </a:lnSpc>
              <a:spcBef>
                <a:spcPts val="1000"/>
              </a:spcBef>
              <a:spcAft>
                <a:spcPts val="0"/>
              </a:spcAft>
              <a:buClr>
                <a:schemeClr val="dk1"/>
              </a:buClr>
              <a:buSzPts val="2800"/>
              <a:buChar char="•"/>
            </a:pPr>
            <a:r>
              <a:rPr i="1" lang="en-US"/>
              <a:t>Define entities, attributes, and relationships from a business perspective.</a:t>
            </a:r>
            <a:endParaRPr/>
          </a:p>
          <a:p>
            <a:pPr indent="-228600" lvl="0" marL="228600" rtl="0" algn="l">
              <a:lnSpc>
                <a:spcPct val="90000"/>
              </a:lnSpc>
              <a:spcBef>
                <a:spcPts val="1000"/>
              </a:spcBef>
              <a:spcAft>
                <a:spcPts val="0"/>
              </a:spcAft>
              <a:buClr>
                <a:schemeClr val="dk1"/>
              </a:buClr>
              <a:buSzPts val="2800"/>
              <a:buChar char="•"/>
            </a:pPr>
            <a:r>
              <a:rPr i="1" lang="en-US"/>
              <a:t>Establish business rules, such as "every sale must have at least one salesperson".</a:t>
            </a:r>
            <a:endParaRPr/>
          </a:p>
          <a:p>
            <a:pPr indent="0" lvl="0" marL="0" rtl="0" algn="l">
              <a:lnSpc>
                <a:spcPct val="90000"/>
              </a:lnSpc>
              <a:spcBef>
                <a:spcPts val="1000"/>
              </a:spcBef>
              <a:spcAft>
                <a:spcPts val="0"/>
              </a:spcAft>
              <a:buClr>
                <a:schemeClr val="dk1"/>
              </a:buClr>
              <a:buSzPts val="2800"/>
              <a:buNone/>
            </a:pPr>
            <a:r>
              <a:rPr lang="en-US">
                <a:highlight>
                  <a:srgbClr val="FFFF00"/>
                </a:highlight>
              </a:rPr>
              <a:t>Purpose: </a:t>
            </a:r>
            <a:r>
              <a:rPr lang="en-US"/>
              <a:t>To create a shared understanding of the data before implementation details are considered.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1850571" y="18256"/>
            <a:ext cx="10515600" cy="7981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Logical phase (using dimensional modeling)</a:t>
            </a:r>
            <a:endParaRPr/>
          </a:p>
        </p:txBody>
      </p:sp>
      <p:sp>
        <p:nvSpPr>
          <p:cNvPr id="132" name="Google Shape;132;p9"/>
          <p:cNvSpPr txBox="1"/>
          <p:nvPr>
            <p:ph idx="1" type="body"/>
          </p:nvPr>
        </p:nvSpPr>
        <p:spPr>
          <a:xfrm>
            <a:off x="228599" y="1379311"/>
            <a:ext cx="11832771"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highlight>
                  <a:srgbClr val="FFFF00"/>
                </a:highlight>
              </a:rPr>
              <a:t>What it is: </a:t>
            </a:r>
            <a:r>
              <a:rPr lang="en-US"/>
              <a:t>A detailed, implementation-agnostic schema that details how the data will be organized.</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highlight>
                  <a:srgbClr val="FFFF00"/>
                </a:highlight>
              </a:rPr>
              <a:t>Key activities:</a:t>
            </a:r>
            <a:endParaRPr/>
          </a:p>
          <a:p>
            <a:pPr indent="-228600" lvl="1" marL="685800" rtl="0" algn="l">
              <a:lnSpc>
                <a:spcPct val="90000"/>
              </a:lnSpc>
              <a:spcBef>
                <a:spcPts val="500"/>
              </a:spcBef>
              <a:spcAft>
                <a:spcPts val="0"/>
              </a:spcAft>
              <a:buClr>
                <a:schemeClr val="dk1"/>
              </a:buClr>
              <a:buSzPts val="2400"/>
              <a:buChar char="•"/>
            </a:pPr>
            <a:r>
              <a:rPr lang="en-US"/>
              <a:t>Translate conceptual entities into </a:t>
            </a:r>
            <a:r>
              <a:rPr lang="en-US" u="sng">
                <a:solidFill>
                  <a:schemeClr val="hlink"/>
                </a:solidFill>
                <a:hlinkClick r:id="rId3"/>
              </a:rPr>
              <a:t>fact tables</a:t>
            </a:r>
            <a:r>
              <a:rPr lang="en-US"/>
              <a:t> and </a:t>
            </a:r>
            <a:r>
              <a:rPr lang="en-US" u="sng">
                <a:solidFill>
                  <a:schemeClr val="hlink"/>
                </a:solidFill>
                <a:hlinkClick r:id="rId4"/>
              </a:rPr>
              <a:t>dimension tables</a:t>
            </a:r>
            <a:r>
              <a:rPr lang="en-US"/>
              <a:t>.</a:t>
            </a:r>
            <a:endParaRPr/>
          </a:p>
          <a:p>
            <a:pPr indent="-228600" lvl="1" marL="685800" rtl="0" algn="l">
              <a:lnSpc>
                <a:spcPct val="90000"/>
              </a:lnSpc>
              <a:spcBef>
                <a:spcPts val="500"/>
              </a:spcBef>
              <a:spcAft>
                <a:spcPts val="0"/>
              </a:spcAft>
              <a:buClr>
                <a:schemeClr val="dk1"/>
              </a:buClr>
              <a:buSzPts val="2400"/>
              <a:buChar char="•"/>
            </a:pPr>
            <a:r>
              <a:rPr lang="en-US"/>
              <a:t>Define all attributes, data types, primary keys, and foreign keys for each table.</a:t>
            </a:r>
            <a:endParaRPr/>
          </a:p>
          <a:p>
            <a:pPr indent="-228600" lvl="1" marL="685800" rtl="0" algn="l">
              <a:lnSpc>
                <a:spcPct val="90000"/>
              </a:lnSpc>
              <a:spcBef>
                <a:spcPts val="500"/>
              </a:spcBef>
              <a:spcAft>
                <a:spcPts val="0"/>
              </a:spcAft>
              <a:buClr>
                <a:schemeClr val="dk1"/>
              </a:buClr>
              <a:buSzPts val="2400"/>
              <a:buChar char="•"/>
            </a:pPr>
            <a:r>
              <a:rPr lang="en-US"/>
              <a:t>Choose a specific dimensional schema, such as </a:t>
            </a:r>
            <a:r>
              <a:rPr lang="en-US" u="sng">
                <a:solidFill>
                  <a:schemeClr val="hlink"/>
                </a:solidFill>
                <a:hlinkClick r:id="rId5"/>
              </a:rPr>
              <a:t>star schema</a:t>
            </a:r>
            <a:r>
              <a:rPr lang="en-US"/>
              <a:t> (denormalized dimensions) or </a:t>
            </a:r>
            <a:r>
              <a:rPr lang="en-US" u="sng">
                <a:solidFill>
                  <a:schemeClr val="hlink"/>
                </a:solidFill>
                <a:hlinkClick r:id="rId6"/>
              </a:rPr>
              <a:t>snowflake schema</a:t>
            </a:r>
            <a:r>
              <a:rPr lang="en-US"/>
              <a:t> (normalized dimensions).</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highlight>
                  <a:srgbClr val="FFFF00"/>
                </a:highlight>
              </a:rPr>
              <a:t>Purpose: </a:t>
            </a:r>
            <a:r>
              <a:rPr lang="en-US"/>
              <a:t>To provide a detailed blueprint for the physical database, optimized for analytical queries.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type="title"/>
          </p:nvPr>
        </p:nvSpPr>
        <p:spPr>
          <a:xfrm>
            <a:off x="2732314" y="18256"/>
            <a:ext cx="10515600" cy="8634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Physical phase(implementation phase)</a:t>
            </a:r>
            <a:endParaRPr/>
          </a:p>
        </p:txBody>
      </p:sp>
      <p:sp>
        <p:nvSpPr>
          <p:cNvPr id="138" name="Google Shape;138;p10"/>
          <p:cNvSpPr txBox="1"/>
          <p:nvPr>
            <p:ph idx="1" type="body"/>
          </p:nvPr>
        </p:nvSpPr>
        <p:spPr>
          <a:xfrm>
            <a:off x="359227" y="1629682"/>
            <a:ext cx="1162594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highlight>
                  <a:srgbClr val="FFFF00"/>
                </a:highlight>
              </a:rPr>
              <a:t>What it is: </a:t>
            </a:r>
            <a:r>
              <a:rPr lang="en-US"/>
              <a:t>The actual implementation of the logical model in a specific database management system (DBMS).</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highlight>
                  <a:srgbClr val="FFFF00"/>
                </a:highlight>
              </a:rPr>
              <a:t>Key activities:</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Specify the physical storage details, indexes, and partitions based on the chosen DBMS.</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highlight>
                  <a:srgbClr val="FFFF00"/>
                </a:highlight>
              </a:rPr>
              <a:t>Purpose: </a:t>
            </a:r>
            <a:r>
              <a:rPr lang="en-US"/>
              <a:t>To create the physical database structure based on the logical design.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ph type="title"/>
          </p:nvPr>
        </p:nvSpPr>
        <p:spPr>
          <a:xfrm>
            <a:off x="4114800" y="18256"/>
            <a:ext cx="5617029" cy="7872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highlight>
                  <a:srgbClr val="FFFF00"/>
                </a:highlight>
              </a:rPr>
              <a:t>Types of DWH tables</a:t>
            </a:r>
            <a:endParaRPr/>
          </a:p>
        </p:txBody>
      </p:sp>
      <p:sp>
        <p:nvSpPr>
          <p:cNvPr id="144" name="Google Shape;144;p11"/>
          <p:cNvSpPr txBox="1"/>
          <p:nvPr>
            <p:ph idx="1" type="body"/>
          </p:nvPr>
        </p:nvSpPr>
        <p:spPr>
          <a:xfrm>
            <a:off x="838200" y="2536371"/>
            <a:ext cx="10515600" cy="364059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Dimension</a:t>
            </a:r>
            <a:endParaRPr/>
          </a:p>
          <a:p>
            <a:pPr indent="-228600" lvl="0" marL="228600" rtl="0" algn="l">
              <a:lnSpc>
                <a:spcPct val="90000"/>
              </a:lnSpc>
              <a:spcBef>
                <a:spcPts val="1000"/>
              </a:spcBef>
              <a:spcAft>
                <a:spcPts val="0"/>
              </a:spcAft>
              <a:buClr>
                <a:schemeClr val="dk1"/>
              </a:buClr>
              <a:buSzPts val="2800"/>
              <a:buChar char="•"/>
            </a:pPr>
            <a:r>
              <a:rPr b="1" i="1" lang="en-US"/>
              <a:t>Fact</a:t>
            </a:r>
            <a:endParaRPr/>
          </a:p>
          <a:p>
            <a:pPr indent="-228600" lvl="0" marL="228600" rtl="0" algn="l">
              <a:lnSpc>
                <a:spcPct val="90000"/>
              </a:lnSpc>
              <a:spcBef>
                <a:spcPts val="1000"/>
              </a:spcBef>
              <a:spcAft>
                <a:spcPts val="0"/>
              </a:spcAft>
              <a:buClr>
                <a:schemeClr val="dk1"/>
              </a:buClr>
              <a:buSzPts val="2800"/>
              <a:buChar char="•"/>
            </a:pPr>
            <a:r>
              <a:rPr b="1" i="1" lang="en-US"/>
              <a:t>Fact less Fact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4288972" y="18255"/>
            <a:ext cx="3853543" cy="66278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highlight>
                  <a:srgbClr val="FFFF00"/>
                </a:highlight>
              </a:rPr>
              <a:t>Dimension Table</a:t>
            </a:r>
            <a:endParaRPr/>
          </a:p>
        </p:txBody>
      </p:sp>
      <p:sp>
        <p:nvSpPr>
          <p:cNvPr id="150" name="Google Shape;150;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 </a:t>
            </a:r>
            <a:r>
              <a:rPr lang="en-US">
                <a:highlight>
                  <a:srgbClr val="FFFF00"/>
                </a:highlight>
              </a:rPr>
              <a:t>DESCRIPTIVE</a:t>
            </a:r>
            <a:r>
              <a:rPr lang="en-US"/>
              <a:t> attribute which talks about the </a:t>
            </a:r>
            <a:r>
              <a:rPr lang="en-US">
                <a:highlight>
                  <a:srgbClr val="FFFF00"/>
                </a:highlight>
              </a:rPr>
              <a:t>describable</a:t>
            </a:r>
            <a:r>
              <a:rPr lang="en-US"/>
              <a:t> information of any table/entity.</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Example : Product Name/Category/type , customer location etc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4757057" y="159770"/>
            <a:ext cx="3276601" cy="7546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highlight>
                  <a:srgbClr val="FFFF00"/>
                </a:highlight>
              </a:rPr>
              <a:t>Fact Table</a:t>
            </a:r>
            <a:endParaRPr/>
          </a:p>
        </p:txBody>
      </p:sp>
      <p:sp>
        <p:nvSpPr>
          <p:cNvPr id="156" name="Google Shape;156;p13"/>
          <p:cNvSpPr txBox="1"/>
          <p:nvPr>
            <p:ph idx="1" type="body"/>
          </p:nvPr>
        </p:nvSpPr>
        <p:spPr>
          <a:xfrm>
            <a:off x="108857" y="1825625"/>
            <a:ext cx="11244943"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It is all about measurable information wrt any Dimension table/entity.</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Example : Sales Fact table</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Sales Qty, Total Units sold are measurable attribs.</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Fact table holds two sets of Information:</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1.Dimension keys</a:t>
            </a:r>
            <a:endParaRPr/>
          </a:p>
          <a:p>
            <a:pPr indent="0" lvl="0" marL="0" rtl="0" algn="l">
              <a:lnSpc>
                <a:spcPct val="90000"/>
              </a:lnSpc>
              <a:spcBef>
                <a:spcPts val="1000"/>
              </a:spcBef>
              <a:spcAft>
                <a:spcPts val="0"/>
              </a:spcAft>
              <a:buClr>
                <a:schemeClr val="dk1"/>
              </a:buClr>
              <a:buSzPct val="100000"/>
              <a:buNone/>
            </a:pPr>
            <a:r>
              <a:rPr lang="en-US"/>
              <a:t>2.Measurable fields information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type="title"/>
          </p:nvPr>
        </p:nvSpPr>
        <p:spPr>
          <a:xfrm>
            <a:off x="3701143" y="18256"/>
            <a:ext cx="4223658" cy="66278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highlight>
                  <a:srgbClr val="FFFF00"/>
                </a:highlight>
              </a:rPr>
              <a:t>Fact less Fact table</a:t>
            </a:r>
            <a:endParaRPr/>
          </a:p>
        </p:txBody>
      </p:sp>
      <p:sp>
        <p:nvSpPr>
          <p:cNvPr id="162" name="Google Shape;162;p14"/>
          <p:cNvSpPr txBox="1"/>
          <p:nvPr>
            <p:ph idx="1" type="body"/>
          </p:nvPr>
        </p:nvSpPr>
        <p:spPr>
          <a:xfrm>
            <a:off x="195942" y="1253331"/>
            <a:ext cx="11832771" cy="550669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fact less fact table is a data warehouse table that records events or conditions without any numeric facts, containing only foreign keys to related dimensions.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It is used to track processes, model many-to-many relationships, and enable "negative analysis" where you look for what didn't happen.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1" lang="en-US"/>
              <a:t>Examples: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Invoice Number,Tracking student attendance or product promotions that did not sell.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ph type="title"/>
          </p:nvPr>
        </p:nvSpPr>
        <p:spPr>
          <a:xfrm>
            <a:off x="1055914" y="1"/>
            <a:ext cx="10515600" cy="9035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 </a:t>
            </a:r>
            <a:r>
              <a:rPr b="1" lang="en-US">
                <a:highlight>
                  <a:srgbClr val="FFFF00"/>
                </a:highlight>
              </a:rPr>
              <a:t>Data Warehouse vs Database</a:t>
            </a:r>
            <a:endParaRPr>
              <a:highlight>
                <a:srgbClr val="FFFF00"/>
              </a:highlight>
            </a:endParaRPr>
          </a:p>
        </p:txBody>
      </p:sp>
      <p:graphicFrame>
        <p:nvGraphicFramePr>
          <p:cNvPr id="168" name="Google Shape;168;p15"/>
          <p:cNvGraphicFramePr/>
          <p:nvPr/>
        </p:nvGraphicFramePr>
        <p:xfrm>
          <a:off x="838200" y="2766854"/>
          <a:ext cx="3000000" cy="3000000"/>
        </p:xfrm>
        <a:graphic>
          <a:graphicData uri="http://schemas.openxmlformats.org/drawingml/2006/table">
            <a:tbl>
              <a:tblPr>
                <a:noFill/>
                <a:tableStyleId>{8B0BB1A6-C2C6-41A7-882F-22415DC26183}</a:tableStyleId>
              </a:tblPr>
              <a:tblGrid>
                <a:gridCol w="3505200"/>
                <a:gridCol w="3505200"/>
                <a:gridCol w="3505200"/>
              </a:tblGrid>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Feature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Database (OLTP)</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Data Warehouse (OLAP)</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Purpose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Daily operations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Analytics &amp; reporting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Data Type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Current, real-time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Historical, summarized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Users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Clerical users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Analysts, managers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Operations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Insert, Update, Delete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Read, Aggregate, Analyze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Design</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Normalized (3NF)</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Denormalized (Star/Snowflake schema)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txBox="1"/>
          <p:nvPr>
            <p:ph type="title"/>
          </p:nvPr>
        </p:nvSpPr>
        <p:spPr>
          <a:xfrm>
            <a:off x="1088571" y="108858"/>
            <a:ext cx="10515600" cy="7728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 </a:t>
            </a:r>
            <a:r>
              <a:rPr b="1" lang="en-US">
                <a:highlight>
                  <a:srgbClr val="FFFF00"/>
                </a:highlight>
              </a:rPr>
              <a:t>Common Data Warehouse Schemas</a:t>
            </a:r>
            <a:endParaRPr>
              <a:highlight>
                <a:srgbClr val="FFFF00"/>
              </a:highlight>
            </a:endParaRPr>
          </a:p>
        </p:txBody>
      </p:sp>
      <p:graphicFrame>
        <p:nvGraphicFramePr>
          <p:cNvPr id="174" name="Google Shape;174;p16"/>
          <p:cNvGraphicFramePr/>
          <p:nvPr/>
        </p:nvGraphicFramePr>
        <p:xfrm>
          <a:off x="838200" y="2858294"/>
          <a:ext cx="3000000" cy="3000000"/>
        </p:xfrm>
        <a:graphic>
          <a:graphicData uri="http://schemas.openxmlformats.org/drawingml/2006/table">
            <a:tbl>
              <a:tblPr>
                <a:noFill/>
                <a:tableStyleId>{8B0BB1A6-C2C6-41A7-882F-22415DC26183}</a:tableStyleId>
              </a:tblPr>
              <a:tblGrid>
                <a:gridCol w="3505200"/>
                <a:gridCol w="3505200"/>
                <a:gridCol w="3505200"/>
              </a:tblGrid>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Schema Type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Description</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Example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Star Schema</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Central fact table linked to multiple dimension tables.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Sales fact linked to Product, Time, Customer.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Snowflake Schema</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Dimensions are further normalized into sub-dimensions.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Product → Category → Brand.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Galaxy (Fact Constellation)</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Multiple fact tables share dimension tables.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Sales &amp; Inventory facts share Product dimension.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2479963" y="18256"/>
            <a:ext cx="10515600" cy="66278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highlight>
                  <a:srgbClr val="FFFF00"/>
                </a:highlight>
              </a:rPr>
              <a:t>DWH vs Data Lake</a:t>
            </a:r>
            <a:endParaRPr/>
          </a:p>
        </p:txBody>
      </p:sp>
      <p:graphicFrame>
        <p:nvGraphicFramePr>
          <p:cNvPr id="180" name="Google Shape;180;p17"/>
          <p:cNvGraphicFramePr/>
          <p:nvPr/>
        </p:nvGraphicFramePr>
        <p:xfrm>
          <a:off x="838200" y="2401094"/>
          <a:ext cx="3000000" cy="3000000"/>
        </p:xfrm>
        <a:graphic>
          <a:graphicData uri="http://schemas.openxmlformats.org/drawingml/2006/table">
            <a:tbl>
              <a:tblPr>
                <a:noFill/>
                <a:tableStyleId>{8B0BB1A6-C2C6-41A7-882F-22415DC26183}</a:tableStyleId>
              </a:tblPr>
              <a:tblGrid>
                <a:gridCol w="3505200"/>
                <a:gridCol w="3505200"/>
                <a:gridCol w="3505200"/>
              </a:tblGrid>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Feature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Data Warehouse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Data Lake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Data Type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Structured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All (Structured, Semi, Unstructured)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Processing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ETL (before loading)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ELT (after loading)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Schema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Schema-on-Write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Schema-on-Read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Cost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High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Low</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Users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Business Analysts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Data Scientists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Purpose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BI, Reporting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AI, ML, Big Data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Tools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Snowflake, Redshift, BigQuery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Hadoop, AWS S3, Databricks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2536371" y="1"/>
            <a:ext cx="10515600" cy="7728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highlight>
                  <a:srgbClr val="FFFF00"/>
                </a:highlight>
              </a:rPr>
              <a:t>Data warehousing architecture</a:t>
            </a:r>
            <a:endParaRPr/>
          </a:p>
        </p:txBody>
      </p:sp>
      <p:pic>
        <p:nvPicPr>
          <p:cNvPr id="186" name="Google Shape;186;p18"/>
          <p:cNvPicPr preferRelativeResize="0"/>
          <p:nvPr/>
        </p:nvPicPr>
        <p:blipFill rotWithShape="1">
          <a:blip r:embed="rId3">
            <a:alphaModFix/>
          </a:blip>
          <a:srcRect b="0" l="0" r="0" t="0"/>
          <a:stretch/>
        </p:blipFill>
        <p:spPr>
          <a:xfrm>
            <a:off x="283027" y="1153155"/>
            <a:ext cx="11647715" cy="538915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title"/>
          </p:nvPr>
        </p:nvSpPr>
        <p:spPr>
          <a:xfrm>
            <a:off x="1046018" y="115743"/>
            <a:ext cx="10515600" cy="57005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highlight>
                  <a:srgbClr val="FFFF00"/>
                </a:highlight>
              </a:rPr>
              <a:t>⚙️ Data Warehouse Architecture</a:t>
            </a:r>
            <a:endParaRPr/>
          </a:p>
        </p:txBody>
      </p:sp>
      <p:sp>
        <p:nvSpPr>
          <p:cNvPr id="192" name="Google Shape;192;p19"/>
          <p:cNvSpPr txBox="1"/>
          <p:nvPr>
            <p:ph idx="1" type="body"/>
          </p:nvPr>
        </p:nvSpPr>
        <p:spPr>
          <a:xfrm>
            <a:off x="256310" y="1482725"/>
            <a:ext cx="10515600" cy="525953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dk1"/>
              </a:buClr>
              <a:buSzPct val="100000"/>
              <a:buNone/>
            </a:pPr>
            <a:r>
              <a:rPr b="1" lang="en-US"/>
              <a:t>1. Data Sources</a:t>
            </a:r>
            <a:endParaRPr/>
          </a:p>
          <a:p>
            <a:pPr indent="-228600" lvl="0" marL="228600" rtl="0" algn="l">
              <a:lnSpc>
                <a:spcPct val="90000"/>
              </a:lnSpc>
              <a:spcBef>
                <a:spcPts val="1000"/>
              </a:spcBef>
              <a:spcAft>
                <a:spcPts val="0"/>
              </a:spcAft>
              <a:buClr>
                <a:schemeClr val="dk1"/>
              </a:buClr>
              <a:buSzPct val="100000"/>
              <a:buChar char="•"/>
            </a:pPr>
            <a:r>
              <a:rPr lang="en-US"/>
              <a:t>Operational databases (OLTP)</a:t>
            </a:r>
            <a:endParaRPr/>
          </a:p>
          <a:p>
            <a:pPr indent="-228600" lvl="0" marL="228600" rtl="0" algn="l">
              <a:lnSpc>
                <a:spcPct val="90000"/>
              </a:lnSpc>
              <a:spcBef>
                <a:spcPts val="1000"/>
              </a:spcBef>
              <a:spcAft>
                <a:spcPts val="0"/>
              </a:spcAft>
              <a:buClr>
                <a:schemeClr val="dk1"/>
              </a:buClr>
              <a:buSzPct val="100000"/>
              <a:buChar char="•"/>
            </a:pPr>
            <a:r>
              <a:rPr lang="en-US"/>
              <a:t>Flat files, logs, ERP, CRM systems</a:t>
            </a:r>
            <a:endParaRPr/>
          </a:p>
          <a:p>
            <a:pPr indent="0" lvl="0" marL="0" rtl="0" algn="l">
              <a:lnSpc>
                <a:spcPct val="90000"/>
              </a:lnSpc>
              <a:spcBef>
                <a:spcPts val="1000"/>
              </a:spcBef>
              <a:spcAft>
                <a:spcPts val="0"/>
              </a:spcAft>
              <a:buClr>
                <a:schemeClr val="dk1"/>
              </a:buClr>
              <a:buSzPct val="100000"/>
              <a:buNone/>
            </a:pPr>
            <a:r>
              <a:rPr b="1" lang="en-US"/>
              <a:t>2. Data Staging (ETL Layer)</a:t>
            </a:r>
            <a:endParaRPr/>
          </a:p>
          <a:p>
            <a:pPr indent="-228600" lvl="0" marL="228600" rtl="0" algn="l">
              <a:lnSpc>
                <a:spcPct val="90000"/>
              </a:lnSpc>
              <a:spcBef>
                <a:spcPts val="1000"/>
              </a:spcBef>
              <a:spcAft>
                <a:spcPts val="0"/>
              </a:spcAft>
              <a:buClr>
                <a:schemeClr val="dk1"/>
              </a:buClr>
              <a:buSzPct val="100000"/>
              <a:buChar char="•"/>
            </a:pPr>
            <a:r>
              <a:rPr b="1" lang="en-US"/>
              <a:t>E</a:t>
            </a:r>
            <a:r>
              <a:rPr lang="en-US"/>
              <a:t>xtract: Data is pulled from sources.</a:t>
            </a:r>
            <a:endParaRPr/>
          </a:p>
          <a:p>
            <a:pPr indent="-228600" lvl="0" marL="228600" rtl="0" algn="l">
              <a:lnSpc>
                <a:spcPct val="90000"/>
              </a:lnSpc>
              <a:spcBef>
                <a:spcPts val="1000"/>
              </a:spcBef>
              <a:spcAft>
                <a:spcPts val="0"/>
              </a:spcAft>
              <a:buClr>
                <a:schemeClr val="dk1"/>
              </a:buClr>
              <a:buSzPct val="100000"/>
              <a:buChar char="•"/>
            </a:pPr>
            <a:r>
              <a:rPr b="1" lang="en-US"/>
              <a:t>T</a:t>
            </a:r>
            <a:r>
              <a:rPr lang="en-US"/>
              <a:t>ransform: Cleaned and formatted.</a:t>
            </a:r>
            <a:endParaRPr/>
          </a:p>
          <a:p>
            <a:pPr indent="-228600" lvl="0" marL="228600" rtl="0" algn="l">
              <a:lnSpc>
                <a:spcPct val="90000"/>
              </a:lnSpc>
              <a:spcBef>
                <a:spcPts val="1000"/>
              </a:spcBef>
              <a:spcAft>
                <a:spcPts val="0"/>
              </a:spcAft>
              <a:buClr>
                <a:schemeClr val="dk1"/>
              </a:buClr>
              <a:buSzPct val="100000"/>
              <a:buChar char="•"/>
            </a:pPr>
            <a:r>
              <a:rPr b="1" lang="en-US"/>
              <a:t>L</a:t>
            </a:r>
            <a:r>
              <a:rPr lang="en-US"/>
              <a:t>oad: Loaded into the warehouse.</a:t>
            </a:r>
            <a:endParaRPr/>
          </a:p>
          <a:p>
            <a:pPr indent="-228600" lvl="0" marL="228600" rtl="0" algn="l">
              <a:lnSpc>
                <a:spcPct val="90000"/>
              </a:lnSpc>
              <a:spcBef>
                <a:spcPts val="1000"/>
              </a:spcBef>
              <a:spcAft>
                <a:spcPts val="0"/>
              </a:spcAft>
              <a:buClr>
                <a:schemeClr val="dk1"/>
              </a:buClr>
              <a:buSzPct val="100000"/>
              <a:buChar char="•"/>
            </a:pPr>
            <a:r>
              <a:rPr b="1" lang="en-US"/>
              <a:t>Tools:</a:t>
            </a:r>
            <a:r>
              <a:rPr lang="en-US"/>
              <a:t> Informatica, Talend, AWS Glue, SSIS.</a:t>
            </a:r>
            <a:endParaRPr/>
          </a:p>
          <a:p>
            <a:pPr indent="0" lvl="0" marL="0" rtl="0" algn="l">
              <a:lnSpc>
                <a:spcPct val="90000"/>
              </a:lnSpc>
              <a:spcBef>
                <a:spcPts val="1000"/>
              </a:spcBef>
              <a:spcAft>
                <a:spcPts val="0"/>
              </a:spcAft>
              <a:buClr>
                <a:schemeClr val="dk1"/>
              </a:buClr>
              <a:buSzPct val="100000"/>
              <a:buNone/>
            </a:pPr>
            <a:r>
              <a:rPr b="1" lang="en-US"/>
              <a:t>3. Data Storage (Warehouse Layer)</a:t>
            </a:r>
            <a:endParaRPr/>
          </a:p>
          <a:p>
            <a:pPr indent="-228600" lvl="0" marL="228600" rtl="0" algn="l">
              <a:lnSpc>
                <a:spcPct val="90000"/>
              </a:lnSpc>
              <a:spcBef>
                <a:spcPts val="1000"/>
              </a:spcBef>
              <a:spcAft>
                <a:spcPts val="0"/>
              </a:spcAft>
              <a:buClr>
                <a:schemeClr val="dk1"/>
              </a:buClr>
              <a:buSzPct val="100000"/>
              <a:buChar char="•"/>
            </a:pPr>
            <a:r>
              <a:rPr lang="en-US"/>
              <a:t>Central repository storing structured data.</a:t>
            </a:r>
            <a:endParaRPr/>
          </a:p>
          <a:p>
            <a:pPr indent="-228600" lvl="0" marL="228600" rtl="0" algn="l">
              <a:lnSpc>
                <a:spcPct val="90000"/>
              </a:lnSpc>
              <a:spcBef>
                <a:spcPts val="1000"/>
              </a:spcBef>
              <a:spcAft>
                <a:spcPts val="0"/>
              </a:spcAft>
              <a:buClr>
                <a:schemeClr val="dk1"/>
              </a:buClr>
              <a:buSzPct val="100000"/>
              <a:buChar char="•"/>
            </a:pPr>
            <a:r>
              <a:rPr lang="en-US"/>
              <a:t>Optimized for queries and analytics.</a:t>
            </a:r>
            <a:endParaRPr/>
          </a:p>
          <a:p>
            <a:pPr indent="-228600" lvl="0" marL="228600" rtl="0" algn="l">
              <a:lnSpc>
                <a:spcPct val="90000"/>
              </a:lnSpc>
              <a:spcBef>
                <a:spcPts val="1000"/>
              </a:spcBef>
              <a:spcAft>
                <a:spcPts val="0"/>
              </a:spcAft>
              <a:buClr>
                <a:schemeClr val="dk1"/>
              </a:buClr>
              <a:buSzPct val="100000"/>
              <a:buChar char="•"/>
            </a:pPr>
            <a:r>
              <a:rPr b="1" lang="en-US"/>
              <a:t>Databases:</a:t>
            </a:r>
            <a:r>
              <a:rPr lang="en-US"/>
              <a:t> Snowflake, Amazon Redshift, Google BigQuery, Teradata.</a:t>
            </a:r>
            <a:endParaRPr/>
          </a:p>
          <a:p>
            <a:pPr indent="0" lvl="0" marL="0" rtl="0" algn="l">
              <a:lnSpc>
                <a:spcPct val="90000"/>
              </a:lnSpc>
              <a:spcBef>
                <a:spcPts val="1000"/>
              </a:spcBef>
              <a:spcAft>
                <a:spcPts val="0"/>
              </a:spcAft>
              <a:buClr>
                <a:schemeClr val="dk1"/>
              </a:buClr>
              <a:buSzPct val="100000"/>
              <a:buNone/>
            </a:pPr>
            <a:r>
              <a:rPr b="1" lang="en-US"/>
              <a:t>4. Data Presentation Layer</a:t>
            </a:r>
            <a:endParaRPr/>
          </a:p>
          <a:p>
            <a:pPr indent="-228600" lvl="0" marL="228600" rtl="0" algn="l">
              <a:lnSpc>
                <a:spcPct val="90000"/>
              </a:lnSpc>
              <a:spcBef>
                <a:spcPts val="1000"/>
              </a:spcBef>
              <a:spcAft>
                <a:spcPts val="0"/>
              </a:spcAft>
              <a:buClr>
                <a:schemeClr val="dk1"/>
              </a:buClr>
              <a:buSzPct val="100000"/>
              <a:buChar char="•"/>
            </a:pPr>
            <a:r>
              <a:rPr lang="en-US"/>
              <a:t>Data Marts, OLAP cubes, BI tools (Power BI, Tableau, Looker).</a:t>
            </a:r>
            <a:endParaRPr/>
          </a:p>
          <a:p>
            <a:pPr indent="-228600" lvl="0" marL="228600" rtl="0" algn="l">
              <a:lnSpc>
                <a:spcPct val="90000"/>
              </a:lnSpc>
              <a:spcBef>
                <a:spcPts val="1000"/>
              </a:spcBef>
              <a:spcAft>
                <a:spcPts val="0"/>
              </a:spcAft>
              <a:buClr>
                <a:schemeClr val="dk1"/>
              </a:buClr>
              <a:buSzPct val="100000"/>
              <a:buChar char="•"/>
            </a:pPr>
            <a:r>
              <a:rPr lang="en-US"/>
              <a:t>Used for analytics and visualization.</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idx="1" type="body"/>
          </p:nvPr>
        </p:nvSpPr>
        <p:spPr>
          <a:xfrm>
            <a:off x="957943" y="1875404"/>
            <a:ext cx="10515600" cy="310719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Bottom Tier (Data Sources and Data Storage)</a:t>
            </a:r>
            <a:endParaRPr/>
          </a:p>
          <a:p>
            <a:pPr indent="-228600" lvl="0" marL="228600" rtl="0" algn="l">
              <a:lnSpc>
                <a:spcPct val="90000"/>
              </a:lnSpc>
              <a:spcBef>
                <a:spcPts val="1000"/>
              </a:spcBef>
              <a:spcAft>
                <a:spcPts val="0"/>
              </a:spcAft>
              <a:buClr>
                <a:schemeClr val="dk1"/>
              </a:buClr>
              <a:buSzPts val="2800"/>
              <a:buChar char="•"/>
            </a:pPr>
            <a:r>
              <a:rPr lang="en-US"/>
              <a:t>Middle Tier (OLAP Engine)</a:t>
            </a:r>
            <a:endParaRPr/>
          </a:p>
          <a:p>
            <a:pPr indent="-228600" lvl="0" marL="228600" rtl="0" algn="l">
              <a:lnSpc>
                <a:spcPct val="90000"/>
              </a:lnSpc>
              <a:spcBef>
                <a:spcPts val="1000"/>
              </a:spcBef>
              <a:spcAft>
                <a:spcPts val="0"/>
              </a:spcAft>
              <a:buClr>
                <a:schemeClr val="dk1"/>
              </a:buClr>
              <a:buSzPts val="2800"/>
              <a:buChar char="•"/>
            </a:pPr>
            <a:r>
              <a:rPr lang="en-US"/>
              <a:t>Top Tier (Front-End Tools)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3559628"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Bottom Tier</a:t>
            </a:r>
            <a:br>
              <a:rPr b="1" lang="en-US"/>
            </a:br>
            <a:endParaRPr/>
          </a:p>
        </p:txBody>
      </p:sp>
      <p:sp>
        <p:nvSpPr>
          <p:cNvPr id="203" name="Google Shape;203;p21"/>
          <p:cNvSpPr txBox="1"/>
          <p:nvPr>
            <p:ph idx="1" type="body"/>
          </p:nvPr>
        </p:nvSpPr>
        <p:spPr>
          <a:xfrm>
            <a:off x="119743" y="1253331"/>
            <a:ext cx="118110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Bottom Tier is the foundation of the data warehouse, responsible for collecting</a:t>
            </a:r>
            <a:r>
              <a:rPr b="1" lang="en-US"/>
              <a:t>, </a:t>
            </a:r>
            <a:r>
              <a:rPr lang="en-US"/>
              <a:t>processing</a:t>
            </a:r>
            <a:r>
              <a:rPr b="1" lang="en-US"/>
              <a:t>, </a:t>
            </a:r>
            <a:r>
              <a:rPr lang="en-US"/>
              <a:t>and</a:t>
            </a:r>
            <a:r>
              <a:rPr b="1" lang="en-US"/>
              <a:t> </a:t>
            </a:r>
            <a:r>
              <a:rPr lang="en-US"/>
              <a:t>storing</a:t>
            </a:r>
            <a:r>
              <a:rPr b="1" lang="en-US"/>
              <a:t> </a:t>
            </a:r>
            <a:r>
              <a:rPr lang="en-US"/>
              <a:t>data from multiple sources. It plays a critical role in preparing data for analysis.</a:t>
            </a:r>
            <a:endParaRPr/>
          </a:p>
          <a:p>
            <a:pPr indent="-228600" lvl="0" marL="228600" rtl="0" algn="l">
              <a:lnSpc>
                <a:spcPct val="90000"/>
              </a:lnSpc>
              <a:spcBef>
                <a:spcPts val="1000"/>
              </a:spcBef>
              <a:spcAft>
                <a:spcPts val="0"/>
              </a:spcAft>
              <a:buClr>
                <a:schemeClr val="dk1"/>
              </a:buClr>
              <a:buSzPct val="100000"/>
              <a:buChar char="•"/>
            </a:pPr>
            <a:r>
              <a:rPr b="1" lang="en-US"/>
              <a:t>Key Components:</a:t>
            </a:r>
            <a:endParaRPr/>
          </a:p>
          <a:p>
            <a:pPr indent="-228600" lvl="0" marL="228600" rtl="0" algn="l">
              <a:lnSpc>
                <a:spcPct val="90000"/>
              </a:lnSpc>
              <a:spcBef>
                <a:spcPts val="1000"/>
              </a:spcBef>
              <a:spcAft>
                <a:spcPts val="0"/>
              </a:spcAft>
              <a:buClr>
                <a:schemeClr val="dk1"/>
              </a:buClr>
              <a:buSzPct val="100000"/>
              <a:buChar char="•"/>
            </a:pPr>
            <a:r>
              <a:rPr b="1" lang="en-US"/>
              <a:t>Data Sources:</a:t>
            </a:r>
            <a:br>
              <a:rPr lang="en-US"/>
            </a:br>
            <a:r>
              <a:rPr lang="en-US"/>
              <a:t>Includes </a:t>
            </a:r>
            <a:r>
              <a:rPr b="1" lang="en-US"/>
              <a:t>operational databases (OLTP systems)</a:t>
            </a:r>
            <a:r>
              <a:rPr lang="en-US"/>
              <a:t>, </a:t>
            </a:r>
            <a:r>
              <a:rPr b="1" lang="en-US"/>
              <a:t>flat files</a:t>
            </a:r>
            <a:r>
              <a:rPr lang="en-US"/>
              <a:t>, </a:t>
            </a:r>
            <a:r>
              <a:rPr b="1" lang="en-US"/>
              <a:t>spreadsheets</a:t>
            </a:r>
            <a:r>
              <a:rPr lang="en-US"/>
              <a:t>, </a:t>
            </a:r>
            <a:r>
              <a:rPr b="1" lang="en-US"/>
              <a:t>external APIs</a:t>
            </a:r>
            <a:r>
              <a:rPr lang="en-US"/>
              <a:t>, </a:t>
            </a:r>
            <a:r>
              <a:rPr b="1" lang="en-US"/>
              <a:t>CRM/ERP systems</a:t>
            </a:r>
            <a:r>
              <a:rPr lang="en-US"/>
              <a:t>, and </a:t>
            </a:r>
            <a:r>
              <a:rPr b="1" lang="en-US"/>
              <a:t>web logs</a:t>
            </a:r>
            <a:r>
              <a:rPr lang="en-US"/>
              <a:t>. These are the raw inputs feeding into the data warehouse.</a:t>
            </a:r>
            <a:endParaRPr/>
          </a:p>
          <a:p>
            <a:pPr indent="-228600" lvl="0" marL="228600" rtl="0" algn="l">
              <a:lnSpc>
                <a:spcPct val="90000"/>
              </a:lnSpc>
              <a:spcBef>
                <a:spcPts val="1000"/>
              </a:spcBef>
              <a:spcAft>
                <a:spcPts val="0"/>
              </a:spcAft>
              <a:buClr>
                <a:schemeClr val="dk1"/>
              </a:buClr>
              <a:buSzPct val="100000"/>
              <a:buChar char="•"/>
            </a:pPr>
            <a:r>
              <a:rPr b="1" lang="en-US"/>
              <a:t>Data Storage:</a:t>
            </a:r>
            <a:br>
              <a:rPr lang="en-US"/>
            </a:br>
            <a:r>
              <a:rPr lang="en-US"/>
              <a:t>Processed data is stored in a Relational</a:t>
            </a:r>
            <a:r>
              <a:rPr b="1" lang="en-US"/>
              <a:t> </a:t>
            </a:r>
            <a:r>
              <a:rPr lang="en-US"/>
              <a:t>Database</a:t>
            </a:r>
            <a:r>
              <a:rPr b="1" lang="en-US"/>
              <a:t> </a:t>
            </a:r>
            <a:r>
              <a:rPr lang="en-US"/>
              <a:t>Management</a:t>
            </a:r>
            <a:r>
              <a:rPr b="1" lang="en-US"/>
              <a:t> </a:t>
            </a:r>
            <a:r>
              <a:rPr lang="en-US"/>
              <a:t>System</a:t>
            </a:r>
            <a:r>
              <a:rPr b="1" lang="en-US"/>
              <a:t> (RDBMS)</a:t>
            </a:r>
            <a:r>
              <a:rPr lang="en-US"/>
              <a:t> or a </a:t>
            </a:r>
            <a:r>
              <a:rPr b="1" lang="en-US"/>
              <a:t>multidimensional database</a:t>
            </a:r>
            <a:r>
              <a:rPr lang="en-US"/>
              <a:t> designed to support structured querying and analysis.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Common Challenges in Bottom Tier</a:t>
            </a:r>
            <a:br>
              <a:rPr b="1" lang="en-US"/>
            </a:br>
            <a:endParaRPr/>
          </a:p>
        </p:txBody>
      </p:sp>
      <p:sp>
        <p:nvSpPr>
          <p:cNvPr id="209" name="Google Shape;20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Integrating data from diverse sources presents several challenges such as:</a:t>
            </a:r>
            <a:endParaRPr/>
          </a:p>
          <a:p>
            <a:pPr indent="-228600" lvl="0" marL="228600" rtl="0" algn="l">
              <a:lnSpc>
                <a:spcPct val="90000"/>
              </a:lnSpc>
              <a:spcBef>
                <a:spcPts val="1000"/>
              </a:spcBef>
              <a:spcAft>
                <a:spcPts val="0"/>
              </a:spcAft>
              <a:buClr>
                <a:schemeClr val="dk1"/>
              </a:buClr>
              <a:buSzPts val="2800"/>
              <a:buChar char="•"/>
            </a:pPr>
            <a:r>
              <a:rPr b="1" lang="en-US"/>
              <a:t>Data Quality: </a:t>
            </a:r>
            <a:r>
              <a:rPr lang="en-US"/>
              <a:t>Inconsistent data can lead to errors and unreliable analytics.</a:t>
            </a:r>
            <a:endParaRPr/>
          </a:p>
          <a:p>
            <a:pPr indent="-228600" lvl="0" marL="228600" rtl="0" algn="l">
              <a:lnSpc>
                <a:spcPct val="90000"/>
              </a:lnSpc>
              <a:spcBef>
                <a:spcPts val="1000"/>
              </a:spcBef>
              <a:spcAft>
                <a:spcPts val="0"/>
              </a:spcAft>
              <a:buClr>
                <a:schemeClr val="dk1"/>
              </a:buClr>
              <a:buSzPts val="2800"/>
              <a:buChar char="•"/>
            </a:pPr>
            <a:r>
              <a:rPr b="1" lang="en-US"/>
              <a:t>Data Compatibility: </a:t>
            </a:r>
            <a:r>
              <a:rPr lang="en-US"/>
              <a:t>Different data formats and structures can complicate integration.</a:t>
            </a:r>
            <a:endParaRPr/>
          </a:p>
          <a:p>
            <a:pPr indent="-228600" lvl="0" marL="228600" rtl="0" algn="l">
              <a:lnSpc>
                <a:spcPct val="90000"/>
              </a:lnSpc>
              <a:spcBef>
                <a:spcPts val="1000"/>
              </a:spcBef>
              <a:spcAft>
                <a:spcPts val="0"/>
              </a:spcAft>
              <a:buClr>
                <a:schemeClr val="dk1"/>
              </a:buClr>
              <a:buSzPts val="2800"/>
              <a:buChar char="•"/>
            </a:pPr>
            <a:r>
              <a:rPr b="1" lang="en-US"/>
              <a:t>Scalability: </a:t>
            </a:r>
            <a:r>
              <a:rPr lang="en-US"/>
              <a:t>Handling increasing volumes of data efficiently.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Solutions</a:t>
            </a:r>
            <a:br>
              <a:rPr b="1" lang="en-US"/>
            </a:br>
            <a:endParaRPr/>
          </a:p>
        </p:txBody>
      </p:sp>
      <p:sp>
        <p:nvSpPr>
          <p:cNvPr id="215" name="Google Shape;215;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Implement Robust ETL Tools: </a:t>
            </a:r>
            <a:r>
              <a:rPr lang="en-US"/>
              <a:t>Utilize powerful ETL tools like Informatica, Microsoft SSIS, or Confluent to streamline the data integration process.</a:t>
            </a:r>
            <a:endParaRPr/>
          </a:p>
          <a:p>
            <a:pPr indent="-228600" lvl="0" marL="228600" rtl="0" algn="l">
              <a:lnSpc>
                <a:spcPct val="90000"/>
              </a:lnSpc>
              <a:spcBef>
                <a:spcPts val="1000"/>
              </a:spcBef>
              <a:spcAft>
                <a:spcPts val="0"/>
              </a:spcAft>
              <a:buClr>
                <a:schemeClr val="dk1"/>
              </a:buClr>
              <a:buSzPts val="2800"/>
              <a:buChar char="•"/>
            </a:pPr>
            <a:r>
              <a:rPr b="1" lang="en-US"/>
              <a:t>Standardize Data Formats: </a:t>
            </a:r>
            <a:r>
              <a:rPr lang="en-US"/>
              <a:t>Standardizing data at the point of entry minimizes compatibility issues.</a:t>
            </a:r>
            <a:endParaRPr/>
          </a:p>
          <a:p>
            <a:pPr indent="-228600" lvl="0" marL="228600" rtl="0" algn="l">
              <a:lnSpc>
                <a:spcPct val="90000"/>
              </a:lnSpc>
              <a:spcBef>
                <a:spcPts val="1000"/>
              </a:spcBef>
              <a:spcAft>
                <a:spcPts val="0"/>
              </a:spcAft>
              <a:buClr>
                <a:schemeClr val="dk1"/>
              </a:buClr>
              <a:buSzPts val="2800"/>
              <a:buChar char="•"/>
            </a:pPr>
            <a:r>
              <a:rPr b="1" lang="en-US"/>
              <a:t>Continuous Data Quality Management: </a:t>
            </a:r>
            <a:r>
              <a:rPr lang="en-US"/>
              <a:t>Regularly check and clean data to maintain high quality.</a:t>
            </a:r>
            <a:endParaRPr/>
          </a:p>
          <a:p>
            <a:pPr indent="-228600" lvl="0" marL="228600" rtl="0" algn="l">
              <a:lnSpc>
                <a:spcPct val="90000"/>
              </a:lnSpc>
              <a:spcBef>
                <a:spcPts val="1000"/>
              </a:spcBef>
              <a:spcAft>
                <a:spcPts val="0"/>
              </a:spcAft>
              <a:buClr>
                <a:schemeClr val="dk1"/>
              </a:buClr>
              <a:buSzPts val="2800"/>
              <a:buChar char="•"/>
            </a:pPr>
            <a:r>
              <a:rPr b="1" lang="en-US"/>
              <a:t>Scalability Planning: </a:t>
            </a:r>
            <a:r>
              <a:rPr lang="en-US"/>
              <a:t>Design data storage solutions that can expand as data volume grows, ensuring that the architecture can handle future increases in data without performance degradation.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ph type="title"/>
          </p:nvPr>
        </p:nvSpPr>
        <p:spPr>
          <a:xfrm>
            <a:off x="2699657"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Middle Tier</a:t>
            </a:r>
            <a:br>
              <a:rPr b="1" lang="en-US"/>
            </a:br>
            <a:endParaRPr/>
          </a:p>
        </p:txBody>
      </p:sp>
      <p:sp>
        <p:nvSpPr>
          <p:cNvPr id="221" name="Google Shape;221;p24"/>
          <p:cNvSpPr txBox="1"/>
          <p:nvPr>
            <p:ph idx="1" type="body"/>
          </p:nvPr>
        </p:nvSpPr>
        <p:spPr>
          <a:xfrm>
            <a:off x="-1" y="1343818"/>
            <a:ext cx="12083143"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The </a:t>
            </a:r>
            <a:r>
              <a:rPr b="1" lang="en-US"/>
              <a:t>Middle Tier</a:t>
            </a:r>
            <a:r>
              <a:rPr lang="en-US"/>
              <a:t> hosts the </a:t>
            </a:r>
            <a:r>
              <a:rPr b="1" lang="en-US"/>
              <a:t>OLAP server</a:t>
            </a:r>
            <a:r>
              <a:rPr lang="en-US"/>
              <a:t>, which processes complex analytical queries. It acts as a bridge between the </a:t>
            </a:r>
            <a:r>
              <a:rPr b="1" lang="en-US"/>
              <a:t>data storage layer (bottom tier)</a:t>
            </a:r>
            <a:r>
              <a:rPr lang="en-US"/>
              <a:t> and the </a:t>
            </a:r>
            <a:r>
              <a:rPr b="1" lang="en-US"/>
              <a:t>user interface (top tier)</a:t>
            </a:r>
            <a:r>
              <a:rPr lang="en-US"/>
              <a:t>, ensuring data is quickly retrieved, aggregated, and ready for reporting and analysis.</a:t>
            </a:r>
            <a:endParaRPr/>
          </a:p>
          <a:p>
            <a:pPr indent="-228600" lvl="0" marL="228600" rtl="0" algn="l">
              <a:lnSpc>
                <a:spcPct val="90000"/>
              </a:lnSpc>
              <a:spcBef>
                <a:spcPts val="1000"/>
              </a:spcBef>
              <a:spcAft>
                <a:spcPts val="0"/>
              </a:spcAft>
              <a:buClr>
                <a:schemeClr val="dk1"/>
              </a:buClr>
              <a:buSzPct val="100000"/>
              <a:buChar char="•"/>
            </a:pPr>
            <a:r>
              <a:rPr lang="en-US"/>
              <a:t>OLAP is a powerful technology for complex calculations, trend analysis, and data modeling. It is designed for high-speed analytical processing. OLAP server models come in three different categories, including:</a:t>
            </a:r>
            <a:endParaRPr/>
          </a:p>
          <a:p>
            <a:pPr indent="-228600" lvl="0" marL="228600" rtl="0" algn="l">
              <a:lnSpc>
                <a:spcPct val="90000"/>
              </a:lnSpc>
              <a:spcBef>
                <a:spcPts val="1000"/>
              </a:spcBef>
              <a:spcAft>
                <a:spcPts val="0"/>
              </a:spcAft>
              <a:buClr>
                <a:schemeClr val="dk1"/>
              </a:buClr>
              <a:buSzPct val="100000"/>
              <a:buChar char="•"/>
            </a:pPr>
            <a:r>
              <a:rPr b="1" lang="en-US"/>
              <a:t>ROLAP (Relational OLAP):</a:t>
            </a:r>
            <a:r>
              <a:rPr lang="en-US"/>
              <a:t> </a:t>
            </a:r>
            <a:r>
              <a:rPr lang="en-US" u="sng">
                <a:solidFill>
                  <a:schemeClr val="hlink"/>
                </a:solidFill>
                <a:hlinkClick r:id="rId3"/>
              </a:rPr>
              <a:t>This model</a:t>
            </a:r>
            <a:r>
              <a:rPr lang="en-US"/>
              <a:t> uses a relational database to store and manage warehouse data. It is ideal for handling large data volumes as it operates directly on relational databases.</a:t>
            </a:r>
            <a:endParaRPr/>
          </a:p>
          <a:p>
            <a:pPr indent="-228600" lvl="0" marL="228600" rtl="0" algn="l">
              <a:lnSpc>
                <a:spcPct val="90000"/>
              </a:lnSpc>
              <a:spcBef>
                <a:spcPts val="1000"/>
              </a:spcBef>
              <a:spcAft>
                <a:spcPts val="0"/>
              </a:spcAft>
              <a:buClr>
                <a:schemeClr val="dk1"/>
              </a:buClr>
              <a:buSzPct val="100000"/>
              <a:buChar char="•"/>
            </a:pPr>
            <a:r>
              <a:rPr b="1" lang="en-US"/>
              <a:t>MOLAP (Multidimensional OLAP):</a:t>
            </a:r>
            <a:r>
              <a:rPr lang="en-US"/>
              <a:t> This model stores data in a multidimensional cube. The storage and retrieval processes are highly efficient, making </a:t>
            </a:r>
            <a:r>
              <a:rPr lang="en-US" u="sng">
                <a:solidFill>
                  <a:schemeClr val="hlink"/>
                </a:solidFill>
                <a:hlinkClick r:id="rId4"/>
              </a:rPr>
              <a:t>MOLAP</a:t>
            </a:r>
            <a:r>
              <a:rPr lang="en-US"/>
              <a:t> suitable for complex analytical queries that require aggregation.</a:t>
            </a:r>
            <a:endParaRPr/>
          </a:p>
          <a:p>
            <a:pPr indent="-228600" lvl="0" marL="228600" rtl="0" algn="l">
              <a:lnSpc>
                <a:spcPct val="90000"/>
              </a:lnSpc>
              <a:spcBef>
                <a:spcPts val="1000"/>
              </a:spcBef>
              <a:spcAft>
                <a:spcPts val="0"/>
              </a:spcAft>
              <a:buClr>
                <a:schemeClr val="dk1"/>
              </a:buClr>
              <a:buSzPct val="100000"/>
              <a:buChar char="•"/>
            </a:pPr>
            <a:r>
              <a:rPr b="1" lang="en-US"/>
              <a:t>HOLAP (Hybrid OLAP):</a:t>
            </a:r>
            <a:r>
              <a:rPr lang="en-US"/>
              <a:t> It is combination of relational and multidimensional online analytical processing paradigms. </a:t>
            </a:r>
            <a:r>
              <a:rPr lang="en-US" u="sng">
                <a:solidFill>
                  <a:schemeClr val="hlink"/>
                </a:solidFill>
                <a:hlinkClick r:id="rId5"/>
              </a:rPr>
              <a:t>HOLAP</a:t>
            </a:r>
            <a:r>
              <a:rPr lang="en-US"/>
              <a:t> is the ideal option for a seamless functional flow across the database systems when the repository houses both the relational database management system and the multidimensional database management system.</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Common Challenges in Middle Tier</a:t>
            </a:r>
            <a:br>
              <a:rPr b="1" lang="en-US"/>
            </a:br>
            <a:endParaRPr/>
          </a:p>
        </p:txBody>
      </p:sp>
      <p:sp>
        <p:nvSpPr>
          <p:cNvPr id="227" name="Google Shape;22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Data Latency:</a:t>
            </a:r>
            <a:r>
              <a:rPr lang="en-US"/>
              <a:t> Delays in data availability can impact decision-making.</a:t>
            </a:r>
            <a:endParaRPr/>
          </a:p>
          <a:p>
            <a:pPr indent="-228600" lvl="0" marL="228600" rtl="0" algn="l">
              <a:lnSpc>
                <a:spcPct val="90000"/>
              </a:lnSpc>
              <a:spcBef>
                <a:spcPts val="1000"/>
              </a:spcBef>
              <a:spcAft>
                <a:spcPts val="0"/>
              </a:spcAft>
              <a:buClr>
                <a:schemeClr val="dk1"/>
              </a:buClr>
              <a:buSzPts val="2800"/>
              <a:buChar char="•"/>
            </a:pPr>
            <a:r>
              <a:rPr b="1" lang="en-US"/>
              <a:t>Query Performance:</a:t>
            </a:r>
            <a:r>
              <a:rPr lang="en-US"/>
              <a:t> Managing large volumes of data can slow down query performance.</a:t>
            </a:r>
            <a:endParaRPr/>
          </a:p>
          <a:p>
            <a:pPr indent="-228600" lvl="0" marL="228600" rtl="0" algn="l">
              <a:lnSpc>
                <a:spcPct val="90000"/>
              </a:lnSpc>
              <a:spcBef>
                <a:spcPts val="1000"/>
              </a:spcBef>
              <a:spcAft>
                <a:spcPts val="0"/>
              </a:spcAft>
              <a:buClr>
                <a:schemeClr val="dk1"/>
              </a:buClr>
              <a:buSzPts val="2800"/>
              <a:buChar char="•"/>
            </a:pPr>
            <a:r>
              <a:rPr b="1" lang="en-US"/>
              <a:t>Data Integration:</a:t>
            </a:r>
            <a:r>
              <a:rPr lang="en-US"/>
              <a:t> Combining data from different sources with varying formats can be challenging.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Solutions</a:t>
            </a:r>
            <a:br>
              <a:rPr b="1" lang="en-US"/>
            </a:br>
            <a:endParaRPr/>
          </a:p>
        </p:txBody>
      </p:sp>
      <p:sp>
        <p:nvSpPr>
          <p:cNvPr id="233" name="Google Shape;233;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Real-Time &amp; Incremental Loading:</a:t>
            </a:r>
            <a:br>
              <a:rPr lang="en-US"/>
            </a:br>
            <a:r>
              <a:rPr lang="en-US"/>
              <a:t>Update data frequently using real-time and incremental loading to reduce latency and support faster decision-making.</a:t>
            </a:r>
            <a:endParaRPr/>
          </a:p>
          <a:p>
            <a:pPr indent="-228600" lvl="0" marL="228600" rtl="0" algn="l">
              <a:lnSpc>
                <a:spcPct val="90000"/>
              </a:lnSpc>
              <a:spcBef>
                <a:spcPts val="1000"/>
              </a:spcBef>
              <a:spcAft>
                <a:spcPts val="0"/>
              </a:spcAft>
              <a:buClr>
                <a:schemeClr val="dk1"/>
              </a:buClr>
              <a:buSzPts val="2800"/>
              <a:buChar char="•"/>
            </a:pPr>
            <a:r>
              <a:rPr b="1" lang="en-US"/>
              <a:t>Query Optimization:</a:t>
            </a:r>
            <a:br>
              <a:rPr lang="en-US"/>
            </a:br>
            <a:r>
              <a:rPr lang="en-US"/>
              <a:t>Improve performance with </a:t>
            </a:r>
            <a:r>
              <a:rPr b="1" lang="en-US"/>
              <a:t>indexing</a:t>
            </a:r>
            <a:r>
              <a:rPr lang="en-US"/>
              <a:t>, </a:t>
            </a:r>
            <a:r>
              <a:rPr b="1" lang="en-US"/>
              <a:t>partitioning</a:t>
            </a:r>
            <a:r>
              <a:rPr lang="en-US"/>
              <a:t>, and </a:t>
            </a:r>
            <a:r>
              <a:rPr b="1" lang="en-US"/>
              <a:t>optimized SQL</a:t>
            </a:r>
            <a:r>
              <a:rPr lang="en-US"/>
              <a:t> for faster data retrieval.</a:t>
            </a:r>
            <a:endParaRPr/>
          </a:p>
          <a:p>
            <a:pPr indent="-228600" lvl="0" marL="228600" rtl="0" algn="l">
              <a:lnSpc>
                <a:spcPct val="90000"/>
              </a:lnSpc>
              <a:spcBef>
                <a:spcPts val="1000"/>
              </a:spcBef>
              <a:spcAft>
                <a:spcPts val="0"/>
              </a:spcAft>
              <a:buClr>
                <a:schemeClr val="dk1"/>
              </a:buClr>
              <a:buSzPts val="2800"/>
              <a:buChar char="•"/>
            </a:pPr>
            <a:r>
              <a:rPr b="1" lang="en-US"/>
              <a:t>Standardization &amp; Integration Tools:</a:t>
            </a:r>
            <a:br>
              <a:rPr lang="en-US"/>
            </a:br>
            <a:r>
              <a:rPr lang="en-US"/>
              <a:t>Standardize data formats and use tools like </a:t>
            </a:r>
            <a:r>
              <a:rPr b="1" lang="en-US"/>
              <a:t>Talend</a:t>
            </a:r>
            <a:r>
              <a:rPr lang="en-US"/>
              <a:t> or </a:t>
            </a:r>
            <a:r>
              <a:rPr b="1" lang="en-US"/>
              <a:t>Informatica</a:t>
            </a:r>
            <a:r>
              <a:rPr lang="en-US"/>
              <a:t> for seamless integration and improved data quality.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7"/>
          <p:cNvSpPr txBox="1"/>
          <p:nvPr>
            <p:ph type="title"/>
          </p:nvPr>
        </p:nvSpPr>
        <p:spPr>
          <a:xfrm>
            <a:off x="4637314"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Top Tier</a:t>
            </a:r>
            <a:br>
              <a:rPr b="1" lang="en-US"/>
            </a:br>
            <a:endParaRPr/>
          </a:p>
        </p:txBody>
      </p:sp>
      <p:sp>
        <p:nvSpPr>
          <p:cNvPr id="239" name="Google Shape;239;p27"/>
          <p:cNvSpPr txBox="1"/>
          <p:nvPr>
            <p:ph idx="1" type="body"/>
          </p:nvPr>
        </p:nvSpPr>
        <p:spPr>
          <a:xfrm>
            <a:off x="-1" y="1253330"/>
            <a:ext cx="12094029" cy="5604669"/>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The Top Tier in the Three-Tier Data Warehouse Architecture comprises the front-end client layer, which is essential for interacting with the data stored and processed in the lower tiers. This layer includes a variety of </a:t>
            </a:r>
            <a:r>
              <a:rPr lang="en-US" u="sng">
                <a:solidFill>
                  <a:schemeClr val="hlink"/>
                </a:solidFill>
                <a:hlinkClick r:id="rId3"/>
              </a:rPr>
              <a:t>business intelligence</a:t>
            </a:r>
            <a:r>
              <a:rPr lang="en-US"/>
              <a:t> (BI) tools and techniques designed to facilitate easy access and manipulation of data for reporting, analysis, and decision-making.</a:t>
            </a:r>
            <a:endParaRPr/>
          </a:p>
          <a:p>
            <a:pPr indent="-228600" lvl="0" marL="228600" rtl="0" algn="l">
              <a:lnSpc>
                <a:spcPct val="90000"/>
              </a:lnSpc>
              <a:spcBef>
                <a:spcPts val="1000"/>
              </a:spcBef>
              <a:spcAft>
                <a:spcPts val="0"/>
              </a:spcAft>
              <a:buClr>
                <a:schemeClr val="dk1"/>
              </a:buClr>
              <a:buSzPct val="100000"/>
              <a:buChar char="•"/>
            </a:pPr>
            <a:r>
              <a:rPr lang="en-US"/>
              <a:t>BI tools are critical components of the Top Tier, providing robust platforms through which users can query, report, and analyze data. Popular BI tools include:</a:t>
            </a:r>
            <a:endParaRPr/>
          </a:p>
          <a:p>
            <a:pPr indent="-228600" lvl="0" marL="228600" rtl="0" algn="l">
              <a:lnSpc>
                <a:spcPct val="90000"/>
              </a:lnSpc>
              <a:spcBef>
                <a:spcPts val="1000"/>
              </a:spcBef>
              <a:spcAft>
                <a:spcPts val="0"/>
              </a:spcAft>
              <a:buClr>
                <a:schemeClr val="dk1"/>
              </a:buClr>
              <a:buSzPct val="100000"/>
              <a:buChar char="•"/>
            </a:pPr>
            <a:r>
              <a:rPr b="1" lang="en-US"/>
              <a:t>IBM Cognos:</a:t>
            </a:r>
            <a:r>
              <a:rPr lang="en-US"/>
              <a:t> Offers comprehensive reporting capabilities.</a:t>
            </a:r>
            <a:endParaRPr/>
          </a:p>
          <a:p>
            <a:pPr indent="-228600" lvl="0" marL="228600" rtl="0" algn="l">
              <a:lnSpc>
                <a:spcPct val="90000"/>
              </a:lnSpc>
              <a:spcBef>
                <a:spcPts val="1000"/>
              </a:spcBef>
              <a:spcAft>
                <a:spcPts val="0"/>
              </a:spcAft>
              <a:buClr>
                <a:schemeClr val="dk1"/>
              </a:buClr>
              <a:buSzPct val="100000"/>
              <a:buChar char="•"/>
            </a:pPr>
            <a:r>
              <a:rPr b="1" lang="en-US"/>
              <a:t>Microsoft BI Platform:</a:t>
            </a:r>
            <a:r>
              <a:rPr lang="en-US"/>
              <a:t> Integrates well with existing Microsoft products, providing a familiar interface for users.</a:t>
            </a:r>
            <a:endParaRPr/>
          </a:p>
          <a:p>
            <a:pPr indent="-228600" lvl="0" marL="228600" rtl="0" algn="l">
              <a:lnSpc>
                <a:spcPct val="90000"/>
              </a:lnSpc>
              <a:spcBef>
                <a:spcPts val="1000"/>
              </a:spcBef>
              <a:spcAft>
                <a:spcPts val="0"/>
              </a:spcAft>
              <a:buClr>
                <a:schemeClr val="dk1"/>
              </a:buClr>
              <a:buSzPct val="100000"/>
              <a:buChar char="•"/>
            </a:pPr>
            <a:r>
              <a:rPr b="1" lang="en-US"/>
              <a:t>SAP BW:</a:t>
            </a:r>
            <a:r>
              <a:rPr lang="en-US"/>
              <a:t> Specializes in managing large datasets and integrating with other SAP products.</a:t>
            </a:r>
            <a:endParaRPr/>
          </a:p>
          <a:p>
            <a:pPr indent="-228600" lvl="0" marL="228600" rtl="0" algn="l">
              <a:lnSpc>
                <a:spcPct val="90000"/>
              </a:lnSpc>
              <a:spcBef>
                <a:spcPts val="1000"/>
              </a:spcBef>
              <a:spcAft>
                <a:spcPts val="0"/>
              </a:spcAft>
              <a:buClr>
                <a:schemeClr val="dk1"/>
              </a:buClr>
              <a:buSzPct val="100000"/>
              <a:buChar char="•"/>
            </a:pPr>
            <a:r>
              <a:rPr b="1" lang="en-US"/>
              <a:t>Crystal Reports:</a:t>
            </a:r>
            <a:r>
              <a:rPr lang="en-US"/>
              <a:t> Known for its powerful reporting features.</a:t>
            </a:r>
            <a:endParaRPr/>
          </a:p>
          <a:p>
            <a:pPr indent="-228600" lvl="0" marL="228600" rtl="0" algn="l">
              <a:lnSpc>
                <a:spcPct val="90000"/>
              </a:lnSpc>
              <a:spcBef>
                <a:spcPts val="1000"/>
              </a:spcBef>
              <a:spcAft>
                <a:spcPts val="0"/>
              </a:spcAft>
              <a:buClr>
                <a:schemeClr val="dk1"/>
              </a:buClr>
              <a:buSzPct val="100000"/>
              <a:buChar char="•"/>
            </a:pPr>
            <a:r>
              <a:rPr b="1" lang="en-US"/>
              <a:t>SAS Business Intelligence:</a:t>
            </a:r>
            <a:r>
              <a:rPr lang="en-US"/>
              <a:t> Provides advanced analytics.</a:t>
            </a:r>
            <a:endParaRPr/>
          </a:p>
          <a:p>
            <a:pPr indent="-228600" lvl="0" marL="228600" rtl="0" algn="l">
              <a:lnSpc>
                <a:spcPct val="90000"/>
              </a:lnSpc>
              <a:spcBef>
                <a:spcPts val="1000"/>
              </a:spcBef>
              <a:spcAft>
                <a:spcPts val="0"/>
              </a:spcAft>
              <a:buClr>
                <a:schemeClr val="dk1"/>
              </a:buClr>
              <a:buSzPct val="100000"/>
              <a:buChar char="•"/>
            </a:pPr>
            <a:r>
              <a:rPr b="1" lang="en-US"/>
              <a:t>Pentaho:</a:t>
            </a:r>
            <a:r>
              <a:rPr lang="en-US"/>
              <a:t> A versatile tool for data integration and visualization.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ph type="title"/>
          </p:nvPr>
        </p:nvSpPr>
        <p:spPr>
          <a:xfrm>
            <a:off x="2166257"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Operational Data Store(ODS)</a:t>
            </a:r>
            <a:br>
              <a:rPr b="1" lang="en-US"/>
            </a:b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idx="1" type="body"/>
          </p:nvPr>
        </p:nvSpPr>
        <p:spPr>
          <a:xfrm>
            <a:off x="-1" y="1629682"/>
            <a:ext cx="1160417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a:t>
            </a:r>
            <a:r>
              <a:rPr b="1" lang="en-US"/>
              <a:t>Operational Data Store (ODS)</a:t>
            </a:r>
            <a:r>
              <a:rPr lang="en-US"/>
              <a:t> is a type of database that collects and combines data from various sources. </a:t>
            </a:r>
            <a:endParaRPr/>
          </a:p>
          <a:p>
            <a:pPr indent="-228600" lvl="0" marL="228600" rtl="0" algn="l">
              <a:lnSpc>
                <a:spcPct val="90000"/>
              </a:lnSpc>
              <a:spcBef>
                <a:spcPts val="1000"/>
              </a:spcBef>
              <a:spcAft>
                <a:spcPts val="0"/>
              </a:spcAft>
              <a:buClr>
                <a:schemeClr val="dk1"/>
              </a:buClr>
              <a:buSzPts val="2800"/>
              <a:buChar char="•"/>
            </a:pPr>
            <a:r>
              <a:rPr lang="en-US"/>
              <a:t>It provides a unified view of this data and offers real-time or near-real-time updates. Unlike data warehouses that focus on storing historical data, an ODS is designed to handle current operational data and supports immediate decision-making by delivering up-to-date information.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idx="1" type="body"/>
          </p:nvPr>
        </p:nvSpPr>
        <p:spPr>
          <a:xfrm>
            <a:off x="391885" y="1074511"/>
            <a:ext cx="1147354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a:t>
            </a:r>
            <a:r>
              <a:rPr b="1" lang="en-US"/>
              <a:t>Operational Data Store (ODS)</a:t>
            </a:r>
            <a:r>
              <a:rPr lang="en-US"/>
              <a:t> is a </a:t>
            </a:r>
            <a:r>
              <a:rPr b="1" lang="en-US"/>
              <a:t>centralized database</a:t>
            </a:r>
            <a:r>
              <a:rPr lang="en-US"/>
              <a:t> that integrates </a:t>
            </a:r>
            <a:r>
              <a:rPr b="1" lang="en-US"/>
              <a:t>real-time data</a:t>
            </a:r>
            <a:r>
              <a:rPr lang="en-US"/>
              <a:t> from various sources to support </a:t>
            </a:r>
            <a:r>
              <a:rPr b="1" lang="en-US"/>
              <a:t>operational reporting</a:t>
            </a:r>
            <a:r>
              <a:rPr lang="en-US"/>
              <a:t> and </a:t>
            </a:r>
            <a:r>
              <a:rPr b="1" lang="en-US"/>
              <a:t>decision-making</a:t>
            </a:r>
            <a:r>
              <a:rPr lang="en-US"/>
              <a:t>. </a:t>
            </a:r>
            <a:endParaRPr/>
          </a:p>
          <a:p>
            <a:pPr indent="-228600" lvl="0" marL="228600" rtl="0" algn="l">
              <a:lnSpc>
                <a:spcPct val="90000"/>
              </a:lnSpc>
              <a:spcBef>
                <a:spcPts val="1000"/>
              </a:spcBef>
              <a:spcAft>
                <a:spcPts val="0"/>
              </a:spcAft>
              <a:buClr>
                <a:schemeClr val="dk1"/>
              </a:buClr>
              <a:buSzPts val="2800"/>
              <a:buChar char="•"/>
            </a:pPr>
            <a:r>
              <a:rPr lang="en-US"/>
              <a:t>Unlike </a:t>
            </a:r>
            <a:r>
              <a:rPr b="1" lang="en-US"/>
              <a:t>data warehouses</a:t>
            </a:r>
            <a:r>
              <a:rPr lang="en-US"/>
              <a:t> that store </a:t>
            </a:r>
            <a:r>
              <a:rPr b="1" lang="en-US"/>
              <a:t>historical data</a:t>
            </a:r>
            <a:r>
              <a:rPr lang="en-US"/>
              <a:t>, an ODS focuses on providing </a:t>
            </a:r>
            <a:r>
              <a:rPr b="1" lang="en-US"/>
              <a:t>current data</a:t>
            </a:r>
            <a:r>
              <a:rPr lang="en-US"/>
              <a:t> for immediate use. </a:t>
            </a:r>
            <a:endParaRPr/>
          </a:p>
          <a:p>
            <a:pPr indent="-228600" lvl="0" marL="228600" rtl="0" algn="l">
              <a:lnSpc>
                <a:spcPct val="90000"/>
              </a:lnSpc>
              <a:spcBef>
                <a:spcPts val="1000"/>
              </a:spcBef>
              <a:spcAft>
                <a:spcPts val="0"/>
              </a:spcAft>
              <a:buClr>
                <a:schemeClr val="dk1"/>
              </a:buClr>
              <a:buSzPts val="2800"/>
              <a:buChar char="•"/>
            </a:pPr>
            <a:r>
              <a:rPr lang="en-US"/>
              <a:t>It acts as a bridge between </a:t>
            </a:r>
            <a:r>
              <a:rPr b="1" lang="en-US"/>
              <a:t>transactional systems</a:t>
            </a:r>
            <a:r>
              <a:rPr lang="en-US"/>
              <a:t> and </a:t>
            </a:r>
            <a:r>
              <a:rPr b="1" lang="en-US"/>
              <a:t>data warehouses</a:t>
            </a:r>
            <a:r>
              <a:rPr lang="en-US"/>
              <a:t>, ensuring </a:t>
            </a:r>
            <a:r>
              <a:rPr b="1" lang="en-US"/>
              <a:t>data consistency</a:t>
            </a:r>
            <a:r>
              <a:rPr lang="en-US"/>
              <a:t> and </a:t>
            </a:r>
            <a:r>
              <a:rPr b="1" lang="en-US"/>
              <a:t>quick access</a:t>
            </a:r>
            <a:r>
              <a:rPr lang="en-US"/>
              <a:t> to up-to-date information. </a:t>
            </a:r>
            <a:endParaRPr/>
          </a:p>
          <a:p>
            <a:pPr indent="-228600" lvl="0" marL="228600" rtl="0" algn="l">
              <a:lnSpc>
                <a:spcPct val="90000"/>
              </a:lnSpc>
              <a:spcBef>
                <a:spcPts val="1000"/>
              </a:spcBef>
              <a:spcAft>
                <a:spcPts val="0"/>
              </a:spcAft>
              <a:buClr>
                <a:schemeClr val="dk1"/>
              </a:buClr>
              <a:buSzPts val="2800"/>
              <a:buChar char="•"/>
            </a:pPr>
            <a:r>
              <a:rPr lang="en-US"/>
              <a:t>This allows organizations to make </a:t>
            </a:r>
            <a:r>
              <a:rPr b="1" lang="en-US"/>
              <a:t>timely decisions</a:t>
            </a:r>
            <a:r>
              <a:rPr lang="en-US"/>
              <a:t> based on the latest data available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1"/>
          <p:cNvSpPr txBox="1"/>
          <p:nvPr>
            <p:ph type="title"/>
          </p:nvPr>
        </p:nvSpPr>
        <p:spPr>
          <a:xfrm>
            <a:off x="1186543" y="-8118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Key features of an ODS :</a:t>
            </a:r>
            <a:br>
              <a:rPr b="1" lang="en-US"/>
            </a:br>
            <a:endParaRPr/>
          </a:p>
        </p:txBody>
      </p:sp>
      <p:sp>
        <p:nvSpPr>
          <p:cNvPr id="260" name="Google Shape;260;p31"/>
          <p:cNvSpPr txBox="1"/>
          <p:nvPr>
            <p:ph idx="1" type="body"/>
          </p:nvPr>
        </p:nvSpPr>
        <p:spPr>
          <a:xfrm>
            <a:off x="217713" y="1253330"/>
            <a:ext cx="11484429" cy="522366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Real-time Data Integration:</a:t>
            </a:r>
            <a:r>
              <a:rPr lang="en-US"/>
              <a:t> Data is collected and stored with the help of EDWs, and data is ready for usage immediately after its creation in the source systems.</a:t>
            </a:r>
            <a:endParaRPr/>
          </a:p>
          <a:p>
            <a:pPr indent="-228600" lvl="0" marL="228600" rtl="0" algn="l">
              <a:lnSpc>
                <a:spcPct val="90000"/>
              </a:lnSpc>
              <a:spcBef>
                <a:spcPts val="1000"/>
              </a:spcBef>
              <a:spcAft>
                <a:spcPts val="0"/>
              </a:spcAft>
              <a:buClr>
                <a:schemeClr val="dk1"/>
              </a:buClr>
              <a:buSzPts val="2800"/>
              <a:buChar char="•"/>
            </a:pPr>
            <a:r>
              <a:rPr b="1" lang="en-US"/>
              <a:t>Data Consolidation:</a:t>
            </a:r>
            <a:r>
              <a:rPr lang="en-US"/>
              <a:t> The process where information from one source is combined with information from other sources to give a single output.</a:t>
            </a:r>
            <a:endParaRPr/>
          </a:p>
          <a:p>
            <a:pPr indent="-228600" lvl="0" marL="228600" rtl="0" algn="l">
              <a:lnSpc>
                <a:spcPct val="90000"/>
              </a:lnSpc>
              <a:spcBef>
                <a:spcPts val="1000"/>
              </a:spcBef>
              <a:spcAft>
                <a:spcPts val="0"/>
              </a:spcAft>
              <a:buClr>
                <a:schemeClr val="dk1"/>
              </a:buClr>
              <a:buSzPts val="2800"/>
              <a:buChar char="•"/>
            </a:pPr>
            <a:r>
              <a:rPr b="1" lang="en-US"/>
              <a:t>Low Latency:</a:t>
            </a:r>
            <a:r>
              <a:rPr lang="en-US"/>
              <a:t> It is used and intended for easy reach of data and minimum time for accessing information.</a:t>
            </a:r>
            <a:endParaRPr/>
          </a:p>
          <a:p>
            <a:pPr indent="-228600" lvl="0" marL="228600" rtl="0" algn="l">
              <a:lnSpc>
                <a:spcPct val="90000"/>
              </a:lnSpc>
              <a:spcBef>
                <a:spcPts val="1000"/>
              </a:spcBef>
              <a:spcAft>
                <a:spcPts val="0"/>
              </a:spcAft>
              <a:buClr>
                <a:schemeClr val="dk1"/>
              </a:buClr>
              <a:buSzPts val="2800"/>
              <a:buChar char="•"/>
            </a:pPr>
            <a:r>
              <a:rPr b="1" lang="en-US"/>
              <a:t>Data Cleansing: </a:t>
            </a:r>
            <a:r>
              <a:rPr lang="en-US"/>
              <a:t>Aids in data cleansing and data preparation to make it easier to work with for transformation and analysis.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graphicFrame>
        <p:nvGraphicFramePr>
          <p:cNvPr id="265" name="Google Shape;265;p32"/>
          <p:cNvGraphicFramePr/>
          <p:nvPr/>
        </p:nvGraphicFramePr>
        <p:xfrm>
          <a:off x="0" y="0"/>
          <a:ext cx="3000000" cy="3000000"/>
        </p:xfrm>
        <a:graphic>
          <a:graphicData uri="http://schemas.openxmlformats.org/drawingml/2006/table">
            <a:tbl>
              <a:tblPr>
                <a:noFill/>
                <a:tableStyleId>{8B0BB1A6-C2C6-41A7-882F-22415DC26183}</a:tableStyleId>
              </a:tblPr>
              <a:tblGrid>
                <a:gridCol w="2709325"/>
                <a:gridCol w="4741325"/>
                <a:gridCol w="4741325"/>
              </a:tblGrid>
              <a:tr h="443725">
                <a:tc>
                  <a:txBody>
                    <a:bodyPr/>
                    <a:lstStyle/>
                    <a:p>
                      <a:pPr indent="0" lvl="0" marL="0" marR="0" rtl="0" algn="ctr">
                        <a:spcBef>
                          <a:spcPts val="0"/>
                        </a:spcBef>
                        <a:spcAft>
                          <a:spcPts val="0"/>
                        </a:spcAft>
                        <a:buClr>
                          <a:schemeClr val="dk1"/>
                        </a:buClr>
                        <a:buSzPts val="2000"/>
                        <a:buFont typeface="Calibri"/>
                        <a:buNone/>
                      </a:pPr>
                      <a:r>
                        <a:rPr b="1" lang="en-US" sz="2000" u="none" cap="none" strike="noStrike"/>
                        <a:t>Feature</a:t>
                      </a:r>
                      <a:endParaRPr/>
                    </a:p>
                  </a:txBody>
                  <a:tcPr marT="59050" marB="59050"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2000"/>
                        <a:buFont typeface="Calibri"/>
                        <a:buNone/>
                      </a:pPr>
                      <a:r>
                        <a:rPr b="1" lang="en-US" sz="2000" u="none" cap="none" strike="noStrike"/>
                        <a:t>Operational Data Store (ODS)</a:t>
                      </a:r>
                      <a:endParaRPr/>
                    </a:p>
                  </a:txBody>
                  <a:tcPr marT="59050" marB="590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2000"/>
                        <a:buFont typeface="Calibri"/>
                        <a:buNone/>
                      </a:pPr>
                      <a:r>
                        <a:rPr b="1" lang="en-US" sz="2000" u="none" cap="none" strike="noStrike"/>
                        <a:t>Data Warehouse (DW)</a:t>
                      </a:r>
                      <a:endParaRPr/>
                    </a:p>
                  </a:txBody>
                  <a:tcPr marT="59050" marB="590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Primary Purpose</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Support daily operations and provide current data</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Support analytical processing and decision-making</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Data Freshness</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Near real-time or real-time</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Historical, with periodic updates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Data Storage Duration</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Short-term (days to weeks)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Long-term (months to years)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Data Integration</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Data is integrated and consistent from various sources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Data is integrated, cleaned, and transformed</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Data Usage</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Operational reporting, quick queries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Complex queries, analytics, trend analysis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Data Structure</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Typically normalized</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Often de-normalized (star/snowflake schema)</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Query Performance</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Optimized for high volume of simple queries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Optimized for complex, analytical</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User Access</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Operational staff, line managers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Data analysts, business intelligence (BI) users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Update Frequency</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Frequently updated (real-time or near real-time)</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Less frequent updates (daily, weekly, monthly)</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Data Scope</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Current operational data</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Comprehensive historical data</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Granularity</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More granular, focusing on individual transactions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Aggregated data, focusing on summaries and trends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Scalability</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May require quick scaling due to real-time nature</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Typically designed for large-scale, stable environments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493400">
                <a:tc>
                  <a:txBody>
                    <a:bodyPr/>
                    <a:lstStyle/>
                    <a:p>
                      <a:pPr indent="0" lvl="0" marL="0" marR="0" rtl="0" algn="ctr">
                        <a:spcBef>
                          <a:spcPts val="0"/>
                        </a:spcBef>
                        <a:spcAft>
                          <a:spcPts val="0"/>
                        </a:spcAft>
                        <a:buClr>
                          <a:schemeClr val="dk1"/>
                        </a:buClr>
                        <a:buSzPts val="1400"/>
                        <a:buFont typeface="Calibri"/>
                        <a:buNone/>
                      </a:pPr>
                      <a:r>
                        <a:rPr b="1" lang="en-US" sz="1400" u="none" cap="none" strike="noStrike"/>
                        <a:t>Examples</a:t>
                      </a:r>
                      <a:endParaRPr/>
                    </a:p>
                  </a:txBody>
                  <a:tcPr marT="49375" marB="49375" marR="29525" marL="29525"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Transactional data, current customer orders</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000"/>
                        <a:buFont typeface="Calibri"/>
                        <a:buNone/>
                      </a:pPr>
                      <a:r>
                        <a:rPr b="0" lang="en-US" sz="1000" u="none" cap="none" strike="noStrike"/>
                        <a:t>Historical sales data, customer purchase history</a:t>
                      </a:r>
                      <a:endParaRPr/>
                    </a:p>
                  </a:txBody>
                  <a:tcPr marT="82650" marB="82650" marR="59050" marL="59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What is Data Mart?</a:t>
            </a:r>
            <a:br>
              <a:rPr b="1" lang="en-US"/>
            </a:br>
            <a:endParaRPr/>
          </a:p>
        </p:txBody>
      </p:sp>
      <p:sp>
        <p:nvSpPr>
          <p:cNvPr id="271" name="Google Shape;27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 data mart is a specialized subset of a data warehouse focused on a specific functional area or department within an organization. </a:t>
            </a:r>
            <a:endParaRPr/>
          </a:p>
          <a:p>
            <a:pPr indent="-228600" lvl="0" marL="228600" rtl="0" algn="l">
              <a:lnSpc>
                <a:spcPct val="90000"/>
              </a:lnSpc>
              <a:spcBef>
                <a:spcPts val="1000"/>
              </a:spcBef>
              <a:spcAft>
                <a:spcPts val="0"/>
              </a:spcAft>
              <a:buClr>
                <a:schemeClr val="dk1"/>
              </a:buClr>
              <a:buSzPts val="2800"/>
              <a:buChar char="•"/>
            </a:pPr>
            <a:r>
              <a:rPr lang="en-US"/>
              <a:t>It provides a simplified and targeted view of data, addressing specific reporting and analytical needs. </a:t>
            </a:r>
            <a:endParaRPr/>
          </a:p>
          <a:p>
            <a:pPr indent="-228600" lvl="0" marL="228600" rtl="0" algn="l">
              <a:lnSpc>
                <a:spcPct val="90000"/>
              </a:lnSpc>
              <a:spcBef>
                <a:spcPts val="1000"/>
              </a:spcBef>
              <a:spcAft>
                <a:spcPts val="0"/>
              </a:spcAft>
              <a:buClr>
                <a:schemeClr val="dk1"/>
              </a:buClr>
              <a:buSzPts val="2800"/>
              <a:buChar char="•"/>
            </a:pPr>
            <a:r>
              <a:rPr lang="en-US"/>
              <a:t>Data marts are smaller in scale and scope, typically holding relevant data for a specific group of users, such as sales, marketing, or finance.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They are organized around specific subjects, such as sales, customer data, or product information, and are structured, transformed, and optimized for efficient querying and analysis within the domain.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Types of Data Mart</a:t>
            </a:r>
            <a:br>
              <a:rPr b="1" lang="en-US"/>
            </a:br>
            <a:endParaRPr/>
          </a:p>
        </p:txBody>
      </p:sp>
      <p:sp>
        <p:nvSpPr>
          <p:cNvPr id="277" name="Google Shape;277;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Independent Data Mart</a:t>
            </a:r>
            <a:endParaRPr/>
          </a:p>
          <a:p>
            <a:pPr indent="-228600" lvl="0" marL="228600" rtl="0" algn="l">
              <a:lnSpc>
                <a:spcPct val="90000"/>
              </a:lnSpc>
              <a:spcBef>
                <a:spcPts val="1000"/>
              </a:spcBef>
              <a:spcAft>
                <a:spcPts val="0"/>
              </a:spcAft>
              <a:buClr>
                <a:schemeClr val="dk1"/>
              </a:buClr>
              <a:buSzPts val="2800"/>
              <a:buChar char="•"/>
            </a:pPr>
            <a:r>
              <a:rPr lang="en-US"/>
              <a:t>Dependent Data Mart</a:t>
            </a:r>
            <a:endParaRPr/>
          </a:p>
          <a:p>
            <a:pPr indent="-228600" lvl="0" marL="228600" rtl="0" algn="l">
              <a:lnSpc>
                <a:spcPct val="90000"/>
              </a:lnSpc>
              <a:spcBef>
                <a:spcPts val="1000"/>
              </a:spcBef>
              <a:spcAft>
                <a:spcPts val="0"/>
              </a:spcAft>
              <a:buClr>
                <a:schemeClr val="dk1"/>
              </a:buClr>
              <a:buSzPts val="2800"/>
              <a:buChar char="•"/>
            </a:pPr>
            <a:r>
              <a:rPr lang="en-US"/>
              <a:t>Hybrid Data Mart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2286000"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1. Independent Data Mart</a:t>
            </a:r>
            <a:br>
              <a:rPr b="1" lang="en-US"/>
            </a:br>
            <a:endParaRPr/>
          </a:p>
        </p:txBody>
      </p:sp>
      <p:sp>
        <p:nvSpPr>
          <p:cNvPr id="283" name="Google Shape;283;p35"/>
          <p:cNvSpPr txBox="1"/>
          <p:nvPr>
            <p:ph idx="1" type="body"/>
          </p:nvPr>
        </p:nvSpPr>
        <p:spPr>
          <a:xfrm>
            <a:off x="174172" y="1488168"/>
            <a:ext cx="6574971"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An independent data mart is created and maintained separately from the data warehouse. It is created to satisfy the particular needs of a specific business unit or department. </a:t>
            </a:r>
            <a:endParaRPr/>
          </a:p>
          <a:p>
            <a:pPr indent="-228600" lvl="0" marL="228600" rtl="0" algn="l">
              <a:lnSpc>
                <a:spcPct val="90000"/>
              </a:lnSpc>
              <a:spcBef>
                <a:spcPts val="1000"/>
              </a:spcBef>
              <a:spcAft>
                <a:spcPts val="0"/>
              </a:spcAft>
              <a:buClr>
                <a:schemeClr val="dk1"/>
              </a:buClr>
              <a:buSzPct val="100000"/>
              <a:buChar char="•"/>
            </a:pPr>
            <a:r>
              <a:rPr lang="en-US"/>
              <a:t>Independent data marts are typically smaller in size and more rapidly and readily set up. </a:t>
            </a:r>
            <a:endParaRPr/>
          </a:p>
          <a:p>
            <a:pPr indent="-228600" lvl="0" marL="228600" rtl="0" algn="l">
              <a:lnSpc>
                <a:spcPct val="90000"/>
              </a:lnSpc>
              <a:spcBef>
                <a:spcPts val="1000"/>
              </a:spcBef>
              <a:spcAft>
                <a:spcPts val="0"/>
              </a:spcAft>
              <a:buClr>
                <a:schemeClr val="dk1"/>
              </a:buClr>
              <a:buSzPct val="100000"/>
              <a:buChar char="•"/>
            </a:pPr>
            <a:r>
              <a:rPr lang="en-US"/>
              <a:t>They offer flexibility and agility since they are not constrained by the challenges of the centralized data warehouse. Nevertheless, data redundancy and inconsistency may result if it is replicated over several different data marts.</a:t>
            </a:r>
            <a:endParaRPr/>
          </a:p>
        </p:txBody>
      </p:sp>
      <p:sp>
        <p:nvSpPr>
          <p:cNvPr descr="independentdm" id="284" name="Google Shape;284;p35"/>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dependentdm" id="285" name="Google Shape;285;p35"/>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6" name="Google Shape;286;p35"/>
          <p:cNvPicPr preferRelativeResize="0"/>
          <p:nvPr/>
        </p:nvPicPr>
        <p:blipFill rotWithShape="1">
          <a:blip r:embed="rId3">
            <a:alphaModFix/>
          </a:blip>
          <a:srcRect b="0" l="0" r="0" t="0"/>
          <a:stretch/>
        </p:blipFill>
        <p:spPr>
          <a:xfrm>
            <a:off x="7229552" y="1343818"/>
            <a:ext cx="4503810" cy="407705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6"/>
          <p:cNvSpPr txBox="1"/>
          <p:nvPr>
            <p:ph type="title"/>
          </p:nvPr>
        </p:nvSpPr>
        <p:spPr>
          <a:xfrm>
            <a:off x="2166257"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2. Dependent Data Mart</a:t>
            </a:r>
            <a:br>
              <a:rPr b="1" lang="en-US"/>
            </a:br>
            <a:endParaRPr/>
          </a:p>
        </p:txBody>
      </p:sp>
      <p:sp>
        <p:nvSpPr>
          <p:cNvPr id="292" name="Google Shape;292;p36"/>
          <p:cNvSpPr txBox="1"/>
          <p:nvPr>
            <p:ph idx="1" type="body"/>
          </p:nvPr>
        </p:nvSpPr>
        <p:spPr>
          <a:xfrm>
            <a:off x="-1" y="1253331"/>
            <a:ext cx="6259287"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A dependent data mart is generated right out of a data warehouse. </a:t>
            </a:r>
            <a:endParaRPr/>
          </a:p>
          <a:p>
            <a:pPr indent="-228600" lvl="0" marL="228600" rtl="0" algn="l">
              <a:lnSpc>
                <a:spcPct val="90000"/>
              </a:lnSpc>
              <a:spcBef>
                <a:spcPts val="1000"/>
              </a:spcBef>
              <a:spcAft>
                <a:spcPts val="0"/>
              </a:spcAft>
              <a:buClr>
                <a:schemeClr val="dk1"/>
              </a:buClr>
              <a:buSzPct val="100000"/>
              <a:buChar char="•"/>
            </a:pPr>
            <a:r>
              <a:rPr lang="en-US"/>
              <a:t>It takes some of the data from the data warehouse and arranges it to meet the needs of a specific industry. Dependent data marts, which profit from the data integration, data quality, and consistency provided by the data warehouse, allow for the centralization and preservation of all data in a single source of truth.</a:t>
            </a:r>
            <a:endParaRPr/>
          </a:p>
          <a:p>
            <a:pPr indent="-228600" lvl="0" marL="228600" rtl="0" algn="l">
              <a:lnSpc>
                <a:spcPct val="90000"/>
              </a:lnSpc>
              <a:spcBef>
                <a:spcPts val="1000"/>
              </a:spcBef>
              <a:spcAft>
                <a:spcPts val="0"/>
              </a:spcAft>
              <a:buClr>
                <a:schemeClr val="dk1"/>
              </a:buClr>
              <a:buSzPct val="100000"/>
              <a:buChar char="•"/>
            </a:pPr>
            <a:r>
              <a:rPr lang="en-US"/>
              <a:t> They are often developed to serve particular reporting and analytical needs, and they are frequently updated from the data warehouse. </a:t>
            </a:r>
            <a:endParaRPr/>
          </a:p>
          <a:p>
            <a:pPr indent="-228600" lvl="0" marL="228600" rtl="0" algn="l">
              <a:lnSpc>
                <a:spcPct val="90000"/>
              </a:lnSpc>
              <a:spcBef>
                <a:spcPts val="1000"/>
              </a:spcBef>
              <a:spcAft>
                <a:spcPts val="0"/>
              </a:spcAft>
              <a:buClr>
                <a:schemeClr val="dk1"/>
              </a:buClr>
              <a:buSzPct val="100000"/>
              <a:buChar char="•"/>
            </a:pPr>
            <a:r>
              <a:rPr lang="en-US"/>
              <a:t>Dependent data marts offer data consistency and prevent data duplication because they rely on the data warehouse as their main source of data.</a:t>
            </a:r>
            <a:endParaRPr/>
          </a:p>
        </p:txBody>
      </p:sp>
      <p:pic>
        <p:nvPicPr>
          <p:cNvPr id="293" name="Google Shape;293;p36"/>
          <p:cNvPicPr preferRelativeResize="0"/>
          <p:nvPr/>
        </p:nvPicPr>
        <p:blipFill rotWithShape="1">
          <a:blip r:embed="rId3">
            <a:alphaModFix/>
          </a:blip>
          <a:srcRect b="0" l="0" r="0" t="0"/>
          <a:stretch/>
        </p:blipFill>
        <p:spPr>
          <a:xfrm>
            <a:off x="7036341" y="1253331"/>
            <a:ext cx="4237087" cy="397798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2743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3. Hybrid Data Mart</a:t>
            </a:r>
            <a:br>
              <a:rPr b="1" lang="en-US"/>
            </a:br>
            <a:endParaRPr/>
          </a:p>
        </p:txBody>
      </p:sp>
      <p:sp>
        <p:nvSpPr>
          <p:cNvPr id="299" name="Google Shape;299;p37"/>
          <p:cNvSpPr txBox="1"/>
          <p:nvPr>
            <p:ph idx="1" type="body"/>
          </p:nvPr>
        </p:nvSpPr>
        <p:spPr>
          <a:xfrm>
            <a:off x="152400" y="1422854"/>
            <a:ext cx="5845629"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Both independent and dependent data mart components can be found in a hybrid data mart.</a:t>
            </a:r>
            <a:endParaRPr/>
          </a:p>
          <a:p>
            <a:pPr indent="-228600" lvl="0" marL="228600" rtl="0" algn="l">
              <a:lnSpc>
                <a:spcPct val="90000"/>
              </a:lnSpc>
              <a:spcBef>
                <a:spcPts val="1000"/>
              </a:spcBef>
              <a:spcAft>
                <a:spcPts val="0"/>
              </a:spcAft>
              <a:buClr>
                <a:schemeClr val="dk1"/>
              </a:buClr>
              <a:buSzPct val="100000"/>
              <a:buChar char="•"/>
            </a:pPr>
            <a:r>
              <a:rPr lang="en-US"/>
              <a:t> As well as combining additional data sources particular to a given business unit or department, it makes use of the centralized data warehouse for the integration and consistency of the core data. </a:t>
            </a:r>
            <a:endParaRPr/>
          </a:p>
          <a:p>
            <a:pPr indent="-228600" lvl="0" marL="228600" rtl="0" algn="l">
              <a:lnSpc>
                <a:spcPct val="90000"/>
              </a:lnSpc>
              <a:spcBef>
                <a:spcPts val="1000"/>
              </a:spcBef>
              <a:spcAft>
                <a:spcPts val="0"/>
              </a:spcAft>
              <a:buClr>
                <a:schemeClr val="dk1"/>
              </a:buClr>
              <a:buSzPct val="100000"/>
              <a:buChar char="•"/>
            </a:pPr>
            <a:r>
              <a:rPr lang="en-US"/>
              <a:t>By offering flexibility and agility for department-specific needs while keeping the integrity and consistency of shared data from the data warehouse, hybrid data marts offer the benefits of both strategies. </a:t>
            </a:r>
            <a:endParaRPr/>
          </a:p>
          <a:p>
            <a:pPr indent="-228600" lvl="0" marL="228600" rtl="0" algn="l">
              <a:lnSpc>
                <a:spcPct val="90000"/>
              </a:lnSpc>
              <a:spcBef>
                <a:spcPts val="1000"/>
              </a:spcBef>
              <a:spcAft>
                <a:spcPts val="0"/>
              </a:spcAft>
              <a:buClr>
                <a:schemeClr val="dk1"/>
              </a:buClr>
              <a:buSzPct val="100000"/>
              <a:buChar char="•"/>
            </a:pPr>
            <a:r>
              <a:rPr lang="en-US"/>
              <a:t>This strategy creates a balance between localized data management and centralized data management.</a:t>
            </a:r>
            <a:endParaRPr/>
          </a:p>
          <a:p>
            <a:pPr indent="-228600" lvl="0" marL="228600" rtl="0" algn="l">
              <a:lnSpc>
                <a:spcPct val="90000"/>
              </a:lnSpc>
              <a:spcBef>
                <a:spcPts val="1000"/>
              </a:spcBef>
              <a:spcAft>
                <a:spcPts val="0"/>
              </a:spcAft>
              <a:buClr>
                <a:schemeClr val="dk1"/>
              </a:buClr>
              <a:buSzPct val="100000"/>
              <a:buChar char="•"/>
            </a:pPr>
            <a:br>
              <a:rPr lang="en-US"/>
            </a:br>
            <a:endParaRPr/>
          </a:p>
        </p:txBody>
      </p:sp>
      <p:sp>
        <p:nvSpPr>
          <p:cNvPr descr="Hybriddm" id="300" name="Google Shape;300;p37"/>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1" name="Google Shape;301;p37"/>
          <p:cNvPicPr preferRelativeResize="0"/>
          <p:nvPr/>
        </p:nvPicPr>
        <p:blipFill rotWithShape="1">
          <a:blip r:embed="rId3">
            <a:alphaModFix/>
          </a:blip>
          <a:srcRect b="0" l="0" r="0" t="0"/>
          <a:stretch/>
        </p:blipFill>
        <p:spPr>
          <a:xfrm>
            <a:off x="6843658" y="1087316"/>
            <a:ext cx="4404742" cy="385605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2025-10-22T11:01:29Z</dcterms:created>
  <dc:creator>Data Engineering</dc:creator>
</cp:coreProperties>
</file>