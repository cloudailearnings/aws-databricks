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47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3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28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54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93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12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75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1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354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3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4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he exterior of a honeycomb building design">
            <a:extLst>
              <a:ext uri="{FF2B5EF4-FFF2-40B4-BE49-F238E27FC236}">
                <a16:creationId xmlns:a16="http://schemas.microsoft.com/office/drawing/2014/main" id="{34E18341-7365-7EED-A0D6-43E2224D84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0A6B1-A37C-6DD2-A4FE-034F8E25C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9969"/>
            <a:ext cx="8178501" cy="960120"/>
          </a:xfrm>
          <a:ln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dirty="0"/>
              <a:t>Modern Data Architecture Patterns</a:t>
            </a:r>
          </a:p>
        </p:txBody>
      </p:sp>
    </p:spTree>
    <p:extLst>
      <p:ext uri="{BB962C8B-B14F-4D97-AF65-F5344CB8AC3E}">
        <p14:creationId xmlns:p14="http://schemas.microsoft.com/office/powerpoint/2010/main" val="129388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26B10-30B4-09D0-811C-C55CC98C0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08" y="1130808"/>
            <a:ext cx="11155680" cy="54115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1️⃣ Modern Data Warehouse (Cloud DW)</a:t>
            </a:r>
          </a:p>
          <a:p>
            <a:pPr marL="0" indent="0">
              <a:buNone/>
            </a:pPr>
            <a:r>
              <a:rPr lang="en-US" dirty="0"/>
              <a:t>2️⃣ Data Lake Architecture</a:t>
            </a:r>
          </a:p>
          <a:p>
            <a:pPr marL="0" indent="0">
              <a:buNone/>
            </a:pPr>
            <a:r>
              <a:rPr lang="en-US" dirty="0"/>
              <a:t>3️⃣ Lakehouse Architecture</a:t>
            </a:r>
          </a:p>
          <a:p>
            <a:pPr marL="0" indent="0">
              <a:buNone/>
            </a:pPr>
            <a:r>
              <a:rPr lang="en-US" dirty="0"/>
              <a:t>4️⃣ Data Mesh</a:t>
            </a:r>
          </a:p>
          <a:p>
            <a:pPr marL="0" indent="0">
              <a:buNone/>
            </a:pPr>
            <a:r>
              <a:rPr lang="en-US" dirty="0"/>
              <a:t>5️⃣ Lambda Architecture</a:t>
            </a:r>
          </a:p>
          <a:p>
            <a:pPr marL="0" indent="0">
              <a:buNone/>
            </a:pPr>
            <a:r>
              <a:rPr lang="en-US" dirty="0"/>
              <a:t>6️⃣ Kappa Architecture</a:t>
            </a:r>
          </a:p>
          <a:p>
            <a:pPr marL="0" indent="0">
              <a:buNone/>
            </a:pPr>
            <a:r>
              <a:rPr lang="en-US" dirty="0"/>
              <a:t>7️⃣ Streaming Data Architecture</a:t>
            </a:r>
          </a:p>
          <a:p>
            <a:pPr marL="0" indent="0">
              <a:buNone/>
            </a:pPr>
            <a:r>
              <a:rPr lang="en-US" dirty="0"/>
              <a:t>8️⃣ ELT-Based Analytics Stack (Modern Analytics Stack)</a:t>
            </a:r>
          </a:p>
          <a:p>
            <a:pPr marL="0" indent="0">
              <a:buNone/>
            </a:pPr>
            <a:r>
              <a:rPr lang="en-US" dirty="0"/>
              <a:t>9️⃣ Event-Driven Data Architecture</a:t>
            </a:r>
          </a:p>
          <a:p>
            <a:pPr marL="0" indent="0">
              <a:buNone/>
            </a:pPr>
            <a:r>
              <a:rPr lang="en-US" dirty="0"/>
              <a:t>🔟 Medallion Architecture</a:t>
            </a:r>
          </a:p>
          <a:p>
            <a:pPr marL="0" indent="0">
              <a:buNone/>
            </a:pPr>
            <a:r>
              <a:rPr lang="en-US" dirty="0"/>
              <a:t>1️⃣1️⃣ Data Fabric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60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5C42E-617F-1F1B-BEAD-63BE93B9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79" y="-131935"/>
            <a:ext cx="11155680" cy="1463040"/>
          </a:xfrm>
        </p:spPr>
        <p:txBody>
          <a:bodyPr/>
          <a:lstStyle/>
          <a:p>
            <a:r>
              <a:rPr lang="en-US" dirty="0"/>
              <a:t>1️⃣ Modern Data Warehouse (Cloud DW)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18528-10DB-922B-9D3F-27CDC32A0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174351"/>
            <a:ext cx="11155680" cy="525910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Evolution of traditional DW, fully managed &amp; scalable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Central analytical store</a:t>
            </a:r>
          </a:p>
          <a:p>
            <a:r>
              <a:rPr lang="en-US" dirty="0"/>
              <a:t>ELT instead of ETL</a:t>
            </a:r>
          </a:p>
          <a:p>
            <a:r>
              <a:rPr lang="en-US" dirty="0"/>
              <a:t>Separation of compute &amp; storage</a:t>
            </a:r>
          </a:p>
          <a:p>
            <a:pPr marL="0" indent="0">
              <a:buNone/>
            </a:pPr>
            <a:r>
              <a:rPr lang="en-US" b="1" dirty="0"/>
              <a:t>Key traits</a:t>
            </a:r>
            <a:endParaRPr lang="en-US" dirty="0"/>
          </a:p>
          <a:p>
            <a:r>
              <a:rPr lang="en-US" dirty="0"/>
              <a:t>SQL-first analytics</a:t>
            </a:r>
          </a:p>
          <a:p>
            <a:r>
              <a:rPr lang="en-US" dirty="0"/>
              <a:t>Columnar storage</a:t>
            </a:r>
          </a:p>
          <a:p>
            <a:r>
              <a:rPr lang="en-US" dirty="0"/>
              <a:t>Auto-scaling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BI &amp; reporting</a:t>
            </a:r>
          </a:p>
          <a:p>
            <a:r>
              <a:rPr lang="en-US" dirty="0"/>
              <a:t>Structured data</a:t>
            </a:r>
          </a:p>
          <a:p>
            <a:r>
              <a:rPr lang="en-US" dirty="0"/>
              <a:t>Enterprise analytics</a:t>
            </a:r>
          </a:p>
          <a:p>
            <a:r>
              <a:rPr lang="en-US" dirty="0"/>
              <a:t> </a:t>
            </a:r>
            <a:r>
              <a:rPr lang="en-US" i="1" dirty="0">
                <a:highlight>
                  <a:srgbClr val="FFFF00"/>
                </a:highlight>
              </a:rPr>
              <a:t>Still the backbone in many companies</a:t>
            </a:r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23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32C9E-68F3-359C-86D7-D726A068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22" y="-175478"/>
            <a:ext cx="11155680" cy="850392"/>
          </a:xfrm>
        </p:spPr>
        <p:txBody>
          <a:bodyPr/>
          <a:lstStyle/>
          <a:p>
            <a:r>
              <a:rPr lang="en-US" dirty="0"/>
              <a:t>2️⃣ Data Lake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ACA4-2331-B4FA-E057-42C2B5DE4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54608"/>
            <a:ext cx="11155680" cy="5487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Low-cost storage for raw, semi-structured &amp; unstructured data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Store everything first</a:t>
            </a:r>
          </a:p>
          <a:p>
            <a:r>
              <a:rPr lang="en-US" dirty="0"/>
              <a:t>Schema-on-read</a:t>
            </a:r>
          </a:p>
          <a:p>
            <a:pPr marL="0" indent="0">
              <a:buNone/>
            </a:pPr>
            <a:r>
              <a:rPr lang="en-US" b="1" dirty="0"/>
              <a:t>Layers</a:t>
            </a:r>
            <a:endParaRPr lang="en-US" dirty="0"/>
          </a:p>
          <a:p>
            <a:r>
              <a:rPr lang="en-US" dirty="0"/>
              <a:t>Raw (Bronze)</a:t>
            </a:r>
          </a:p>
          <a:p>
            <a:r>
              <a:rPr lang="en-US" dirty="0"/>
              <a:t>Cleaned (Silver)</a:t>
            </a:r>
          </a:p>
          <a:p>
            <a:r>
              <a:rPr lang="en-US" dirty="0"/>
              <a:t>Curated (Gold)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Big data</a:t>
            </a:r>
          </a:p>
          <a:p>
            <a:r>
              <a:rPr lang="en-US" dirty="0"/>
              <a:t>ML workloads</a:t>
            </a:r>
          </a:p>
          <a:p>
            <a:r>
              <a:rPr lang="en-US" dirty="0"/>
              <a:t>Log, IoT, clickstream data</a:t>
            </a:r>
          </a:p>
          <a:p>
            <a:r>
              <a:rPr lang="en-US" i="1" dirty="0"/>
              <a:t>Cheap storage, flexible — but governance is hard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91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8BE10-11C2-C12A-21EE-05B289329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65" y="-142820"/>
            <a:ext cx="11155680" cy="1463040"/>
          </a:xfrm>
        </p:spPr>
        <p:txBody>
          <a:bodyPr/>
          <a:lstStyle/>
          <a:p>
            <a:r>
              <a:rPr lang="en-US" dirty="0"/>
              <a:t>3️⃣ Lakehouse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9596-6C18-D1F7-9850-1759BFE68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51" y="1217893"/>
            <a:ext cx="11155680" cy="5367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Best of Data Lake + Data Warehouse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Open data formats (Parquet, ORC)</a:t>
            </a:r>
          </a:p>
          <a:p>
            <a:r>
              <a:rPr lang="en-US" dirty="0"/>
              <a:t>ACID transactions on data lakes</a:t>
            </a:r>
          </a:p>
          <a:p>
            <a:r>
              <a:rPr lang="en-US" dirty="0"/>
              <a:t>One platform for BI + ML</a:t>
            </a:r>
          </a:p>
          <a:p>
            <a:pPr marL="0" indent="0">
              <a:buNone/>
            </a:pPr>
            <a:r>
              <a:rPr lang="en-US" b="1" dirty="0"/>
              <a:t>Why it wins</a:t>
            </a:r>
            <a:endParaRPr lang="en-US" dirty="0"/>
          </a:p>
          <a:p>
            <a:r>
              <a:rPr lang="en-US" dirty="0"/>
              <a:t>No data duplication</a:t>
            </a:r>
          </a:p>
          <a:p>
            <a:r>
              <a:rPr lang="en-US" dirty="0"/>
              <a:t>Handles structured &amp; unstructured data</a:t>
            </a:r>
          </a:p>
          <a:p>
            <a:r>
              <a:rPr lang="en-US" dirty="0"/>
              <a:t>Lower cost than DW-only approach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Analytics + ML together</a:t>
            </a:r>
          </a:p>
          <a:p>
            <a:r>
              <a:rPr lang="en-US" dirty="0"/>
              <a:t>Streaming + batch</a:t>
            </a:r>
          </a:p>
          <a:p>
            <a:r>
              <a:rPr lang="en-US" dirty="0"/>
              <a:t>Unified data platform</a:t>
            </a:r>
          </a:p>
          <a:p>
            <a:r>
              <a:rPr lang="en-US" dirty="0"/>
              <a:t>📌 </a:t>
            </a:r>
            <a:r>
              <a:rPr lang="en-US" i="1" dirty="0"/>
              <a:t>Industry default in 2024–2026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021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2C86-8F6D-B747-1430-A433CC31C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923" y="-87957"/>
            <a:ext cx="11155680" cy="600021"/>
          </a:xfrm>
        </p:spPr>
        <p:txBody>
          <a:bodyPr>
            <a:normAutofit fontScale="90000"/>
          </a:bodyPr>
          <a:lstStyle/>
          <a:p>
            <a:r>
              <a:rPr lang="en-US" dirty="0"/>
              <a:t>4️⃣ Data Mesh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73728-EA60-15CC-34F8-B78E5729F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989293"/>
            <a:ext cx="11155680" cy="55312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Decentralized, domain-driven data ownership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Data as a product</a:t>
            </a:r>
          </a:p>
          <a:p>
            <a:r>
              <a:rPr lang="en-US" dirty="0"/>
              <a:t>Domains own their data</a:t>
            </a:r>
          </a:p>
          <a:p>
            <a:r>
              <a:rPr lang="en-US" dirty="0"/>
              <a:t>Platform team provides tooling</a:t>
            </a:r>
          </a:p>
          <a:p>
            <a:pPr marL="0" indent="0">
              <a:buNone/>
            </a:pPr>
            <a:r>
              <a:rPr lang="en-US" b="1" dirty="0"/>
              <a:t>4 Principles</a:t>
            </a:r>
            <a:endParaRPr lang="en-US" dirty="0"/>
          </a:p>
          <a:p>
            <a:r>
              <a:rPr lang="en-US" dirty="0"/>
              <a:t>Domain ownership</a:t>
            </a:r>
          </a:p>
          <a:p>
            <a:r>
              <a:rPr lang="en-US" dirty="0"/>
              <a:t>Data as a product</a:t>
            </a:r>
          </a:p>
          <a:p>
            <a:r>
              <a:rPr lang="en-US" dirty="0"/>
              <a:t>Self-serve data platform</a:t>
            </a:r>
          </a:p>
          <a:p>
            <a:r>
              <a:rPr lang="en-US" dirty="0"/>
              <a:t>Federated governance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Large organizations</a:t>
            </a:r>
          </a:p>
          <a:p>
            <a:r>
              <a:rPr lang="en-US" dirty="0"/>
              <a:t>Multiple business domains</a:t>
            </a:r>
          </a:p>
          <a:p>
            <a:r>
              <a:rPr lang="en-US" dirty="0"/>
              <a:t>Scaling teams, not just data</a:t>
            </a:r>
          </a:p>
          <a:p>
            <a:r>
              <a:rPr lang="en-US" dirty="0"/>
              <a:t>⚠️ Requires strong culture &amp; governance maturity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774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48946-ECE5-2723-0291-89D0B76D7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151" y="-131935"/>
            <a:ext cx="11155680" cy="752421"/>
          </a:xfrm>
        </p:spPr>
        <p:txBody>
          <a:bodyPr>
            <a:normAutofit fontScale="90000"/>
          </a:bodyPr>
          <a:lstStyle/>
          <a:p>
            <a:r>
              <a:rPr lang="en-US" dirty="0"/>
              <a:t>5️⃣ Lambda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0D201-07D0-8AEB-E82C-C087EEFC3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174350"/>
            <a:ext cx="11155680" cy="37673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Batch + streaming combined</a:t>
            </a:r>
            <a:endParaRPr lang="en-US" dirty="0"/>
          </a:p>
          <a:p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Batch layer → accurate but slow</a:t>
            </a:r>
          </a:p>
          <a:p>
            <a:r>
              <a:rPr lang="en-US" dirty="0"/>
              <a:t>Speed layer → real-time</a:t>
            </a:r>
          </a:p>
          <a:p>
            <a:r>
              <a:rPr lang="en-US" dirty="0"/>
              <a:t>Serving layer → query results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Real-time analytics</a:t>
            </a:r>
          </a:p>
          <a:p>
            <a:r>
              <a:rPr lang="en-US" dirty="0"/>
              <a:t>IoT, fraud detection</a:t>
            </a:r>
          </a:p>
          <a:p>
            <a:r>
              <a:rPr lang="en-US" dirty="0"/>
              <a:t>⚠️ Complex &amp; duplicate logic</a:t>
            </a:r>
            <a:br>
              <a:rPr lang="en-US" dirty="0"/>
            </a:br>
            <a:r>
              <a:rPr lang="en-US" dirty="0"/>
              <a:t>👉 Often replaced by </a:t>
            </a:r>
            <a:r>
              <a:rPr lang="en-US" b="1" dirty="0"/>
              <a:t>Kappa Architecture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529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B20F-EA7F-5DBD-6DCB-7786B868F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80" y="-93182"/>
            <a:ext cx="11155680" cy="186363"/>
          </a:xfrm>
        </p:spPr>
        <p:txBody>
          <a:bodyPr>
            <a:normAutofit fontScale="90000"/>
          </a:bodyPr>
          <a:lstStyle/>
          <a:p>
            <a:r>
              <a:rPr lang="en-US" dirty="0"/>
              <a:t>6️⃣ Kappa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32023-55EF-5976-8272-6D4E8A0EC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" y="1021951"/>
            <a:ext cx="11155680" cy="52591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Streaming-first architecture</a:t>
            </a:r>
            <a:endParaRPr lang="en-US" dirty="0"/>
          </a:p>
          <a:p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One pipeline (streaming)</a:t>
            </a:r>
          </a:p>
          <a:p>
            <a:r>
              <a:rPr lang="en-US" dirty="0"/>
              <a:t>Batch = replaying streams</a:t>
            </a:r>
          </a:p>
          <a:p>
            <a:pPr marL="0" indent="0">
              <a:buNone/>
            </a:pPr>
            <a:r>
              <a:rPr lang="en-US" b="1" dirty="0"/>
              <a:t>Why better</a:t>
            </a:r>
            <a:endParaRPr lang="en-US" dirty="0"/>
          </a:p>
          <a:p>
            <a:r>
              <a:rPr lang="en-US" dirty="0"/>
              <a:t>Less code duplication</a:t>
            </a:r>
          </a:p>
          <a:p>
            <a:r>
              <a:rPr lang="en-US" dirty="0"/>
              <a:t>Simpler maintenance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Event-driven systems</a:t>
            </a:r>
          </a:p>
          <a:p>
            <a:r>
              <a:rPr lang="en-US" dirty="0"/>
              <a:t>Real-time dashboards</a:t>
            </a:r>
          </a:p>
          <a:p>
            <a:r>
              <a:rPr lang="en-US" dirty="0"/>
              <a:t>CDC-based pipelines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674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FAE02-73C7-FF5D-BD65-858949F7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155680" cy="534706"/>
          </a:xfrm>
        </p:spPr>
        <p:txBody>
          <a:bodyPr>
            <a:normAutofit fontScale="90000"/>
          </a:bodyPr>
          <a:lstStyle/>
          <a:p>
            <a:r>
              <a:rPr lang="en-US" dirty="0"/>
              <a:t>7️⃣ Streaming Data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0EF9-1BD3-7930-2FEE-805B25B43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836" y="1250549"/>
            <a:ext cx="11155680" cy="52808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Process data as it arrives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Event-driven ingestion</a:t>
            </a:r>
          </a:p>
          <a:p>
            <a:r>
              <a:rPr lang="en-US" dirty="0"/>
              <a:t>Stateful stream processing</a:t>
            </a:r>
          </a:p>
          <a:p>
            <a:pPr marL="0" indent="0">
              <a:buNone/>
            </a:pPr>
            <a:r>
              <a:rPr lang="en-US" b="1" dirty="0"/>
              <a:t>Use cases</a:t>
            </a:r>
            <a:endParaRPr lang="en-US" dirty="0"/>
          </a:p>
          <a:p>
            <a:r>
              <a:rPr lang="en-US" dirty="0"/>
              <a:t>Fraud detection</a:t>
            </a:r>
          </a:p>
          <a:p>
            <a:r>
              <a:rPr lang="en-US" dirty="0"/>
              <a:t>Clickstream analytics</a:t>
            </a:r>
          </a:p>
          <a:p>
            <a:r>
              <a:rPr lang="en-US" dirty="0"/>
              <a:t>Real-time monitoring</a:t>
            </a:r>
          </a:p>
          <a:p>
            <a:pPr marL="0" indent="0">
              <a:buNone/>
            </a:pPr>
            <a:r>
              <a:rPr lang="en-US" b="1" dirty="0"/>
              <a:t>Patterns</a:t>
            </a:r>
            <a:endParaRPr lang="en-US" dirty="0"/>
          </a:p>
          <a:p>
            <a:r>
              <a:rPr lang="en-US" dirty="0"/>
              <a:t>Windowing</a:t>
            </a:r>
          </a:p>
          <a:p>
            <a:r>
              <a:rPr lang="en-US" dirty="0"/>
              <a:t>Watermarking</a:t>
            </a:r>
          </a:p>
          <a:p>
            <a:r>
              <a:rPr lang="en-US" dirty="0"/>
              <a:t>Exactly-once semantics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8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5998D-0394-5210-9014-A8E9B7B47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1935" y="0"/>
            <a:ext cx="11155680" cy="491163"/>
          </a:xfrm>
        </p:spPr>
        <p:txBody>
          <a:bodyPr>
            <a:noAutofit/>
          </a:bodyPr>
          <a:lstStyle/>
          <a:p>
            <a:r>
              <a:rPr lang="en-US" sz="3200" dirty="0"/>
              <a:t>8️⃣ ELT-Based Analytics Stack (Modern Analytics Stack)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7D1A0-DC01-E17B-A3F8-4CABA4964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494" y="1021950"/>
            <a:ext cx="11155680" cy="5542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Transformation happens inside the warehouse/</a:t>
            </a:r>
            <a:r>
              <a:rPr lang="en-US" b="1" dirty="0" err="1"/>
              <a:t>lakehouse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Load raw data first</a:t>
            </a:r>
          </a:p>
          <a:p>
            <a:r>
              <a:rPr lang="en-US" dirty="0"/>
              <a:t>Transform using SQL models</a:t>
            </a:r>
          </a:p>
          <a:p>
            <a:pPr marL="0" indent="0">
              <a:buNone/>
            </a:pPr>
            <a:r>
              <a:rPr lang="en-US" b="1" dirty="0"/>
              <a:t>Components</a:t>
            </a:r>
            <a:endParaRPr lang="en-US" dirty="0"/>
          </a:p>
          <a:p>
            <a:r>
              <a:rPr lang="en-US" dirty="0"/>
              <a:t>Ingestion</a:t>
            </a:r>
          </a:p>
          <a:p>
            <a:r>
              <a:rPr lang="en-US" dirty="0"/>
              <a:t>Cloud DW / Lakehouse</a:t>
            </a:r>
          </a:p>
          <a:p>
            <a:r>
              <a:rPr lang="en-US" dirty="0"/>
              <a:t>Transformation layer</a:t>
            </a:r>
          </a:p>
          <a:p>
            <a:r>
              <a:rPr lang="en-US" dirty="0"/>
              <a:t>BI tools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Analytics engineering</a:t>
            </a:r>
          </a:p>
          <a:p>
            <a:r>
              <a:rPr lang="en-US" dirty="0"/>
              <a:t>Agile data modeling</a:t>
            </a:r>
          </a:p>
          <a:p>
            <a:r>
              <a:rPr lang="en-US" dirty="0"/>
              <a:t>📌 </a:t>
            </a:r>
            <a:r>
              <a:rPr lang="en-US" i="1" dirty="0"/>
              <a:t>Very popular with analytics teams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095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5C2BC-AB0F-BE26-7E7B-8FCB73B4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1677" y="-131935"/>
            <a:ext cx="11155680" cy="1463040"/>
          </a:xfrm>
        </p:spPr>
        <p:txBody>
          <a:bodyPr/>
          <a:lstStyle/>
          <a:p>
            <a:r>
              <a:rPr lang="en-US" dirty="0"/>
              <a:t>9️⃣ Event-Driven Data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5CA2C-917B-F1F0-F573-25C7C5E57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80" y="1098149"/>
            <a:ext cx="11155680" cy="5476821"/>
          </a:xfrm>
        </p:spPr>
        <p:txBody>
          <a:bodyPr>
            <a:normAutofit/>
          </a:bodyPr>
          <a:lstStyle/>
          <a:p>
            <a:r>
              <a:rPr lang="en-US" b="1" dirty="0"/>
              <a:t>Data flows via events, not batch jobs</a:t>
            </a:r>
            <a:endParaRPr lang="en-US" dirty="0"/>
          </a:p>
          <a:p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Producers emit events</a:t>
            </a:r>
          </a:p>
          <a:p>
            <a:r>
              <a:rPr lang="en-US" dirty="0"/>
              <a:t>Consumers react independently</a:t>
            </a:r>
          </a:p>
          <a:p>
            <a:r>
              <a:rPr lang="en-US" b="1" dirty="0"/>
              <a:t>Benefits</a:t>
            </a:r>
            <a:endParaRPr lang="en-US" dirty="0"/>
          </a:p>
          <a:p>
            <a:r>
              <a:rPr lang="en-US" dirty="0"/>
              <a:t>Loose coupling</a:t>
            </a:r>
          </a:p>
          <a:p>
            <a:r>
              <a:rPr lang="en-US" dirty="0"/>
              <a:t>Scalable microservices</a:t>
            </a:r>
          </a:p>
          <a:p>
            <a:r>
              <a:rPr lang="en-US" dirty="0"/>
              <a:t>Near real-time data availability</a:t>
            </a:r>
          </a:p>
          <a:p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Microservices</a:t>
            </a:r>
          </a:p>
          <a:p>
            <a:r>
              <a:rPr lang="en-US" dirty="0"/>
              <a:t>Streaming-first companies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58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FE03E-EFB1-F9BC-0FEC-6600434A0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🔟 Medallion Architecture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3E527-A9B0-0553-7A08-297EA651A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r>
              <a:rPr lang="en-US"/>
              <a:t>Logical layering for data quality &amp; governance</a:t>
            </a:r>
          </a:p>
          <a:p>
            <a:pPr lvl="1"/>
            <a:r>
              <a:rPr lang="en-US"/>
              <a:t>Often used inside </a:t>
            </a:r>
            <a:r>
              <a:rPr lang="en-US" b="1" err="1"/>
              <a:t>lakehouse</a:t>
            </a:r>
            <a:r>
              <a:rPr lang="en-US" b="1"/>
              <a:t> platforms</a:t>
            </a:r>
            <a:endParaRPr lang="en-US"/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C242D25-2969-10AB-9308-1BAA86C6C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640892"/>
              </p:ext>
            </p:extLst>
          </p:nvPr>
        </p:nvGraphicFramePr>
        <p:xfrm>
          <a:off x="517867" y="2742432"/>
          <a:ext cx="6281929" cy="3290832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1641236">
                  <a:extLst>
                    <a:ext uri="{9D8B030D-6E8A-4147-A177-3AD203B41FA5}">
                      <a16:colId xmlns:a16="http://schemas.microsoft.com/office/drawing/2014/main" val="4106283021"/>
                    </a:ext>
                  </a:extLst>
                </a:gridCol>
                <a:gridCol w="4640693">
                  <a:extLst>
                    <a:ext uri="{9D8B030D-6E8A-4147-A177-3AD203B41FA5}">
                      <a16:colId xmlns:a16="http://schemas.microsoft.com/office/drawing/2014/main" val="1978087384"/>
                    </a:ext>
                  </a:extLst>
                </a:gridCol>
              </a:tblGrid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553387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Bronze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Raw ingested data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5068654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Silver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Cleaned &amp; standardized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912534"/>
                  </a:ext>
                </a:extLst>
              </a:tr>
              <a:tr h="822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Gold</a:t>
                      </a:r>
                    </a:p>
                  </a:txBody>
                  <a:tcPr marL="140462" marR="200660" marT="40132" marB="300991" anchor="ctr">
                    <a:lnL w="12700" cap="flat" cmpd="sng" algn="ctr">
                      <a:solidFill>
                        <a:schemeClr val="bg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cap="none" spc="0">
                          <a:solidFill>
                            <a:schemeClr val="bg1"/>
                          </a:solidFill>
                        </a:rPr>
                        <a:t>Business-ready aggregates</a:t>
                      </a:r>
                    </a:p>
                  </a:txBody>
                  <a:tcPr marL="140462" marR="200660" marT="40132" marB="30099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827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61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5ECE-C58D-5872-831E-AB99F2E07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7506"/>
            <a:ext cx="11155680" cy="77506"/>
          </a:xfrm>
        </p:spPr>
        <p:txBody>
          <a:bodyPr>
            <a:normAutofit fontScale="90000"/>
          </a:bodyPr>
          <a:lstStyle/>
          <a:p>
            <a:r>
              <a:rPr lang="en-US" dirty="0"/>
              <a:t>1️⃣1️⃣ Data Fabric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1F770-E7BC-459F-3B33-85B7E6705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79" y="1545336"/>
            <a:ext cx="11155680" cy="37673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Metadata-driven, intelligent data integration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Core idea</a:t>
            </a:r>
            <a:endParaRPr lang="en-US" dirty="0"/>
          </a:p>
          <a:p>
            <a:r>
              <a:rPr lang="en-US" dirty="0"/>
              <a:t>Unified data access across platforms</a:t>
            </a:r>
          </a:p>
          <a:p>
            <a:r>
              <a:rPr lang="en-US" dirty="0"/>
              <a:t>Heavy use of metadata, automation, AI</a:t>
            </a:r>
          </a:p>
          <a:p>
            <a:pPr marL="0" indent="0">
              <a:buNone/>
            </a:pPr>
            <a:r>
              <a:rPr lang="en-US" b="1" dirty="0"/>
              <a:t>Best for</a:t>
            </a:r>
            <a:endParaRPr lang="en-US" dirty="0"/>
          </a:p>
          <a:p>
            <a:r>
              <a:rPr lang="en-US" dirty="0"/>
              <a:t>Complex hybrid environments</a:t>
            </a:r>
          </a:p>
          <a:p>
            <a:r>
              <a:rPr lang="en-US" dirty="0"/>
              <a:t>Legacy + cloud coexistence</a:t>
            </a:r>
          </a:p>
          <a:p>
            <a:r>
              <a:rPr lang="en-US" dirty="0"/>
              <a:t>⚠️ More tooling-heavy than Data 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40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BFBB4-8255-9980-708A-E22841C7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When to Choose What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5406D3-AE4B-67F6-4096-0A71600C5E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571064"/>
              </p:ext>
            </p:extLst>
          </p:nvPr>
        </p:nvGraphicFramePr>
        <p:xfrm>
          <a:off x="4780653" y="508090"/>
          <a:ext cx="6475697" cy="5626537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3890857">
                  <a:extLst>
                    <a:ext uri="{9D8B030D-6E8A-4147-A177-3AD203B41FA5}">
                      <a16:colId xmlns:a16="http://schemas.microsoft.com/office/drawing/2014/main" val="3766442357"/>
                    </a:ext>
                  </a:extLst>
                </a:gridCol>
                <a:gridCol w="2584840">
                  <a:extLst>
                    <a:ext uri="{9D8B030D-6E8A-4147-A177-3AD203B41FA5}">
                      <a16:colId xmlns:a16="http://schemas.microsoft.com/office/drawing/2014/main" val="2541901729"/>
                    </a:ext>
                  </a:extLst>
                </a:gridCol>
              </a:tblGrid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cap="none" spc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Scenario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Best Pattern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5196908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BI &amp; reporting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Cloud DW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85878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Analytics + ML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Lakehouse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15630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Large org scaling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Data Mesh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770476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Real-time analytics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Kappa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111987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Raw + curated layers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Medallion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896328"/>
                  </a:ext>
                </a:extLst>
              </a:tr>
              <a:tr h="803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>
                          <a:solidFill>
                            <a:schemeClr val="tx1"/>
                          </a:solidFill>
                        </a:rPr>
                        <a:t>Microservices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cap="none" spc="0" dirty="0">
                          <a:solidFill>
                            <a:schemeClr val="tx1"/>
                          </a:solidFill>
                        </a:rPr>
                        <a:t>Event-driven</a:t>
                      </a:r>
                    </a:p>
                  </a:txBody>
                  <a:tcPr marL="206100" marR="206100" marT="206100" marB="10305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4821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7294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562</Words>
  <Application>Microsoft Office PowerPoint</Application>
  <PresentationFormat>Widescreen</PresentationFormat>
  <Paragraphs>169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Bierstadt</vt:lpstr>
      <vt:lpstr>GestaltVTI</vt:lpstr>
      <vt:lpstr>Modern Data Architecture Patterns</vt:lpstr>
      <vt:lpstr>PowerPoint Presentation</vt:lpstr>
      <vt:lpstr>1️⃣ Modern Data Warehouse (Cloud DW)</vt:lpstr>
      <vt:lpstr>2️⃣ Data Lake Architecture</vt:lpstr>
      <vt:lpstr>3️⃣ Lakehouse Architecture </vt:lpstr>
      <vt:lpstr>4️⃣ Data Mesh</vt:lpstr>
      <vt:lpstr>5️⃣ Lambda Architecture</vt:lpstr>
      <vt:lpstr>6️⃣ Kappa Architecture</vt:lpstr>
      <vt:lpstr>7️⃣ Streaming Data Architecture</vt:lpstr>
      <vt:lpstr>8️⃣ ELT-Based Analytics Stack (Modern Analytics Stack)</vt:lpstr>
      <vt:lpstr>9️⃣ Event-Driven Data Architecture</vt:lpstr>
      <vt:lpstr>🔟 Medallion Architecture</vt:lpstr>
      <vt:lpstr>1️⃣1️⃣ Data Fabric</vt:lpstr>
      <vt:lpstr>When to Choose What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2026-02-17T06:02:12Z</dcterms:created>
  <dcterms:modified xsi:type="dcterms:W3CDTF">2026-02-17T06:15:51Z</dcterms:modified>
</cp:coreProperties>
</file>