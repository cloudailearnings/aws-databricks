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81" r:id="rId4"/>
    <p:sldId id="282" r:id="rId5"/>
    <p:sldId id="284" r:id="rId6"/>
    <p:sldId id="292" r:id="rId7"/>
    <p:sldId id="293" r:id="rId8"/>
    <p:sldId id="294" r:id="rId9"/>
    <p:sldId id="288" r:id="rId10"/>
    <p:sldId id="285" r:id="rId11"/>
    <p:sldId id="286" r:id="rId12"/>
    <p:sldId id="287" r:id="rId13"/>
    <p:sldId id="289" r:id="rId14"/>
    <p:sldId id="290" r:id="rId15"/>
    <p:sldId id="29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8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2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7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64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4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4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17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8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1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35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loud.google.com/bigquery/docs/reference/standard-sql/pipe-syntax#aggregate_pipe_operato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loud.google.com/bigquery/docs/reference/standard-sql/pipe-syntax#join_pipe_operato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cloud.google.com/bigquery/docs/reference/standard-sql/query-syntax#join_type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loud.google.com/bigquery/docs/reference/standard-sql/pipe-syntax#extend_pipe_operato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loud.google.com/bigquery/docs/reference/standard-sql/pipe-syntax#aggregate_pipe_operator" TargetMode="External"/><Relationship Id="rId2" Type="http://schemas.openxmlformats.org/officeDocument/2006/relationships/hyperlink" Target="https://docs.cloud.google.com/bigquery/docs/reference/standard-sql/pipe-syntax#from_queri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cloud.google.com/bigquery/docs/reference/standard-sql/pipe-syntax#where_pipe_operator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loud.google.com/logging/docs/log-analytics#analytic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loud.google.com/bigquery/docs/reference/standard-sql/pipe-syntax#set_pipe_operato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loud.google.com/bigquery/docs/reference/standard-sql/pipe-syntax#drop_pipe_operator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loud.google.com/bigquery/docs/reference/standard-sql/pipe-syntax#rename_pipe_operato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C30202-1113-1750-4674-1E87CD9D3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29" b="33621"/>
          <a:stretch>
            <a:fillRect/>
          </a:stretch>
        </p:blipFill>
        <p:spPr>
          <a:xfrm>
            <a:off x="-2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B10E4-C87C-1C9B-E4E6-C1E80BB31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7814" y="1888366"/>
            <a:ext cx="9690185" cy="4005454"/>
          </a:xfrm>
        </p:spPr>
        <p:txBody>
          <a:bodyPr anchor="t">
            <a:normAutofit/>
          </a:bodyPr>
          <a:lstStyle/>
          <a:p>
            <a:r>
              <a:rPr lang="en-US" sz="6800" dirty="0" err="1"/>
              <a:t>BigQuery</a:t>
            </a:r>
            <a:r>
              <a:rPr lang="en-US" sz="6800" dirty="0"/>
              <a:t>- Pipe Queries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688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3648-6D3D-26A2-20C8-ADBBD2DB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6" y="32657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SQL Operations with </a:t>
            </a:r>
            <a:r>
              <a:rPr lang="en-IN" b="1" dirty="0" err="1">
                <a:highlight>
                  <a:srgbClr val="FFFF00"/>
                </a:highlight>
              </a:rPr>
              <a:t>Bigquery</a:t>
            </a:r>
            <a:r>
              <a:rPr lang="en-IN" b="1" dirty="0">
                <a:highlight>
                  <a:srgbClr val="FFFF00"/>
                </a:highlight>
              </a:rPr>
              <a:t> – Pipe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70DED-B45B-700A-5F8F-3E5CB4AB5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1162843"/>
            <a:ext cx="11658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OR REPLACE TABLE </a:t>
            </a:r>
            <a:r>
              <a:rPr lang="en-US" dirty="0" err="1"/>
              <a:t>hr_dataset.Produce</a:t>
            </a:r>
            <a:r>
              <a:rPr lang="en-US" dirty="0"/>
              <a:t> AS (</a:t>
            </a:r>
          </a:p>
          <a:p>
            <a:pPr marL="0" indent="0">
              <a:buNone/>
            </a:pPr>
            <a:r>
              <a:rPr lang="en-US" dirty="0"/>
              <a:t>  SELECT 'apples' AS item, 2 AS sales, 'fruit' AS category</a:t>
            </a:r>
          </a:p>
          <a:p>
            <a:pPr marL="0" indent="0">
              <a:buNone/>
            </a:pPr>
            <a:r>
              <a:rPr lang="en-US" dirty="0"/>
              <a:t>  UNION ALL</a:t>
            </a:r>
          </a:p>
          <a:p>
            <a:pPr marL="0" indent="0">
              <a:buNone/>
            </a:pPr>
            <a:r>
              <a:rPr lang="en-US" dirty="0"/>
              <a:t>  SELECT 'apples' AS item, 7 AS sales, 'fruit' AS category</a:t>
            </a:r>
          </a:p>
          <a:p>
            <a:pPr marL="0" indent="0">
              <a:buNone/>
            </a:pPr>
            <a:r>
              <a:rPr lang="en-US" dirty="0"/>
              <a:t>  UNION ALL</a:t>
            </a:r>
          </a:p>
          <a:p>
            <a:pPr marL="0" indent="0">
              <a:buNone/>
            </a:pPr>
            <a:r>
              <a:rPr lang="en-US" dirty="0"/>
              <a:t>  SELECT 'carrots' AS item, 0 AS sales, 'vegetable' AS category</a:t>
            </a:r>
          </a:p>
          <a:p>
            <a:pPr marL="0" indent="0">
              <a:buNone/>
            </a:pPr>
            <a:r>
              <a:rPr lang="en-US" dirty="0"/>
              <a:t>  UNION ALL</a:t>
            </a:r>
          </a:p>
          <a:p>
            <a:pPr marL="0" indent="0">
              <a:buNone/>
            </a:pPr>
            <a:r>
              <a:rPr lang="en-US" dirty="0"/>
              <a:t>  SELECT 'bananas' AS item, 15 AS sales, 'fruit' AS category);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9659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12946-00B9-9727-7BA9-C453C42E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05342"/>
            <a:ext cx="10515600" cy="56957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Data Retrieval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4A2FD-9350-1E36-993C-DA5D8C2E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56" y="1253331"/>
            <a:ext cx="9906001" cy="4351338"/>
          </a:xfrm>
        </p:spPr>
        <p:txBody>
          <a:bodyPr/>
          <a:lstStyle/>
          <a:p>
            <a:r>
              <a:rPr lang="en-IN" dirty="0"/>
              <a:t> FROM </a:t>
            </a:r>
            <a:r>
              <a:rPr lang="en-IN" dirty="0" err="1"/>
              <a:t>hr_dataset.Produce</a:t>
            </a:r>
            <a:r>
              <a:rPr lang="en-IN" dirty="0"/>
              <a:t>; // no select required anymore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dirty="0"/>
              <a:t> -- Filter items with no sales.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hr_dataset.Produce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|&gt; WHERE sales &gt; 0;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567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5A24-CAD7-19B7-B77F-A4CEFC43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7" y="944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03212-3B85-5DC6-7AAA-FC84F3564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368425"/>
            <a:ext cx="11811000" cy="4351338"/>
          </a:xfrm>
        </p:spPr>
        <p:txBody>
          <a:bodyPr/>
          <a:lstStyle/>
          <a:p>
            <a:r>
              <a:rPr lang="en-US" dirty="0"/>
              <a:t>To perform aggregation, use the </a:t>
            </a:r>
            <a:r>
              <a:rPr lang="en-US" dirty="0">
                <a:hlinkClick r:id="rId2"/>
              </a:rPr>
              <a:t>AGGREGATE pipe operator</a:t>
            </a:r>
            <a:r>
              <a:rPr lang="en-US" dirty="0"/>
              <a:t>, followed by any number of aggregate functions, followed by a GROUP BY clause. </a:t>
            </a:r>
          </a:p>
          <a:p>
            <a:r>
              <a:rPr lang="en-US" dirty="0"/>
              <a:t>The GROUP BY clause is part of the AGGREGATE pipe operator and isn't separated by a pipe symbol (|&gt;).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733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A0719-C1D0-5312-793B-95AB7A9DE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OR REPLACE TABLE </a:t>
            </a:r>
            <a:r>
              <a:rPr lang="en-US" dirty="0" err="1"/>
              <a:t>hr_dataset.ItemData</a:t>
            </a:r>
            <a:r>
              <a:rPr lang="en-US" dirty="0"/>
              <a:t> AS (</a:t>
            </a:r>
          </a:p>
          <a:p>
            <a:pPr marL="0" indent="0">
              <a:buNone/>
            </a:pPr>
            <a:r>
              <a:rPr lang="en-US" dirty="0"/>
              <a:t>  SELECT 'apples' AS item, '123' AS id</a:t>
            </a:r>
          </a:p>
          <a:p>
            <a:pPr marL="0" indent="0">
              <a:buNone/>
            </a:pPr>
            <a:r>
              <a:rPr lang="en-US" b="1" dirty="0"/>
              <a:t>  UNION ALL</a:t>
            </a:r>
          </a:p>
          <a:p>
            <a:pPr marL="0" indent="0">
              <a:buNone/>
            </a:pPr>
            <a:r>
              <a:rPr lang="en-US" dirty="0"/>
              <a:t>  SELECT 'bananas' AS item, '456' AS id</a:t>
            </a:r>
          </a:p>
          <a:p>
            <a:pPr marL="0" indent="0">
              <a:buNone/>
            </a:pPr>
            <a:r>
              <a:rPr lang="en-US" dirty="0"/>
              <a:t>  UNION ALL</a:t>
            </a:r>
          </a:p>
          <a:p>
            <a:pPr marL="0" indent="0">
              <a:buNone/>
            </a:pPr>
            <a:r>
              <a:rPr lang="en-US" dirty="0"/>
              <a:t>  SELECT 'carrots' AS item, '789' AS id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76F7B32D-17A6-A318-096F-F3D71F154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52" y="21939"/>
            <a:ext cx="10691265" cy="6094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 UNION ALL</a:t>
            </a:r>
          </a:p>
        </p:txBody>
      </p:sp>
    </p:spTree>
    <p:extLst>
      <p:ext uri="{BB962C8B-B14F-4D97-AF65-F5344CB8AC3E}">
        <p14:creationId xmlns:p14="http://schemas.microsoft.com/office/powerpoint/2010/main" val="400081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4CC00-BE1F-3ACA-9D39-220ABF1B8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3" y="1122702"/>
            <a:ext cx="11811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OR REPLACE TABLE </a:t>
            </a:r>
            <a:r>
              <a:rPr lang="en-US" dirty="0" err="1"/>
              <a:t>mydataset.Produce</a:t>
            </a:r>
            <a:r>
              <a:rPr lang="en-US" dirty="0"/>
              <a:t> AS (</a:t>
            </a:r>
          </a:p>
          <a:p>
            <a:pPr marL="0" indent="0">
              <a:buNone/>
            </a:pPr>
            <a:r>
              <a:rPr lang="en-US" dirty="0"/>
              <a:t>  SELECT 'apples' AS item, 2 AS sales, 'fruit' AS category</a:t>
            </a:r>
          </a:p>
          <a:p>
            <a:pPr marL="0" indent="0">
              <a:buNone/>
            </a:pPr>
            <a:r>
              <a:rPr lang="en-US" dirty="0"/>
              <a:t>  UNION ALL</a:t>
            </a:r>
          </a:p>
          <a:p>
            <a:pPr marL="0" indent="0">
              <a:buNone/>
            </a:pPr>
            <a:r>
              <a:rPr lang="en-US" dirty="0"/>
              <a:t>  SELECT 'apples' AS item, 7 AS sales, 'fruit' AS category</a:t>
            </a:r>
          </a:p>
          <a:p>
            <a:pPr marL="0" indent="0">
              <a:buNone/>
            </a:pPr>
            <a:r>
              <a:rPr lang="en-US" dirty="0"/>
              <a:t>  UNION ALL</a:t>
            </a:r>
          </a:p>
          <a:p>
            <a:pPr marL="0" indent="0">
              <a:buNone/>
            </a:pPr>
            <a:r>
              <a:rPr lang="en-US" dirty="0"/>
              <a:t>  SELECT 'carrots' AS item, 0 AS sales, 'vegetable' AS category</a:t>
            </a:r>
          </a:p>
          <a:p>
            <a:pPr marL="0" indent="0">
              <a:buNone/>
            </a:pPr>
            <a:r>
              <a:rPr lang="en-US" dirty="0"/>
              <a:t>  UNION ALL</a:t>
            </a:r>
          </a:p>
          <a:p>
            <a:pPr marL="0" indent="0">
              <a:buNone/>
            </a:pPr>
            <a:r>
              <a:rPr lang="en-US" dirty="0"/>
              <a:t>  SELECT 'bananas' AS item, 15 AS sales, 'fruit' AS category);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570605-1299-90A8-8676-1D493A861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52" y="21939"/>
            <a:ext cx="10691265" cy="6094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 UNION ALL</a:t>
            </a:r>
          </a:p>
        </p:txBody>
      </p:sp>
    </p:spTree>
    <p:extLst>
      <p:ext uri="{BB962C8B-B14F-4D97-AF65-F5344CB8AC3E}">
        <p14:creationId xmlns:p14="http://schemas.microsoft.com/office/powerpoint/2010/main" val="334163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DDBE5-54C0-AE3A-2314-6A290C3EE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OR REPLACE TABLE </a:t>
            </a:r>
            <a:r>
              <a:rPr lang="en-US" dirty="0" err="1"/>
              <a:t>mydataset.ItemData</a:t>
            </a:r>
            <a:r>
              <a:rPr lang="en-US" dirty="0"/>
              <a:t> AS (</a:t>
            </a:r>
          </a:p>
          <a:p>
            <a:pPr marL="0" indent="0">
              <a:buNone/>
            </a:pPr>
            <a:r>
              <a:rPr lang="en-US" dirty="0"/>
              <a:t>  SELECT 'apples' AS item, '123' AS id</a:t>
            </a:r>
          </a:p>
          <a:p>
            <a:pPr marL="0" indent="0">
              <a:buNone/>
            </a:pPr>
            <a:r>
              <a:rPr lang="en-US" dirty="0"/>
              <a:t>  UNION ALL</a:t>
            </a:r>
          </a:p>
          <a:p>
            <a:pPr marL="0" indent="0">
              <a:buNone/>
            </a:pPr>
            <a:r>
              <a:rPr lang="en-US" dirty="0"/>
              <a:t>  SELECT 'bananas' AS item, '456' AS id</a:t>
            </a:r>
          </a:p>
          <a:p>
            <a:pPr marL="0" indent="0">
              <a:buNone/>
            </a:pPr>
            <a:r>
              <a:rPr lang="en-US" dirty="0"/>
              <a:t>  UNION ALL</a:t>
            </a:r>
          </a:p>
          <a:p>
            <a:pPr marL="0" indent="0">
              <a:buNone/>
            </a:pPr>
            <a:r>
              <a:rPr lang="en-US" dirty="0"/>
              <a:t>  SELECT 'carrots' AS item, '789' AS id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0EE9A38-526C-BA8F-E7FB-C502D80E2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52" y="21939"/>
            <a:ext cx="10691265" cy="60943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 UNION ALL</a:t>
            </a:r>
          </a:p>
        </p:txBody>
      </p:sp>
    </p:spTree>
    <p:extLst>
      <p:ext uri="{BB962C8B-B14F-4D97-AF65-F5344CB8AC3E}">
        <p14:creationId xmlns:p14="http://schemas.microsoft.com/office/powerpoint/2010/main" val="2878829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66C0F-9EB0-DA05-0E24-BD80C9AE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0"/>
            <a:ext cx="10691265" cy="1307592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JOIN pipe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629B0-E7AA-59AA-86CC-5BBEA003C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mydataset.Produce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|&gt; JOIN </a:t>
            </a:r>
            <a:r>
              <a:rPr lang="en-IN" dirty="0" err="1"/>
              <a:t>mydataset.ItemData</a:t>
            </a:r>
            <a:r>
              <a:rPr lang="en-IN" dirty="0"/>
              <a:t> USING(item)</a:t>
            </a:r>
          </a:p>
          <a:p>
            <a:pPr marL="0" indent="0">
              <a:buNone/>
            </a:pPr>
            <a:r>
              <a:rPr lang="en-IN" dirty="0"/>
              <a:t>|&gt; WHERE item = 'apples';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A7D57-6351-73C7-FDF1-8AE3F83EF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56805"/>
            <a:ext cx="5203371" cy="1920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6DD482-3A8C-7F96-5D7D-74FDF00B6A8E}"/>
              </a:ext>
            </a:extLst>
          </p:cNvPr>
          <p:cNvSpPr txBox="1"/>
          <p:nvPr/>
        </p:nvSpPr>
        <p:spPr>
          <a:xfrm>
            <a:off x="598713" y="896112"/>
            <a:ext cx="110163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 </a:t>
            </a:r>
            <a:r>
              <a:rPr lang="en-US" dirty="0">
                <a:hlinkClick r:id="rId3"/>
              </a:rPr>
              <a:t>JOIN pipe operator</a:t>
            </a:r>
            <a:r>
              <a:rPr lang="en-US" dirty="0"/>
              <a:t> lets you join the current table with another table and supports the standard </a:t>
            </a:r>
            <a:r>
              <a:rPr lang="en-US" dirty="0">
                <a:hlinkClick r:id="rId4"/>
              </a:rPr>
              <a:t>join operations</a:t>
            </a:r>
            <a:r>
              <a:rPr lang="en-US" dirty="0"/>
              <a:t>, including CROSS, INNER, LEFT, RIGHT, and FULL.</a:t>
            </a:r>
          </a:p>
        </p:txBody>
      </p:sp>
    </p:spTree>
    <p:extLst>
      <p:ext uri="{BB962C8B-B14F-4D97-AF65-F5344CB8AC3E}">
        <p14:creationId xmlns:p14="http://schemas.microsoft.com/office/powerpoint/2010/main" val="661996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1F16E-8E72-425B-91BA-ED2B6059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3" y="0"/>
            <a:ext cx="10515600" cy="1325563"/>
          </a:xfrm>
        </p:spPr>
        <p:txBody>
          <a:bodyPr/>
          <a:lstStyle/>
          <a:p>
            <a:r>
              <a:rPr lang="en-IN" dirty="0"/>
              <a:t>EXTEND pipe operator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CFBD4-A6CC-F920-7224-7E6B0F7CA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313" y="1429430"/>
            <a:ext cx="11027229" cy="5210855"/>
          </a:xfrm>
        </p:spPr>
        <p:txBody>
          <a:bodyPr>
            <a:normAutofit/>
          </a:bodyPr>
          <a:lstStyle/>
          <a:p>
            <a:r>
              <a:rPr lang="en-US" dirty="0"/>
              <a:t>The </a:t>
            </a:r>
            <a:r>
              <a:rPr lang="en-US" dirty="0">
                <a:hlinkClick r:id="rId2"/>
              </a:rPr>
              <a:t>EXTEND pipe operator</a:t>
            </a:r>
            <a:r>
              <a:rPr lang="en-US" dirty="0"/>
              <a:t> lets you append computed columns to the current table. </a:t>
            </a:r>
          </a:p>
          <a:p>
            <a:endParaRPr lang="en-US" dirty="0"/>
          </a:p>
          <a:p>
            <a:r>
              <a:rPr lang="en-US" dirty="0"/>
              <a:t>The EXTEND pipe operator is similar to the SELECT *, </a:t>
            </a:r>
            <a:r>
              <a:rPr lang="en-US" dirty="0" err="1"/>
              <a:t>new_column</a:t>
            </a:r>
            <a:r>
              <a:rPr lang="en-US" dirty="0"/>
              <a:t> statement, but it gives you more flexibility in referencing column aliases.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OR REPLACE TABLE </a:t>
            </a:r>
            <a:r>
              <a:rPr lang="en-US" dirty="0" err="1"/>
              <a:t>hr_dataset.Scores</a:t>
            </a:r>
            <a:r>
              <a:rPr lang="en-US" dirty="0"/>
              <a:t> AS (</a:t>
            </a:r>
          </a:p>
          <a:p>
            <a:pPr marL="0" indent="0">
              <a:buNone/>
            </a:pPr>
            <a:r>
              <a:rPr lang="en-US" dirty="0"/>
              <a:t>  SELECT 'Alex' AS student, 9 AS score1, 10 AS score2, 10 AS </a:t>
            </a:r>
            <a:r>
              <a:rPr lang="en-US" dirty="0" err="1"/>
              <a:t>points_possible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UNION ALL</a:t>
            </a:r>
          </a:p>
          <a:p>
            <a:pPr marL="0" indent="0">
              <a:buNone/>
            </a:pPr>
            <a:r>
              <a:rPr lang="en-US" dirty="0"/>
              <a:t>  SELECT 'Dana' AS student, 5 AS score1, 7 AS score2, 10 AS </a:t>
            </a:r>
            <a:r>
              <a:rPr lang="en-US" dirty="0" err="1"/>
              <a:t>points_possible</a:t>
            </a:r>
            <a:r>
              <a:rPr lang="en-US" dirty="0"/>
              <a:t>);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989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80E93-F04E-62E0-8666-AFAD898E2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Pipe syntax differs from standard syntax in the following ways:</a:t>
            </a:r>
          </a:p>
          <a:p>
            <a:r>
              <a:rPr lang="en-US" dirty="0"/>
              <a:t>Queries can </a:t>
            </a:r>
            <a:r>
              <a:rPr lang="en-US" dirty="0">
                <a:hlinkClick r:id="rId2"/>
              </a:rPr>
              <a:t>start with a FROM clause</a:t>
            </a:r>
            <a:r>
              <a:rPr lang="en-US" dirty="0"/>
              <a:t>.</a:t>
            </a:r>
          </a:p>
          <a:p>
            <a:r>
              <a:rPr lang="en-US" dirty="0"/>
              <a:t>The SELECT pipe operator doesn't perform aggregation. You must use the </a:t>
            </a:r>
            <a:r>
              <a:rPr lang="en-US" dirty="0">
                <a:hlinkClick r:id="rId3"/>
              </a:rPr>
              <a:t>AGGREGATE pipe operator</a:t>
            </a:r>
            <a:r>
              <a:rPr lang="en-US" dirty="0"/>
              <a:t> instead.</a:t>
            </a:r>
          </a:p>
          <a:p>
            <a:r>
              <a:rPr lang="en-US" dirty="0"/>
              <a:t>Filtering is always done with the </a:t>
            </a:r>
            <a:r>
              <a:rPr lang="en-US" dirty="0">
                <a:hlinkClick r:id="rId4"/>
              </a:rPr>
              <a:t>WHERE pipe operator</a:t>
            </a:r>
            <a:r>
              <a:rPr lang="en-US" dirty="0"/>
              <a:t>, which can be applied anywhere. The WHERE pipe operator, which replaces HAVING and QUALIFY, can filter the results of aggregation or window functions.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69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2AE4-6906-A026-3E3B-9FD0B4574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978" y="0"/>
            <a:ext cx="10691265" cy="1307592"/>
          </a:xfrm>
        </p:spPr>
        <p:txBody>
          <a:bodyPr>
            <a:normAutofit fontScale="90000"/>
          </a:bodyPr>
          <a:lstStyle/>
          <a:p>
            <a:r>
              <a:rPr lang="en-IN" dirty="0"/>
              <a:t>Use cases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763C0-0CAC-4EC7-84F6-8C3AC3F16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757" y="1085397"/>
            <a:ext cx="1086938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Common use cases for pipe syntax include the following:</a:t>
            </a:r>
          </a:p>
          <a:p>
            <a:r>
              <a:rPr lang="en-US" b="1" dirty="0"/>
              <a:t>Ad-hoc analysis and incremental query building</a:t>
            </a:r>
            <a:r>
              <a:rPr lang="en-US" dirty="0"/>
              <a:t>: The logical order of operations makes it easier to write and debug queries. The prefix of any query up to a pipe symbol |&gt; is a valid query, which helps you view intermediate results in a long query. The productivity gains can speed up the development process across your organization.</a:t>
            </a:r>
          </a:p>
          <a:p>
            <a:r>
              <a:rPr lang="en-US" b="1" dirty="0"/>
              <a:t>Log analytics</a:t>
            </a:r>
            <a:r>
              <a:rPr lang="en-US" dirty="0"/>
              <a:t>: There exist other types of pipe-like syntax that are popular among log analytics users. Pipe syntax provides a familiar structure that simplifies onboarding for those users to </a:t>
            </a:r>
            <a:r>
              <a:rPr lang="en-US" dirty="0">
                <a:hlinkClick r:id="rId2"/>
              </a:rPr>
              <a:t>Log Analytics</a:t>
            </a:r>
            <a:r>
              <a:rPr lang="en-US" dirty="0"/>
              <a:t> and </a:t>
            </a:r>
            <a:r>
              <a:rPr lang="en-US" dirty="0" err="1"/>
              <a:t>BigQuery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938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6C49-42CB-33E9-C70F-A57FDF646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4" y="47631"/>
            <a:ext cx="10691265" cy="1307592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EXTEND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B4DD7-8EF0-4D2D-7821-75115116B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hr_dataset.Scores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|&gt; EXTEND (score1 + score2) / 2 AS </a:t>
            </a:r>
            <a:r>
              <a:rPr lang="en-IN" dirty="0" err="1"/>
              <a:t>average_score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|&gt; EXTEND </a:t>
            </a:r>
            <a:r>
              <a:rPr lang="en-IN" dirty="0" err="1"/>
              <a:t>average_score</a:t>
            </a:r>
            <a:r>
              <a:rPr lang="en-IN" dirty="0"/>
              <a:t> / </a:t>
            </a:r>
            <a:r>
              <a:rPr lang="en-IN" dirty="0" err="1"/>
              <a:t>points_possible</a:t>
            </a:r>
            <a:r>
              <a:rPr lang="en-IN" dirty="0"/>
              <a:t> AS </a:t>
            </a:r>
            <a:r>
              <a:rPr lang="en-IN" dirty="0" err="1"/>
              <a:t>average_percent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|&gt; SELECT student, </a:t>
            </a:r>
            <a:r>
              <a:rPr lang="en-IN" dirty="0" err="1"/>
              <a:t>average_score</a:t>
            </a:r>
            <a:r>
              <a:rPr lang="en-IN" dirty="0"/>
              <a:t>, </a:t>
            </a:r>
            <a:r>
              <a:rPr lang="en-IN" dirty="0" err="1"/>
              <a:t>average_percent</a:t>
            </a:r>
            <a:r>
              <a:rPr lang="en-IN" dirty="0"/>
              <a:t>;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AC63C7-5520-5B01-D297-CA4D8E175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547" y="4359678"/>
            <a:ext cx="3833192" cy="11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539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79E2-7D51-CF96-6959-6168E689E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0"/>
            <a:ext cx="10515600" cy="830831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SET pipe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CD784-1518-D710-FB19-0AEA1A446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7" y="1030968"/>
            <a:ext cx="10896600" cy="4351338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dirty="0">
                <a:hlinkClick r:id="rId2"/>
              </a:rPr>
              <a:t>SET pipe operator</a:t>
            </a:r>
            <a:r>
              <a:rPr lang="en-US" dirty="0"/>
              <a:t> lets you replace the value of columns in the current table. </a:t>
            </a:r>
          </a:p>
          <a:p>
            <a:r>
              <a:rPr lang="en-US" dirty="0"/>
              <a:t>The SET pipe operator is similar to the SELECT * REPLACE (expression AS column) statement.</a:t>
            </a:r>
          </a:p>
          <a:p>
            <a:r>
              <a:rPr lang="en-US" dirty="0"/>
              <a:t> You can reference the original value by qualifying the column name with a table alias.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FROM (SELECT 3 AS x, 5 AS y)</a:t>
            </a:r>
          </a:p>
          <a:p>
            <a:pPr marL="0" indent="0">
              <a:buNone/>
            </a:pPr>
            <a:r>
              <a:rPr lang="en-US" dirty="0"/>
              <a:t>|&gt; SET x = 2 * x;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540403-2BBD-C9E9-7070-5AF675207EEB}"/>
              </a:ext>
            </a:extLst>
          </p:cNvPr>
          <p:cNvSpPr txBox="1"/>
          <p:nvPr/>
        </p:nvSpPr>
        <p:spPr>
          <a:xfrm>
            <a:off x="6828065" y="4723176"/>
            <a:ext cx="6928756" cy="960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latinLnBrk="0">
              <a:lnSpc>
                <a:spcPts val="1050"/>
              </a:lnSpc>
              <a:buNone/>
            </a:pPr>
            <a:b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</a:b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/*---+---+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algn="l" rtl="0" latinLnBrk="0">
              <a:lnSpc>
                <a:spcPts val="1050"/>
              </a:lnSpc>
              <a:buNone/>
            </a:pP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| x | y |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algn="l" rtl="0" latinLnBrk="0">
              <a:lnSpc>
                <a:spcPts val="1050"/>
              </a:lnSpc>
              <a:buNone/>
            </a:pP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+---+---+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algn="l" rtl="0" latinLnBrk="0">
              <a:lnSpc>
                <a:spcPts val="1050"/>
              </a:lnSpc>
              <a:buNone/>
            </a:pP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| 6 | 5 |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algn="l" rtl="0">
              <a:lnSpc>
                <a:spcPts val="1050"/>
              </a:lnSpc>
              <a:buNone/>
            </a:pP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+---+---*/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583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CAA3-59FA-F7B4-EC96-7DEB90F67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37999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highlight>
                  <a:srgbClr val="FFFF00"/>
                </a:highlight>
              </a:rPr>
              <a:t>DROP pipe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DF859-14C1-EC2E-C241-33E3DD960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965654"/>
            <a:ext cx="9927771" cy="4351338"/>
          </a:xfrm>
        </p:spPr>
        <p:txBody>
          <a:bodyPr/>
          <a:lstStyle/>
          <a:p>
            <a:r>
              <a:rPr lang="en-US" dirty="0"/>
              <a:t>The </a:t>
            </a:r>
            <a:r>
              <a:rPr lang="en-US" dirty="0">
                <a:hlinkClick r:id="rId2"/>
              </a:rPr>
              <a:t>DROP pipe operator</a:t>
            </a:r>
            <a:r>
              <a:rPr lang="en-US" dirty="0"/>
              <a:t> lets you remove columns from the current table. </a:t>
            </a:r>
          </a:p>
          <a:p>
            <a:r>
              <a:rPr lang="en-US" dirty="0"/>
              <a:t>The DROP pipe operator is similar to the SELECT * EXCEPT(column) statement. After a column is dropped you can still reference the original value by qualifying the column name with a table alias.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FROM (SELECT 1 AS x, 2 AS y) AS t</a:t>
            </a:r>
          </a:p>
          <a:p>
            <a:pPr marL="0" indent="0">
              <a:buNone/>
            </a:pPr>
            <a:r>
              <a:rPr lang="en-US" dirty="0"/>
              <a:t>|&gt; DROP x;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9A76F5-7C45-AC82-319C-6508881508BF}"/>
              </a:ext>
            </a:extLst>
          </p:cNvPr>
          <p:cNvSpPr txBox="1"/>
          <p:nvPr/>
        </p:nvSpPr>
        <p:spPr>
          <a:xfrm>
            <a:off x="5399314" y="5073019"/>
            <a:ext cx="6400800" cy="819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latinLnBrk="0">
              <a:lnSpc>
                <a:spcPts val="1050"/>
              </a:lnSpc>
              <a:buNone/>
            </a:pP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/*---+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algn="l" rtl="0" latinLnBrk="0">
              <a:lnSpc>
                <a:spcPts val="1050"/>
              </a:lnSpc>
              <a:buNone/>
            </a:pP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| y |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algn="l" rtl="0" latinLnBrk="0">
              <a:lnSpc>
                <a:spcPts val="1050"/>
              </a:lnSpc>
              <a:buNone/>
            </a:pP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+---+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algn="l" rtl="0" latinLnBrk="0">
              <a:lnSpc>
                <a:spcPts val="1050"/>
              </a:lnSpc>
              <a:buNone/>
            </a:pP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| 2 |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algn="l" rtl="0">
              <a:lnSpc>
                <a:spcPts val="1050"/>
              </a:lnSpc>
              <a:buNone/>
            </a:pPr>
            <a:r>
              <a:rPr lang="en-IN" b="0" dirty="0">
                <a:solidFill>
                  <a:srgbClr val="B80672"/>
                </a:solidFill>
                <a:effectLst/>
                <a:latin typeface="Roboto Mono" panose="00000009000000000000" pitchFamily="49" charset="0"/>
              </a:rPr>
              <a:t> +---*/</a:t>
            </a:r>
            <a:endParaRPr lang="en-IN" b="0" dirty="0"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057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0E7F-FC0A-9C22-AC88-4A9773B77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10515600" cy="754631"/>
          </a:xfrm>
        </p:spPr>
        <p:txBody>
          <a:bodyPr/>
          <a:lstStyle/>
          <a:p>
            <a:r>
              <a:rPr lang="en-IN" b="1" dirty="0">
                <a:highlight>
                  <a:srgbClr val="FFFF00"/>
                </a:highlight>
              </a:rPr>
              <a:t>RENAME pipe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734AF-3338-9249-172C-194E2C27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655" y="1253331"/>
            <a:ext cx="10515601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 </a:t>
            </a:r>
            <a:r>
              <a:rPr lang="en-US" dirty="0">
                <a:hlinkClick r:id="rId2"/>
              </a:rPr>
              <a:t>RENAME pipe operator</a:t>
            </a:r>
            <a:r>
              <a:rPr lang="en-US" dirty="0"/>
              <a:t> lets you rename columns from the current table. </a:t>
            </a:r>
          </a:p>
          <a:p>
            <a:r>
              <a:rPr lang="en-US" dirty="0"/>
              <a:t>The RENAME pipe operator is similar to the SELECT * EXCEPT(</a:t>
            </a:r>
            <a:r>
              <a:rPr lang="en-US" dirty="0" err="1"/>
              <a:t>old_column</a:t>
            </a:r>
            <a:r>
              <a:rPr lang="en-US" dirty="0"/>
              <a:t>), </a:t>
            </a:r>
            <a:r>
              <a:rPr lang="en-US" dirty="0" err="1"/>
              <a:t>old_column</a:t>
            </a:r>
            <a:r>
              <a:rPr lang="en-US" dirty="0"/>
              <a:t> AS </a:t>
            </a:r>
            <a:r>
              <a:rPr lang="en-US" dirty="0" err="1"/>
              <a:t>new_column</a:t>
            </a:r>
            <a:r>
              <a:rPr lang="en-US" dirty="0"/>
              <a:t> statement.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FROM (SELECT 1 AS x, 2 AS y, 3 AS z) AS t</a:t>
            </a:r>
          </a:p>
          <a:p>
            <a:pPr marL="0" indent="0">
              <a:buNone/>
            </a:pPr>
            <a:r>
              <a:rPr lang="en-US" dirty="0"/>
              <a:t>|&gt; RENAME y AS w;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pl-PL" dirty="0"/>
              <a:t>/*---+---+---+</a:t>
            </a:r>
          </a:p>
          <a:p>
            <a:pPr marL="0" indent="0">
              <a:buNone/>
            </a:pPr>
            <a:r>
              <a:rPr lang="pl-PL" dirty="0"/>
              <a:t> | x | w | z |</a:t>
            </a:r>
          </a:p>
          <a:p>
            <a:pPr marL="0" indent="0">
              <a:buNone/>
            </a:pPr>
            <a:r>
              <a:rPr lang="pl-PL" dirty="0"/>
              <a:t> +---+---+---+</a:t>
            </a:r>
          </a:p>
          <a:p>
            <a:pPr marL="0" indent="0">
              <a:buNone/>
            </a:pPr>
            <a:r>
              <a:rPr lang="pl-PL" dirty="0"/>
              <a:t> | 1 | 2 | 3 |</a:t>
            </a:r>
          </a:p>
          <a:p>
            <a:pPr marL="0" indent="0">
              <a:buNone/>
            </a:pPr>
            <a:r>
              <a:rPr lang="pl-PL" dirty="0"/>
              <a:t> +---+---+---*/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546574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1002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Calisto MT</vt:lpstr>
      <vt:lpstr>Roboto Mono</vt:lpstr>
      <vt:lpstr>Univers Condensed</vt:lpstr>
      <vt:lpstr>ChronicleVTI</vt:lpstr>
      <vt:lpstr>BigQuery- Pipe Queries</vt:lpstr>
      <vt:lpstr>SQL Operations with Bigquery – Pipe Query</vt:lpstr>
      <vt:lpstr>Data Retrieval </vt:lpstr>
      <vt:lpstr>Aggregation</vt:lpstr>
      <vt:lpstr> UNION ALL</vt:lpstr>
      <vt:lpstr> UNION ALL</vt:lpstr>
      <vt:lpstr> UNION ALL</vt:lpstr>
      <vt:lpstr>JOIN pipe operator</vt:lpstr>
      <vt:lpstr>EXTEND pipe operator </vt:lpstr>
      <vt:lpstr>PowerPoint Presentation</vt:lpstr>
      <vt:lpstr>Use cases </vt:lpstr>
      <vt:lpstr>EXTEND</vt:lpstr>
      <vt:lpstr>SET pipe operator</vt:lpstr>
      <vt:lpstr>DROP pipe operator</vt:lpstr>
      <vt:lpstr>RENAME pipe operator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2026-02-14T04:02:25Z</dcterms:created>
  <dcterms:modified xsi:type="dcterms:W3CDTF">2026-02-14T04:13:01Z</dcterms:modified>
</cp:coreProperties>
</file>