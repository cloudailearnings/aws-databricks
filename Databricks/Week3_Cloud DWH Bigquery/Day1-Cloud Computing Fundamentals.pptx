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u30TjUQ9XDKIflHyIorTQP3c2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948543" y="201499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b="1">
                <a:highlight>
                  <a:srgbClr val="FFFF00"/>
                </a:highlight>
              </a:rPr>
              <a:t>Cloud Computing Fundamentals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1846118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cloud computing model types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body" idx="1"/>
          </p:nvPr>
        </p:nvSpPr>
        <p:spPr>
          <a:xfrm>
            <a:off x="326571" y="682625"/>
            <a:ext cx="11582400" cy="5522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Cloud computing models are generally categorized into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b="1"/>
              <a:t> 3 main service models</a:t>
            </a:r>
            <a:r>
              <a:rPr lang="en-US"/>
              <a:t>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b="1"/>
              <a:t> 4 deployment models</a:t>
            </a:r>
            <a:r>
              <a:rPr lang="en-US"/>
              <a:t>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838199" y="2828836"/>
            <a:ext cx="1076597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Cloud Service Models (What services are offered)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a. IaaS – Infrastructure as a Service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b. PaaS – Platform as a Service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c. SaaS – Software as a Service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>
            <a:spLocks noGrp="1"/>
          </p:cNvSpPr>
          <p:nvPr>
            <p:ph type="title"/>
          </p:nvPr>
        </p:nvSpPr>
        <p:spPr>
          <a:xfrm>
            <a:off x="1817915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A. IaaS – Infrastructure as a Service</a:t>
            </a:r>
            <a:br>
              <a:rPr lang="en-US" b="1"/>
            </a:br>
            <a:endParaRPr/>
          </a:p>
        </p:txBody>
      </p:sp>
      <p:sp>
        <p:nvSpPr>
          <p:cNvPr id="105" name="Google Shape;105;p5"/>
          <p:cNvSpPr txBox="1">
            <a:spLocks noGrp="1"/>
          </p:cNvSpPr>
          <p:nvPr>
            <p:ph type="body" idx="1"/>
          </p:nvPr>
        </p:nvSpPr>
        <p:spPr>
          <a:xfrm>
            <a:off x="217714" y="1343818"/>
            <a:ext cx="1197428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Definition:</a:t>
            </a:r>
            <a:r>
              <a:rPr lang="en-US"/>
              <a:t> Provides virtualized computing resources over the internet.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User manages:</a:t>
            </a:r>
            <a:r>
              <a:rPr lang="en-US"/>
              <a:t> Operating systems, applications, runtime, and data.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Provider manages:</a:t>
            </a:r>
            <a:r>
              <a:rPr lang="en-US"/>
              <a:t> Hardware, networking, storage, and virtualization.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Examples: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AWS EC2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Google Compute Engine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Microsoft Azure Virtual Machines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Use case:</a:t>
            </a:r>
            <a:r>
              <a:rPr lang="en-US"/>
              <a:t> Hosting virtual machines, storage, networking, and testing environments.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2416629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B. PaaS – Platform as a Service</a:t>
            </a:r>
            <a:br>
              <a:rPr lang="en-US" b="1"/>
            </a:br>
            <a:endParaRPr/>
          </a:p>
        </p:txBody>
      </p:sp>
      <p:sp>
        <p:nvSpPr>
          <p:cNvPr id="111" name="Google Shape;1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Definition:</a:t>
            </a:r>
            <a:r>
              <a:rPr lang="en-US"/>
              <a:t> Provides a platform and environment to allow developers to build, test, and deploy applications.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User manages:</a:t>
            </a:r>
            <a:r>
              <a:rPr lang="en-US"/>
              <a:t> Applications and data.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Provider manages:</a:t>
            </a:r>
            <a:r>
              <a:rPr lang="en-US"/>
              <a:t> Infrastructure, runtime, OS, and middleware.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Examples: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Google App Engine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AWS Elastic Beanstalk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Microsoft Azure App Services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Use case:</a:t>
            </a:r>
            <a:r>
              <a:rPr lang="en-US"/>
              <a:t> Web app development, APIs, and application hosting.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2558143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C. SaaS – Software as a Service</a:t>
            </a:r>
            <a:br>
              <a:rPr lang="en-US" b="1"/>
            </a:br>
            <a:endParaRPr/>
          </a:p>
        </p:txBody>
      </p:sp>
      <p:sp>
        <p:nvSpPr>
          <p:cNvPr id="117" name="Google Shape;11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Definition:</a:t>
            </a:r>
            <a:r>
              <a:rPr lang="en-US"/>
              <a:t> Delivers software applications over the internet on a subscription basis.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User manages:</a:t>
            </a:r>
            <a:r>
              <a:rPr lang="en-US"/>
              <a:t> Only data and user access.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Provider manages:</a:t>
            </a:r>
            <a:r>
              <a:rPr lang="en-US"/>
              <a:t> Everything (infrastructure, platform, and software).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Examples: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Google Workspace (Gmail, Docs)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Salesforce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Microsoft 365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Use case:</a:t>
            </a:r>
            <a:r>
              <a:rPr lang="en-US"/>
              <a:t> Email, CRM, collaboration tools, office applications.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>
            <a:spLocks noGrp="1"/>
          </p:cNvSpPr>
          <p:nvPr>
            <p:ph type="title"/>
          </p:nvPr>
        </p:nvSpPr>
        <p:spPr>
          <a:xfrm>
            <a:off x="0" y="18256"/>
            <a:ext cx="12192000" cy="771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/>
              <a:t>☁️ 2. Cloud Deployment Models (Where the cloud is deployed)</a:t>
            </a:r>
            <a:endParaRPr sz="3600" b="1"/>
          </a:p>
        </p:txBody>
      </p:sp>
      <p:sp>
        <p:nvSpPr>
          <p:cNvPr id="123" name="Google Shape;123;p8"/>
          <p:cNvSpPr txBox="1">
            <a:spLocks noGrp="1"/>
          </p:cNvSpPr>
          <p:nvPr>
            <p:ph type="body" idx="1"/>
          </p:nvPr>
        </p:nvSpPr>
        <p:spPr>
          <a:xfrm>
            <a:off x="225136" y="1129433"/>
            <a:ext cx="11966864" cy="553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highlight>
                  <a:srgbClr val="FFFF00"/>
                </a:highlight>
              </a:rPr>
              <a:t>a. Public Cloud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Owned by:</a:t>
            </a:r>
            <a:r>
              <a:rPr lang="en-US"/>
              <a:t> Third-party providers.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Shared resources</a:t>
            </a:r>
            <a:r>
              <a:rPr lang="en-US"/>
              <a:t> over the internet.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Examples:</a:t>
            </a:r>
            <a:r>
              <a:rPr lang="en-US"/>
              <a:t> AWS, Azure, Google Cloud.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Use case:</a:t>
            </a:r>
            <a:r>
              <a:rPr lang="en-US"/>
              <a:t> Startups, general public access, scalability.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highlight>
                  <a:srgbClr val="FFFF00"/>
                </a:highlight>
              </a:rPr>
              <a:t>b. Private Cloud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Owned by:</a:t>
            </a:r>
            <a:r>
              <a:rPr lang="en-US"/>
              <a:t> A single organization.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Dedicated infrastructure</a:t>
            </a:r>
            <a:r>
              <a:rPr lang="en-US"/>
              <a:t> (on-premises or hosted).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Examples:</a:t>
            </a:r>
            <a:r>
              <a:rPr lang="en-US"/>
              <a:t> VMware, OpenStack.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Use case:</a:t>
            </a:r>
            <a:r>
              <a:rPr lang="en-US"/>
              <a:t> Enterprises needing high security or compliance.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highlight>
                  <a:srgbClr val="FFFF00"/>
                </a:highlight>
              </a:rPr>
              <a:t>c. Hybrid Cloud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Combination of:</a:t>
            </a:r>
            <a:r>
              <a:rPr lang="en-US"/>
              <a:t> Public + Private clouds.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Enables:</a:t>
            </a:r>
            <a:r>
              <a:rPr lang="en-US"/>
              <a:t> Data and application portability.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Use case:</a:t>
            </a:r>
            <a:r>
              <a:rPr lang="en-US"/>
              <a:t> Businesses balancing flexibility and control.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highlight>
                  <a:srgbClr val="FFFF00"/>
                </a:highlight>
              </a:rPr>
              <a:t>d. Community Cloud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Shared by:</a:t>
            </a:r>
            <a:r>
              <a:rPr lang="en-US"/>
              <a:t> Several organizations with similar requirements.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Managed by:</a:t>
            </a:r>
            <a:r>
              <a:rPr lang="en-US"/>
              <a:t> One or more of the participating organizations or a third party.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Use case:</a:t>
            </a:r>
            <a:r>
              <a:rPr lang="en-US"/>
              <a:t> Government or healthcare organizations.</a:t>
            </a:r>
            <a:endParaRPr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286" y="174171"/>
            <a:ext cx="1185454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title"/>
          </p:nvPr>
        </p:nvSpPr>
        <p:spPr>
          <a:xfrm>
            <a:off x="3602181" y="25991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Challenges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>
            <a:spLocks noGrp="1"/>
          </p:cNvSpPr>
          <p:nvPr>
            <p:ph type="body" idx="1"/>
          </p:nvPr>
        </p:nvSpPr>
        <p:spPr>
          <a:xfrm>
            <a:off x="0" y="435428"/>
            <a:ext cx="10515600" cy="651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 1. Security &amp; Privacy Issues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Data breaches &amp; leaks:</a:t>
            </a:r>
            <a:r>
              <a:rPr lang="en-US"/>
              <a:t> Sensitive data stored on third-party servers can be exposed.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Unauthorized access:</a:t>
            </a:r>
            <a:r>
              <a:rPr lang="en-US"/>
              <a:t> Weak access controls or misconfigurations may lead to attacks.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Data privacy compliance:</a:t>
            </a:r>
            <a:r>
              <a:rPr lang="en-US"/>
              <a:t> Hard to ensure compliance with laws like GDPR, HIPAA, etc.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Shared environment risks:</a:t>
            </a:r>
            <a:r>
              <a:rPr lang="en-US"/>
              <a:t> Multi-tenant setups can create security vulnerabilities.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US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 2. Downtime &amp; Service Reliability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Internet dependency:</a:t>
            </a:r>
            <a:r>
              <a:rPr lang="en-US"/>
              <a:t> Cloud services require constant internet connectivity.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Service outages:</a:t>
            </a:r>
            <a:r>
              <a:rPr lang="en-US"/>
              <a:t> Even major providers (AWS, Azure, GCP) can face downtime.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Limited control:</a:t>
            </a:r>
            <a:r>
              <a:rPr lang="en-US"/>
              <a:t> Users rely on the provider to restore services quickly.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US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 3. Cost Management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Unpredictable costs:</a:t>
            </a:r>
            <a:r>
              <a:rPr lang="en-US"/>
              <a:t> Pay-as-you-go models can become expensive without monitoring.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Hidden fees:</a:t>
            </a:r>
            <a:r>
              <a:rPr lang="en-US"/>
              <a:t> Data transfer, API calls, or scaling costs can add up.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Overprovisioning:</a:t>
            </a:r>
            <a:r>
              <a:rPr lang="en-US"/>
              <a:t> Poor resource management leads to wasted expenses.</a:t>
            </a:r>
            <a:endParaRPr/>
          </a:p>
          <a:p>
            <a:pPr marL="228600" lvl="0" indent="-9080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>
            <a:spLocks noGrp="1"/>
          </p:cNvSpPr>
          <p:nvPr>
            <p:ph type="body" idx="1"/>
          </p:nvPr>
        </p:nvSpPr>
        <p:spPr>
          <a:xfrm>
            <a:off x="173181" y="609888"/>
            <a:ext cx="11859491" cy="594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 4. Data Control &amp; Governance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Data location uncertainty:</a:t>
            </a:r>
            <a:r>
              <a:rPr lang="en-US"/>
              <a:t> Data may be stored in multiple countries or data centers.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Vendor lock-in:</a:t>
            </a:r>
            <a:r>
              <a:rPr lang="en-US"/>
              <a:t> Difficult to migrate to another provider due to proprietary technologies.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Limited visibility:</a:t>
            </a:r>
            <a:r>
              <a:rPr lang="en-US"/>
              <a:t> Users may not have full control over how data is managed.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 5. Performance &amp; Latency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Network delays:</a:t>
            </a:r>
            <a:r>
              <a:rPr lang="en-US"/>
              <a:t> Data transfer between users and cloud servers may cause lag.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Resource contention:</a:t>
            </a:r>
            <a:r>
              <a:rPr lang="en-US"/>
              <a:t> Shared infrastructure can affect performance during high demand.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Geographical distance:</a:t>
            </a:r>
            <a:r>
              <a:rPr lang="en-US"/>
              <a:t> Servers far from users increase response time.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br>
              <a:rPr lang="en-US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6. Compliance &amp; Legal Concerns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Regulatory challenges:</a:t>
            </a:r>
            <a:r>
              <a:rPr lang="en-US"/>
              <a:t> Meeting regional or industry-specific standards (e.g., banking, healthcare).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Data sovereignty:</a:t>
            </a:r>
            <a:r>
              <a:rPr lang="en-US"/>
              <a:t> Legal restrictions on where data can be stored or processed.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Auditing difficulties:</a:t>
            </a:r>
            <a:r>
              <a:rPr lang="en-US"/>
              <a:t> Hard to verify security practices of cloud providers.</a:t>
            </a:r>
            <a:endParaRPr/>
          </a:p>
          <a:p>
            <a:pPr marL="228600" lvl="0" indent="-9080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>
            <a:spLocks noGrp="1"/>
          </p:cNvSpPr>
          <p:nvPr>
            <p:ph type="body" idx="1"/>
          </p:nvPr>
        </p:nvSpPr>
        <p:spPr>
          <a:xfrm>
            <a:off x="277091" y="661842"/>
            <a:ext cx="10515600" cy="571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 7. Technical &amp; Skill Gaps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Lack of expertise:</a:t>
            </a:r>
            <a:r>
              <a:rPr lang="en-US"/>
              <a:t> Organizations may lack skilled professionals for cloud migration or management.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Complexity:</a:t>
            </a:r>
            <a:r>
              <a:rPr lang="en-US"/>
              <a:t> Managing hybrid or multi-cloud environments can be technically challenging.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Integration issues:</a:t>
            </a:r>
            <a:r>
              <a:rPr lang="en-US"/>
              <a:t> Connecting legacy systems with modern cloud platforms isn’t always smooth.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US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/>
              <a:t> 8. Migration Challenges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Data transfer difficulties:</a:t>
            </a:r>
            <a:r>
              <a:rPr lang="en-US"/>
              <a:t> Moving large datasets is time-consuming and costly.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Application re-engineering:</a:t>
            </a:r>
            <a:r>
              <a:rPr lang="en-US"/>
              <a:t> Some apps must be redesigned to run in the cloud.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Downtime during migration:</a:t>
            </a:r>
            <a:r>
              <a:rPr lang="en-US"/>
              <a:t> Transition may temporarily disrupt operations.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>
            <a:spLocks noGrp="1"/>
          </p:cNvSpPr>
          <p:nvPr>
            <p:ph type="title"/>
          </p:nvPr>
        </p:nvSpPr>
        <p:spPr>
          <a:xfrm>
            <a:off x="4069773" y="24329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Pricing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5"/>
          <p:cNvPicPr preferRelativeResize="0"/>
          <p:nvPr/>
        </p:nvPicPr>
        <p:blipFill rotWithShape="1">
          <a:blip r:embed="rId3">
            <a:alphaModFix/>
          </a:blip>
          <a:srcRect t="1950" b="-1950"/>
          <a:stretch/>
        </p:blipFill>
        <p:spPr>
          <a:xfrm>
            <a:off x="374073" y="259773"/>
            <a:ext cx="10920845" cy="6338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2105891" y="18256"/>
            <a:ext cx="10515600" cy="6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AWS Pricing Overview</a:t>
            </a:r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"/>
          </p:nvPr>
        </p:nvSpPr>
        <p:spPr>
          <a:xfrm>
            <a:off x="207818" y="1015882"/>
            <a:ext cx="11145982" cy="597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(EC2):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On-demand: ~$0.0116/hour (t4g.micro)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Reserved instances: Up to 75% cheaper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Spot instances: Up to 90% discount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(S3):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$0.023/GB per month (Standard storage tier)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Cheaper tiers for infrequent or archival storage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(RDS):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Depends on instance type and storage size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tier: 750 hours/month for 12 months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Tier:</a:t>
            </a:r>
            <a:endParaRPr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months free (EC2, S3, RDS, Lambda, etc.)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free: 1M Lambda requests/month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1087582" y="18256"/>
            <a:ext cx="10515600" cy="75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Microsoft Azure Pricing Overview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>
            <a:off x="141514" y="948297"/>
            <a:ext cx="10515600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(VMs):</a:t>
            </a:r>
            <a:endParaRPr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B1s VM: ~$0.012/hour</a:t>
            </a:r>
            <a:endParaRPr i="1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Discounts up to 72% with Reserved Instances</a:t>
            </a:r>
            <a:endParaRPr i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(Blob):</a:t>
            </a:r>
            <a:endParaRPr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$0.0184/GB (Hot storage)</a:t>
            </a:r>
            <a:endParaRPr i="1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$0.01/GB (Cool)</a:t>
            </a:r>
            <a:endParaRPr i="1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$0.00099/GB (Archive)</a:t>
            </a:r>
            <a:endParaRPr i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(SQL DB):</a:t>
            </a:r>
            <a:endParaRPr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 tier starts around $5/month</a:t>
            </a:r>
            <a:endParaRPr i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Tier:</a:t>
            </a:r>
            <a:endParaRPr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$200 credit for first 30 days</a:t>
            </a:r>
            <a:endParaRPr i="1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12-month free limited services</a:t>
            </a:r>
            <a:endParaRPr i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>
            <a:spLocks noGrp="1"/>
          </p:cNvSpPr>
          <p:nvPr>
            <p:ph type="title"/>
          </p:nvPr>
        </p:nvSpPr>
        <p:spPr>
          <a:xfrm>
            <a:off x="1274618" y="18256"/>
            <a:ext cx="10515600" cy="6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Google Cloud (GCP) Pricing Overview</a:t>
            </a:r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body" idx="1"/>
          </p:nvPr>
        </p:nvSpPr>
        <p:spPr>
          <a:xfrm>
            <a:off x="145473" y="1415991"/>
            <a:ext cx="11208327" cy="5170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(Compute Engine):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e2-micro instance: ~$0.0096/hour</a:t>
            </a:r>
            <a:endParaRPr sz="24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Sustained use discounts: Up to 30% automatically</a:t>
            </a:r>
            <a:endParaRPr sz="24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Preemptible VMs: Up to 80% cheaper</a:t>
            </a:r>
            <a:endParaRPr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(Cloud Storage):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$0.020/GB (Standard)</a:t>
            </a:r>
            <a:endParaRPr sz="24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$0.010/GB (Nearline)</a:t>
            </a:r>
            <a:endParaRPr sz="24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$0.004/GB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Coldline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(Cloud SQL):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instance ~$0.017/hour</a:t>
            </a:r>
            <a:endParaRPr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Tier: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free e2-micro VM (1 vCPU, 0.6 GB RAM)</a:t>
            </a:r>
            <a:endParaRPr sz="2400"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$300 free credit for 90 days</a:t>
            </a:r>
            <a:endParaRPr sz="24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D15B-FA13-A18D-EB40-139D26CA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AWS vs Azure vs GCP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5FA9D5-515C-CFE6-F556-003FA47E0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353802"/>
              </p:ext>
            </p:extLst>
          </p:nvPr>
        </p:nvGraphicFramePr>
        <p:xfrm>
          <a:off x="248798" y="845911"/>
          <a:ext cx="10789316" cy="6029614"/>
        </p:xfrm>
        <a:graphic>
          <a:graphicData uri="http://schemas.openxmlformats.org/drawingml/2006/table">
            <a:tbl>
              <a:tblPr/>
              <a:tblGrid>
                <a:gridCol w="2697329">
                  <a:extLst>
                    <a:ext uri="{9D8B030D-6E8A-4147-A177-3AD203B41FA5}">
                      <a16:colId xmlns:a16="http://schemas.microsoft.com/office/drawing/2014/main" val="671645443"/>
                    </a:ext>
                  </a:extLst>
                </a:gridCol>
                <a:gridCol w="2697329">
                  <a:extLst>
                    <a:ext uri="{9D8B030D-6E8A-4147-A177-3AD203B41FA5}">
                      <a16:colId xmlns:a16="http://schemas.microsoft.com/office/drawing/2014/main" val="1779810438"/>
                    </a:ext>
                  </a:extLst>
                </a:gridCol>
                <a:gridCol w="2697329">
                  <a:extLst>
                    <a:ext uri="{9D8B030D-6E8A-4147-A177-3AD203B41FA5}">
                      <a16:colId xmlns:a16="http://schemas.microsoft.com/office/drawing/2014/main" val="1968518568"/>
                    </a:ext>
                  </a:extLst>
                </a:gridCol>
                <a:gridCol w="2697329">
                  <a:extLst>
                    <a:ext uri="{9D8B030D-6E8A-4147-A177-3AD203B41FA5}">
                      <a16:colId xmlns:a16="http://schemas.microsoft.com/office/drawing/2014/main" val="1205831516"/>
                    </a:ext>
                  </a:extLst>
                </a:gridCol>
              </a:tblGrid>
              <a:tr h="739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AWS (Amazon Web Services)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Azure (Microsoft Azure)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GCP (Google Cloud Platform)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756892"/>
                  </a:ext>
                </a:extLst>
              </a:tr>
              <a:tr h="398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Launch Year</a:t>
                      </a:r>
                      <a:endParaRPr lang="en-US" sz="240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2006 (oldest)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2010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2011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554750"/>
                  </a:ext>
                </a:extLst>
              </a:tr>
              <a:tr h="398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Market Share</a:t>
                      </a:r>
                      <a:endParaRPr lang="en-US" sz="240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🥇 Largest (~31–33%)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🥈 Second (~23–25%)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🥉 Third (~10–12%)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289873"/>
                  </a:ext>
                </a:extLst>
              </a:tr>
              <a:tr h="739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Compute</a:t>
                      </a:r>
                      <a:endParaRPr lang="en-US" sz="24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EC2, Lambda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Virtual Machines, Functions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Compute Engine, Cloud Functions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832027"/>
                  </a:ext>
                </a:extLst>
              </a:tr>
              <a:tr h="398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Containers</a:t>
                      </a:r>
                      <a:endParaRPr lang="en-US" sz="240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ECS, EKS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AKS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GKE (best-in-class)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965001"/>
                  </a:ext>
                </a:extLst>
              </a:tr>
              <a:tr h="739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Storage</a:t>
                      </a:r>
                      <a:endParaRPr lang="en-US" sz="240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S3, EBS, Glacier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Blob Storage, Disk Storage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Cloud Storage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724239"/>
                  </a:ext>
                </a:extLst>
              </a:tr>
              <a:tr h="739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Free Tier</a:t>
                      </a:r>
                      <a:endParaRPr lang="en-US" sz="24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Limited (12 months + always free)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Limited</a:t>
                      </a:r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Most generous free tier</a:t>
                      </a:r>
                      <a:endParaRPr lang="en-US" sz="24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964921"/>
                  </a:ext>
                </a:extLst>
              </a:tr>
              <a:tr h="73935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836298"/>
                  </a:ext>
                </a:extLst>
              </a:tr>
              <a:tr h="24649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700" dirty="0"/>
                    </a:p>
                  </a:txBody>
                  <a:tcPr marL="46789" marR="46789" marT="23394" marB="233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529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34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32412C-5F18-DE7E-86F2-5F1D16B6F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105072"/>
              </p:ext>
            </p:extLst>
          </p:nvPr>
        </p:nvGraphicFramePr>
        <p:xfrm>
          <a:off x="643467" y="1092901"/>
          <a:ext cx="10905067" cy="4672202"/>
        </p:xfrm>
        <a:graphic>
          <a:graphicData uri="http://schemas.openxmlformats.org/drawingml/2006/table">
            <a:tbl>
              <a:tblPr/>
              <a:tblGrid>
                <a:gridCol w="2696520">
                  <a:extLst>
                    <a:ext uri="{9D8B030D-6E8A-4147-A177-3AD203B41FA5}">
                      <a16:colId xmlns:a16="http://schemas.microsoft.com/office/drawing/2014/main" val="3809005720"/>
                    </a:ext>
                  </a:extLst>
                </a:gridCol>
                <a:gridCol w="2815507">
                  <a:extLst>
                    <a:ext uri="{9D8B030D-6E8A-4147-A177-3AD203B41FA5}">
                      <a16:colId xmlns:a16="http://schemas.microsoft.com/office/drawing/2014/main" val="3719579919"/>
                    </a:ext>
                  </a:extLst>
                </a:gridCol>
                <a:gridCol w="2696520">
                  <a:extLst>
                    <a:ext uri="{9D8B030D-6E8A-4147-A177-3AD203B41FA5}">
                      <a16:colId xmlns:a16="http://schemas.microsoft.com/office/drawing/2014/main" val="2880709934"/>
                    </a:ext>
                  </a:extLst>
                </a:gridCol>
                <a:gridCol w="2696520">
                  <a:extLst>
                    <a:ext uri="{9D8B030D-6E8A-4147-A177-3AD203B41FA5}">
                      <a16:colId xmlns:a16="http://schemas.microsoft.com/office/drawing/2014/main" val="1336292454"/>
                    </a:ext>
                  </a:extLst>
                </a:gridCol>
              </a:tblGrid>
              <a:tr h="631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Databases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RDS, DynamoDB, Aurora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Azure SQL, Cosmos DB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Cloud SQL, BigQuery, Spanner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613165"/>
                  </a:ext>
                </a:extLst>
              </a:tr>
              <a:tr h="3575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Data Warehouse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Redshift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Synapse Analytics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BigQuery (leader)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017793"/>
                  </a:ext>
                </a:extLst>
              </a:tr>
              <a:tr h="3575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ETL / Data Integration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Glue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Data Factory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Dataflow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308152"/>
                  </a:ext>
                </a:extLst>
              </a:tr>
              <a:tr h="3575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Streaming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Kinesis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Event Hubs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Pub/Sub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240390"/>
                  </a:ext>
                </a:extLst>
              </a:tr>
              <a:tr h="3575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AI / ML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SageMaker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Azure ML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Vertex AI (strong)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895360"/>
                  </a:ext>
                </a:extLst>
              </a:tr>
              <a:tr h="3575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DevOps Tools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CodePipeline, CodeBuild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Azure DevOps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Cloud Build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642330"/>
                  </a:ext>
                </a:extLst>
              </a:tr>
              <a:tr h="631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Networking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VPC, Route 53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Virtual Network, Traffic Manager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VPC, Cloud DNS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834899"/>
                  </a:ext>
                </a:extLst>
              </a:tr>
              <a:tr h="631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Security &amp; IAM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IAM (complex but powerful)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Azure AD (best for enterprises)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Cloud IAM (simpler)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330775"/>
                  </a:ext>
                </a:extLst>
              </a:tr>
              <a:tr h="3575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Hybrid Cloud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Outposts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Azure Arc (best)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Anthos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499439"/>
                  </a:ext>
                </a:extLst>
              </a:tr>
              <a:tr h="631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effectLst/>
                          <a:latin typeface="Arial" panose="020B0604020202020204" pitchFamily="34" charset="0"/>
                        </a:rPr>
                        <a:t>Pricing Model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Pay-as-you-go (complex)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Pay-as-you-go + enterprise discounts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Simpler &amp; transparent</a:t>
                      </a:r>
                    </a:p>
                  </a:txBody>
                  <a:tcPr marL="46722" marR="46722" marT="23361" marB="233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74568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B2E5A17-320C-9E9C-7165-64FB4CB55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AWS vs Azure vs GCP</a:t>
            </a:r>
          </a:p>
        </p:txBody>
      </p:sp>
    </p:spTree>
    <p:extLst>
      <p:ext uri="{BB962C8B-B14F-4D97-AF65-F5344CB8AC3E}">
        <p14:creationId xmlns:p14="http://schemas.microsoft.com/office/powerpoint/2010/main" val="212377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1309</Words>
  <Application>Microsoft Office PowerPoint</Application>
  <PresentationFormat>Widescreen</PresentationFormat>
  <Paragraphs>210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Noto Sans Symbols</vt:lpstr>
      <vt:lpstr>Office Theme</vt:lpstr>
      <vt:lpstr>Cloud Computing Fundamentals</vt:lpstr>
      <vt:lpstr>cloud computing model types </vt:lpstr>
      <vt:lpstr>PowerPoint Presentation</vt:lpstr>
      <vt:lpstr>PowerPoint Presentation</vt:lpstr>
      <vt:lpstr>A. IaaS – Infrastructure as a Service </vt:lpstr>
      <vt:lpstr>B. PaaS – Platform as a Service </vt:lpstr>
      <vt:lpstr>C. SaaS – Software as a Service </vt:lpstr>
      <vt:lpstr>☁️ 2. Cloud Deployment Models (Where the cloud is deployed)</vt:lpstr>
      <vt:lpstr>PowerPoint Presentation</vt:lpstr>
      <vt:lpstr>Challenges</vt:lpstr>
      <vt:lpstr>PowerPoint Presentation</vt:lpstr>
      <vt:lpstr>PowerPoint Presentation</vt:lpstr>
      <vt:lpstr>PowerPoint Presentation</vt:lpstr>
      <vt:lpstr>Pricing</vt:lpstr>
      <vt:lpstr>PowerPoint Presentation</vt:lpstr>
      <vt:lpstr>AWS Pricing Overview</vt:lpstr>
      <vt:lpstr>Microsoft Azure Pricing Overview</vt:lpstr>
      <vt:lpstr>Google Cloud (GCP) Pricing Overview</vt:lpstr>
      <vt:lpstr>AWS vs Azure vs GCP</vt:lpstr>
      <vt:lpstr>AWS vs Azure vs GCP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Data Engineering</dc:creator>
  <cp:lastModifiedBy>Rajesh Kumar Devabhaktuni</cp:lastModifiedBy>
  <cp:revision>5</cp:revision>
  <dcterms:created xsi:type="dcterms:W3CDTF">2025-10-22T05:38:52Z</dcterms:created>
  <dcterms:modified xsi:type="dcterms:W3CDTF">2026-02-12T15:28:26Z</dcterms:modified>
</cp:coreProperties>
</file>