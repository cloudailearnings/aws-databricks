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304" r:id="rId4"/>
    <p:sldId id="305" r:id="rId5"/>
    <p:sldId id="306" r:id="rId6"/>
    <p:sldId id="307" r:id="rId7"/>
    <p:sldId id="261" r:id="rId8"/>
    <p:sldId id="262" r:id="rId9"/>
    <p:sldId id="263" r:id="rId10"/>
    <p:sldId id="264" r:id="rId11"/>
    <p:sldId id="265" r:id="rId12"/>
    <p:sldId id="266" r:id="rId13"/>
    <p:sldId id="257" r:id="rId14"/>
    <p:sldId id="258" r:id="rId15"/>
    <p:sldId id="259" r:id="rId16"/>
    <p:sldId id="260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1" r:id="rId25"/>
    <p:sldId id="280" r:id="rId26"/>
    <p:sldId id="274" r:id="rId27"/>
    <p:sldId id="276" r:id="rId28"/>
    <p:sldId id="277" r:id="rId29"/>
    <p:sldId id="278" r:id="rId30"/>
    <p:sldId id="279" r:id="rId31"/>
    <p:sldId id="282" r:id="rId32"/>
    <p:sldId id="283" r:id="rId33"/>
    <p:sldId id="284" r:id="rId34"/>
    <p:sldId id="285" r:id="rId35"/>
    <p:sldId id="286" r:id="rId36"/>
    <p:sldId id="301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BC9F-34C4-E0D4-BCCF-192A35C42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83CC0-B186-9A39-9F28-4340E0781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3497-8F8C-7E12-8728-0C6A5981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9CE7D-88E0-A215-CA5F-E20DFB48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61382-7EB5-576B-49D2-F30504FC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6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5922-DE64-85C1-FA91-73BD9512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54B52-9CA4-1343-69B1-5F099407F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32E00-2609-6023-A6BC-E6FFE961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2064E-95EF-A0A0-79C0-01DE9563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E7C22-A437-9748-5C5B-163E6475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1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E848-8795-3D37-D2EA-3BD51A3E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5F35E-B9F3-62A4-0473-2D2BE7E67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864F0-3901-FFD7-E95B-F022478E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2D779-B765-88B1-6B4A-82FA8BD7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02434-91FB-0ECA-EDC7-2D3C58EA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86E8-B715-E71F-21C7-37683D58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BB6EF-DE5A-E735-C398-432D0C759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F4F57-C262-55CC-AF2E-B672367D6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59506-1D26-4C11-9BE5-27CFB91B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6F44F-7E69-8EA1-A908-84D8009B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AFA1B-A73A-F614-47B5-D6A7A7F1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1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8EC8-B52B-8C37-A5EC-35AC5EA4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F6DDF-2957-EF77-40B2-5A52A56B3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10F99-C6AC-54DB-A831-B11B1617F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73667-9CD7-EF10-9A1D-11D2346A6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EDE28B-6776-06EE-8346-856E8A701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D8BAC-76B7-3EDE-0FC6-E17FF0E6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D50B2-C819-498B-AE26-E25C5901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D9454-2172-4285-321A-FD409A53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2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3685-9035-8D9E-7A97-3D836C9A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52343B-9F1A-4BDF-69E9-1E62AFDB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7D307-41B8-18B2-299A-06315640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D1F0F-EE86-85EE-F824-27911470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9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62664-F81D-F8D0-FF3E-53C85CE3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238A8-0C04-277F-E10D-7BC5F4C2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A958E-50AD-8E5C-0666-F3E9BC7D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DFAC-D618-540F-3610-67881EF6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DF7DF-4CA8-C5D6-612E-E73BA85CC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F9D05-8042-3BBB-B99F-2A660F6B0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E48B2-E2C3-BDFD-89FE-BC2C12F1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63545-4851-706C-22DD-7B6C3170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E7B06-D72F-9D3F-03F2-EF5A0176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2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A2E7-E75D-DAD0-879D-2F677290A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51015-6A21-BC9F-FE04-1FF51897F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A2974-593C-C7CB-1D9D-C09440D2A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255F3-1F75-D48D-D0F0-D95BE48E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13A63-8103-4548-3EFE-6E1EA588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8AEE9-0732-DC16-48B0-A46E4D8F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0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690B-B997-23CA-D75F-3C9B5ABA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B63F2-D45A-8D2D-F4EA-1F05B3645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10F64-AD66-966E-9158-0FF7708A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C32C7-D939-3FD6-718B-027902E1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6C0F8-2B3E-4E20-6BB7-330E48D6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98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CCE45-C7C3-920A-37AE-E2045F531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F76F0-B304-CF85-AEFF-64C02EB4B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6F069-D31F-5399-558F-87AF4F37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275B9-D7CF-7FC1-F9FE-B94572FA9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5C394-2ABB-A5F4-0140-0A09C3C1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4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7F153-0BFE-2062-BCE7-008ABA37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9DE5A-D166-D294-1742-260E332DC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98887-CA8F-7485-9266-B44CB87DA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55D49-D5C3-4271-97C8-46183E33F6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47D81-2E72-E30D-6D63-EBFA99A6E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5F04B-432C-ED8A-8436-19FA4C735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B5A68-22E0-4E8B-8BB9-E3DD010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755D-FDFD-0B60-AE0B-47A14E09D7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BigQuery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6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9D532-F369-07FA-ED7F-79CE4C600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43295"/>
            <a:ext cx="10905066" cy="3571408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DAEBD-80EC-1783-0902-313C2A10F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533" y="225810"/>
            <a:ext cx="3093988" cy="441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0BCA26-676D-7245-24BF-D1810D436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914400"/>
            <a:ext cx="11409218" cy="571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C1843-8C02-C515-78E8-03FEC001E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750" y="157564"/>
            <a:ext cx="3551228" cy="723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515D46-A59D-9184-14AF-01602B2D3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36" y="1206947"/>
            <a:ext cx="11357263" cy="484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0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4C29-0ADB-43BA-9C2E-A8EA40E0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829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Data Cleansing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EECA-38FA-E793-EB81-DF9567566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4" y="1422854"/>
            <a:ext cx="11451772" cy="435133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Data cleansing or data cleaning </a:t>
            </a:r>
            <a:r>
              <a:rPr lang="en-US" dirty="0"/>
              <a:t>is the process of identifying and correcting corrupt, inaccurate, or irrelevant records from a dataset, table, or database. </a:t>
            </a:r>
          </a:p>
          <a:p>
            <a:r>
              <a:rPr lang="en-US" dirty="0"/>
              <a:t>It involves detecting incomplete, incorrect, or inaccurate parts of the data and then replacing, modifying, or deleting the affected data.</a:t>
            </a:r>
          </a:p>
          <a:p>
            <a:endParaRPr lang="en-US" dirty="0"/>
          </a:p>
          <a:p>
            <a:r>
              <a:rPr lang="en-US" dirty="0"/>
              <a:t>When combining multiple data sources, there are many opportunities for data to be </a:t>
            </a:r>
            <a:r>
              <a:rPr lang="en-US" b="1" dirty="0">
                <a:highlight>
                  <a:srgbClr val="FFFF00"/>
                </a:highlight>
              </a:rPr>
              <a:t>duplicated or mislabeled</a:t>
            </a:r>
            <a:r>
              <a:rPr lang="en-US" dirty="0"/>
              <a:t>.</a:t>
            </a:r>
          </a:p>
          <a:p>
            <a:r>
              <a:rPr lang="en-US" dirty="0"/>
              <a:t> If data is incorrect, outcomes and algorithms are unreliable, even though they may look correct. </a:t>
            </a:r>
          </a:p>
        </p:txBody>
      </p:sp>
    </p:spTree>
    <p:extLst>
      <p:ext uri="{BB962C8B-B14F-4D97-AF65-F5344CB8AC3E}">
        <p14:creationId xmlns:p14="http://schemas.microsoft.com/office/powerpoint/2010/main" val="417488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C1A6-F4D5-C511-0D3D-C2979FBFB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253331"/>
            <a:ext cx="10515600" cy="4351338"/>
          </a:xfrm>
        </p:spPr>
        <p:txBody>
          <a:bodyPr/>
          <a:lstStyle/>
          <a:p>
            <a:r>
              <a:rPr lang="en-IN" i="1" dirty="0"/>
              <a:t>Remove duplicate or irrelevant observations</a:t>
            </a:r>
          </a:p>
          <a:p>
            <a:r>
              <a:rPr lang="en-IN" i="1" dirty="0"/>
              <a:t>Fix Schema Level issues</a:t>
            </a:r>
          </a:p>
          <a:p>
            <a:r>
              <a:rPr lang="en-IN" i="1" dirty="0"/>
              <a:t>Filter unwanted outliers</a:t>
            </a:r>
          </a:p>
          <a:p>
            <a:r>
              <a:rPr lang="en-IN" i="1" dirty="0"/>
              <a:t>Handling missing data</a:t>
            </a:r>
          </a:p>
          <a:p>
            <a:r>
              <a:rPr lang="en-IN" i="1" dirty="0"/>
              <a:t>Data aggregation</a:t>
            </a:r>
          </a:p>
          <a:p>
            <a:r>
              <a:rPr lang="en-IN" i="1" dirty="0"/>
              <a:t>Data Scrubbing</a:t>
            </a:r>
          </a:p>
          <a:p>
            <a:r>
              <a:rPr lang="en-IN" i="1" dirty="0"/>
              <a:t>Data Transformations</a:t>
            </a:r>
          </a:p>
          <a:p>
            <a:r>
              <a:rPr lang="en-IN" i="1" dirty="0"/>
              <a:t>Data Validation for Data Quality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96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DA0A-196A-5B14-888A-7F4FE03F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65516"/>
          </a:xfrm>
        </p:spPr>
        <p:txBody>
          <a:bodyPr/>
          <a:lstStyle/>
          <a:p>
            <a:r>
              <a:rPr lang="en-US" b="1" dirty="0" err="1"/>
              <a:t>BigQuery</a:t>
            </a:r>
            <a:r>
              <a:rPr lang="en-US" b="1" dirty="0"/>
              <a:t> 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663E-4260-2785-6EF6-D4F94409B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368425"/>
            <a:ext cx="11734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 err="1"/>
              <a:t>BigQuery</a:t>
            </a:r>
            <a:r>
              <a:rPr lang="en-US" b="1" dirty="0"/>
              <a:t> dataset</a:t>
            </a:r>
            <a:r>
              <a:rPr lang="en-US" dirty="0"/>
              <a:t> is a </a:t>
            </a:r>
            <a:r>
              <a:rPr lang="en-US" b="1" dirty="0"/>
              <a:t>logical container</a:t>
            </a:r>
            <a:r>
              <a:rPr lang="en-US" dirty="0"/>
              <a:t> inside a GCP project that holds: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Views</a:t>
            </a:r>
          </a:p>
          <a:p>
            <a:r>
              <a:rPr lang="en-US" dirty="0"/>
              <a:t>Materialized views</a:t>
            </a:r>
          </a:p>
          <a:p>
            <a:r>
              <a:rPr lang="en-US" dirty="0"/>
              <a:t>External tables</a:t>
            </a:r>
          </a:p>
          <a:p>
            <a:r>
              <a:rPr lang="en-US" dirty="0"/>
              <a:t>It also defines </a:t>
            </a:r>
            <a:r>
              <a:rPr lang="en-US" b="1" dirty="0"/>
              <a:t>where the data lives</a:t>
            </a:r>
            <a:r>
              <a:rPr lang="en-US" dirty="0"/>
              <a:t> (region) and </a:t>
            </a:r>
            <a:r>
              <a:rPr lang="en-US" b="1" dirty="0"/>
              <a:t>who can access it</a:t>
            </a:r>
            <a:r>
              <a:rPr lang="en-US" dirty="0"/>
              <a:t> (permissions).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5CBAF-AA56-1E51-2AF4-356A5A23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626" y="4783090"/>
            <a:ext cx="4349974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6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EBEC9-6436-BF6C-FBD8-6CF39A8F6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Why datasets matter in 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BigQuery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dirty="0"/>
              <a:t>A dataset controls:</a:t>
            </a:r>
          </a:p>
          <a:p>
            <a:pPr marL="0" indent="0">
              <a:buNone/>
            </a:pPr>
            <a:r>
              <a:rPr lang="en-US" b="1" dirty="0"/>
              <a:t>1️⃣ Location</a:t>
            </a:r>
          </a:p>
          <a:p>
            <a:r>
              <a:rPr lang="en-US" dirty="0"/>
              <a:t>US</a:t>
            </a:r>
          </a:p>
          <a:p>
            <a:r>
              <a:rPr lang="en-US" dirty="0"/>
              <a:t>EU</a:t>
            </a:r>
          </a:p>
          <a:p>
            <a:r>
              <a:rPr lang="en-US" dirty="0"/>
              <a:t>asia-south1, etc.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⚠️ Tables </a:t>
            </a:r>
            <a:r>
              <a:rPr lang="en-US" b="1" dirty="0">
                <a:solidFill>
                  <a:srgbClr val="FF0000"/>
                </a:solidFill>
              </a:rPr>
              <a:t>cannot join across different locations</a:t>
            </a:r>
            <a:r>
              <a:rPr lang="en-US" dirty="0">
                <a:solidFill>
                  <a:srgbClr val="FF0000"/>
                </a:solidFill>
              </a:rPr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2️⃣ Access control (IAM)</a:t>
            </a:r>
          </a:p>
          <a:p>
            <a:r>
              <a:rPr lang="en-US" dirty="0"/>
              <a:t>You assign permissions </a:t>
            </a:r>
            <a:r>
              <a:rPr lang="en-US" b="1" dirty="0"/>
              <a:t>at dataset level</a:t>
            </a:r>
            <a:r>
              <a:rPr lang="en-US" dirty="0"/>
              <a:t>:</a:t>
            </a:r>
          </a:p>
          <a:p>
            <a:r>
              <a:rPr lang="en-US" dirty="0" err="1"/>
              <a:t>bigquery.dataViewer</a:t>
            </a:r>
            <a:r>
              <a:rPr lang="en-US" dirty="0"/>
              <a:t> – read only</a:t>
            </a:r>
          </a:p>
          <a:p>
            <a:r>
              <a:rPr lang="en-US" dirty="0" err="1"/>
              <a:t>bigquery.dataEditor</a:t>
            </a:r>
            <a:r>
              <a:rPr lang="en-US" dirty="0"/>
              <a:t> – read/write</a:t>
            </a:r>
          </a:p>
          <a:p>
            <a:r>
              <a:rPr lang="en-US" dirty="0" err="1"/>
              <a:t>bigquery.dataOwner</a:t>
            </a:r>
            <a:r>
              <a:rPr lang="en-US" dirty="0"/>
              <a:t> – full control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3️⃣ Organization</a:t>
            </a:r>
          </a:p>
          <a:p>
            <a:r>
              <a:rPr lang="en-US" dirty="0"/>
              <a:t>Instead of dumping everything together:</a:t>
            </a:r>
          </a:p>
          <a:p>
            <a:r>
              <a:rPr lang="en-US" dirty="0" err="1"/>
              <a:t>raw_data</a:t>
            </a:r>
            <a:endParaRPr lang="en-US" dirty="0"/>
          </a:p>
          <a:p>
            <a:r>
              <a:rPr lang="en-US" dirty="0"/>
              <a:t>staging</a:t>
            </a:r>
          </a:p>
          <a:p>
            <a:r>
              <a:rPr lang="en-US" dirty="0"/>
              <a:t>analytics</a:t>
            </a:r>
          </a:p>
          <a:p>
            <a:r>
              <a:rPr lang="en-US" dirty="0"/>
              <a:t>reporting</a:t>
            </a:r>
          </a:p>
          <a:p>
            <a:r>
              <a:rPr lang="en-US" dirty="0"/>
              <a:t>This is </a:t>
            </a:r>
            <a:r>
              <a:rPr lang="en-US" b="1" dirty="0"/>
              <a:t>best practice</a:t>
            </a:r>
            <a:r>
              <a:rPr lang="en-US" dirty="0"/>
              <a:t> in real projects.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800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0BB2-85D9-0EC4-3392-2E0F1923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43745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err="1"/>
              <a:t>BigQuery</a:t>
            </a:r>
            <a:r>
              <a:rPr lang="en-US" dirty="0"/>
              <a:t>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4EC37-6922-5C8F-CD74-6848D8FD1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081879"/>
            <a:ext cx="10515600" cy="560194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1. Standard (native) dataset</a:t>
            </a:r>
          </a:p>
          <a:p>
            <a:r>
              <a:rPr lang="en-US" dirty="0"/>
              <a:t>Data is stored </a:t>
            </a:r>
            <a:r>
              <a:rPr lang="en-US" b="1" dirty="0"/>
              <a:t>inside </a:t>
            </a:r>
            <a:r>
              <a:rPr lang="en-US" b="1" dirty="0" err="1"/>
              <a:t>BigQuery</a:t>
            </a:r>
            <a:endParaRPr lang="en-US" dirty="0"/>
          </a:p>
          <a:p>
            <a:r>
              <a:rPr lang="en-US" dirty="0"/>
              <a:t>Fastest performance</a:t>
            </a:r>
          </a:p>
          <a:p>
            <a:r>
              <a:rPr lang="en-US" dirty="0"/>
              <a:t>Best for analytics &amp; dashboards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sales.orders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order_id</a:t>
            </a:r>
            <a:r>
              <a:rPr lang="en-US" dirty="0"/>
              <a:t> INT64,</a:t>
            </a:r>
          </a:p>
          <a:p>
            <a:pPr marL="0" indent="0">
              <a:buNone/>
            </a:pPr>
            <a:r>
              <a:rPr lang="en-US" dirty="0"/>
              <a:t>  amount FLOAT64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External dataset</a:t>
            </a:r>
          </a:p>
          <a:p>
            <a:r>
              <a:rPr lang="en-US" dirty="0"/>
              <a:t>Data lives </a:t>
            </a:r>
            <a:r>
              <a:rPr lang="en-US" b="1" dirty="0"/>
              <a:t>outside </a:t>
            </a:r>
            <a:r>
              <a:rPr lang="en-US" b="1" dirty="0" err="1"/>
              <a:t>BigQuery</a:t>
            </a:r>
            <a:endParaRPr lang="en-US" dirty="0"/>
          </a:p>
          <a:p>
            <a:r>
              <a:rPr lang="en-US" dirty="0" err="1"/>
              <a:t>BigQuery</a:t>
            </a:r>
            <a:r>
              <a:rPr lang="en-US" dirty="0"/>
              <a:t> only queries it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Supported sources:</a:t>
            </a:r>
          </a:p>
          <a:p>
            <a:r>
              <a:rPr lang="en-US" dirty="0"/>
              <a:t>Cloud Storage (CSV, JSON, Parquet, Avro)</a:t>
            </a:r>
          </a:p>
          <a:p>
            <a:r>
              <a:rPr lang="en-US" dirty="0"/>
              <a:t>Cloud Spanner</a:t>
            </a:r>
          </a:p>
          <a:p>
            <a:r>
              <a:rPr lang="en-US" dirty="0"/>
              <a:t>Bigtable</a:t>
            </a:r>
          </a:p>
          <a:p>
            <a:r>
              <a:rPr lang="en-US" dirty="0"/>
              <a:t>Cloud SQL (via federation)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3E86A-A502-A888-B25F-334F0187B1BF}"/>
              </a:ext>
            </a:extLst>
          </p:cNvPr>
          <p:cNvSpPr txBox="1"/>
          <p:nvPr/>
        </p:nvSpPr>
        <p:spPr>
          <a:xfrm>
            <a:off x="5636079" y="5604106"/>
            <a:ext cx="6221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✔ No data duplication</a:t>
            </a:r>
            <a:br>
              <a:rPr lang="en-US" dirty="0"/>
            </a:br>
            <a:r>
              <a:rPr lang="en-US" dirty="0"/>
              <a:t>❌ Slower + query costs on source</a:t>
            </a:r>
          </a:p>
        </p:txBody>
      </p:sp>
    </p:spTree>
    <p:extLst>
      <p:ext uri="{BB962C8B-B14F-4D97-AF65-F5344CB8AC3E}">
        <p14:creationId xmlns:p14="http://schemas.microsoft.com/office/powerpoint/2010/main" val="203949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8340-0581-BC1B-C18B-26725BA7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Dataset pricing basics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A1B87-CF69-DC96-6A0C-50CCDFAD7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 dataset:</a:t>
            </a:r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b="1" dirty="0"/>
              <a:t>Free</a:t>
            </a:r>
            <a:endParaRPr lang="en-US" dirty="0"/>
          </a:p>
          <a:p>
            <a:r>
              <a:rPr lang="en-US" dirty="0"/>
              <a:t>Costs depend on:</a:t>
            </a:r>
          </a:p>
          <a:p>
            <a:r>
              <a:rPr lang="en-US" dirty="0"/>
              <a:t>Storage (for native tables)</a:t>
            </a:r>
          </a:p>
          <a:p>
            <a:r>
              <a:rPr lang="en-US" dirty="0"/>
              <a:t>Query processing (data scanned)</a:t>
            </a:r>
          </a:p>
          <a:p>
            <a:r>
              <a:rPr lang="en-US" dirty="0"/>
              <a:t>External source reads (if external dataset)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775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1B0B-BD0C-A128-29AD-97B25A3F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5543"/>
          </a:xfrm>
        </p:spPr>
        <p:txBody>
          <a:bodyPr/>
          <a:lstStyle/>
          <a:p>
            <a:r>
              <a:rPr lang="en-US" dirty="0"/>
              <a:t>Dataset lifecycle (typical data engineering 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EE89B-A4EE-D66E-C4FF-ADE4B8987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raw_dataset</a:t>
            </a:r>
            <a:r>
              <a:rPr lang="en-US" dirty="0"/>
              <a:t> – ingested data</a:t>
            </a:r>
          </a:p>
          <a:p>
            <a:endParaRPr lang="en-US" dirty="0"/>
          </a:p>
          <a:p>
            <a:r>
              <a:rPr lang="en-US" dirty="0" err="1"/>
              <a:t>clean_dataset</a:t>
            </a:r>
            <a:r>
              <a:rPr lang="en-US" dirty="0"/>
              <a:t> – cleaned/validated</a:t>
            </a:r>
          </a:p>
          <a:p>
            <a:endParaRPr lang="en-US" dirty="0"/>
          </a:p>
          <a:p>
            <a:r>
              <a:rPr lang="en-US" dirty="0" err="1"/>
              <a:t>curated_dataset</a:t>
            </a:r>
            <a:r>
              <a:rPr lang="en-US" dirty="0"/>
              <a:t> – business-ready</a:t>
            </a:r>
          </a:p>
          <a:p>
            <a:endParaRPr lang="en-US" dirty="0"/>
          </a:p>
          <a:p>
            <a:r>
              <a:rPr lang="en-US" dirty="0" err="1"/>
              <a:t>reporting_dataset</a:t>
            </a:r>
            <a:r>
              <a:rPr lang="en-US" dirty="0"/>
              <a:t> – BI views</a:t>
            </a:r>
          </a:p>
        </p:txBody>
      </p:sp>
    </p:spTree>
    <p:extLst>
      <p:ext uri="{BB962C8B-B14F-4D97-AF65-F5344CB8AC3E}">
        <p14:creationId xmlns:p14="http://schemas.microsoft.com/office/powerpoint/2010/main" val="4066204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88C4-79C4-828A-77D5-1354E8F6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30831"/>
          </a:xfrm>
        </p:spPr>
        <p:txBody>
          <a:bodyPr/>
          <a:lstStyle/>
          <a:p>
            <a:r>
              <a:rPr lang="en-US" dirty="0"/>
              <a:t>Common </a:t>
            </a:r>
            <a:r>
              <a:rPr lang="en-US" dirty="0" err="1"/>
              <a:t>BigQuery</a:t>
            </a:r>
            <a:r>
              <a:rPr lang="en-US" dirty="0"/>
              <a:t> dataset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1E17-F3C6-DC31-97A8-B51DBE7A8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1253330"/>
            <a:ext cx="10515600" cy="5376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Create dataset</a:t>
            </a:r>
          </a:p>
          <a:p>
            <a:pPr marL="0" indent="0">
              <a:buNone/>
            </a:pPr>
            <a:r>
              <a:rPr lang="en-US" dirty="0"/>
              <a:t>CREATE SCHEMA </a:t>
            </a:r>
            <a:r>
              <a:rPr lang="en-US" dirty="0" err="1"/>
              <a:t>my_project.sales_data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OPTIONS (</a:t>
            </a:r>
          </a:p>
          <a:p>
            <a:pPr marL="0" indent="0">
              <a:buNone/>
            </a:pPr>
            <a:r>
              <a:rPr lang="en-US" dirty="0"/>
              <a:t>  location = "asia-south1"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List datasets</a:t>
            </a:r>
          </a:p>
          <a:p>
            <a:r>
              <a:rPr lang="en-US" dirty="0"/>
              <a:t>SELECT </a:t>
            </a:r>
            <a:r>
              <a:rPr lang="en-US" dirty="0" err="1"/>
              <a:t>schema_name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my_project.INFORMATION_SCHEMA.SCHEMATA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Delete dataset</a:t>
            </a:r>
          </a:p>
          <a:p>
            <a:r>
              <a:rPr lang="en-US" dirty="0"/>
              <a:t>DROP SCHEMA </a:t>
            </a:r>
            <a:r>
              <a:rPr lang="en-US" dirty="0" err="1"/>
              <a:t>my_project.sales_data</a:t>
            </a:r>
            <a:r>
              <a:rPr lang="en-US" dirty="0"/>
              <a:t> CASCADE;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6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4A1ED6-0AE9-2F28-8562-BB53A73EC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564"/>
            <a:ext cx="12192000" cy="602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72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1BAA0-6BE3-BE05-63CE-A828C1DA9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71" y="685714"/>
            <a:ext cx="9448799" cy="54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38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A9FF3-A37E-F3B3-B1B9-B1096208A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39600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92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14F74-1C13-B764-3C16-C4272338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43"/>
            <a:ext cx="12115800" cy="66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32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130C-77FA-91C4-D0B7-E826456A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on Go to dataset- Create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CDDEE-2E70-E00A-CC5E-9D1A1AB6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40317"/>
            <a:ext cx="7772400" cy="5874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4B97D5-E0A9-DA66-D851-2731CDA56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495" y="107779"/>
            <a:ext cx="3968954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05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4DA875-94BD-5FF6-1237-40B0DC73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713"/>
            <a:ext cx="12192000" cy="57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5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5E551-A59C-F882-5B5C-E49D620A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Source-Empty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511A3-4D15-5488-A093-43FD487C4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332"/>
            <a:ext cx="12192000" cy="568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64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A28DAF-1160-0E89-F570-0EECBCD4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711"/>
            <a:ext cx="12192000" cy="516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41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340828-4EEC-3E59-D5E7-4ACB734E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17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983220-89CE-90A7-19AD-8CCF5A88A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58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360D5B-0ED6-8D42-B1E6-E433C3EBE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86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D43E-D2ED-58CF-F865-D9192E2D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53143"/>
          </a:xfrm>
        </p:spPr>
        <p:txBody>
          <a:bodyPr>
            <a:normAutofit fontScale="90000"/>
          </a:bodyPr>
          <a:lstStyle/>
          <a:p>
            <a:r>
              <a:rPr lang="en-US" dirty="0"/>
              <a:t>Add data to use local file to create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EEB69-005A-5227-42E9-A8462EF93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3" y="764136"/>
            <a:ext cx="11735510" cy="62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72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9B1B-ECE7-8588-4097-78F616AD8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Add data to use local file to create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42BAE-270D-598C-8690-D9EE4C91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0881"/>
            <a:ext cx="11756571" cy="585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23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2905-8879-1B9C-1A00-10D99471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87288"/>
          </a:xfrm>
        </p:spPr>
        <p:txBody>
          <a:bodyPr/>
          <a:lstStyle/>
          <a:p>
            <a:r>
              <a:rPr lang="en-US" dirty="0"/>
              <a:t>Create Table using Local File Upload Option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41BA0-B3F2-4AC6-1A7B-F7AFB7F44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571" y="1246797"/>
            <a:ext cx="12192000" cy="559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25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CF03-5D33-58F5-332D-CC4FAB4C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76402"/>
          </a:xfrm>
        </p:spPr>
        <p:txBody>
          <a:bodyPr/>
          <a:lstStyle/>
          <a:p>
            <a:r>
              <a:rPr lang="en-US" dirty="0"/>
              <a:t>Auto-Detect Schema from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573AB-7EAF-8AB5-D64B-E071D0609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199"/>
            <a:ext cx="11221027" cy="5588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25CAD1-2BD4-B70E-8CD5-FFB944586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005" y="1927595"/>
            <a:ext cx="6597989" cy="249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40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4CF3-EEFE-DE04-4054-61BCFA44A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43745"/>
          </a:xfrm>
        </p:spPr>
        <p:txBody>
          <a:bodyPr/>
          <a:lstStyle/>
          <a:p>
            <a:r>
              <a:rPr lang="en-US" dirty="0"/>
              <a:t>Adv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0C369-1A2D-1511-0EE5-03FA96E15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70857"/>
            <a:ext cx="12192000" cy="5802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EA85CB-AD55-532D-E36D-BE4AA22F1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504" y="390127"/>
            <a:ext cx="3677163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62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257B-EE1A-7518-6D4D-59CEEF6E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58688"/>
          </a:xfrm>
        </p:spPr>
        <p:txBody>
          <a:bodyPr>
            <a:normAutofit fontScale="90000"/>
          </a:bodyPr>
          <a:lstStyle/>
          <a:p>
            <a:r>
              <a:rPr lang="en-US" dirty="0"/>
              <a:t>Add null marker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D5C6C-DEAC-F9EC-C373-54873E089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5029"/>
            <a:ext cx="12192000" cy="547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59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D5FF-7231-31D5-9A92-BADF8604D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Encryption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8ECA0-DB3B-502B-656B-1CD19FB75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857"/>
            <a:ext cx="10328863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62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0795-7A89-207C-156C-BFE36706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1DD5-5831-4124-9DF3-53467597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Add data to use local file to create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E806E-8190-2315-99F6-0A68A82B8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0881"/>
            <a:ext cx="11756571" cy="585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07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B8BE9-6A6A-A25E-E514-F3E7F0C7C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99" y="228600"/>
            <a:ext cx="10160001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50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50553-D785-5672-234E-0B484F44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Preview after table creation with local file upload and auto schema detect using Add Data Option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F65C7-B8C1-1F11-9CDE-8BA9F9B2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84" y="-1"/>
            <a:ext cx="7851458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24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A447-2CB9-9A0A-5EE0-38D62C470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1188"/>
            <a:ext cx="10515600" cy="762226"/>
          </a:xfrm>
        </p:spPr>
        <p:txBody>
          <a:bodyPr/>
          <a:lstStyle/>
          <a:p>
            <a:r>
              <a:rPr lang="en-US" dirty="0"/>
              <a:t>Table Explorer option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7EC69-8EB9-EBD2-BCC4-7C0C54215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7" y="808593"/>
            <a:ext cx="11449231" cy="585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24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EA83-AF6B-FB88-71D3-F4777377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829" y="2456655"/>
            <a:ext cx="10515600" cy="819945"/>
          </a:xfrm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Queries  -  </a:t>
            </a:r>
            <a:r>
              <a:rPr lang="en-US" b="1" dirty="0" err="1">
                <a:highlight>
                  <a:srgbClr val="FFFF00"/>
                </a:highlight>
              </a:rPr>
              <a:t>BigQuery</a:t>
            </a: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99742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54569-DD3F-C5EF-8E77-C47CF7470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BigQuery</a:t>
            </a:r>
            <a:r>
              <a:rPr lang="en-US" dirty="0"/>
              <a:t> supports standard SQL for querying, joining, aggregating, transforming, and modifying large-scale datasets using SELECT, DML, CTAS, and analytical window functions.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426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00D2C-2E7C-3F08-CF62-46C41E0E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Basic SELECT queries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F021C-05D4-B5BA-C5B8-BBF76854C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963248"/>
            <a:ext cx="7608304" cy="50024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82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BE61-F5E6-EB55-F2BA-CFBC0818E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30831"/>
          </a:xfrm>
        </p:spPr>
        <p:txBody>
          <a:bodyPr/>
          <a:lstStyle/>
          <a:p>
            <a:r>
              <a:rPr lang="en-US" dirty="0"/>
              <a:t>Copy to query </a:t>
            </a:r>
            <a:r>
              <a:rPr lang="en-US" dirty="0">
                <a:sym typeface="Wingdings" panose="05000000000000000000" pitchFamily="2" charset="2"/>
              </a:rPr>
              <a:t> Run Select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13D98-4588-7571-4EC7-DF70C24A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086"/>
            <a:ext cx="12192000" cy="59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77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7B8A-730F-742C-71A2-5E3548C3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2️⃣ Filtering &amp; sorting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39B06-7AE9-0892-E791-07498134C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order_date</a:t>
            </a:r>
            <a:r>
              <a:rPr lang="en-US" dirty="0"/>
              <a:t> &gt;= '2024-01-01'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order_date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8068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DE9F-DD81-F8E1-63E4-5F52522E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3️⃣ Aggregations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4F69D-746E-F4DB-4876-4F944F210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department, COUNT(*) AS </a:t>
            </a:r>
            <a:r>
              <a:rPr lang="en-US" dirty="0" err="1"/>
              <a:t>emp_count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dataset.employees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department;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SUM(amount) AS </a:t>
            </a:r>
            <a:r>
              <a:rPr lang="en-US" dirty="0" err="1"/>
              <a:t>total_sales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dataset.orders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738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D3E0-B064-8A15-391B-30DF311D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917916"/>
          </a:xfrm>
        </p:spPr>
        <p:txBody>
          <a:bodyPr/>
          <a:lstStyle/>
          <a:p>
            <a:r>
              <a:rPr lang="en-US" dirty="0"/>
              <a:t>4️⃣ Handling NULLs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26B2A-B2D4-A38E-2D61-695055959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dataset.employees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manager_id</a:t>
            </a:r>
            <a:r>
              <a:rPr lang="en-US" dirty="0"/>
              <a:t> IS NULL;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IFNULL(bonus, 0) AS bonus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dataset.employees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9741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3C94-D243-0B73-987C-0C7D9EE0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5️⃣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D2FE-337C-DED2-F57D-CE875C3B3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o.order_id</a:t>
            </a:r>
            <a:r>
              <a:rPr lang="en-US" dirty="0"/>
              <a:t>, </a:t>
            </a:r>
            <a:r>
              <a:rPr lang="en-US" dirty="0" err="1"/>
              <a:t>c.customer_name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dataset.orders</a:t>
            </a:r>
            <a:r>
              <a:rPr lang="en-US" dirty="0"/>
              <a:t> o</a:t>
            </a:r>
          </a:p>
          <a:p>
            <a:pPr marL="0" indent="0">
              <a:buNone/>
            </a:pPr>
            <a:r>
              <a:rPr lang="en-US" dirty="0"/>
              <a:t>JOIN </a:t>
            </a:r>
            <a:r>
              <a:rPr lang="en-US" dirty="0" err="1"/>
              <a:t>dataset.customers</a:t>
            </a:r>
            <a:r>
              <a:rPr lang="en-US" dirty="0"/>
              <a:t> c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o.customer_id</a:t>
            </a:r>
            <a:r>
              <a:rPr lang="en-US" dirty="0"/>
              <a:t> = </a:t>
            </a:r>
            <a:r>
              <a:rPr lang="en-US" dirty="0" err="1"/>
              <a:t>c.customer_id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orders o</a:t>
            </a:r>
          </a:p>
          <a:p>
            <a:pPr marL="0" indent="0">
              <a:buNone/>
            </a:pPr>
            <a:r>
              <a:rPr lang="en-US" dirty="0"/>
              <a:t>LEFT JOIN payments p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p.order_id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37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C64B-8982-D013-DF9D-AB681C80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62000"/>
          </a:xfrm>
        </p:spPr>
        <p:txBody>
          <a:bodyPr/>
          <a:lstStyle/>
          <a:p>
            <a:r>
              <a:rPr lang="en-US" dirty="0"/>
              <a:t>6️⃣ Deduplication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8B238-8137-EBAF-CD0C-A8A201D6F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(</a:t>
            </a:r>
          </a:p>
          <a:p>
            <a:pPr marL="0" indent="0">
              <a:buNone/>
            </a:pPr>
            <a:r>
              <a:rPr lang="en-US" dirty="0"/>
              <a:t>  SELECT *,</a:t>
            </a:r>
          </a:p>
          <a:p>
            <a:pPr marL="0" indent="0">
              <a:buNone/>
            </a:pPr>
            <a:r>
              <a:rPr lang="en-US" dirty="0"/>
              <a:t>         ROW_NUMBER() OVER (</a:t>
            </a:r>
          </a:p>
          <a:p>
            <a:pPr marL="0" indent="0">
              <a:buNone/>
            </a:pPr>
            <a:r>
              <a:rPr lang="en-US" dirty="0"/>
              <a:t>           PARTITION BY email</a:t>
            </a:r>
          </a:p>
          <a:p>
            <a:pPr marL="0" indent="0">
              <a:buNone/>
            </a:pPr>
            <a:r>
              <a:rPr lang="en-US" dirty="0"/>
              <a:t>           ORDER BY </a:t>
            </a:r>
            <a:r>
              <a:rPr lang="en-US" dirty="0" err="1"/>
              <a:t>updated_at</a:t>
            </a:r>
            <a:r>
              <a:rPr lang="en-US" dirty="0"/>
              <a:t> DESC</a:t>
            </a:r>
          </a:p>
          <a:p>
            <a:pPr marL="0" indent="0">
              <a:buNone/>
            </a:pPr>
            <a:r>
              <a:rPr lang="en-US" dirty="0"/>
              <a:t>         ) AS </a:t>
            </a:r>
            <a:r>
              <a:rPr lang="en-US" dirty="0" err="1"/>
              <a:t>rn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FROM </a:t>
            </a:r>
            <a:r>
              <a:rPr lang="en-US" dirty="0" err="1"/>
              <a:t>dataset.users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rn</a:t>
            </a:r>
            <a:r>
              <a:rPr lang="en-US" dirty="0"/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2881814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482B-2F1E-7141-EE2F-B1665EAD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950574"/>
          </a:xfrm>
        </p:spPr>
        <p:txBody>
          <a:bodyPr/>
          <a:lstStyle/>
          <a:p>
            <a:r>
              <a:rPr lang="en-US" dirty="0"/>
              <a:t>7️⃣ Data type conversions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A9332-9349-B3B0-DBCA-1A440DF1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SAFE_CAST(salary AS INT64)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dataset.employees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DATE(</a:t>
            </a:r>
            <a:r>
              <a:rPr lang="en-US" dirty="0" err="1"/>
              <a:t>order_timestamp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dataset.orders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300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FB5F-6778-F659-89E1-EE44A851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70857"/>
          </a:xfrm>
        </p:spPr>
        <p:txBody>
          <a:bodyPr/>
          <a:lstStyle/>
          <a:p>
            <a:r>
              <a:rPr lang="en-US" dirty="0"/>
              <a:t>8️⃣ Update / Delete (DML)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994E-2A1D-E923-7022-F6C8764A4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0" y="1390197"/>
            <a:ext cx="113211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dataset.employees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SET status = 'INACTIVE'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last_login</a:t>
            </a:r>
            <a:r>
              <a:rPr lang="en-US" dirty="0"/>
              <a:t> &lt; DATE_SUB(CURRENT_DATE(), INTERVAL 1 YEAR);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DELETE FROM </a:t>
            </a:r>
            <a:r>
              <a:rPr lang="en-US" dirty="0" err="1"/>
              <a:t>dataset.orders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order_date</a:t>
            </a:r>
            <a:r>
              <a:rPr lang="en-US" dirty="0"/>
              <a:t> &lt; '2019-01-01';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798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E4D2-38B3-CE85-9895-97F8E484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9️⃣ MERGE (UPSERT – very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6DB3A-DA57-E8A3-1102-234F7E311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145551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MERGE </a:t>
            </a:r>
            <a:r>
              <a:rPr lang="en-US" dirty="0" err="1"/>
              <a:t>dataset.customers</a:t>
            </a:r>
            <a:r>
              <a:rPr lang="en-US" dirty="0"/>
              <a:t> t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dirty="0" err="1"/>
              <a:t>dataset.customers_staging</a:t>
            </a:r>
            <a:r>
              <a:rPr lang="en-US" dirty="0"/>
              <a:t> 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t.customer_id</a:t>
            </a:r>
            <a:r>
              <a:rPr lang="en-US" dirty="0"/>
              <a:t> = </a:t>
            </a:r>
            <a:r>
              <a:rPr lang="en-US" dirty="0" err="1"/>
              <a:t>s.customer_id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WHEN MATCHED THEN</a:t>
            </a:r>
          </a:p>
          <a:p>
            <a:pPr marL="0" indent="0">
              <a:buNone/>
            </a:pPr>
            <a:r>
              <a:rPr lang="en-US" dirty="0"/>
              <a:t>  UPDATE SET name = s.name, city = </a:t>
            </a:r>
            <a:r>
              <a:rPr lang="en-US" dirty="0" err="1"/>
              <a:t>s.city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WHEN NOT MATCHED THEN</a:t>
            </a:r>
          </a:p>
          <a:p>
            <a:pPr marL="0" indent="0">
              <a:buNone/>
            </a:pPr>
            <a:r>
              <a:rPr lang="en-US" dirty="0"/>
              <a:t>  INSERT (</a:t>
            </a:r>
            <a:r>
              <a:rPr lang="en-US" dirty="0" err="1"/>
              <a:t>customer_id</a:t>
            </a:r>
            <a:r>
              <a:rPr lang="en-US" dirty="0"/>
              <a:t>, name, city)</a:t>
            </a:r>
          </a:p>
          <a:p>
            <a:pPr marL="0" indent="0">
              <a:buNone/>
            </a:pPr>
            <a:r>
              <a:rPr lang="en-US" dirty="0"/>
              <a:t>  VALUES (</a:t>
            </a:r>
            <a:r>
              <a:rPr lang="en-US" dirty="0" err="1"/>
              <a:t>s.customer_id</a:t>
            </a:r>
            <a:r>
              <a:rPr lang="en-US" dirty="0"/>
              <a:t>, s.name, </a:t>
            </a:r>
            <a:r>
              <a:rPr lang="en-US" dirty="0" err="1"/>
              <a:t>s.city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0699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E9FF-786D-8F75-6FFD-89CA9406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🔟 Create table from query (CTAS)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96523-0AA2-9CF3-9282-1905ABFC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analytics.high_value_customers</a:t>
            </a:r>
            <a:r>
              <a:rPr lang="en-US" dirty="0"/>
              <a:t> AS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customer_id</a:t>
            </a:r>
            <a:r>
              <a:rPr lang="en-US" dirty="0"/>
              <a:t>, SUM(amount) </a:t>
            </a:r>
            <a:r>
              <a:rPr lang="en-US" dirty="0" err="1"/>
              <a:t>total_spend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HAVING </a:t>
            </a:r>
            <a:r>
              <a:rPr lang="en-US" dirty="0" err="1"/>
              <a:t>total_spend</a:t>
            </a:r>
            <a:r>
              <a:rPr lang="en-US" dirty="0"/>
              <a:t> &gt; 100000;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3548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8ADB7-A677-43F5-B1CF-AF0DA786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1️⃣1️⃣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D0ABC-343E-C21F-848B-A1DBBBD73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VIEW </a:t>
            </a:r>
            <a:r>
              <a:rPr lang="en-US" dirty="0" err="1"/>
              <a:t>reporting.active_users</a:t>
            </a:r>
            <a:r>
              <a:rPr lang="en-US" dirty="0"/>
              <a:t> AS</a:t>
            </a:r>
          </a:p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dataset.users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status = 'ACTIVE';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0483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9107-C010-3417-5279-4B2F62C9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1️⃣2️⃣ Window / analytics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3AED6-EBCE-7587-6305-E322D0AD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*,</a:t>
            </a:r>
          </a:p>
          <a:p>
            <a:pPr marL="0" indent="0">
              <a:buNone/>
            </a:pPr>
            <a:r>
              <a:rPr lang="en-US" dirty="0"/>
              <a:t>       RANK() OVER (PARTITION BY department ORDER BY salary DESC) AS rank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dataset.employees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259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47D6-5719-B1F9-7391-803C4906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1️⃣3️⃣ Metadata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15A52-A9B5-74D1-4225-337711C3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table_name</a:t>
            </a:r>
            <a:r>
              <a:rPr lang="en-US" dirty="0"/>
              <a:t>, </a:t>
            </a:r>
            <a:r>
              <a:rPr lang="en-US" dirty="0" err="1"/>
              <a:t>row_count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dataset.INFORMATION_SCHEMA.TABLES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486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97B575-810C-2306-D61B-936488612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578"/>
            <a:ext cx="12192000" cy="605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6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1021</Words>
  <Application>Microsoft Office PowerPoint</Application>
  <PresentationFormat>Widescreen</PresentationFormat>
  <Paragraphs>187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Wingdings</vt:lpstr>
      <vt:lpstr>Office Theme</vt:lpstr>
      <vt:lpstr>BigQuery</vt:lpstr>
      <vt:lpstr>PowerPoint Presentation</vt:lpstr>
      <vt:lpstr>PowerPoint Presentation</vt:lpstr>
      <vt:lpstr>PowerPoint Presentation</vt:lpstr>
      <vt:lpstr>Data Cleansing</vt:lpstr>
      <vt:lpstr>PowerPoint Presentation</vt:lpstr>
      <vt:lpstr>BigQuery dataset</vt:lpstr>
      <vt:lpstr>PowerPoint Presentation</vt:lpstr>
      <vt:lpstr>Types of BigQuery datasets</vt:lpstr>
      <vt:lpstr>Dataset pricing basics </vt:lpstr>
      <vt:lpstr>Dataset lifecycle (typical data engineering flow)</vt:lpstr>
      <vt:lpstr>Common BigQuery dataset commands</vt:lpstr>
      <vt:lpstr>PowerPoint Presentation</vt:lpstr>
      <vt:lpstr>PowerPoint Presentation</vt:lpstr>
      <vt:lpstr>PowerPoint Presentation</vt:lpstr>
      <vt:lpstr>PowerPoint Presentation</vt:lpstr>
      <vt:lpstr>Click on Go to dataset- Create table</vt:lpstr>
      <vt:lpstr>PowerPoint Presentation</vt:lpstr>
      <vt:lpstr>Source-Empty table</vt:lpstr>
      <vt:lpstr>PowerPoint Presentation</vt:lpstr>
      <vt:lpstr>PowerPoint Presentation</vt:lpstr>
      <vt:lpstr>PowerPoint Presentation</vt:lpstr>
      <vt:lpstr>PowerPoint Presentation</vt:lpstr>
      <vt:lpstr>Add data to use local file to create table</vt:lpstr>
      <vt:lpstr>Add data to use local file to create table</vt:lpstr>
      <vt:lpstr>Create Table using Local File Upload Option</vt:lpstr>
      <vt:lpstr>Auto-Detect Schema from file</vt:lpstr>
      <vt:lpstr>Adv options</vt:lpstr>
      <vt:lpstr>Add null marker</vt:lpstr>
      <vt:lpstr>Encryption key</vt:lpstr>
      <vt:lpstr>Add data to use local file to create table</vt:lpstr>
      <vt:lpstr>PowerPoint Presentation</vt:lpstr>
      <vt:lpstr>Data Preview after table creation with local file upload and auto schema detect using Add Data Option</vt:lpstr>
      <vt:lpstr>Table Explorer option</vt:lpstr>
      <vt:lpstr>Queries  -  BigQuery</vt:lpstr>
      <vt:lpstr>PowerPoint Presentation</vt:lpstr>
      <vt:lpstr>Basic SELECT queries</vt:lpstr>
      <vt:lpstr>Copy to query  Run Select </vt:lpstr>
      <vt:lpstr>2️⃣ Filtering &amp; sorting </vt:lpstr>
      <vt:lpstr>3️⃣ Aggregations</vt:lpstr>
      <vt:lpstr>4️⃣ Handling NULLs</vt:lpstr>
      <vt:lpstr>5️⃣ Joins</vt:lpstr>
      <vt:lpstr>6️⃣ Deduplication</vt:lpstr>
      <vt:lpstr>7️⃣ Data type conversions</vt:lpstr>
      <vt:lpstr>8️⃣ Update / Delete (DML)</vt:lpstr>
      <vt:lpstr>9️⃣ MERGE (UPSERT – very important)</vt:lpstr>
      <vt:lpstr>🔟 Create table from query (CTAS) </vt:lpstr>
      <vt:lpstr>1️⃣1️⃣ Views</vt:lpstr>
      <vt:lpstr>1️⃣2️⃣ Window / analytics queries</vt:lpstr>
      <vt:lpstr>1️⃣3️⃣ Metadata queries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5</cp:revision>
  <dcterms:created xsi:type="dcterms:W3CDTF">2026-02-13T21:49:14Z</dcterms:created>
  <dcterms:modified xsi:type="dcterms:W3CDTF">2026-02-18T03:33:41Z</dcterms:modified>
</cp:coreProperties>
</file>