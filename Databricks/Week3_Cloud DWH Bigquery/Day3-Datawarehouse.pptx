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6" r:id="rId7"/>
    <p:sldId id="267"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268" r:id="rId21"/>
    <p:sldId id="269" r:id="rId22"/>
    <p:sldId id="270" r:id="rId23"/>
    <p:sldId id="271" r:id="rId24"/>
    <p:sldId id="272" r:id="rId25"/>
    <p:sldId id="273" r:id="rId26"/>
    <p:sldId id="274" r:id="rId27"/>
    <p:sldId id="275"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rgG6ULpnHLSVUlcKL+zWkcMhR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0BB1A6-C2C6-41A7-882F-22415DC26183}">
  <a:tblStyle styleId="{8B0BB1A6-C2C6-41A7-882F-22415DC2618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7"/>
          <p:cNvSpPr>
            <a:spLocks noGrp="1"/>
          </p:cNvSpPr>
          <p:nvPr>
            <p:ph type="pic" idx="2"/>
          </p:nvPr>
        </p:nvSpPr>
        <p:spPr>
          <a:xfrm>
            <a:off x="5183188" y="987425"/>
            <a:ext cx="6172200" cy="4873625"/>
          </a:xfrm>
          <a:prstGeom prst="rect">
            <a:avLst/>
          </a:prstGeom>
          <a:noFill/>
          <a:ln>
            <a:noFill/>
          </a:ln>
        </p:spPr>
      </p:sp>
      <p:sp>
        <p:nvSpPr>
          <p:cNvPr id="64" name="Google Shape;64;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search?q=OLAP+and+data+warehousing&amp;oq=denorma&amp;gs_lcrp=EgZjaHJvbWUqBwgAEAAYgAQyBwgAEAAYgAQyBwgBEAAYgAQyBwgCEAAYgAQyBwgDEAAYgAQyBggEEEUYOTIHCAUQABiABDIHCAYQABiABDIHCAcQABiABDIHCAgQABiABDIHCAkQABiABNIBCTgzODFqMGoxNagCCLACAfEFM4cb5gCmb9U&amp;sourceid=chrome&amp;ie=UTF-8&amp;ved=2ahUKEwiKk5jJvMaQAxXyS2wGHcwGKMMQgK4QegYIAQgAEB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Day3-Datawarehouse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2064327" y="1"/>
            <a:ext cx="10515600" cy="820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What is a Data Warehouse?</a:t>
            </a:r>
            <a:endParaRPr/>
          </a:p>
        </p:txBody>
      </p:sp>
      <p:sp>
        <p:nvSpPr>
          <p:cNvPr id="90" name="Google Shape;90;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A </a:t>
            </a:r>
            <a:r>
              <a:rPr lang="en-US" b="1" dirty="0"/>
              <a:t>Data Warehouse (DW)</a:t>
            </a:r>
            <a:r>
              <a:rPr lang="en-US" dirty="0"/>
              <a:t> is a </a:t>
            </a:r>
            <a:r>
              <a:rPr lang="en-US" b="1" dirty="0"/>
              <a:t>centralized repository</a:t>
            </a:r>
            <a:r>
              <a:rPr lang="en-US" dirty="0"/>
              <a:t> that stores </a:t>
            </a:r>
            <a:r>
              <a:rPr lang="en-US" b="1" dirty="0"/>
              <a:t>historical and integrated data</a:t>
            </a:r>
            <a:r>
              <a:rPr lang="en-US" dirty="0"/>
              <a:t> from multiple sources, designed specifically for </a:t>
            </a:r>
            <a:r>
              <a:rPr lang="en-US" b="1" dirty="0"/>
              <a:t>reporting and analysis</a:t>
            </a:r>
            <a:r>
              <a:rPr lang="en-US" dirty="0"/>
              <a:t> (not for daily operations).</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title"/>
          </p:nvPr>
        </p:nvSpPr>
        <p:spPr>
          <a:xfrm>
            <a:off x="0" y="1"/>
            <a:ext cx="11190514" cy="7728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 </a:t>
            </a:r>
            <a:r>
              <a:rPr lang="en-US" b="1" dirty="0"/>
              <a:t>Core Characteristics of a Data Warehouse</a:t>
            </a:r>
            <a:endParaRPr dirty="0"/>
          </a:p>
        </p:txBody>
      </p:sp>
      <p:graphicFrame>
        <p:nvGraphicFramePr>
          <p:cNvPr id="96" name="Google Shape;96;p3"/>
          <p:cNvGraphicFramePr/>
          <p:nvPr>
            <p:extLst>
              <p:ext uri="{D42A27DB-BD31-4B8C-83A1-F6EECF244321}">
                <p14:modId xmlns:p14="http://schemas.microsoft.com/office/powerpoint/2010/main" val="4142145366"/>
              </p:ext>
            </p:extLst>
          </p:nvPr>
        </p:nvGraphicFramePr>
        <p:xfrm>
          <a:off x="838200" y="2538254"/>
          <a:ext cx="10515600" cy="2926130"/>
        </p:xfrm>
        <a:graphic>
          <a:graphicData uri="http://schemas.openxmlformats.org/drawingml/2006/table">
            <a:tbl>
              <a:tblPr>
                <a:noFill/>
                <a:tableStyleId>{8B0BB1A6-C2C6-41A7-882F-22415DC26183}</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highlight>
                            <a:srgbClr val="FFFF00"/>
                          </a:highlight>
                        </a:rPr>
                        <a:t>Characteristic</a:t>
                      </a:r>
                      <a:endParaRPr sz="1800" u="none" strike="noStrike" cap="none">
                        <a:highlight>
                          <a:srgbClr val="FFFF00"/>
                        </a:highligh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dirty="0">
                          <a:highlight>
                            <a:srgbClr val="FFFF00"/>
                          </a:highlight>
                        </a:rPr>
                        <a:t>Meaning</a:t>
                      </a:r>
                      <a:endParaRPr sz="1800" u="none" strike="noStrike" cap="none" dirty="0">
                        <a:highlight>
                          <a:srgbClr val="FFFF00"/>
                        </a:highligh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Subject-Oriented</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Organized around key business areas (sales, customers, products).</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Integrated</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Combines data from various sources into a consistent format.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Non-Volatile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Data is stable; once entered, it’s not changed or deleted frequently.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Time-Variant</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Stores historical data for trend analysis (data has timestamps).</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title"/>
          </p:nvPr>
        </p:nvSpPr>
        <p:spPr>
          <a:xfrm>
            <a:off x="3995057" y="1"/>
            <a:ext cx="3918858" cy="82731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Denormalization</a:t>
            </a:r>
            <a:endParaRPr/>
          </a:p>
        </p:txBody>
      </p:sp>
      <p:sp>
        <p:nvSpPr>
          <p:cNvPr id="102" name="Google Shape;102;p4"/>
          <p:cNvSpPr txBox="1">
            <a:spLocks noGrp="1"/>
          </p:cNvSpPr>
          <p:nvPr>
            <p:ph type="body" idx="1"/>
          </p:nvPr>
        </p:nvSpPr>
        <p:spPr>
          <a:xfrm>
            <a:off x="272143" y="1411968"/>
            <a:ext cx="11593286"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Denormalization is a database optimization technique that involves adding redundant data to tables to improve read performance and avoid costly JOIN operations. </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It is a strategy applied after a database has been normalized, and it trades off data integrity and write performance for faster query execution, making it suitable for analytical and reporting systems.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4474029" y="18256"/>
            <a:ext cx="10515600" cy="48248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Use cases</a:t>
            </a:r>
            <a:endParaRPr/>
          </a:p>
        </p:txBody>
      </p:sp>
      <p:sp>
        <p:nvSpPr>
          <p:cNvPr id="108" name="Google Shape;108;p5"/>
          <p:cNvSpPr txBox="1">
            <a:spLocks noGrp="1"/>
          </p:cNvSpPr>
          <p:nvPr>
            <p:ph type="body" idx="1"/>
          </p:nvPr>
        </p:nvSpPr>
        <p:spPr>
          <a:xfrm>
            <a:off x="566057" y="153171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u="sng">
                <a:solidFill>
                  <a:schemeClr val="hlink"/>
                </a:solidFill>
                <a:hlinkClick r:id="rId3"/>
              </a:rPr>
              <a:t>OLAP and data warehousing</a:t>
            </a:r>
            <a:r>
              <a:rPr lang="en-US" b="1"/>
              <a:t>:</a:t>
            </a:r>
            <a:r>
              <a:rPr lang="en-US"/>
              <a:t> Denormalization is commonly used in data warehouses and analytical systems where the priority is fast querying and report generation, rather than frequent data updates.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1"/>
          <p:cNvSpPr txBox="1">
            <a:spLocks noGrp="1"/>
          </p:cNvSpPr>
          <p:nvPr>
            <p:ph type="title"/>
          </p:nvPr>
        </p:nvSpPr>
        <p:spPr>
          <a:xfrm>
            <a:off x="4114800" y="18256"/>
            <a:ext cx="5617029" cy="787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highlight>
                  <a:srgbClr val="FFFF00"/>
                </a:highlight>
              </a:rPr>
              <a:t>Types of DWH tables</a:t>
            </a:r>
            <a:endParaRPr/>
          </a:p>
        </p:txBody>
      </p:sp>
      <p:sp>
        <p:nvSpPr>
          <p:cNvPr id="144" name="Google Shape;144;p11"/>
          <p:cNvSpPr txBox="1">
            <a:spLocks noGrp="1"/>
          </p:cNvSpPr>
          <p:nvPr>
            <p:ph type="body" idx="1"/>
          </p:nvPr>
        </p:nvSpPr>
        <p:spPr>
          <a:xfrm>
            <a:off x="838200" y="2536371"/>
            <a:ext cx="10515600" cy="36405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i="1"/>
              <a:t>Dimension</a:t>
            </a:r>
            <a:endParaRPr/>
          </a:p>
          <a:p>
            <a:pPr marL="228600" lvl="0" indent="-228600" algn="l" rtl="0">
              <a:lnSpc>
                <a:spcPct val="90000"/>
              </a:lnSpc>
              <a:spcBef>
                <a:spcPts val="1000"/>
              </a:spcBef>
              <a:spcAft>
                <a:spcPts val="0"/>
              </a:spcAft>
              <a:buClr>
                <a:schemeClr val="dk1"/>
              </a:buClr>
              <a:buSzPts val="2800"/>
              <a:buChar char="•"/>
            </a:pPr>
            <a:r>
              <a:rPr lang="en-US" b="1" i="1"/>
              <a:t>Fact</a:t>
            </a:r>
            <a:endParaRPr/>
          </a:p>
          <a:p>
            <a:pPr marL="228600" lvl="0" indent="-228600" algn="l" rtl="0">
              <a:lnSpc>
                <a:spcPct val="90000"/>
              </a:lnSpc>
              <a:spcBef>
                <a:spcPts val="1000"/>
              </a:spcBef>
              <a:spcAft>
                <a:spcPts val="0"/>
              </a:spcAft>
              <a:buClr>
                <a:schemeClr val="dk1"/>
              </a:buClr>
              <a:buSzPts val="2800"/>
              <a:buChar char="•"/>
            </a:pPr>
            <a:r>
              <a:rPr lang="en-US" b="1" i="1"/>
              <a:t>Fact less Fact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4288972" y="18255"/>
            <a:ext cx="3853543" cy="662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highlight>
                  <a:srgbClr val="FFFF00"/>
                </a:highlight>
              </a:rPr>
              <a:t>Dimension Table</a:t>
            </a:r>
            <a:endParaRPr/>
          </a:p>
        </p:txBody>
      </p:sp>
      <p:sp>
        <p:nvSpPr>
          <p:cNvPr id="150" name="Google Shape;15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It is a </a:t>
            </a:r>
            <a:r>
              <a:rPr lang="en-US">
                <a:highlight>
                  <a:srgbClr val="FFFF00"/>
                </a:highlight>
              </a:rPr>
              <a:t>DESCRIPTIVE</a:t>
            </a:r>
            <a:r>
              <a:rPr lang="en-US"/>
              <a:t> attribute which talks about the </a:t>
            </a:r>
            <a:r>
              <a:rPr lang="en-US">
                <a:highlight>
                  <a:srgbClr val="FFFF00"/>
                </a:highlight>
              </a:rPr>
              <a:t>describable</a:t>
            </a:r>
            <a:r>
              <a:rPr lang="en-US"/>
              <a:t> information of any table/entity.</a:t>
            </a: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Example : Product Name/Category/type , customer location etc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B5E0D-340B-DE1A-3F15-628D885C2B60}"/>
              </a:ext>
            </a:extLst>
          </p:cNvPr>
          <p:cNvSpPr>
            <a:spLocks noGrp="1"/>
          </p:cNvSpPr>
          <p:nvPr>
            <p:ph type="title"/>
          </p:nvPr>
        </p:nvSpPr>
        <p:spPr>
          <a:xfrm>
            <a:off x="0" y="0"/>
            <a:ext cx="10515600" cy="870857"/>
          </a:xfrm>
        </p:spPr>
        <p:txBody>
          <a:bodyPr/>
          <a:lstStyle/>
          <a:p>
            <a:r>
              <a:rPr lang="en-US" dirty="0"/>
              <a:t>Types of Dimension tables</a:t>
            </a:r>
          </a:p>
        </p:txBody>
      </p:sp>
      <p:sp>
        <p:nvSpPr>
          <p:cNvPr id="3" name="Text Placeholder 2">
            <a:extLst>
              <a:ext uri="{FF2B5EF4-FFF2-40B4-BE49-F238E27FC236}">
                <a16:creationId xmlns:a16="http://schemas.microsoft.com/office/drawing/2014/main" id="{26BE96B9-68FF-0542-320C-D2F770C0A66B}"/>
              </a:ext>
            </a:extLst>
          </p:cNvPr>
          <p:cNvSpPr>
            <a:spLocks noGrp="1"/>
          </p:cNvSpPr>
          <p:nvPr>
            <p:ph type="body" idx="1"/>
          </p:nvPr>
        </p:nvSpPr>
        <p:spPr>
          <a:xfrm>
            <a:off x="0" y="1253331"/>
            <a:ext cx="10515600" cy="4351338"/>
          </a:xfrm>
        </p:spPr>
        <p:txBody>
          <a:bodyPr>
            <a:normAutofit fontScale="92500" lnSpcReduction="20000"/>
          </a:bodyPr>
          <a:lstStyle/>
          <a:p>
            <a:pPr marL="114300" indent="0">
              <a:buNone/>
            </a:pPr>
            <a:r>
              <a:rPr lang="en-US" dirty="0"/>
              <a:t>1️⃣ Conformed Dimension</a:t>
            </a:r>
          </a:p>
          <a:p>
            <a:pPr marL="114300" indent="0">
              <a:buNone/>
            </a:pPr>
            <a:r>
              <a:rPr lang="en-US" dirty="0"/>
              <a:t>2️⃣ Role-Playing Dimension</a:t>
            </a:r>
          </a:p>
          <a:p>
            <a:pPr marL="114300" indent="0">
              <a:buNone/>
            </a:pPr>
            <a:r>
              <a:rPr lang="en-US" dirty="0"/>
              <a:t>3️⃣ Slowly Changing Dimension (SCD)</a:t>
            </a:r>
          </a:p>
          <a:p>
            <a:pPr marL="114300" indent="0">
              <a:buNone/>
            </a:pPr>
            <a:r>
              <a:rPr lang="en-US" dirty="0"/>
              <a:t>4️⃣ Junk Dimension</a:t>
            </a:r>
          </a:p>
          <a:p>
            <a:pPr marL="114300" indent="0">
              <a:buNone/>
            </a:pPr>
            <a:r>
              <a:rPr lang="en-US" dirty="0"/>
              <a:t>5️⃣ Degenerate Dimension</a:t>
            </a:r>
          </a:p>
          <a:p>
            <a:pPr marL="114300" indent="0">
              <a:buNone/>
            </a:pPr>
            <a:r>
              <a:rPr lang="en-US" dirty="0"/>
              <a:t>6️⃣ </a:t>
            </a:r>
            <a:r>
              <a:rPr lang="en-US" dirty="0" err="1"/>
              <a:t>Snowflaked</a:t>
            </a:r>
            <a:r>
              <a:rPr lang="en-US" dirty="0"/>
              <a:t> Dimension</a:t>
            </a:r>
          </a:p>
          <a:p>
            <a:pPr marL="114300" indent="0">
              <a:buNone/>
            </a:pPr>
            <a:r>
              <a:rPr lang="en-US" dirty="0"/>
              <a:t>7️⃣ Static Dimension</a:t>
            </a:r>
          </a:p>
          <a:p>
            <a:pPr marL="114300" indent="0">
              <a:buNone/>
            </a:pPr>
            <a:r>
              <a:rPr lang="en-US" dirty="0"/>
              <a:t>8️⃣ Inferred (Early-Arriving) Dimension</a:t>
            </a:r>
          </a:p>
          <a:p>
            <a:pPr marL="114300" indent="0">
              <a:buNone/>
            </a:pPr>
            <a:r>
              <a:rPr lang="en-US" dirty="0"/>
              <a:t>9️⃣ Outrigger Dimension</a:t>
            </a:r>
          </a:p>
          <a:p>
            <a:pPr marL="114300" indent="0">
              <a:buNone/>
            </a:pPr>
            <a:r>
              <a:rPr lang="en-US" dirty="0"/>
              <a:t>🔟 Mini Dimension</a:t>
            </a:r>
          </a:p>
          <a:p>
            <a:endParaRPr lang="en-US" dirty="0"/>
          </a:p>
        </p:txBody>
      </p:sp>
    </p:spTree>
    <p:extLst>
      <p:ext uri="{BB962C8B-B14F-4D97-AF65-F5344CB8AC3E}">
        <p14:creationId xmlns:p14="http://schemas.microsoft.com/office/powerpoint/2010/main" val="3469475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8B32-A0DA-26AD-D1E7-2449FFE178D2}"/>
              </a:ext>
            </a:extLst>
          </p:cNvPr>
          <p:cNvSpPr>
            <a:spLocks noGrp="1"/>
          </p:cNvSpPr>
          <p:nvPr>
            <p:ph type="title"/>
          </p:nvPr>
        </p:nvSpPr>
        <p:spPr>
          <a:xfrm>
            <a:off x="0" y="18255"/>
            <a:ext cx="10515600" cy="896145"/>
          </a:xfrm>
        </p:spPr>
        <p:txBody>
          <a:bodyPr/>
          <a:lstStyle/>
          <a:p>
            <a:r>
              <a:rPr lang="en-US" dirty="0"/>
              <a:t>1️⃣ Conformed Dimension</a:t>
            </a:r>
          </a:p>
        </p:txBody>
      </p:sp>
      <p:sp>
        <p:nvSpPr>
          <p:cNvPr id="3" name="Text Placeholder 2">
            <a:extLst>
              <a:ext uri="{FF2B5EF4-FFF2-40B4-BE49-F238E27FC236}">
                <a16:creationId xmlns:a16="http://schemas.microsoft.com/office/drawing/2014/main" id="{847CFE2C-BDBA-6170-2F12-8B6F84C4F275}"/>
              </a:ext>
            </a:extLst>
          </p:cNvPr>
          <p:cNvSpPr>
            <a:spLocks noGrp="1"/>
          </p:cNvSpPr>
          <p:nvPr>
            <p:ph type="body" idx="1"/>
          </p:nvPr>
        </p:nvSpPr>
        <p:spPr/>
        <p:txBody>
          <a:bodyPr/>
          <a:lstStyle/>
          <a:p>
            <a:pPr marL="114300" indent="0">
              <a:buNone/>
            </a:pPr>
            <a:r>
              <a:rPr lang="en-US" b="1" dirty="0"/>
              <a:t>Shared across multiple fact tables or data marts</a:t>
            </a:r>
            <a:endParaRPr lang="en-US" dirty="0"/>
          </a:p>
          <a:p>
            <a:r>
              <a:rPr lang="en-US" dirty="0"/>
              <a:t>Same meaning, same attributes everywhere</a:t>
            </a:r>
          </a:p>
          <a:p>
            <a:r>
              <a:rPr lang="en-US" dirty="0"/>
              <a:t>Enables cross-fact analysis</a:t>
            </a:r>
          </a:p>
          <a:p>
            <a:pPr marL="114300" indent="0">
              <a:buNone/>
            </a:pPr>
            <a:r>
              <a:rPr lang="en-US" b="1" dirty="0"/>
              <a:t>Example</a:t>
            </a:r>
            <a:endParaRPr lang="en-US" dirty="0"/>
          </a:p>
          <a:p>
            <a:r>
              <a:rPr lang="en-US" dirty="0" err="1"/>
              <a:t>Date_Dim</a:t>
            </a:r>
            <a:r>
              <a:rPr lang="en-US" dirty="0"/>
              <a:t> used by </a:t>
            </a:r>
            <a:r>
              <a:rPr lang="en-US" dirty="0" err="1"/>
              <a:t>Sales_Fact</a:t>
            </a:r>
            <a:r>
              <a:rPr lang="en-US" dirty="0"/>
              <a:t>, </a:t>
            </a:r>
            <a:r>
              <a:rPr lang="en-US" dirty="0" err="1"/>
              <a:t>Inventory_Fact</a:t>
            </a:r>
            <a:endParaRPr lang="en-US" dirty="0"/>
          </a:p>
          <a:p>
            <a:r>
              <a:rPr lang="en-US" dirty="0" err="1"/>
              <a:t>Customer_Dim</a:t>
            </a:r>
            <a:r>
              <a:rPr lang="en-US" dirty="0"/>
              <a:t> used by both online &amp; offline sales</a:t>
            </a:r>
          </a:p>
          <a:p>
            <a:pPr marL="114300" indent="0">
              <a:buNone/>
            </a:pPr>
            <a:endParaRPr lang="en-US" dirty="0"/>
          </a:p>
        </p:txBody>
      </p:sp>
    </p:spTree>
    <p:extLst>
      <p:ext uri="{BB962C8B-B14F-4D97-AF65-F5344CB8AC3E}">
        <p14:creationId xmlns:p14="http://schemas.microsoft.com/office/powerpoint/2010/main" val="760211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327E0-2259-FFB6-EF72-9241BAF7E05A}"/>
              </a:ext>
            </a:extLst>
          </p:cNvPr>
          <p:cNvSpPr>
            <a:spLocks noGrp="1"/>
          </p:cNvSpPr>
          <p:nvPr>
            <p:ph type="title"/>
          </p:nvPr>
        </p:nvSpPr>
        <p:spPr>
          <a:xfrm>
            <a:off x="0" y="0"/>
            <a:ext cx="10515600" cy="968829"/>
          </a:xfrm>
        </p:spPr>
        <p:txBody>
          <a:bodyPr/>
          <a:lstStyle/>
          <a:p>
            <a:r>
              <a:rPr lang="en-US" dirty="0"/>
              <a:t>2️⃣ Role-Playing Dimension</a:t>
            </a:r>
          </a:p>
        </p:txBody>
      </p:sp>
      <p:sp>
        <p:nvSpPr>
          <p:cNvPr id="3" name="Text Placeholder 2">
            <a:extLst>
              <a:ext uri="{FF2B5EF4-FFF2-40B4-BE49-F238E27FC236}">
                <a16:creationId xmlns:a16="http://schemas.microsoft.com/office/drawing/2014/main" id="{3CAB3921-9E1E-8519-56E2-DD4A4B261722}"/>
              </a:ext>
            </a:extLst>
          </p:cNvPr>
          <p:cNvSpPr>
            <a:spLocks noGrp="1"/>
          </p:cNvSpPr>
          <p:nvPr>
            <p:ph type="body" idx="1"/>
          </p:nvPr>
        </p:nvSpPr>
        <p:spPr/>
        <p:txBody>
          <a:bodyPr/>
          <a:lstStyle/>
          <a:p>
            <a:pPr marL="114300" indent="0">
              <a:buNone/>
            </a:pPr>
            <a:r>
              <a:rPr lang="en-US" b="1" dirty="0"/>
              <a:t>Same physical dimension used in different roles</a:t>
            </a:r>
            <a:endParaRPr lang="en-US" dirty="0"/>
          </a:p>
          <a:p>
            <a:r>
              <a:rPr lang="en-US" dirty="0"/>
              <a:t>Implemented by aliases or views</a:t>
            </a:r>
          </a:p>
          <a:p>
            <a:pPr marL="114300" indent="0">
              <a:buNone/>
            </a:pPr>
            <a:r>
              <a:rPr lang="en-US" b="1" dirty="0"/>
              <a:t>Example</a:t>
            </a:r>
            <a:endParaRPr lang="en-US" dirty="0"/>
          </a:p>
          <a:p>
            <a:r>
              <a:rPr lang="en-US" dirty="0" err="1"/>
              <a:t>Date_Dim</a:t>
            </a:r>
            <a:r>
              <a:rPr lang="en-US" dirty="0"/>
              <a:t> acting as:</a:t>
            </a:r>
          </a:p>
          <a:p>
            <a:pPr lvl="1"/>
            <a:r>
              <a:rPr lang="en-US" dirty="0"/>
              <a:t>Order Date</a:t>
            </a:r>
          </a:p>
          <a:p>
            <a:pPr lvl="1"/>
            <a:r>
              <a:rPr lang="en-US" dirty="0"/>
              <a:t>Ship Date</a:t>
            </a:r>
          </a:p>
          <a:p>
            <a:pPr lvl="1"/>
            <a:r>
              <a:rPr lang="en-US" dirty="0"/>
              <a:t>Delivery Date</a:t>
            </a:r>
          </a:p>
          <a:p>
            <a:r>
              <a:rPr lang="en-US" b="1" i="1" dirty="0">
                <a:highlight>
                  <a:srgbClr val="FFFF00"/>
                </a:highlight>
              </a:rPr>
              <a:t>One table, many business meanings</a:t>
            </a:r>
            <a:endParaRPr lang="en-US" b="1" dirty="0">
              <a:highlight>
                <a:srgbClr val="FFFF00"/>
              </a:highlight>
            </a:endParaRPr>
          </a:p>
          <a:p>
            <a:pPr marL="114300" indent="0">
              <a:buNone/>
            </a:pPr>
            <a:endParaRPr lang="en-US" dirty="0"/>
          </a:p>
        </p:txBody>
      </p:sp>
    </p:spTree>
    <p:extLst>
      <p:ext uri="{BB962C8B-B14F-4D97-AF65-F5344CB8AC3E}">
        <p14:creationId xmlns:p14="http://schemas.microsoft.com/office/powerpoint/2010/main" val="1680933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E6E27-3F20-D211-23A9-9C1895BB8D16}"/>
              </a:ext>
            </a:extLst>
          </p:cNvPr>
          <p:cNvSpPr>
            <a:spLocks noGrp="1"/>
          </p:cNvSpPr>
          <p:nvPr>
            <p:ph type="title"/>
          </p:nvPr>
        </p:nvSpPr>
        <p:spPr>
          <a:xfrm>
            <a:off x="0" y="18256"/>
            <a:ext cx="10515600" cy="662782"/>
          </a:xfrm>
        </p:spPr>
        <p:txBody>
          <a:bodyPr>
            <a:normAutofit fontScale="90000"/>
          </a:bodyPr>
          <a:lstStyle/>
          <a:p>
            <a:r>
              <a:rPr lang="en-US" dirty="0"/>
              <a:t>3️⃣ Slowly Changing Dimension (SCD)</a:t>
            </a:r>
          </a:p>
        </p:txBody>
      </p:sp>
      <p:sp>
        <p:nvSpPr>
          <p:cNvPr id="3" name="Text Placeholder 2">
            <a:extLst>
              <a:ext uri="{FF2B5EF4-FFF2-40B4-BE49-F238E27FC236}">
                <a16:creationId xmlns:a16="http://schemas.microsoft.com/office/drawing/2014/main" id="{A56A7682-2EFF-07B6-1C52-3A4403366FEB}"/>
              </a:ext>
            </a:extLst>
          </p:cNvPr>
          <p:cNvSpPr>
            <a:spLocks noGrp="1"/>
          </p:cNvSpPr>
          <p:nvPr>
            <p:ph type="body" idx="1"/>
          </p:nvPr>
        </p:nvSpPr>
        <p:spPr>
          <a:xfrm>
            <a:off x="97972" y="1253330"/>
            <a:ext cx="10515600" cy="5604669"/>
          </a:xfrm>
        </p:spPr>
        <p:txBody>
          <a:bodyPr>
            <a:normAutofit fontScale="70000" lnSpcReduction="20000"/>
          </a:bodyPr>
          <a:lstStyle/>
          <a:p>
            <a:pPr marL="114300" indent="0">
              <a:buNone/>
            </a:pPr>
            <a:r>
              <a:rPr lang="en-US" b="1" dirty="0"/>
              <a:t>Handles changes in dimension attributes over time</a:t>
            </a:r>
            <a:endParaRPr lang="en-US" dirty="0"/>
          </a:p>
          <a:p>
            <a:pPr marL="114300" indent="0">
              <a:buNone/>
            </a:pPr>
            <a:r>
              <a:rPr lang="en-US" b="1" dirty="0"/>
              <a:t>🔹 Type 0 – Retain Original</a:t>
            </a:r>
          </a:p>
          <a:p>
            <a:r>
              <a:rPr lang="en-US" dirty="0"/>
              <a:t>No changes allowed</a:t>
            </a:r>
          </a:p>
          <a:p>
            <a:r>
              <a:rPr lang="en-US" dirty="0"/>
              <a:t>Example: Date of Birth</a:t>
            </a:r>
          </a:p>
          <a:p>
            <a:pPr marL="114300" indent="0">
              <a:buNone/>
            </a:pPr>
            <a:r>
              <a:rPr lang="en-US" b="1" dirty="0"/>
              <a:t>🔹 Type 1 – Overwrite</a:t>
            </a:r>
          </a:p>
          <a:p>
            <a:r>
              <a:rPr lang="en-US" dirty="0"/>
              <a:t>Old value replaced</a:t>
            </a:r>
          </a:p>
          <a:p>
            <a:r>
              <a:rPr lang="en-US" dirty="0"/>
              <a:t>No history</a:t>
            </a:r>
          </a:p>
          <a:p>
            <a:r>
              <a:rPr lang="en-US" dirty="0"/>
              <a:t>Example: Fixing spelling mistakes</a:t>
            </a:r>
          </a:p>
          <a:p>
            <a:pPr marL="114300" indent="0">
              <a:buNone/>
            </a:pPr>
            <a:r>
              <a:rPr lang="en-US" b="1" dirty="0"/>
              <a:t>🔹 Type 2 – Add New Row (Most used)</a:t>
            </a:r>
          </a:p>
          <a:p>
            <a:r>
              <a:rPr lang="en-US" dirty="0"/>
              <a:t>Full history maintained</a:t>
            </a:r>
          </a:p>
          <a:p>
            <a:pPr marL="114300" indent="0">
              <a:buNone/>
            </a:pPr>
            <a:r>
              <a:rPr lang="en-US" b="1" dirty="0">
                <a:solidFill>
                  <a:srgbClr val="FF0000"/>
                </a:solidFill>
                <a:highlight>
                  <a:srgbClr val="FFFF00"/>
                </a:highlight>
              </a:rPr>
              <a:t>Uses:</a:t>
            </a:r>
          </a:p>
          <a:p>
            <a:pPr lvl="1"/>
            <a:r>
              <a:rPr lang="en-US" dirty="0"/>
              <a:t>Surrogate Key</a:t>
            </a:r>
          </a:p>
          <a:p>
            <a:pPr lvl="1"/>
            <a:r>
              <a:rPr lang="en-US" dirty="0"/>
              <a:t>Start Date / End Date</a:t>
            </a:r>
          </a:p>
          <a:p>
            <a:pPr lvl="1"/>
            <a:r>
              <a:rPr lang="en-US" dirty="0"/>
              <a:t>Current Flag</a:t>
            </a:r>
          </a:p>
          <a:p>
            <a:pPr marL="114300" indent="0">
              <a:buNone/>
            </a:pPr>
            <a:r>
              <a:rPr lang="en-US" b="1" dirty="0"/>
              <a:t>🔹 Type 3 – Add New Column</a:t>
            </a:r>
          </a:p>
          <a:p>
            <a:r>
              <a:rPr lang="en-US" dirty="0"/>
              <a:t>Limited history</a:t>
            </a:r>
          </a:p>
          <a:p>
            <a:r>
              <a:rPr lang="en-US" dirty="0"/>
              <a:t>Example: </a:t>
            </a:r>
            <a:r>
              <a:rPr lang="en-US" dirty="0" err="1"/>
              <a:t>old_city</a:t>
            </a:r>
            <a:r>
              <a:rPr lang="en-US" dirty="0"/>
              <a:t>, </a:t>
            </a:r>
            <a:r>
              <a:rPr lang="en-US" dirty="0" err="1"/>
              <a:t>current_city</a:t>
            </a:r>
            <a:endParaRPr lang="en-US" dirty="0"/>
          </a:p>
          <a:p>
            <a:endParaRPr lang="en-US" dirty="0"/>
          </a:p>
        </p:txBody>
      </p:sp>
    </p:spTree>
    <p:extLst>
      <p:ext uri="{BB962C8B-B14F-4D97-AF65-F5344CB8AC3E}">
        <p14:creationId xmlns:p14="http://schemas.microsoft.com/office/powerpoint/2010/main" val="4260161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7B90-B8EB-484C-6EBF-06EBDB7C8805}"/>
              </a:ext>
            </a:extLst>
          </p:cNvPr>
          <p:cNvSpPr>
            <a:spLocks noGrp="1"/>
          </p:cNvSpPr>
          <p:nvPr>
            <p:ph type="title"/>
          </p:nvPr>
        </p:nvSpPr>
        <p:spPr>
          <a:xfrm>
            <a:off x="0" y="18255"/>
            <a:ext cx="10515600" cy="885259"/>
          </a:xfrm>
        </p:spPr>
        <p:txBody>
          <a:bodyPr/>
          <a:lstStyle/>
          <a:p>
            <a:r>
              <a:rPr lang="en-US" dirty="0"/>
              <a:t>4️⃣ Junk Dimension</a:t>
            </a:r>
          </a:p>
        </p:txBody>
      </p:sp>
      <p:sp>
        <p:nvSpPr>
          <p:cNvPr id="3" name="Text Placeholder 2">
            <a:extLst>
              <a:ext uri="{FF2B5EF4-FFF2-40B4-BE49-F238E27FC236}">
                <a16:creationId xmlns:a16="http://schemas.microsoft.com/office/drawing/2014/main" id="{DF653486-4D87-9E2C-07F0-173D31298427}"/>
              </a:ext>
            </a:extLst>
          </p:cNvPr>
          <p:cNvSpPr>
            <a:spLocks noGrp="1"/>
          </p:cNvSpPr>
          <p:nvPr>
            <p:ph type="body" idx="1"/>
          </p:nvPr>
        </p:nvSpPr>
        <p:spPr/>
        <p:txBody>
          <a:bodyPr/>
          <a:lstStyle/>
          <a:p>
            <a:pPr marL="114300" indent="0">
              <a:buNone/>
            </a:pPr>
            <a:r>
              <a:rPr lang="en-US" b="1" dirty="0"/>
              <a:t>Combines low-cardinality flags &amp; indicators</a:t>
            </a:r>
            <a:endParaRPr lang="en-US" dirty="0"/>
          </a:p>
          <a:p>
            <a:r>
              <a:rPr lang="en-US" dirty="0"/>
              <a:t>Avoids too many tiny dimensions</a:t>
            </a:r>
          </a:p>
          <a:p>
            <a:pPr marL="114300" indent="0">
              <a:buNone/>
            </a:pPr>
            <a:r>
              <a:rPr lang="en-US" b="1" dirty="0"/>
              <a:t>Example</a:t>
            </a:r>
            <a:endParaRPr lang="en-US" dirty="0"/>
          </a:p>
          <a:p>
            <a:r>
              <a:rPr lang="en-US" dirty="0" err="1"/>
              <a:t>is_returned</a:t>
            </a:r>
            <a:endParaRPr lang="en-US" dirty="0"/>
          </a:p>
          <a:p>
            <a:r>
              <a:rPr lang="en-US" dirty="0" err="1"/>
              <a:t>payment_type</a:t>
            </a:r>
            <a:endParaRPr lang="en-US" dirty="0"/>
          </a:p>
          <a:p>
            <a:r>
              <a:rPr lang="en-US" dirty="0" err="1"/>
              <a:t>discount_flag</a:t>
            </a:r>
            <a:endParaRPr lang="en-US" dirty="0"/>
          </a:p>
          <a:p>
            <a:r>
              <a:rPr lang="en-US" dirty="0"/>
              <a:t> </a:t>
            </a:r>
            <a:r>
              <a:rPr lang="en-US" b="1" i="1" dirty="0">
                <a:solidFill>
                  <a:srgbClr val="FF0000"/>
                </a:solidFill>
                <a:highlight>
                  <a:srgbClr val="FFFF00"/>
                </a:highlight>
              </a:rPr>
              <a:t>Improves schema cleanliness</a:t>
            </a:r>
            <a:endParaRPr lang="en-US" b="1" dirty="0">
              <a:solidFill>
                <a:srgbClr val="FF0000"/>
              </a:solidFill>
              <a:highlight>
                <a:srgbClr val="FFFF00"/>
              </a:highlight>
            </a:endParaRPr>
          </a:p>
          <a:p>
            <a:endParaRPr lang="en-US" dirty="0"/>
          </a:p>
        </p:txBody>
      </p:sp>
    </p:spTree>
    <p:extLst>
      <p:ext uri="{BB962C8B-B14F-4D97-AF65-F5344CB8AC3E}">
        <p14:creationId xmlns:p14="http://schemas.microsoft.com/office/powerpoint/2010/main" val="4089736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2E25D-F6B2-4639-3141-A7CA927E8B99}"/>
              </a:ext>
            </a:extLst>
          </p:cNvPr>
          <p:cNvSpPr>
            <a:spLocks noGrp="1"/>
          </p:cNvSpPr>
          <p:nvPr>
            <p:ph type="title"/>
          </p:nvPr>
        </p:nvSpPr>
        <p:spPr>
          <a:xfrm>
            <a:off x="0" y="18256"/>
            <a:ext cx="10515600" cy="662782"/>
          </a:xfrm>
        </p:spPr>
        <p:txBody>
          <a:bodyPr>
            <a:normAutofit fontScale="90000"/>
          </a:bodyPr>
          <a:lstStyle/>
          <a:p>
            <a:r>
              <a:rPr lang="en-US" dirty="0"/>
              <a:t>5️⃣ Degenerate Dimension</a:t>
            </a:r>
          </a:p>
        </p:txBody>
      </p:sp>
      <p:sp>
        <p:nvSpPr>
          <p:cNvPr id="3" name="Text Placeholder 2">
            <a:extLst>
              <a:ext uri="{FF2B5EF4-FFF2-40B4-BE49-F238E27FC236}">
                <a16:creationId xmlns:a16="http://schemas.microsoft.com/office/drawing/2014/main" id="{696589C6-7444-C7A2-20F5-AE9B5F7FD083}"/>
              </a:ext>
            </a:extLst>
          </p:cNvPr>
          <p:cNvSpPr>
            <a:spLocks noGrp="1"/>
          </p:cNvSpPr>
          <p:nvPr>
            <p:ph type="body" idx="1"/>
          </p:nvPr>
        </p:nvSpPr>
        <p:spPr/>
        <p:txBody>
          <a:bodyPr/>
          <a:lstStyle/>
          <a:p>
            <a:pPr marL="114300" indent="0">
              <a:buNone/>
            </a:pPr>
            <a:r>
              <a:rPr lang="en-US" b="1" dirty="0"/>
              <a:t>Dimension attribute stored in fact table</a:t>
            </a:r>
            <a:endParaRPr lang="en-US" dirty="0"/>
          </a:p>
          <a:p>
            <a:r>
              <a:rPr lang="en-US" dirty="0"/>
              <a:t>No separate dimension table</a:t>
            </a:r>
          </a:p>
          <a:p>
            <a:r>
              <a:rPr lang="en-US" dirty="0"/>
              <a:t>High cardinality identifiers</a:t>
            </a:r>
          </a:p>
          <a:p>
            <a:pPr marL="114300" indent="0">
              <a:buNone/>
            </a:pPr>
            <a:r>
              <a:rPr lang="en-US" b="1" dirty="0"/>
              <a:t>Example</a:t>
            </a:r>
            <a:endParaRPr lang="en-US" dirty="0"/>
          </a:p>
          <a:p>
            <a:r>
              <a:rPr lang="en-US" dirty="0"/>
              <a:t>Order Number</a:t>
            </a:r>
          </a:p>
          <a:p>
            <a:r>
              <a:rPr lang="en-US" dirty="0"/>
              <a:t>Invoice ID</a:t>
            </a:r>
          </a:p>
          <a:p>
            <a:r>
              <a:rPr lang="en-US" dirty="0"/>
              <a:t>Transaction ID</a:t>
            </a:r>
          </a:p>
          <a:p>
            <a:r>
              <a:rPr lang="en-US" dirty="0"/>
              <a:t> </a:t>
            </a:r>
            <a:r>
              <a:rPr lang="en-US" i="1" dirty="0"/>
              <a:t>Exists only in fact table</a:t>
            </a:r>
            <a:endParaRPr lang="en-US" dirty="0"/>
          </a:p>
          <a:p>
            <a:endParaRPr lang="en-US" dirty="0"/>
          </a:p>
        </p:txBody>
      </p:sp>
    </p:spTree>
    <p:extLst>
      <p:ext uri="{BB962C8B-B14F-4D97-AF65-F5344CB8AC3E}">
        <p14:creationId xmlns:p14="http://schemas.microsoft.com/office/powerpoint/2010/main" val="54383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56DE7-96C8-9A82-2129-83EAD8FA386F}"/>
              </a:ext>
            </a:extLst>
          </p:cNvPr>
          <p:cNvSpPr>
            <a:spLocks noGrp="1"/>
          </p:cNvSpPr>
          <p:nvPr>
            <p:ph type="title"/>
          </p:nvPr>
        </p:nvSpPr>
        <p:spPr>
          <a:xfrm>
            <a:off x="0" y="18256"/>
            <a:ext cx="10515600" cy="662782"/>
          </a:xfrm>
        </p:spPr>
        <p:txBody>
          <a:bodyPr>
            <a:normAutofit fontScale="90000"/>
          </a:bodyPr>
          <a:lstStyle/>
          <a:p>
            <a:r>
              <a:rPr lang="en-US" dirty="0"/>
              <a:t>6️⃣ </a:t>
            </a:r>
            <a:r>
              <a:rPr lang="en-US" dirty="0" err="1"/>
              <a:t>Snowflaked</a:t>
            </a:r>
            <a:r>
              <a:rPr lang="en-US" dirty="0"/>
              <a:t> Dimension</a:t>
            </a:r>
          </a:p>
        </p:txBody>
      </p:sp>
      <p:sp>
        <p:nvSpPr>
          <p:cNvPr id="3" name="Text Placeholder 2">
            <a:extLst>
              <a:ext uri="{FF2B5EF4-FFF2-40B4-BE49-F238E27FC236}">
                <a16:creationId xmlns:a16="http://schemas.microsoft.com/office/drawing/2014/main" id="{18E7F3A6-51FD-143E-A6F5-092AADB100C2}"/>
              </a:ext>
            </a:extLst>
          </p:cNvPr>
          <p:cNvSpPr>
            <a:spLocks noGrp="1"/>
          </p:cNvSpPr>
          <p:nvPr>
            <p:ph type="body" idx="1"/>
          </p:nvPr>
        </p:nvSpPr>
        <p:spPr/>
        <p:txBody>
          <a:bodyPr/>
          <a:lstStyle/>
          <a:p>
            <a:pPr marL="114300" indent="0">
              <a:buNone/>
            </a:pPr>
            <a:r>
              <a:rPr lang="en-US" b="1" dirty="0"/>
              <a:t>Normalized dimension structure</a:t>
            </a:r>
            <a:endParaRPr lang="en-US" dirty="0"/>
          </a:p>
          <a:p>
            <a:r>
              <a:rPr lang="en-US" dirty="0"/>
              <a:t>Dimension split into sub-dimensions</a:t>
            </a:r>
          </a:p>
          <a:p>
            <a:pPr marL="114300" indent="0">
              <a:buNone/>
            </a:pPr>
            <a:r>
              <a:rPr lang="en-US" b="1" dirty="0"/>
              <a:t>Example</a:t>
            </a:r>
            <a:endParaRPr lang="en-US" dirty="0"/>
          </a:p>
          <a:p>
            <a:r>
              <a:rPr lang="en-US" dirty="0"/>
              <a:t>Product → Category → Department</a:t>
            </a:r>
          </a:p>
          <a:p>
            <a:r>
              <a:rPr lang="en-US" b="1" dirty="0">
                <a:highlight>
                  <a:srgbClr val="FFFF00"/>
                </a:highlight>
              </a:rPr>
              <a:t>Pros: Storage efficient</a:t>
            </a:r>
            <a:br>
              <a:rPr lang="en-US" b="1" dirty="0">
                <a:highlight>
                  <a:srgbClr val="FFFF00"/>
                </a:highlight>
              </a:rPr>
            </a:br>
            <a:r>
              <a:rPr lang="en-US" b="1" dirty="0">
                <a:highlight>
                  <a:srgbClr val="FFFF00"/>
                </a:highlight>
              </a:rPr>
              <a:t>Cons: Slower queries, complex joins</a:t>
            </a:r>
            <a:br>
              <a:rPr lang="en-US" b="1" dirty="0">
                <a:highlight>
                  <a:srgbClr val="FFFF00"/>
                </a:highlight>
              </a:rPr>
            </a:br>
            <a:r>
              <a:rPr lang="en-US" b="1" i="1" dirty="0">
                <a:highlight>
                  <a:srgbClr val="FFFF00"/>
                </a:highlight>
              </a:rPr>
              <a:t>Generally avoided in favor of star schema</a:t>
            </a:r>
            <a:endParaRPr lang="en-US" b="1" dirty="0">
              <a:highlight>
                <a:srgbClr val="FFFF00"/>
              </a:highlight>
            </a:endParaRPr>
          </a:p>
          <a:p>
            <a:endParaRPr lang="en-US" dirty="0"/>
          </a:p>
        </p:txBody>
      </p:sp>
    </p:spTree>
    <p:extLst>
      <p:ext uri="{BB962C8B-B14F-4D97-AF65-F5344CB8AC3E}">
        <p14:creationId xmlns:p14="http://schemas.microsoft.com/office/powerpoint/2010/main" val="24871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7348-B311-ED5B-FB39-D4D2C41129F5}"/>
              </a:ext>
            </a:extLst>
          </p:cNvPr>
          <p:cNvSpPr>
            <a:spLocks noGrp="1"/>
          </p:cNvSpPr>
          <p:nvPr>
            <p:ph type="title"/>
          </p:nvPr>
        </p:nvSpPr>
        <p:spPr>
          <a:xfrm>
            <a:off x="0" y="0"/>
            <a:ext cx="10515600" cy="1325563"/>
          </a:xfrm>
        </p:spPr>
        <p:txBody>
          <a:bodyPr/>
          <a:lstStyle/>
          <a:p>
            <a:r>
              <a:rPr lang="en-US" dirty="0"/>
              <a:t>7️⃣ Static Dimension</a:t>
            </a:r>
          </a:p>
        </p:txBody>
      </p:sp>
      <p:sp>
        <p:nvSpPr>
          <p:cNvPr id="3" name="Text Placeholder 2">
            <a:extLst>
              <a:ext uri="{FF2B5EF4-FFF2-40B4-BE49-F238E27FC236}">
                <a16:creationId xmlns:a16="http://schemas.microsoft.com/office/drawing/2014/main" id="{BA3BFC03-26B8-B9CA-5450-C3575B8D3F5E}"/>
              </a:ext>
            </a:extLst>
          </p:cNvPr>
          <p:cNvSpPr>
            <a:spLocks noGrp="1"/>
          </p:cNvSpPr>
          <p:nvPr>
            <p:ph type="body" idx="1"/>
          </p:nvPr>
        </p:nvSpPr>
        <p:spPr/>
        <p:txBody>
          <a:bodyPr/>
          <a:lstStyle/>
          <a:p>
            <a:pPr marL="114300" indent="0">
              <a:buNone/>
            </a:pPr>
            <a:r>
              <a:rPr lang="en-US" b="1" dirty="0"/>
              <a:t>Rarely or never changes</a:t>
            </a:r>
            <a:endParaRPr lang="en-US" dirty="0"/>
          </a:p>
          <a:p>
            <a:pPr marL="114300" indent="0">
              <a:buNone/>
            </a:pPr>
            <a:r>
              <a:rPr lang="en-US" b="1" dirty="0"/>
              <a:t>Example</a:t>
            </a:r>
            <a:endParaRPr lang="en-US" dirty="0"/>
          </a:p>
          <a:p>
            <a:r>
              <a:rPr lang="en-US" dirty="0"/>
              <a:t>Country</a:t>
            </a:r>
          </a:p>
          <a:p>
            <a:r>
              <a:rPr lang="en-US" dirty="0"/>
              <a:t>Gender</a:t>
            </a:r>
          </a:p>
          <a:p>
            <a:r>
              <a:rPr lang="en-US" dirty="0"/>
              <a:t>Currency</a:t>
            </a:r>
          </a:p>
          <a:p>
            <a:r>
              <a:rPr lang="en-US" b="1" dirty="0">
                <a:highlight>
                  <a:srgbClr val="FFFF00"/>
                </a:highlight>
              </a:rPr>
              <a:t> </a:t>
            </a:r>
            <a:r>
              <a:rPr lang="en-US" b="1" i="1" dirty="0">
                <a:highlight>
                  <a:srgbClr val="FFFF00"/>
                </a:highlight>
              </a:rPr>
              <a:t>Usually small and stable</a:t>
            </a:r>
            <a:endParaRPr lang="en-US" b="1" dirty="0">
              <a:highlight>
                <a:srgbClr val="FFFF00"/>
              </a:highlight>
            </a:endParaRPr>
          </a:p>
          <a:p>
            <a:endParaRPr lang="en-US" dirty="0"/>
          </a:p>
        </p:txBody>
      </p:sp>
    </p:spTree>
    <p:extLst>
      <p:ext uri="{BB962C8B-B14F-4D97-AF65-F5344CB8AC3E}">
        <p14:creationId xmlns:p14="http://schemas.microsoft.com/office/powerpoint/2010/main" val="3301438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4B29-1F47-8D17-BAFE-FF3170296C23}"/>
              </a:ext>
            </a:extLst>
          </p:cNvPr>
          <p:cNvSpPr>
            <a:spLocks noGrp="1"/>
          </p:cNvSpPr>
          <p:nvPr>
            <p:ph type="title"/>
          </p:nvPr>
        </p:nvSpPr>
        <p:spPr>
          <a:xfrm>
            <a:off x="0" y="0"/>
            <a:ext cx="10515600" cy="681037"/>
          </a:xfrm>
        </p:spPr>
        <p:txBody>
          <a:bodyPr>
            <a:normAutofit fontScale="90000"/>
          </a:bodyPr>
          <a:lstStyle/>
          <a:p>
            <a:r>
              <a:rPr lang="en-US" dirty="0"/>
              <a:t>8️⃣ Inferred (Early-Arriving) Dimension</a:t>
            </a:r>
          </a:p>
        </p:txBody>
      </p:sp>
      <p:sp>
        <p:nvSpPr>
          <p:cNvPr id="3" name="Text Placeholder 2">
            <a:extLst>
              <a:ext uri="{FF2B5EF4-FFF2-40B4-BE49-F238E27FC236}">
                <a16:creationId xmlns:a16="http://schemas.microsoft.com/office/drawing/2014/main" id="{C376FF1C-BB52-8801-6CBC-C2B5CDE097BE}"/>
              </a:ext>
            </a:extLst>
          </p:cNvPr>
          <p:cNvSpPr>
            <a:spLocks noGrp="1"/>
          </p:cNvSpPr>
          <p:nvPr>
            <p:ph type="body" idx="1"/>
          </p:nvPr>
        </p:nvSpPr>
        <p:spPr/>
        <p:txBody>
          <a:bodyPr/>
          <a:lstStyle/>
          <a:p>
            <a:pPr marL="114300" indent="0">
              <a:buNone/>
            </a:pPr>
            <a:r>
              <a:rPr lang="en-US" b="1" dirty="0"/>
              <a:t>Created before full details are available</a:t>
            </a:r>
            <a:endParaRPr lang="en-US" dirty="0"/>
          </a:p>
          <a:p>
            <a:r>
              <a:rPr lang="en-US" dirty="0"/>
              <a:t>Placeholder rows inserted</a:t>
            </a:r>
          </a:p>
          <a:p>
            <a:r>
              <a:rPr lang="en-US" dirty="0"/>
              <a:t>Updated later</a:t>
            </a:r>
          </a:p>
          <a:p>
            <a:pPr marL="114300" indent="0">
              <a:buNone/>
            </a:pPr>
            <a:r>
              <a:rPr lang="en-US" b="1" dirty="0"/>
              <a:t>Example</a:t>
            </a:r>
            <a:endParaRPr lang="en-US" dirty="0"/>
          </a:p>
          <a:p>
            <a:r>
              <a:rPr lang="en-US" dirty="0"/>
              <a:t>Sales fact arrives before customer master data</a:t>
            </a:r>
          </a:p>
          <a:p>
            <a:r>
              <a:rPr lang="en-US" dirty="0"/>
              <a:t> </a:t>
            </a:r>
            <a:r>
              <a:rPr lang="en-US" b="1" i="1" dirty="0">
                <a:solidFill>
                  <a:srgbClr val="FF0000"/>
                </a:solidFill>
                <a:highlight>
                  <a:srgbClr val="FFFF00"/>
                </a:highlight>
              </a:rPr>
              <a:t>Used in real-time / streaming pipelines</a:t>
            </a:r>
            <a:endParaRPr lang="en-US" b="1" dirty="0">
              <a:solidFill>
                <a:srgbClr val="FF0000"/>
              </a:solidFill>
              <a:highlight>
                <a:srgbClr val="FFFF00"/>
              </a:highlight>
            </a:endParaRPr>
          </a:p>
          <a:p>
            <a:endParaRPr lang="en-US" dirty="0"/>
          </a:p>
        </p:txBody>
      </p:sp>
    </p:spTree>
    <p:extLst>
      <p:ext uri="{BB962C8B-B14F-4D97-AF65-F5344CB8AC3E}">
        <p14:creationId xmlns:p14="http://schemas.microsoft.com/office/powerpoint/2010/main" val="2896267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19396-55A1-490C-D025-31696FE97859}"/>
              </a:ext>
            </a:extLst>
          </p:cNvPr>
          <p:cNvSpPr>
            <a:spLocks noGrp="1"/>
          </p:cNvSpPr>
          <p:nvPr>
            <p:ph type="title"/>
          </p:nvPr>
        </p:nvSpPr>
        <p:spPr>
          <a:xfrm>
            <a:off x="0" y="1"/>
            <a:ext cx="10515600" cy="838200"/>
          </a:xfrm>
        </p:spPr>
        <p:txBody>
          <a:bodyPr/>
          <a:lstStyle/>
          <a:p>
            <a:r>
              <a:rPr lang="en-US" dirty="0"/>
              <a:t>9️⃣ Outrigger Dimension</a:t>
            </a:r>
          </a:p>
        </p:txBody>
      </p:sp>
      <p:sp>
        <p:nvSpPr>
          <p:cNvPr id="3" name="Text Placeholder 2">
            <a:extLst>
              <a:ext uri="{FF2B5EF4-FFF2-40B4-BE49-F238E27FC236}">
                <a16:creationId xmlns:a16="http://schemas.microsoft.com/office/drawing/2014/main" id="{CA0DF761-C42C-A96D-FB0D-6885354A22AA}"/>
              </a:ext>
            </a:extLst>
          </p:cNvPr>
          <p:cNvSpPr>
            <a:spLocks noGrp="1"/>
          </p:cNvSpPr>
          <p:nvPr>
            <p:ph type="body" idx="1"/>
          </p:nvPr>
        </p:nvSpPr>
        <p:spPr/>
        <p:txBody>
          <a:bodyPr/>
          <a:lstStyle/>
          <a:p>
            <a:pPr marL="114300" indent="0">
              <a:buNone/>
            </a:pPr>
            <a:r>
              <a:rPr lang="en-US" b="1" dirty="0"/>
              <a:t>Referenced by another dimension (not fact)</a:t>
            </a:r>
            <a:endParaRPr lang="en-US" dirty="0"/>
          </a:p>
          <a:p>
            <a:r>
              <a:rPr lang="en-US" dirty="0"/>
              <a:t>Dimension → Dimension relationship</a:t>
            </a:r>
          </a:p>
          <a:p>
            <a:pPr marL="114300" indent="0">
              <a:buNone/>
            </a:pPr>
            <a:r>
              <a:rPr lang="en-US" b="1" dirty="0"/>
              <a:t>Example</a:t>
            </a:r>
            <a:endParaRPr lang="en-US" dirty="0"/>
          </a:p>
          <a:p>
            <a:r>
              <a:rPr lang="en-US" dirty="0" err="1"/>
              <a:t>Customer_Dim</a:t>
            </a:r>
            <a:r>
              <a:rPr lang="en-US" dirty="0"/>
              <a:t> → </a:t>
            </a:r>
            <a:r>
              <a:rPr lang="en-US" dirty="0" err="1"/>
              <a:t>Geography_Dim</a:t>
            </a:r>
            <a:endParaRPr lang="en-US" dirty="0"/>
          </a:p>
          <a:p>
            <a:r>
              <a:rPr lang="en-US" dirty="0"/>
              <a:t> </a:t>
            </a:r>
            <a:r>
              <a:rPr lang="en-US" b="1" i="1" dirty="0">
                <a:solidFill>
                  <a:srgbClr val="FF0000"/>
                </a:solidFill>
                <a:highlight>
                  <a:srgbClr val="FFFF00"/>
                </a:highlight>
              </a:rPr>
              <a:t>Sometimes used, but can complicate queries</a:t>
            </a:r>
            <a:endParaRPr lang="en-US" b="1" dirty="0">
              <a:solidFill>
                <a:srgbClr val="FF0000"/>
              </a:solidFill>
              <a:highlight>
                <a:srgbClr val="FFFF00"/>
              </a:highlight>
            </a:endParaRPr>
          </a:p>
          <a:p>
            <a:endParaRPr lang="en-US" dirty="0"/>
          </a:p>
        </p:txBody>
      </p:sp>
    </p:spTree>
    <p:extLst>
      <p:ext uri="{BB962C8B-B14F-4D97-AF65-F5344CB8AC3E}">
        <p14:creationId xmlns:p14="http://schemas.microsoft.com/office/powerpoint/2010/main" val="154038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0749E-D5FF-FA69-D9C4-C5582B97CF1E}"/>
              </a:ext>
            </a:extLst>
          </p:cNvPr>
          <p:cNvSpPr>
            <a:spLocks noGrp="1"/>
          </p:cNvSpPr>
          <p:nvPr>
            <p:ph type="title"/>
          </p:nvPr>
        </p:nvSpPr>
        <p:spPr>
          <a:xfrm>
            <a:off x="0" y="18255"/>
            <a:ext cx="10515600" cy="362745"/>
          </a:xfrm>
        </p:spPr>
        <p:txBody>
          <a:bodyPr>
            <a:normAutofit fontScale="90000"/>
          </a:bodyPr>
          <a:lstStyle/>
          <a:p>
            <a:r>
              <a:rPr lang="en-US" dirty="0"/>
              <a:t>🔟 Mini Dimension</a:t>
            </a:r>
          </a:p>
        </p:txBody>
      </p:sp>
      <p:sp>
        <p:nvSpPr>
          <p:cNvPr id="3" name="Text Placeholder 2">
            <a:extLst>
              <a:ext uri="{FF2B5EF4-FFF2-40B4-BE49-F238E27FC236}">
                <a16:creationId xmlns:a16="http://schemas.microsoft.com/office/drawing/2014/main" id="{239314C2-C2F3-C391-AEB4-D7F189DBE4A0}"/>
              </a:ext>
            </a:extLst>
          </p:cNvPr>
          <p:cNvSpPr>
            <a:spLocks noGrp="1"/>
          </p:cNvSpPr>
          <p:nvPr>
            <p:ph type="body" idx="1"/>
          </p:nvPr>
        </p:nvSpPr>
        <p:spPr>
          <a:xfrm>
            <a:off x="261257" y="1379311"/>
            <a:ext cx="10515600" cy="4351338"/>
          </a:xfrm>
        </p:spPr>
        <p:txBody>
          <a:bodyPr/>
          <a:lstStyle/>
          <a:p>
            <a:pPr marL="114300" indent="0">
              <a:buNone/>
            </a:pPr>
            <a:r>
              <a:rPr lang="en-US" b="1" dirty="0"/>
              <a:t>Splits frequently changing attributes from a large dimension</a:t>
            </a:r>
            <a:endParaRPr lang="en-US" dirty="0"/>
          </a:p>
          <a:p>
            <a:pPr marL="114300" indent="0">
              <a:buNone/>
            </a:pPr>
            <a:r>
              <a:rPr lang="en-US" b="1" dirty="0"/>
              <a:t>Example</a:t>
            </a:r>
            <a:endParaRPr lang="en-US" dirty="0"/>
          </a:p>
          <a:p>
            <a:r>
              <a:rPr lang="en-US" dirty="0"/>
              <a:t>Customer core data (stable)</a:t>
            </a:r>
          </a:p>
          <a:p>
            <a:r>
              <a:rPr lang="en-US" dirty="0"/>
              <a:t>Customer behavior (age group, income band)</a:t>
            </a:r>
          </a:p>
          <a:p>
            <a:r>
              <a:rPr lang="en-US" b="1" i="1" dirty="0">
                <a:highlight>
                  <a:srgbClr val="FFFF00"/>
                </a:highlight>
              </a:rPr>
              <a:t>Reduces SCD Type-2 explosion</a:t>
            </a:r>
            <a:endParaRPr lang="en-US" b="1" dirty="0">
              <a:highlight>
                <a:srgbClr val="FFFF00"/>
              </a:highlight>
            </a:endParaRPr>
          </a:p>
          <a:p>
            <a:endParaRPr lang="en-US" dirty="0"/>
          </a:p>
        </p:txBody>
      </p:sp>
    </p:spTree>
    <p:extLst>
      <p:ext uri="{BB962C8B-B14F-4D97-AF65-F5344CB8AC3E}">
        <p14:creationId xmlns:p14="http://schemas.microsoft.com/office/powerpoint/2010/main" val="346347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08496"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962109CB-A464-C21A-2286-327435175721}"/>
              </a:ext>
            </a:extLst>
          </p:cNvPr>
          <p:cNvGraphicFramePr>
            <a:graphicFrameLocks noGrp="1"/>
          </p:cNvGraphicFramePr>
          <p:nvPr>
            <p:extLst>
              <p:ext uri="{D42A27DB-BD31-4B8C-83A1-F6EECF244321}">
                <p14:modId xmlns:p14="http://schemas.microsoft.com/office/powerpoint/2010/main" val="3435067027"/>
              </p:ext>
            </p:extLst>
          </p:nvPr>
        </p:nvGraphicFramePr>
        <p:xfrm>
          <a:off x="643467" y="807700"/>
          <a:ext cx="9240040" cy="5242611"/>
        </p:xfrm>
        <a:graphic>
          <a:graphicData uri="http://schemas.openxmlformats.org/drawingml/2006/table">
            <a:tbl>
              <a:tblPr/>
              <a:tblGrid>
                <a:gridCol w="3768067">
                  <a:extLst>
                    <a:ext uri="{9D8B030D-6E8A-4147-A177-3AD203B41FA5}">
                      <a16:colId xmlns:a16="http://schemas.microsoft.com/office/drawing/2014/main" val="2402755369"/>
                    </a:ext>
                  </a:extLst>
                </a:gridCol>
                <a:gridCol w="5471973">
                  <a:extLst>
                    <a:ext uri="{9D8B030D-6E8A-4147-A177-3AD203B41FA5}">
                      <a16:colId xmlns:a16="http://schemas.microsoft.com/office/drawing/2014/main" val="3819658692"/>
                    </a:ext>
                  </a:extLst>
                </a:gridCol>
              </a:tblGrid>
              <a:tr h="476601">
                <a:tc>
                  <a:txBody>
                    <a:bodyPr/>
                    <a:lstStyle/>
                    <a:p>
                      <a:pPr algn="l" fontAlgn="ctr">
                        <a:buNone/>
                      </a:pPr>
                      <a:r>
                        <a:rPr lang="en-US" sz="2100" b="1" i="0" u="none" strike="noStrike">
                          <a:solidFill>
                            <a:srgbClr val="FF0000"/>
                          </a:solidFill>
                          <a:effectLst/>
                          <a:latin typeface="Arial" panose="020B0604020202020204" pitchFamily="34" charset="0"/>
                        </a:rPr>
                        <a:t>Dimension Type</a:t>
                      </a:r>
                    </a:p>
                  </a:txBody>
                  <a:tcPr marL="108318" marR="108318" marT="54159" marB="54159" anchor="ctr">
                    <a:lnL>
                      <a:noFill/>
                    </a:lnL>
                    <a:lnR>
                      <a:noFill/>
                    </a:lnR>
                    <a:lnT>
                      <a:noFill/>
                    </a:lnT>
                    <a:lnB>
                      <a:noFill/>
                    </a:lnB>
                    <a:noFill/>
                  </a:tcPr>
                </a:tc>
                <a:tc>
                  <a:txBody>
                    <a:bodyPr/>
                    <a:lstStyle/>
                    <a:p>
                      <a:pPr algn="l" fontAlgn="ctr">
                        <a:buNone/>
                      </a:pPr>
                      <a:r>
                        <a:rPr lang="en-US" sz="2100" b="1" i="0" u="none" strike="noStrike" dirty="0">
                          <a:solidFill>
                            <a:srgbClr val="FF0000"/>
                          </a:solidFill>
                          <a:effectLst/>
                          <a:latin typeface="Arial" panose="020B0604020202020204" pitchFamily="34" charset="0"/>
                        </a:rPr>
                        <a:t>Purpose</a:t>
                      </a:r>
                    </a:p>
                  </a:txBody>
                  <a:tcPr marL="108318" marR="108318" marT="54159" marB="54159" anchor="ctr">
                    <a:lnL>
                      <a:noFill/>
                    </a:lnL>
                    <a:lnR>
                      <a:noFill/>
                    </a:lnR>
                    <a:lnT>
                      <a:noFill/>
                    </a:lnT>
                    <a:lnB>
                      <a:noFill/>
                    </a:lnB>
                    <a:noFill/>
                  </a:tcPr>
                </a:tc>
                <a:extLst>
                  <a:ext uri="{0D108BD9-81ED-4DB2-BD59-A6C34878D82A}">
                    <a16:rowId xmlns:a16="http://schemas.microsoft.com/office/drawing/2014/main" val="472340782"/>
                  </a:ext>
                </a:extLst>
              </a:tr>
              <a:tr h="476601">
                <a:tc>
                  <a:txBody>
                    <a:bodyPr/>
                    <a:lstStyle/>
                    <a:p>
                      <a:pPr algn="l" fontAlgn="ctr">
                        <a:buNone/>
                      </a:pPr>
                      <a:r>
                        <a:rPr lang="en-US" sz="2100" b="0" i="0" u="none" strike="noStrike">
                          <a:effectLst/>
                          <a:latin typeface="Arial" panose="020B0604020202020204" pitchFamily="34" charset="0"/>
                        </a:rPr>
                        <a:t>Conformed</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Shared across facts</a:t>
                      </a:r>
                    </a:p>
                  </a:txBody>
                  <a:tcPr marL="108318" marR="108318" marT="54159" marB="54159" anchor="ctr">
                    <a:lnL>
                      <a:noFill/>
                    </a:lnL>
                    <a:lnR>
                      <a:noFill/>
                    </a:lnR>
                    <a:lnT>
                      <a:noFill/>
                    </a:lnT>
                    <a:lnB>
                      <a:noFill/>
                    </a:lnB>
                    <a:noFill/>
                  </a:tcPr>
                </a:tc>
                <a:extLst>
                  <a:ext uri="{0D108BD9-81ED-4DB2-BD59-A6C34878D82A}">
                    <a16:rowId xmlns:a16="http://schemas.microsoft.com/office/drawing/2014/main" val="884233748"/>
                  </a:ext>
                </a:extLst>
              </a:tr>
              <a:tr h="476601">
                <a:tc>
                  <a:txBody>
                    <a:bodyPr/>
                    <a:lstStyle/>
                    <a:p>
                      <a:pPr algn="l" fontAlgn="ctr">
                        <a:buNone/>
                      </a:pPr>
                      <a:r>
                        <a:rPr lang="en-US" sz="2100" b="0" i="0" u="none" strike="noStrike">
                          <a:effectLst/>
                          <a:latin typeface="Arial" panose="020B0604020202020204" pitchFamily="34" charset="0"/>
                        </a:rPr>
                        <a:t>Role-Playing</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Same dim, different roles</a:t>
                      </a:r>
                    </a:p>
                  </a:txBody>
                  <a:tcPr marL="108318" marR="108318" marT="54159" marB="54159" anchor="ctr">
                    <a:lnL>
                      <a:noFill/>
                    </a:lnL>
                    <a:lnR>
                      <a:noFill/>
                    </a:lnR>
                    <a:lnT>
                      <a:noFill/>
                    </a:lnT>
                    <a:lnB>
                      <a:noFill/>
                    </a:lnB>
                    <a:noFill/>
                  </a:tcPr>
                </a:tc>
                <a:extLst>
                  <a:ext uri="{0D108BD9-81ED-4DB2-BD59-A6C34878D82A}">
                    <a16:rowId xmlns:a16="http://schemas.microsoft.com/office/drawing/2014/main" val="624538009"/>
                  </a:ext>
                </a:extLst>
              </a:tr>
              <a:tr h="476601">
                <a:tc>
                  <a:txBody>
                    <a:bodyPr/>
                    <a:lstStyle/>
                    <a:p>
                      <a:pPr algn="l" fontAlgn="ctr">
                        <a:buNone/>
                      </a:pPr>
                      <a:r>
                        <a:rPr lang="en-US" sz="2100" b="0" i="0" u="none" strike="noStrike">
                          <a:effectLst/>
                          <a:latin typeface="Arial" panose="020B0604020202020204" pitchFamily="34" charset="0"/>
                        </a:rPr>
                        <a:t>SCD</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Track changes over time</a:t>
                      </a:r>
                    </a:p>
                  </a:txBody>
                  <a:tcPr marL="108318" marR="108318" marT="54159" marB="54159" anchor="ctr">
                    <a:lnL>
                      <a:noFill/>
                    </a:lnL>
                    <a:lnR>
                      <a:noFill/>
                    </a:lnR>
                    <a:lnT>
                      <a:noFill/>
                    </a:lnT>
                    <a:lnB>
                      <a:noFill/>
                    </a:lnB>
                    <a:noFill/>
                  </a:tcPr>
                </a:tc>
                <a:extLst>
                  <a:ext uri="{0D108BD9-81ED-4DB2-BD59-A6C34878D82A}">
                    <a16:rowId xmlns:a16="http://schemas.microsoft.com/office/drawing/2014/main" val="2267406599"/>
                  </a:ext>
                </a:extLst>
              </a:tr>
              <a:tr h="476601">
                <a:tc>
                  <a:txBody>
                    <a:bodyPr/>
                    <a:lstStyle/>
                    <a:p>
                      <a:pPr algn="l" fontAlgn="ctr">
                        <a:buNone/>
                      </a:pPr>
                      <a:r>
                        <a:rPr lang="en-US" sz="2100" b="0" i="0" u="none" strike="noStrike">
                          <a:effectLst/>
                          <a:latin typeface="Arial" panose="020B0604020202020204" pitchFamily="34" charset="0"/>
                        </a:rPr>
                        <a:t>Junk</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Combine flags</a:t>
                      </a:r>
                    </a:p>
                  </a:txBody>
                  <a:tcPr marL="108318" marR="108318" marT="54159" marB="54159" anchor="ctr">
                    <a:lnL>
                      <a:noFill/>
                    </a:lnL>
                    <a:lnR>
                      <a:noFill/>
                    </a:lnR>
                    <a:lnT>
                      <a:noFill/>
                    </a:lnT>
                    <a:lnB>
                      <a:noFill/>
                    </a:lnB>
                    <a:noFill/>
                  </a:tcPr>
                </a:tc>
                <a:extLst>
                  <a:ext uri="{0D108BD9-81ED-4DB2-BD59-A6C34878D82A}">
                    <a16:rowId xmlns:a16="http://schemas.microsoft.com/office/drawing/2014/main" val="4287555302"/>
                  </a:ext>
                </a:extLst>
              </a:tr>
              <a:tr h="476601">
                <a:tc>
                  <a:txBody>
                    <a:bodyPr/>
                    <a:lstStyle/>
                    <a:p>
                      <a:pPr algn="l" fontAlgn="ctr">
                        <a:buNone/>
                      </a:pPr>
                      <a:r>
                        <a:rPr lang="en-US" sz="2100" b="0" i="0" u="none" strike="noStrike">
                          <a:effectLst/>
                          <a:latin typeface="Arial" panose="020B0604020202020204" pitchFamily="34" charset="0"/>
                        </a:rPr>
                        <a:t>Degenerate</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Identifier only</a:t>
                      </a:r>
                    </a:p>
                  </a:txBody>
                  <a:tcPr marL="108318" marR="108318" marT="54159" marB="54159" anchor="ctr">
                    <a:lnL>
                      <a:noFill/>
                    </a:lnL>
                    <a:lnR>
                      <a:noFill/>
                    </a:lnR>
                    <a:lnT>
                      <a:noFill/>
                    </a:lnT>
                    <a:lnB>
                      <a:noFill/>
                    </a:lnB>
                    <a:noFill/>
                  </a:tcPr>
                </a:tc>
                <a:extLst>
                  <a:ext uri="{0D108BD9-81ED-4DB2-BD59-A6C34878D82A}">
                    <a16:rowId xmlns:a16="http://schemas.microsoft.com/office/drawing/2014/main" val="3716224412"/>
                  </a:ext>
                </a:extLst>
              </a:tr>
              <a:tr h="476601">
                <a:tc>
                  <a:txBody>
                    <a:bodyPr/>
                    <a:lstStyle/>
                    <a:p>
                      <a:pPr algn="l" fontAlgn="ctr">
                        <a:buNone/>
                      </a:pPr>
                      <a:r>
                        <a:rPr lang="en-US" sz="2100" b="0" i="0" u="none" strike="noStrike">
                          <a:effectLst/>
                          <a:latin typeface="Arial" panose="020B0604020202020204" pitchFamily="34" charset="0"/>
                        </a:rPr>
                        <a:t>Snowflake</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Normalized dimension</a:t>
                      </a:r>
                    </a:p>
                  </a:txBody>
                  <a:tcPr marL="108318" marR="108318" marT="54159" marB="54159" anchor="ctr">
                    <a:lnL>
                      <a:noFill/>
                    </a:lnL>
                    <a:lnR>
                      <a:noFill/>
                    </a:lnR>
                    <a:lnT>
                      <a:noFill/>
                    </a:lnT>
                    <a:lnB>
                      <a:noFill/>
                    </a:lnB>
                    <a:noFill/>
                  </a:tcPr>
                </a:tc>
                <a:extLst>
                  <a:ext uri="{0D108BD9-81ED-4DB2-BD59-A6C34878D82A}">
                    <a16:rowId xmlns:a16="http://schemas.microsoft.com/office/drawing/2014/main" val="3919964909"/>
                  </a:ext>
                </a:extLst>
              </a:tr>
              <a:tr h="476601">
                <a:tc>
                  <a:txBody>
                    <a:bodyPr/>
                    <a:lstStyle/>
                    <a:p>
                      <a:pPr algn="l" fontAlgn="ctr">
                        <a:buNone/>
                      </a:pPr>
                      <a:r>
                        <a:rPr lang="en-US" sz="2100" b="0" i="0" u="none" strike="noStrike">
                          <a:effectLst/>
                          <a:latin typeface="Arial" panose="020B0604020202020204" pitchFamily="34" charset="0"/>
                        </a:rPr>
                        <a:t>Static</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Rarely changes</a:t>
                      </a:r>
                    </a:p>
                  </a:txBody>
                  <a:tcPr marL="108318" marR="108318" marT="54159" marB="54159" anchor="ctr">
                    <a:lnL>
                      <a:noFill/>
                    </a:lnL>
                    <a:lnR>
                      <a:noFill/>
                    </a:lnR>
                    <a:lnT>
                      <a:noFill/>
                    </a:lnT>
                    <a:lnB>
                      <a:noFill/>
                    </a:lnB>
                    <a:noFill/>
                  </a:tcPr>
                </a:tc>
                <a:extLst>
                  <a:ext uri="{0D108BD9-81ED-4DB2-BD59-A6C34878D82A}">
                    <a16:rowId xmlns:a16="http://schemas.microsoft.com/office/drawing/2014/main" val="914437285"/>
                  </a:ext>
                </a:extLst>
              </a:tr>
              <a:tr h="476601">
                <a:tc>
                  <a:txBody>
                    <a:bodyPr/>
                    <a:lstStyle/>
                    <a:p>
                      <a:pPr algn="l" fontAlgn="ctr">
                        <a:buNone/>
                      </a:pPr>
                      <a:r>
                        <a:rPr lang="en-US" sz="2100" b="0" i="0" u="none" strike="noStrike">
                          <a:effectLst/>
                          <a:latin typeface="Arial" panose="020B0604020202020204" pitchFamily="34" charset="0"/>
                        </a:rPr>
                        <a:t>Inferred</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Early-arriving data</a:t>
                      </a:r>
                    </a:p>
                  </a:txBody>
                  <a:tcPr marL="108318" marR="108318" marT="54159" marB="54159" anchor="ctr">
                    <a:lnL>
                      <a:noFill/>
                    </a:lnL>
                    <a:lnR>
                      <a:noFill/>
                    </a:lnR>
                    <a:lnT>
                      <a:noFill/>
                    </a:lnT>
                    <a:lnB>
                      <a:noFill/>
                    </a:lnB>
                    <a:noFill/>
                  </a:tcPr>
                </a:tc>
                <a:extLst>
                  <a:ext uri="{0D108BD9-81ED-4DB2-BD59-A6C34878D82A}">
                    <a16:rowId xmlns:a16="http://schemas.microsoft.com/office/drawing/2014/main" val="207930785"/>
                  </a:ext>
                </a:extLst>
              </a:tr>
              <a:tr h="476601">
                <a:tc>
                  <a:txBody>
                    <a:bodyPr/>
                    <a:lstStyle/>
                    <a:p>
                      <a:pPr algn="l" fontAlgn="ctr">
                        <a:buNone/>
                      </a:pPr>
                      <a:r>
                        <a:rPr lang="en-US" sz="2100" b="0" i="0" u="none" strike="noStrike">
                          <a:effectLst/>
                          <a:latin typeface="Arial" panose="020B0604020202020204" pitchFamily="34" charset="0"/>
                        </a:rPr>
                        <a:t>Outrigger</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Dimension-to-dimension</a:t>
                      </a:r>
                    </a:p>
                  </a:txBody>
                  <a:tcPr marL="108318" marR="108318" marT="54159" marB="54159" anchor="ctr">
                    <a:lnL>
                      <a:noFill/>
                    </a:lnL>
                    <a:lnR>
                      <a:noFill/>
                    </a:lnR>
                    <a:lnT>
                      <a:noFill/>
                    </a:lnT>
                    <a:lnB>
                      <a:noFill/>
                    </a:lnB>
                    <a:noFill/>
                  </a:tcPr>
                </a:tc>
                <a:extLst>
                  <a:ext uri="{0D108BD9-81ED-4DB2-BD59-A6C34878D82A}">
                    <a16:rowId xmlns:a16="http://schemas.microsoft.com/office/drawing/2014/main" val="4270871285"/>
                  </a:ext>
                </a:extLst>
              </a:tr>
              <a:tr h="476601">
                <a:tc>
                  <a:txBody>
                    <a:bodyPr/>
                    <a:lstStyle/>
                    <a:p>
                      <a:pPr algn="l" fontAlgn="ctr">
                        <a:buNone/>
                      </a:pPr>
                      <a:r>
                        <a:rPr lang="en-US" sz="2100" b="0" i="0" u="none" strike="noStrike">
                          <a:effectLst/>
                          <a:latin typeface="Arial" panose="020B0604020202020204" pitchFamily="34" charset="0"/>
                        </a:rPr>
                        <a:t>Mini</a:t>
                      </a:r>
                    </a:p>
                  </a:txBody>
                  <a:tcPr marL="108318" marR="108318" marT="54159" marB="54159" anchor="ctr">
                    <a:lnL>
                      <a:noFill/>
                    </a:lnL>
                    <a:lnR>
                      <a:noFill/>
                    </a:lnR>
                    <a:lnT>
                      <a:noFill/>
                    </a:lnT>
                    <a:lnB>
                      <a:noFill/>
                    </a:lnB>
                    <a:noFill/>
                  </a:tcPr>
                </a:tc>
                <a:tc>
                  <a:txBody>
                    <a:bodyPr/>
                    <a:lstStyle/>
                    <a:p>
                      <a:pPr algn="l" fontAlgn="ctr">
                        <a:buNone/>
                      </a:pPr>
                      <a:r>
                        <a:rPr lang="en-US" sz="2100" b="0" i="0" u="none" strike="noStrike" dirty="0">
                          <a:effectLst/>
                          <a:latin typeface="Arial" panose="020B0604020202020204" pitchFamily="34" charset="0"/>
                        </a:rPr>
                        <a:t>Split volatile attributes</a:t>
                      </a:r>
                    </a:p>
                  </a:txBody>
                  <a:tcPr marL="108318" marR="108318" marT="54159" marB="54159" anchor="ctr">
                    <a:lnL>
                      <a:noFill/>
                    </a:lnL>
                    <a:lnR>
                      <a:noFill/>
                    </a:lnR>
                    <a:lnT>
                      <a:noFill/>
                    </a:lnT>
                    <a:lnB>
                      <a:noFill/>
                    </a:lnB>
                    <a:noFill/>
                  </a:tcPr>
                </a:tc>
                <a:extLst>
                  <a:ext uri="{0D108BD9-81ED-4DB2-BD59-A6C34878D82A}">
                    <a16:rowId xmlns:a16="http://schemas.microsoft.com/office/drawing/2014/main" val="553645952"/>
                  </a:ext>
                </a:extLst>
              </a:tr>
            </a:tbl>
          </a:graphicData>
        </a:graphic>
      </p:graphicFrame>
    </p:spTree>
    <p:extLst>
      <p:ext uri="{BB962C8B-B14F-4D97-AF65-F5344CB8AC3E}">
        <p14:creationId xmlns:p14="http://schemas.microsoft.com/office/powerpoint/2010/main" val="50542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txBox="1">
            <a:spLocks noGrp="1"/>
          </p:cNvSpPr>
          <p:nvPr>
            <p:ph type="title"/>
          </p:nvPr>
        </p:nvSpPr>
        <p:spPr>
          <a:xfrm>
            <a:off x="4757057" y="159770"/>
            <a:ext cx="3276601" cy="7546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highlight>
                  <a:srgbClr val="FFFF00"/>
                </a:highlight>
              </a:rPr>
              <a:t>Fact Table</a:t>
            </a:r>
            <a:endParaRPr/>
          </a:p>
        </p:txBody>
      </p:sp>
      <p:sp>
        <p:nvSpPr>
          <p:cNvPr id="156" name="Google Shape;156;p13"/>
          <p:cNvSpPr txBox="1">
            <a:spLocks noGrp="1"/>
          </p:cNvSpPr>
          <p:nvPr>
            <p:ph type="body" idx="1"/>
          </p:nvPr>
        </p:nvSpPr>
        <p:spPr>
          <a:xfrm>
            <a:off x="108857" y="1825625"/>
            <a:ext cx="11244943"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It is all about measurable information wrt any Dimension table/entity.</a:t>
            </a:r>
            <a:endParaRPr/>
          </a:p>
          <a:p>
            <a:pPr marL="228600" lvl="0" indent="-64135"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chemeClr val="dk1"/>
              </a:buClr>
              <a:buSzPct val="100000"/>
              <a:buNone/>
            </a:pPr>
            <a:r>
              <a:rPr lang="en-US"/>
              <a:t>Example : Sales Fact table</a:t>
            </a:r>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chemeClr val="dk1"/>
              </a:buClr>
              <a:buSzPct val="100000"/>
              <a:buNone/>
            </a:pPr>
            <a:r>
              <a:rPr lang="en-US"/>
              <a:t>Sales Qty, Total Units sold are measurable attribs.</a:t>
            </a:r>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chemeClr val="dk1"/>
              </a:buClr>
              <a:buSzPct val="100000"/>
              <a:buNone/>
            </a:pPr>
            <a:r>
              <a:rPr lang="en-US"/>
              <a:t>Fact table holds two sets of Information:</a:t>
            </a:r>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chemeClr val="dk1"/>
              </a:buClr>
              <a:buSzPct val="100000"/>
              <a:buNone/>
            </a:pPr>
            <a:r>
              <a:rPr lang="en-US"/>
              <a:t>1.Dimension keys</a:t>
            </a:r>
            <a:endParaRPr/>
          </a:p>
          <a:p>
            <a:pPr marL="0" lvl="0" indent="0" algn="l" rtl="0">
              <a:lnSpc>
                <a:spcPct val="90000"/>
              </a:lnSpc>
              <a:spcBef>
                <a:spcPts val="1000"/>
              </a:spcBef>
              <a:spcAft>
                <a:spcPts val="0"/>
              </a:spcAft>
              <a:buClr>
                <a:schemeClr val="dk1"/>
              </a:buClr>
              <a:buSzPct val="100000"/>
              <a:buNone/>
            </a:pPr>
            <a:r>
              <a:rPr lang="en-US"/>
              <a:t>2.Measurable fields information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4"/>
          <p:cNvSpPr txBox="1">
            <a:spLocks noGrp="1"/>
          </p:cNvSpPr>
          <p:nvPr>
            <p:ph type="title"/>
          </p:nvPr>
        </p:nvSpPr>
        <p:spPr>
          <a:xfrm>
            <a:off x="3701143" y="18256"/>
            <a:ext cx="4223658" cy="662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highlight>
                  <a:srgbClr val="FFFF00"/>
                </a:highlight>
              </a:rPr>
              <a:t>Fact less Fact table</a:t>
            </a:r>
            <a:endParaRPr/>
          </a:p>
        </p:txBody>
      </p:sp>
      <p:sp>
        <p:nvSpPr>
          <p:cNvPr id="162" name="Google Shape;162;p14"/>
          <p:cNvSpPr txBox="1">
            <a:spLocks noGrp="1"/>
          </p:cNvSpPr>
          <p:nvPr>
            <p:ph type="body" idx="1"/>
          </p:nvPr>
        </p:nvSpPr>
        <p:spPr>
          <a:xfrm>
            <a:off x="195942" y="1253331"/>
            <a:ext cx="11832771" cy="550669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 fact less fact table is a data warehouse table that records events or conditions without any numeric facts, containing only foreign keys to related dimensions.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 It is used to track processes, model many-to-many relationships, and enable "negative analysis" where you look for what didn't happen. </a:t>
            </a: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b="1"/>
              <a:t>Examples:</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Invoice Number,Tracking student attendance or product promotions that did not sell.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a:spLocks noGrp="1"/>
          </p:cNvSpPr>
          <p:nvPr>
            <p:ph type="title"/>
          </p:nvPr>
        </p:nvSpPr>
        <p:spPr>
          <a:xfrm>
            <a:off x="1055914" y="1"/>
            <a:ext cx="10515600" cy="9035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highlight>
                  <a:srgbClr val="FFFF00"/>
                </a:highlight>
              </a:rPr>
              <a:t>🧠 </a:t>
            </a:r>
            <a:r>
              <a:rPr lang="en-US" b="1">
                <a:highlight>
                  <a:srgbClr val="FFFF00"/>
                </a:highlight>
              </a:rPr>
              <a:t>Data Warehouse vs Database</a:t>
            </a:r>
            <a:endParaRPr>
              <a:highlight>
                <a:srgbClr val="FFFF00"/>
              </a:highlight>
            </a:endParaRPr>
          </a:p>
        </p:txBody>
      </p:sp>
      <p:graphicFrame>
        <p:nvGraphicFramePr>
          <p:cNvPr id="168" name="Google Shape;168;p15"/>
          <p:cNvGraphicFramePr/>
          <p:nvPr/>
        </p:nvGraphicFramePr>
        <p:xfrm>
          <a:off x="838200" y="2766854"/>
          <a:ext cx="10515600" cy="2468940"/>
        </p:xfrm>
        <a:graphic>
          <a:graphicData uri="http://schemas.openxmlformats.org/drawingml/2006/table">
            <a:tbl>
              <a:tblPr>
                <a:noFill/>
                <a:tableStyleId>{8B0BB1A6-C2C6-41A7-882F-22415DC26183}</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Feature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a:t>Database (OLTP)</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a:t>Data Warehouse (OLAP)</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Purpose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Daily operations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Analytics &amp; reporting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Data Type</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Current, real-time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Historical, summarized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Users</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Clerical users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Analysts, managers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Operations</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Insert, Update, Delete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Read, Aggregate, Analyze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t>Design</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Normalized (3NF)</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Denormalized (Star/Snowflake schema)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a:spLocks noGrp="1"/>
          </p:cNvSpPr>
          <p:nvPr>
            <p:ph type="title"/>
          </p:nvPr>
        </p:nvSpPr>
        <p:spPr>
          <a:xfrm>
            <a:off x="1088571" y="108858"/>
            <a:ext cx="10515600" cy="7728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highlight>
                  <a:srgbClr val="FFFF00"/>
                </a:highlight>
              </a:rPr>
              <a:t>🗃️ </a:t>
            </a:r>
            <a:r>
              <a:rPr lang="en-US" b="1">
                <a:highlight>
                  <a:srgbClr val="FFFF00"/>
                </a:highlight>
              </a:rPr>
              <a:t>Common Data Warehouse Schemas</a:t>
            </a:r>
            <a:endParaRPr>
              <a:highlight>
                <a:srgbClr val="FFFF00"/>
              </a:highlight>
            </a:endParaRPr>
          </a:p>
        </p:txBody>
      </p:sp>
      <p:graphicFrame>
        <p:nvGraphicFramePr>
          <p:cNvPr id="174" name="Google Shape;174;p16"/>
          <p:cNvGraphicFramePr/>
          <p:nvPr>
            <p:extLst>
              <p:ext uri="{D42A27DB-BD31-4B8C-83A1-F6EECF244321}">
                <p14:modId xmlns:p14="http://schemas.microsoft.com/office/powerpoint/2010/main" val="1120978439"/>
              </p:ext>
            </p:extLst>
          </p:nvPr>
        </p:nvGraphicFramePr>
        <p:xfrm>
          <a:off x="838200" y="2133600"/>
          <a:ext cx="10515600" cy="3010734"/>
        </p:xfrm>
        <a:graphic>
          <a:graphicData uri="http://schemas.openxmlformats.org/drawingml/2006/table">
            <a:tbl>
              <a:tblPr>
                <a:noFill/>
                <a:tableStyleId>{8B0BB1A6-C2C6-41A7-882F-22415DC26183}</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81722">
                <a:tc>
                  <a:txBody>
                    <a:bodyPr/>
                    <a:lstStyle/>
                    <a:p>
                      <a:pPr marL="0" marR="0" lvl="0" indent="0" algn="l" rtl="0">
                        <a:spcBef>
                          <a:spcPts val="0"/>
                        </a:spcBef>
                        <a:spcAft>
                          <a:spcPts val="0"/>
                        </a:spcAft>
                        <a:buClr>
                          <a:schemeClr val="dk1"/>
                        </a:buClr>
                        <a:buSzPts val="1800"/>
                        <a:buFont typeface="Calibri"/>
                        <a:buNone/>
                      </a:pPr>
                      <a:r>
                        <a:rPr lang="en-US" sz="1800" b="1" u="none" strike="noStrike" cap="none">
                          <a:solidFill>
                            <a:srgbClr val="FF0000"/>
                          </a:solidFill>
                        </a:rPr>
                        <a:t>Schema Type</a:t>
                      </a:r>
                      <a:endParaRPr sz="18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a:solidFill>
                            <a:srgbClr val="FF0000"/>
                          </a:solidFill>
                        </a:rPr>
                        <a:t>Description</a:t>
                      </a:r>
                      <a:endParaRPr sz="18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dirty="0">
                          <a:solidFill>
                            <a:srgbClr val="FF0000"/>
                          </a:solidFill>
                        </a:rPr>
                        <a:t>Example</a:t>
                      </a:r>
                      <a:endParaRPr sz="18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43004">
                <a:tc>
                  <a:txBody>
                    <a:bodyPr/>
                    <a:lstStyle/>
                    <a:p>
                      <a:pPr marL="0" marR="0" lvl="0" indent="0" algn="l" rtl="0">
                        <a:spcBef>
                          <a:spcPts val="0"/>
                        </a:spcBef>
                        <a:spcAft>
                          <a:spcPts val="0"/>
                        </a:spcAft>
                        <a:buClr>
                          <a:schemeClr val="dk1"/>
                        </a:buClr>
                        <a:buSzPts val="1800"/>
                        <a:buFont typeface="Calibri"/>
                        <a:buNone/>
                      </a:pPr>
                      <a:r>
                        <a:rPr lang="en-US" sz="1800" b="1" u="none" strike="noStrike" cap="none"/>
                        <a:t>Star Schema</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Central fact table linked to multiple dimension tables.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Sales fact linked to Product, Time, Customer.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43004">
                <a:tc>
                  <a:txBody>
                    <a:bodyPr/>
                    <a:lstStyle/>
                    <a:p>
                      <a:pPr marL="0" marR="0" lvl="0" indent="0" algn="l" rtl="0">
                        <a:spcBef>
                          <a:spcPts val="0"/>
                        </a:spcBef>
                        <a:spcAft>
                          <a:spcPts val="0"/>
                        </a:spcAft>
                        <a:buClr>
                          <a:schemeClr val="dk1"/>
                        </a:buClr>
                        <a:buSzPts val="1800"/>
                        <a:buFont typeface="Calibri"/>
                        <a:buNone/>
                      </a:pPr>
                      <a:r>
                        <a:rPr lang="en-US" sz="1800" b="1" u="none" strike="noStrike" cap="none"/>
                        <a:t>Snowflake Schema</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Dimensions are further normalized into sub-dimensions.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Product → Category → Brand.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43004">
                <a:tc>
                  <a:txBody>
                    <a:bodyPr/>
                    <a:lstStyle/>
                    <a:p>
                      <a:pPr marL="0" marR="0" lvl="0" indent="0" algn="l" rtl="0">
                        <a:spcBef>
                          <a:spcPts val="0"/>
                        </a:spcBef>
                        <a:spcAft>
                          <a:spcPts val="0"/>
                        </a:spcAft>
                        <a:buClr>
                          <a:schemeClr val="dk1"/>
                        </a:buClr>
                        <a:buSzPts val="1800"/>
                        <a:buFont typeface="Calibri"/>
                        <a:buNone/>
                      </a:pPr>
                      <a:r>
                        <a:rPr lang="en-US" sz="1800" b="1" u="none" strike="noStrike" cap="none"/>
                        <a:t>Galaxy (Fact Constellation)</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Multiple fact tables share dimension tables.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Sales &amp; Inventory facts share Product dimension.</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2479963" y="18256"/>
            <a:ext cx="10515600" cy="662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highlight>
                  <a:srgbClr val="FFFF00"/>
                </a:highlight>
              </a:rPr>
              <a:t>DWH vs Data Lake</a:t>
            </a:r>
            <a:endParaRPr/>
          </a:p>
        </p:txBody>
      </p:sp>
      <p:graphicFrame>
        <p:nvGraphicFramePr>
          <p:cNvPr id="180" name="Google Shape;180;p17"/>
          <p:cNvGraphicFramePr/>
          <p:nvPr>
            <p:extLst>
              <p:ext uri="{D42A27DB-BD31-4B8C-83A1-F6EECF244321}">
                <p14:modId xmlns:p14="http://schemas.microsoft.com/office/powerpoint/2010/main" val="1055412285"/>
              </p:ext>
            </p:extLst>
          </p:nvPr>
        </p:nvGraphicFramePr>
        <p:xfrm>
          <a:off x="838200" y="2401094"/>
          <a:ext cx="10515600" cy="3200480"/>
        </p:xfrm>
        <a:graphic>
          <a:graphicData uri="http://schemas.openxmlformats.org/drawingml/2006/table">
            <a:tbl>
              <a:tblPr>
                <a:noFill/>
                <a:tableStyleId>{8B0BB1A6-C2C6-41A7-882F-22415DC26183}</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Clr>
                          <a:schemeClr val="dk1"/>
                        </a:buClr>
                        <a:buSzPts val="1800"/>
                        <a:buFont typeface="Calibri"/>
                        <a:buNone/>
                      </a:pPr>
                      <a:r>
                        <a:rPr lang="en-US" sz="1800" b="1" u="none" strike="noStrike" cap="none">
                          <a:solidFill>
                            <a:srgbClr val="FF0000"/>
                          </a:solidFill>
                        </a:rPr>
                        <a:t>Feature</a:t>
                      </a:r>
                      <a:endParaRPr sz="18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a:solidFill>
                            <a:srgbClr val="FF0000"/>
                          </a:solidFill>
                        </a:rPr>
                        <a:t>Data Warehouse</a:t>
                      </a:r>
                      <a:endParaRPr sz="18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dirty="0">
                          <a:solidFill>
                            <a:srgbClr val="FF0000"/>
                          </a:solidFill>
                        </a:rPr>
                        <a:t>Data Lake</a:t>
                      </a:r>
                      <a:endParaRPr sz="18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Data Type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Structured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All (Structured, Semi, Unstructured)</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Processing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ETL (before loading)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ELT (after loading)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Schema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Schema-on-Write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Schema-on-Read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Cost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High</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Low</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Users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Business Analysts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Data Scientists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Purpose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BI, Reporting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AI, ML, Big Data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228600">
                <a:tc>
                  <a:txBody>
                    <a:bodyPr/>
                    <a:lstStyle/>
                    <a:p>
                      <a:pPr marL="0" marR="0" lvl="0" indent="0" algn="l" rtl="0">
                        <a:spcBef>
                          <a:spcPts val="0"/>
                        </a:spcBef>
                        <a:spcAft>
                          <a:spcPts val="0"/>
                        </a:spcAft>
                        <a:buClr>
                          <a:schemeClr val="dk1"/>
                        </a:buClr>
                        <a:buSzPts val="1800"/>
                        <a:buFont typeface="Calibri"/>
                        <a:buNone/>
                      </a:pPr>
                      <a:r>
                        <a:rPr lang="en-US" sz="1800" u="none" strike="noStrike" cap="none"/>
                        <a:t>Tools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Snowflake, Redshift, BigQuery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Hadoop, AWS S3, Databricks</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8"/>
          <p:cNvSpPr txBox="1">
            <a:spLocks noGrp="1"/>
          </p:cNvSpPr>
          <p:nvPr>
            <p:ph type="title"/>
          </p:nvPr>
        </p:nvSpPr>
        <p:spPr>
          <a:xfrm>
            <a:off x="2536371" y="1"/>
            <a:ext cx="10515600" cy="7728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highlight>
                  <a:srgbClr val="FFFF00"/>
                </a:highlight>
              </a:rPr>
              <a:t>Data warehousing architecture</a:t>
            </a:r>
            <a:endParaRPr/>
          </a:p>
        </p:txBody>
      </p:sp>
      <p:pic>
        <p:nvPicPr>
          <p:cNvPr id="186" name="Google Shape;186;p18"/>
          <p:cNvPicPr preferRelativeResize="0"/>
          <p:nvPr/>
        </p:nvPicPr>
        <p:blipFill rotWithShape="1">
          <a:blip r:embed="rId3">
            <a:alphaModFix/>
          </a:blip>
          <a:srcRect/>
          <a:stretch/>
        </p:blipFill>
        <p:spPr>
          <a:xfrm>
            <a:off x="283027" y="1153155"/>
            <a:ext cx="11647715" cy="538915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txBox="1">
            <a:spLocks noGrp="1"/>
          </p:cNvSpPr>
          <p:nvPr>
            <p:ph type="title"/>
          </p:nvPr>
        </p:nvSpPr>
        <p:spPr>
          <a:xfrm>
            <a:off x="1046018" y="115743"/>
            <a:ext cx="10515600" cy="57005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highlight>
                  <a:srgbClr val="FFFF00"/>
                </a:highlight>
              </a:rPr>
              <a:t>⚙️ Data Warehouse Architecture</a:t>
            </a:r>
            <a:endParaRPr/>
          </a:p>
        </p:txBody>
      </p:sp>
      <p:sp>
        <p:nvSpPr>
          <p:cNvPr id="192" name="Google Shape;192;p19"/>
          <p:cNvSpPr txBox="1">
            <a:spLocks noGrp="1"/>
          </p:cNvSpPr>
          <p:nvPr>
            <p:ph type="body" idx="1"/>
          </p:nvPr>
        </p:nvSpPr>
        <p:spPr>
          <a:xfrm>
            <a:off x="256310" y="1482725"/>
            <a:ext cx="10515600" cy="5259532"/>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90000"/>
              </a:lnSpc>
              <a:spcBef>
                <a:spcPts val="0"/>
              </a:spcBef>
              <a:spcAft>
                <a:spcPts val="0"/>
              </a:spcAft>
              <a:buClr>
                <a:schemeClr val="dk1"/>
              </a:buClr>
              <a:buSzPct val="100000"/>
              <a:buNone/>
            </a:pPr>
            <a:r>
              <a:rPr lang="en-US" b="1"/>
              <a:t>1. Data Sources</a:t>
            </a:r>
            <a:endParaRPr/>
          </a:p>
          <a:p>
            <a:pPr marL="228600" lvl="0" indent="-228600" algn="l" rtl="0">
              <a:lnSpc>
                <a:spcPct val="90000"/>
              </a:lnSpc>
              <a:spcBef>
                <a:spcPts val="1000"/>
              </a:spcBef>
              <a:spcAft>
                <a:spcPts val="0"/>
              </a:spcAft>
              <a:buClr>
                <a:schemeClr val="dk1"/>
              </a:buClr>
              <a:buSzPct val="100000"/>
              <a:buChar char="•"/>
            </a:pPr>
            <a:r>
              <a:rPr lang="en-US"/>
              <a:t>Operational databases (OLTP)</a:t>
            </a:r>
            <a:endParaRPr/>
          </a:p>
          <a:p>
            <a:pPr marL="228600" lvl="0" indent="-228600" algn="l" rtl="0">
              <a:lnSpc>
                <a:spcPct val="90000"/>
              </a:lnSpc>
              <a:spcBef>
                <a:spcPts val="1000"/>
              </a:spcBef>
              <a:spcAft>
                <a:spcPts val="0"/>
              </a:spcAft>
              <a:buClr>
                <a:schemeClr val="dk1"/>
              </a:buClr>
              <a:buSzPct val="100000"/>
              <a:buChar char="•"/>
            </a:pPr>
            <a:r>
              <a:rPr lang="en-US"/>
              <a:t>Flat files, logs, ERP, CRM systems</a:t>
            </a:r>
            <a:endParaRPr/>
          </a:p>
          <a:p>
            <a:pPr marL="0" lvl="0" indent="0" algn="l" rtl="0">
              <a:lnSpc>
                <a:spcPct val="90000"/>
              </a:lnSpc>
              <a:spcBef>
                <a:spcPts val="1000"/>
              </a:spcBef>
              <a:spcAft>
                <a:spcPts val="0"/>
              </a:spcAft>
              <a:buClr>
                <a:schemeClr val="dk1"/>
              </a:buClr>
              <a:buSzPct val="100000"/>
              <a:buNone/>
            </a:pPr>
            <a:r>
              <a:rPr lang="en-US" b="1"/>
              <a:t>2. Data Staging (ETL Layer)</a:t>
            </a:r>
            <a:endParaRPr/>
          </a:p>
          <a:p>
            <a:pPr marL="228600" lvl="0" indent="-228600" algn="l" rtl="0">
              <a:lnSpc>
                <a:spcPct val="90000"/>
              </a:lnSpc>
              <a:spcBef>
                <a:spcPts val="1000"/>
              </a:spcBef>
              <a:spcAft>
                <a:spcPts val="0"/>
              </a:spcAft>
              <a:buClr>
                <a:schemeClr val="dk1"/>
              </a:buClr>
              <a:buSzPct val="100000"/>
              <a:buChar char="•"/>
            </a:pPr>
            <a:r>
              <a:rPr lang="en-US" b="1"/>
              <a:t>E</a:t>
            </a:r>
            <a:r>
              <a:rPr lang="en-US"/>
              <a:t>xtract: Data is pulled from sources.</a:t>
            </a:r>
            <a:endParaRPr/>
          </a:p>
          <a:p>
            <a:pPr marL="228600" lvl="0" indent="-228600" algn="l" rtl="0">
              <a:lnSpc>
                <a:spcPct val="90000"/>
              </a:lnSpc>
              <a:spcBef>
                <a:spcPts val="1000"/>
              </a:spcBef>
              <a:spcAft>
                <a:spcPts val="0"/>
              </a:spcAft>
              <a:buClr>
                <a:schemeClr val="dk1"/>
              </a:buClr>
              <a:buSzPct val="100000"/>
              <a:buChar char="•"/>
            </a:pPr>
            <a:r>
              <a:rPr lang="en-US" b="1"/>
              <a:t>T</a:t>
            </a:r>
            <a:r>
              <a:rPr lang="en-US"/>
              <a:t>ransform: Cleaned and formatted.</a:t>
            </a:r>
            <a:endParaRPr/>
          </a:p>
          <a:p>
            <a:pPr marL="228600" lvl="0" indent="-228600" algn="l" rtl="0">
              <a:lnSpc>
                <a:spcPct val="90000"/>
              </a:lnSpc>
              <a:spcBef>
                <a:spcPts val="1000"/>
              </a:spcBef>
              <a:spcAft>
                <a:spcPts val="0"/>
              </a:spcAft>
              <a:buClr>
                <a:schemeClr val="dk1"/>
              </a:buClr>
              <a:buSzPct val="100000"/>
              <a:buChar char="•"/>
            </a:pPr>
            <a:r>
              <a:rPr lang="en-US" b="1"/>
              <a:t>L</a:t>
            </a:r>
            <a:r>
              <a:rPr lang="en-US"/>
              <a:t>oad: Loaded into the warehouse.</a:t>
            </a:r>
            <a:endParaRPr/>
          </a:p>
          <a:p>
            <a:pPr marL="228600" lvl="0" indent="-228600" algn="l" rtl="0">
              <a:lnSpc>
                <a:spcPct val="90000"/>
              </a:lnSpc>
              <a:spcBef>
                <a:spcPts val="1000"/>
              </a:spcBef>
              <a:spcAft>
                <a:spcPts val="0"/>
              </a:spcAft>
              <a:buClr>
                <a:schemeClr val="dk1"/>
              </a:buClr>
              <a:buSzPct val="100000"/>
              <a:buChar char="•"/>
            </a:pPr>
            <a:r>
              <a:rPr lang="en-US" b="1"/>
              <a:t>Tools:</a:t>
            </a:r>
            <a:r>
              <a:rPr lang="en-US"/>
              <a:t> Informatica, Talend, AWS Glue, SSIS.</a:t>
            </a:r>
            <a:endParaRPr/>
          </a:p>
          <a:p>
            <a:pPr marL="0" lvl="0" indent="0" algn="l" rtl="0">
              <a:lnSpc>
                <a:spcPct val="90000"/>
              </a:lnSpc>
              <a:spcBef>
                <a:spcPts val="1000"/>
              </a:spcBef>
              <a:spcAft>
                <a:spcPts val="0"/>
              </a:spcAft>
              <a:buClr>
                <a:schemeClr val="dk1"/>
              </a:buClr>
              <a:buSzPct val="100000"/>
              <a:buNone/>
            </a:pPr>
            <a:r>
              <a:rPr lang="en-US" b="1"/>
              <a:t>3. Data Storage (Warehouse Layer)</a:t>
            </a:r>
            <a:endParaRPr/>
          </a:p>
          <a:p>
            <a:pPr marL="228600" lvl="0" indent="-228600" algn="l" rtl="0">
              <a:lnSpc>
                <a:spcPct val="90000"/>
              </a:lnSpc>
              <a:spcBef>
                <a:spcPts val="1000"/>
              </a:spcBef>
              <a:spcAft>
                <a:spcPts val="0"/>
              </a:spcAft>
              <a:buClr>
                <a:schemeClr val="dk1"/>
              </a:buClr>
              <a:buSzPct val="100000"/>
              <a:buChar char="•"/>
            </a:pPr>
            <a:r>
              <a:rPr lang="en-US"/>
              <a:t>Central repository storing structured data.</a:t>
            </a:r>
            <a:endParaRPr/>
          </a:p>
          <a:p>
            <a:pPr marL="228600" lvl="0" indent="-228600" algn="l" rtl="0">
              <a:lnSpc>
                <a:spcPct val="90000"/>
              </a:lnSpc>
              <a:spcBef>
                <a:spcPts val="1000"/>
              </a:spcBef>
              <a:spcAft>
                <a:spcPts val="0"/>
              </a:spcAft>
              <a:buClr>
                <a:schemeClr val="dk1"/>
              </a:buClr>
              <a:buSzPct val="100000"/>
              <a:buChar char="•"/>
            </a:pPr>
            <a:r>
              <a:rPr lang="en-US"/>
              <a:t>Optimized for queries and analytics.</a:t>
            </a:r>
            <a:endParaRPr/>
          </a:p>
          <a:p>
            <a:pPr marL="228600" lvl="0" indent="-228600" algn="l" rtl="0">
              <a:lnSpc>
                <a:spcPct val="90000"/>
              </a:lnSpc>
              <a:spcBef>
                <a:spcPts val="1000"/>
              </a:spcBef>
              <a:spcAft>
                <a:spcPts val="0"/>
              </a:spcAft>
              <a:buClr>
                <a:schemeClr val="dk1"/>
              </a:buClr>
              <a:buSzPct val="100000"/>
              <a:buChar char="•"/>
            </a:pPr>
            <a:r>
              <a:rPr lang="en-US" b="1"/>
              <a:t>Databases:</a:t>
            </a:r>
            <a:r>
              <a:rPr lang="en-US"/>
              <a:t> Snowflake, Amazon Redshift, Google BigQuery, Teradata.</a:t>
            </a:r>
            <a:endParaRPr/>
          </a:p>
          <a:p>
            <a:pPr marL="0" lvl="0" indent="0" algn="l" rtl="0">
              <a:lnSpc>
                <a:spcPct val="90000"/>
              </a:lnSpc>
              <a:spcBef>
                <a:spcPts val="1000"/>
              </a:spcBef>
              <a:spcAft>
                <a:spcPts val="0"/>
              </a:spcAft>
              <a:buClr>
                <a:schemeClr val="dk1"/>
              </a:buClr>
              <a:buSzPct val="100000"/>
              <a:buNone/>
            </a:pPr>
            <a:r>
              <a:rPr lang="en-US" b="1"/>
              <a:t>4. Data Presentation Layer</a:t>
            </a:r>
            <a:endParaRPr/>
          </a:p>
          <a:p>
            <a:pPr marL="228600" lvl="0" indent="-228600" algn="l" rtl="0">
              <a:lnSpc>
                <a:spcPct val="90000"/>
              </a:lnSpc>
              <a:spcBef>
                <a:spcPts val="1000"/>
              </a:spcBef>
              <a:spcAft>
                <a:spcPts val="0"/>
              </a:spcAft>
              <a:buClr>
                <a:schemeClr val="dk1"/>
              </a:buClr>
              <a:buSzPct val="100000"/>
              <a:buChar char="•"/>
            </a:pPr>
            <a:r>
              <a:rPr lang="en-US"/>
              <a:t>Data Marts, OLAP cubes, BI tools (Power BI, Tableau, Looker).</a:t>
            </a:r>
            <a:endParaRPr/>
          </a:p>
          <a:p>
            <a:pPr marL="228600" lvl="0" indent="-228600" algn="l" rtl="0">
              <a:lnSpc>
                <a:spcPct val="90000"/>
              </a:lnSpc>
              <a:spcBef>
                <a:spcPts val="1000"/>
              </a:spcBef>
              <a:spcAft>
                <a:spcPts val="0"/>
              </a:spcAft>
              <a:buClr>
                <a:schemeClr val="dk1"/>
              </a:buClr>
              <a:buSzPct val="100000"/>
              <a:buChar char="•"/>
            </a:pPr>
            <a:r>
              <a:rPr lang="en-US"/>
              <a:t>Used for analytics and visualization.</a:t>
            </a:r>
            <a:endParaRPr/>
          </a:p>
          <a:p>
            <a:pPr marL="228600" lvl="0" indent="-10414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0"/>
          <p:cNvSpPr txBox="1">
            <a:spLocks noGrp="1"/>
          </p:cNvSpPr>
          <p:nvPr>
            <p:ph type="body" idx="1"/>
          </p:nvPr>
        </p:nvSpPr>
        <p:spPr>
          <a:xfrm>
            <a:off x="957943" y="1875404"/>
            <a:ext cx="10515600" cy="31071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Bottom Tier (Data Sources and Data Storage)</a:t>
            </a:r>
            <a:endParaRPr/>
          </a:p>
          <a:p>
            <a:pPr marL="228600" lvl="0" indent="-228600" algn="l" rtl="0">
              <a:lnSpc>
                <a:spcPct val="90000"/>
              </a:lnSpc>
              <a:spcBef>
                <a:spcPts val="1000"/>
              </a:spcBef>
              <a:spcAft>
                <a:spcPts val="0"/>
              </a:spcAft>
              <a:buClr>
                <a:schemeClr val="dk1"/>
              </a:buClr>
              <a:buSzPts val="2800"/>
              <a:buChar char="•"/>
            </a:pPr>
            <a:r>
              <a:rPr lang="en-US"/>
              <a:t>Middle Tier (OLAP Engine)</a:t>
            </a:r>
            <a:endParaRPr/>
          </a:p>
          <a:p>
            <a:pPr marL="228600" lvl="0" indent="-228600" algn="l" rtl="0">
              <a:lnSpc>
                <a:spcPct val="90000"/>
              </a:lnSpc>
              <a:spcBef>
                <a:spcPts val="1000"/>
              </a:spcBef>
              <a:spcAft>
                <a:spcPts val="0"/>
              </a:spcAft>
              <a:buClr>
                <a:schemeClr val="dk1"/>
              </a:buClr>
              <a:buSzPts val="2800"/>
              <a:buChar char="•"/>
            </a:pPr>
            <a:r>
              <a:rPr lang="en-US"/>
              <a:t>Top Tier (Front-End Tools)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8"/>
          <p:cNvSpPr txBox="1">
            <a:spLocks noGrp="1"/>
          </p:cNvSpPr>
          <p:nvPr>
            <p:ph type="title"/>
          </p:nvPr>
        </p:nvSpPr>
        <p:spPr>
          <a:xfrm>
            <a:off x="2166257" y="276621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Operational Data Store(ODS)</a:t>
            </a:r>
            <a:br>
              <a:rPr lang="en-US" b="1"/>
            </a:b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9"/>
          <p:cNvSpPr txBox="1">
            <a:spLocks noGrp="1"/>
          </p:cNvSpPr>
          <p:nvPr>
            <p:ph type="body" idx="1"/>
          </p:nvPr>
        </p:nvSpPr>
        <p:spPr>
          <a:xfrm>
            <a:off x="-1" y="1629682"/>
            <a:ext cx="11604171"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An </a:t>
            </a:r>
            <a:r>
              <a:rPr lang="en-US" b="1"/>
              <a:t>Operational Data Store (ODS)</a:t>
            </a:r>
            <a:r>
              <a:rPr lang="en-US"/>
              <a:t> is a type of database that collects and combines data from various sources. </a:t>
            </a:r>
            <a:endParaRPr/>
          </a:p>
          <a:p>
            <a:pPr marL="228600" lvl="0" indent="-228600" algn="l" rtl="0">
              <a:lnSpc>
                <a:spcPct val="90000"/>
              </a:lnSpc>
              <a:spcBef>
                <a:spcPts val="1000"/>
              </a:spcBef>
              <a:spcAft>
                <a:spcPts val="0"/>
              </a:spcAft>
              <a:buClr>
                <a:schemeClr val="dk1"/>
              </a:buClr>
              <a:buSzPts val="2800"/>
              <a:buChar char="•"/>
            </a:pPr>
            <a:r>
              <a:rPr lang="en-US"/>
              <a:t>It provides a unified view of this data and offers real-time or near-real-time updates. Unlike data warehouses that focus on storing historical data, an ODS is designed to handle current operational data and supports immediate decision-making by delivering up-to-date information.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0"/>
          <p:cNvSpPr txBox="1">
            <a:spLocks noGrp="1"/>
          </p:cNvSpPr>
          <p:nvPr>
            <p:ph type="body" idx="1"/>
          </p:nvPr>
        </p:nvSpPr>
        <p:spPr>
          <a:xfrm>
            <a:off x="391885" y="1074511"/>
            <a:ext cx="11473543"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An </a:t>
            </a:r>
            <a:r>
              <a:rPr lang="en-US" b="1"/>
              <a:t>Operational Data Store (ODS)</a:t>
            </a:r>
            <a:r>
              <a:rPr lang="en-US"/>
              <a:t> is a </a:t>
            </a:r>
            <a:r>
              <a:rPr lang="en-US" b="1"/>
              <a:t>centralized database</a:t>
            </a:r>
            <a:r>
              <a:rPr lang="en-US"/>
              <a:t> that integrates </a:t>
            </a:r>
            <a:r>
              <a:rPr lang="en-US" b="1"/>
              <a:t>real-time data</a:t>
            </a:r>
            <a:r>
              <a:rPr lang="en-US"/>
              <a:t> from various sources to support </a:t>
            </a:r>
            <a:r>
              <a:rPr lang="en-US" b="1"/>
              <a:t>operational reporting</a:t>
            </a:r>
            <a:r>
              <a:rPr lang="en-US"/>
              <a:t> and </a:t>
            </a:r>
            <a:r>
              <a:rPr lang="en-US" b="1"/>
              <a:t>decision-making</a:t>
            </a:r>
            <a:r>
              <a:rPr lang="en-US"/>
              <a:t>. </a:t>
            </a:r>
            <a:endParaRPr/>
          </a:p>
          <a:p>
            <a:pPr marL="228600" lvl="0" indent="-228600" algn="l" rtl="0">
              <a:lnSpc>
                <a:spcPct val="90000"/>
              </a:lnSpc>
              <a:spcBef>
                <a:spcPts val="1000"/>
              </a:spcBef>
              <a:spcAft>
                <a:spcPts val="0"/>
              </a:spcAft>
              <a:buClr>
                <a:schemeClr val="dk1"/>
              </a:buClr>
              <a:buSzPts val="2800"/>
              <a:buChar char="•"/>
            </a:pPr>
            <a:r>
              <a:rPr lang="en-US"/>
              <a:t>Unlike </a:t>
            </a:r>
            <a:r>
              <a:rPr lang="en-US" b="1"/>
              <a:t>data warehouses</a:t>
            </a:r>
            <a:r>
              <a:rPr lang="en-US"/>
              <a:t> that store </a:t>
            </a:r>
            <a:r>
              <a:rPr lang="en-US" b="1"/>
              <a:t>historical data</a:t>
            </a:r>
            <a:r>
              <a:rPr lang="en-US"/>
              <a:t>, an ODS focuses on providing </a:t>
            </a:r>
            <a:r>
              <a:rPr lang="en-US" b="1"/>
              <a:t>current data</a:t>
            </a:r>
            <a:r>
              <a:rPr lang="en-US"/>
              <a:t> for immediate use. </a:t>
            </a:r>
            <a:endParaRPr/>
          </a:p>
          <a:p>
            <a:pPr marL="228600" lvl="0" indent="-228600" algn="l" rtl="0">
              <a:lnSpc>
                <a:spcPct val="90000"/>
              </a:lnSpc>
              <a:spcBef>
                <a:spcPts val="1000"/>
              </a:spcBef>
              <a:spcAft>
                <a:spcPts val="0"/>
              </a:spcAft>
              <a:buClr>
                <a:schemeClr val="dk1"/>
              </a:buClr>
              <a:buSzPts val="2800"/>
              <a:buChar char="•"/>
            </a:pPr>
            <a:r>
              <a:rPr lang="en-US"/>
              <a:t>It acts as a bridge between </a:t>
            </a:r>
            <a:r>
              <a:rPr lang="en-US" b="1"/>
              <a:t>transactional systems</a:t>
            </a:r>
            <a:r>
              <a:rPr lang="en-US"/>
              <a:t> and </a:t>
            </a:r>
            <a:r>
              <a:rPr lang="en-US" b="1"/>
              <a:t>data warehouses</a:t>
            </a:r>
            <a:r>
              <a:rPr lang="en-US"/>
              <a:t>, ensuring </a:t>
            </a:r>
            <a:r>
              <a:rPr lang="en-US" b="1"/>
              <a:t>data consistency</a:t>
            </a:r>
            <a:r>
              <a:rPr lang="en-US"/>
              <a:t> and </a:t>
            </a:r>
            <a:r>
              <a:rPr lang="en-US" b="1"/>
              <a:t>quick access</a:t>
            </a:r>
            <a:r>
              <a:rPr lang="en-US"/>
              <a:t> to up-to-date information. </a:t>
            </a:r>
            <a:endParaRPr/>
          </a:p>
          <a:p>
            <a:pPr marL="228600" lvl="0" indent="-228600" algn="l" rtl="0">
              <a:lnSpc>
                <a:spcPct val="90000"/>
              </a:lnSpc>
              <a:spcBef>
                <a:spcPts val="1000"/>
              </a:spcBef>
              <a:spcAft>
                <a:spcPts val="0"/>
              </a:spcAft>
              <a:buClr>
                <a:schemeClr val="dk1"/>
              </a:buClr>
              <a:buSzPts val="2800"/>
              <a:buChar char="•"/>
            </a:pPr>
            <a:r>
              <a:rPr lang="en-US"/>
              <a:t>This allows organizations to make </a:t>
            </a:r>
            <a:r>
              <a:rPr lang="en-US" b="1"/>
              <a:t>timely decisions</a:t>
            </a:r>
            <a:r>
              <a:rPr lang="en-US"/>
              <a:t> based on the latest data available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1"/>
          <p:cNvSpPr txBox="1">
            <a:spLocks noGrp="1"/>
          </p:cNvSpPr>
          <p:nvPr>
            <p:ph type="title"/>
          </p:nvPr>
        </p:nvSpPr>
        <p:spPr>
          <a:xfrm>
            <a:off x="1186543" y="-8118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Key features of an ODS :</a:t>
            </a:r>
            <a:br>
              <a:rPr lang="en-US" b="1"/>
            </a:br>
            <a:endParaRPr/>
          </a:p>
        </p:txBody>
      </p:sp>
      <p:sp>
        <p:nvSpPr>
          <p:cNvPr id="260" name="Google Shape;260;p31"/>
          <p:cNvSpPr txBox="1">
            <a:spLocks noGrp="1"/>
          </p:cNvSpPr>
          <p:nvPr>
            <p:ph type="body" idx="1"/>
          </p:nvPr>
        </p:nvSpPr>
        <p:spPr>
          <a:xfrm>
            <a:off x="217713" y="1253330"/>
            <a:ext cx="11484429" cy="522366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Real-time Data Integration:</a:t>
            </a:r>
            <a:r>
              <a:rPr lang="en-US"/>
              <a:t> Data is collected and stored with the help of EDWs, and data is ready for usage immediately after its creation in the source systems.</a:t>
            </a:r>
            <a:endParaRPr/>
          </a:p>
          <a:p>
            <a:pPr marL="228600" lvl="0" indent="-228600" algn="l" rtl="0">
              <a:lnSpc>
                <a:spcPct val="90000"/>
              </a:lnSpc>
              <a:spcBef>
                <a:spcPts val="1000"/>
              </a:spcBef>
              <a:spcAft>
                <a:spcPts val="0"/>
              </a:spcAft>
              <a:buClr>
                <a:schemeClr val="dk1"/>
              </a:buClr>
              <a:buSzPts val="2800"/>
              <a:buChar char="•"/>
            </a:pPr>
            <a:r>
              <a:rPr lang="en-US" b="1"/>
              <a:t>Data Consolidation:</a:t>
            </a:r>
            <a:r>
              <a:rPr lang="en-US"/>
              <a:t> The process where information from one source is combined with information from other sources to give a single output.</a:t>
            </a:r>
            <a:endParaRPr/>
          </a:p>
          <a:p>
            <a:pPr marL="228600" lvl="0" indent="-228600" algn="l" rtl="0">
              <a:lnSpc>
                <a:spcPct val="90000"/>
              </a:lnSpc>
              <a:spcBef>
                <a:spcPts val="1000"/>
              </a:spcBef>
              <a:spcAft>
                <a:spcPts val="0"/>
              </a:spcAft>
              <a:buClr>
                <a:schemeClr val="dk1"/>
              </a:buClr>
              <a:buSzPts val="2800"/>
              <a:buChar char="•"/>
            </a:pPr>
            <a:r>
              <a:rPr lang="en-US" b="1"/>
              <a:t>Low Latency:</a:t>
            </a:r>
            <a:r>
              <a:rPr lang="en-US"/>
              <a:t> It is used and intended for easy reach of data and minimum time for accessing information.</a:t>
            </a:r>
            <a:endParaRPr/>
          </a:p>
          <a:p>
            <a:pPr marL="228600" lvl="0" indent="-228600" algn="l" rtl="0">
              <a:lnSpc>
                <a:spcPct val="90000"/>
              </a:lnSpc>
              <a:spcBef>
                <a:spcPts val="1000"/>
              </a:spcBef>
              <a:spcAft>
                <a:spcPts val="0"/>
              </a:spcAft>
              <a:buClr>
                <a:schemeClr val="dk1"/>
              </a:buClr>
              <a:buSzPts val="2800"/>
              <a:buChar char="•"/>
            </a:pPr>
            <a:r>
              <a:rPr lang="en-US" b="1"/>
              <a:t>Data Cleansing: </a:t>
            </a:r>
            <a:r>
              <a:rPr lang="en-US"/>
              <a:t>Aids in data cleansing and data preparation to make it easier to work with for transformation and analysis.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aphicFrame>
        <p:nvGraphicFramePr>
          <p:cNvPr id="265" name="Google Shape;265;p32"/>
          <p:cNvGraphicFramePr/>
          <p:nvPr/>
        </p:nvGraphicFramePr>
        <p:xfrm>
          <a:off x="0" y="0"/>
          <a:ext cx="12191975" cy="6857925"/>
        </p:xfrm>
        <a:graphic>
          <a:graphicData uri="http://schemas.openxmlformats.org/drawingml/2006/table">
            <a:tbl>
              <a:tblPr>
                <a:noFill/>
                <a:tableStyleId>{8B0BB1A6-C2C6-41A7-882F-22415DC26183}</a:tableStyleId>
              </a:tblPr>
              <a:tblGrid>
                <a:gridCol w="2709325">
                  <a:extLst>
                    <a:ext uri="{9D8B030D-6E8A-4147-A177-3AD203B41FA5}">
                      <a16:colId xmlns:a16="http://schemas.microsoft.com/office/drawing/2014/main" val="20000"/>
                    </a:ext>
                  </a:extLst>
                </a:gridCol>
                <a:gridCol w="4741325">
                  <a:extLst>
                    <a:ext uri="{9D8B030D-6E8A-4147-A177-3AD203B41FA5}">
                      <a16:colId xmlns:a16="http://schemas.microsoft.com/office/drawing/2014/main" val="20001"/>
                    </a:ext>
                  </a:extLst>
                </a:gridCol>
                <a:gridCol w="4741325">
                  <a:extLst>
                    <a:ext uri="{9D8B030D-6E8A-4147-A177-3AD203B41FA5}">
                      <a16:colId xmlns:a16="http://schemas.microsoft.com/office/drawing/2014/main" val="20002"/>
                    </a:ext>
                  </a:extLst>
                </a:gridCol>
              </a:tblGrid>
              <a:tr h="443725">
                <a:tc>
                  <a:txBody>
                    <a:bodyPr/>
                    <a:lstStyle/>
                    <a:p>
                      <a:pPr marL="0" marR="0" lvl="0" indent="0" algn="ctr" rtl="0">
                        <a:spcBef>
                          <a:spcPts val="0"/>
                        </a:spcBef>
                        <a:spcAft>
                          <a:spcPts val="0"/>
                        </a:spcAft>
                        <a:buClr>
                          <a:schemeClr val="dk1"/>
                        </a:buClr>
                        <a:buSzPts val="2000"/>
                        <a:buFont typeface="Calibri"/>
                        <a:buNone/>
                      </a:pPr>
                      <a:r>
                        <a:rPr lang="en-US" sz="2000" b="1" u="none" strike="noStrike" cap="none"/>
                        <a:t>Feature</a:t>
                      </a:r>
                      <a:endParaRPr/>
                    </a:p>
                  </a:txBody>
                  <a:tcPr marL="29525" marR="29525" marT="59050" marB="590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2000"/>
                        <a:buFont typeface="Calibri"/>
                        <a:buNone/>
                      </a:pPr>
                      <a:r>
                        <a:rPr lang="en-US" sz="2000" b="1" u="none" strike="noStrike" cap="none"/>
                        <a:t>Operational Data Store (ODS)</a:t>
                      </a:r>
                      <a:endParaRPr/>
                    </a:p>
                  </a:txBody>
                  <a:tcPr marL="59050" marR="59050" marT="59050" marB="590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2000"/>
                        <a:buFont typeface="Calibri"/>
                        <a:buNone/>
                      </a:pPr>
                      <a:r>
                        <a:rPr lang="en-US" sz="2000" b="1" u="none" strike="noStrike" cap="none"/>
                        <a:t>Data Warehouse (DW)</a:t>
                      </a:r>
                      <a:endParaRPr/>
                    </a:p>
                  </a:txBody>
                  <a:tcPr marL="59050" marR="59050" marT="59050" marB="590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Primary Purpose</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Support daily operations and provide current data</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Support analytical processing and decision-making</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Data Freshness</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Near real-time or real-time</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Historical, with periodic updates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Data Storage Duration</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Short-term (days to weeks)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Long-term (months to years)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Data Integration</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Data is integrated and consistent from various sources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Data is integrated, cleaned, and transformed</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Data Usage</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Operational reporting, quick queries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Complex queries, analytics, trend analysis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Data Structure</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Typically normalized</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Often de-normalized (star/snowflake schema)</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Query Performance</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Optimized for high volume of simple queries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Optimized for complex, analytical</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User Access</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Operational staff, line managers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Data analysts, business intelligence (BI) users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Update Frequency</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Frequently updated (real-time or near real-time)</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Less frequent updates (daily, weekly, monthly)</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Data Scope</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Current operational data</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Comprehensive historical data</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Granularity</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More granular, focusing on individual transactions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Aggregated data, focusing on summaries and trends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Scalability</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May require quick scaling due to real-time nature</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Typically designed for large-scale, stable environments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493400">
                <a:tc>
                  <a:txBody>
                    <a:bodyPr/>
                    <a:lstStyle/>
                    <a:p>
                      <a:pPr marL="0" marR="0" lvl="0" indent="0" algn="ctr" rtl="0">
                        <a:spcBef>
                          <a:spcPts val="0"/>
                        </a:spcBef>
                        <a:spcAft>
                          <a:spcPts val="0"/>
                        </a:spcAft>
                        <a:buClr>
                          <a:schemeClr val="dk1"/>
                        </a:buClr>
                        <a:buSzPts val="1400"/>
                        <a:buFont typeface="Calibri"/>
                        <a:buNone/>
                      </a:pPr>
                      <a:r>
                        <a:rPr lang="en-US" sz="1400" b="1" u="none" strike="noStrike" cap="none"/>
                        <a:t>Examples</a:t>
                      </a:r>
                      <a:endParaRPr/>
                    </a:p>
                  </a:txBody>
                  <a:tcPr marL="29525" marR="29525" marT="49375" marB="49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Transactional data, current customer orders</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000"/>
                        <a:buFont typeface="Calibri"/>
                        <a:buNone/>
                      </a:pPr>
                      <a:r>
                        <a:rPr lang="en-US" sz="1000" b="0" u="none" strike="noStrike" cap="none"/>
                        <a:t>Historical sales data, customer purchase history</a:t>
                      </a:r>
                      <a:endParaRPr/>
                    </a:p>
                  </a:txBody>
                  <a:tcPr marL="59050" marR="59050" marT="82650" marB="826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What is Data Mart?</a:t>
            </a:r>
            <a:br>
              <a:rPr lang="en-US" b="1"/>
            </a:br>
            <a:endParaRPr/>
          </a:p>
        </p:txBody>
      </p:sp>
      <p:sp>
        <p:nvSpPr>
          <p:cNvPr id="271" name="Google Shape;271;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A data mart is a specialized subset of a data warehouse focused on a specific functional area or department within an organization. </a:t>
            </a:r>
            <a:endParaRPr/>
          </a:p>
          <a:p>
            <a:pPr marL="228600" lvl="0" indent="-228600" algn="l" rtl="0">
              <a:lnSpc>
                <a:spcPct val="90000"/>
              </a:lnSpc>
              <a:spcBef>
                <a:spcPts val="1000"/>
              </a:spcBef>
              <a:spcAft>
                <a:spcPts val="0"/>
              </a:spcAft>
              <a:buClr>
                <a:schemeClr val="dk1"/>
              </a:buClr>
              <a:buSzPts val="2800"/>
              <a:buChar char="•"/>
            </a:pPr>
            <a:r>
              <a:rPr lang="en-US"/>
              <a:t>It provides a simplified and targeted view of data, addressing specific reporting and analytical needs. </a:t>
            </a:r>
            <a:endParaRPr/>
          </a:p>
          <a:p>
            <a:pPr marL="228600" lvl="0" indent="-228600" algn="l" rtl="0">
              <a:lnSpc>
                <a:spcPct val="90000"/>
              </a:lnSpc>
              <a:spcBef>
                <a:spcPts val="1000"/>
              </a:spcBef>
              <a:spcAft>
                <a:spcPts val="0"/>
              </a:spcAft>
              <a:buClr>
                <a:schemeClr val="dk1"/>
              </a:buClr>
              <a:buSzPts val="2800"/>
              <a:buChar char="•"/>
            </a:pPr>
            <a:r>
              <a:rPr lang="en-US"/>
              <a:t>Data marts are smaller in scale and scope, typically holding relevant data for a specific group of users, such as sales, marketing, or finance. </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They are organized around specific subjects, such as sales, customer data, or product information, and are structured, transformed, and optimized for efficient querying and analysis within the domain.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Types of Data Mart</a:t>
            </a:r>
            <a:br>
              <a:rPr lang="en-US" b="1"/>
            </a:br>
            <a:endParaRPr/>
          </a:p>
        </p:txBody>
      </p:sp>
      <p:sp>
        <p:nvSpPr>
          <p:cNvPr id="277" name="Google Shape;277;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Independent Data Mart</a:t>
            </a:r>
            <a:endParaRPr/>
          </a:p>
          <a:p>
            <a:pPr marL="228600" lvl="0" indent="-228600" algn="l" rtl="0">
              <a:lnSpc>
                <a:spcPct val="90000"/>
              </a:lnSpc>
              <a:spcBef>
                <a:spcPts val="1000"/>
              </a:spcBef>
              <a:spcAft>
                <a:spcPts val="0"/>
              </a:spcAft>
              <a:buClr>
                <a:schemeClr val="dk1"/>
              </a:buClr>
              <a:buSzPts val="2800"/>
              <a:buChar char="•"/>
            </a:pPr>
            <a:r>
              <a:rPr lang="en-US"/>
              <a:t>Dependent Data Mart</a:t>
            </a:r>
            <a:endParaRPr/>
          </a:p>
          <a:p>
            <a:pPr marL="228600" lvl="0" indent="-228600" algn="l" rtl="0">
              <a:lnSpc>
                <a:spcPct val="90000"/>
              </a:lnSpc>
              <a:spcBef>
                <a:spcPts val="1000"/>
              </a:spcBef>
              <a:spcAft>
                <a:spcPts val="0"/>
              </a:spcAft>
              <a:buClr>
                <a:schemeClr val="dk1"/>
              </a:buClr>
              <a:buSzPts val="2800"/>
              <a:buChar char="•"/>
            </a:pPr>
            <a:r>
              <a:rPr lang="en-US"/>
              <a:t>Hybrid Data Mart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5"/>
          <p:cNvSpPr txBox="1">
            <a:spLocks noGrp="1"/>
          </p:cNvSpPr>
          <p:nvPr>
            <p:ph type="title"/>
          </p:nvPr>
        </p:nvSpPr>
        <p:spPr>
          <a:xfrm>
            <a:off x="2286000"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1. Independent Data Mart</a:t>
            </a:r>
            <a:br>
              <a:rPr lang="en-US" b="1"/>
            </a:br>
            <a:endParaRPr/>
          </a:p>
        </p:txBody>
      </p:sp>
      <p:sp>
        <p:nvSpPr>
          <p:cNvPr id="283" name="Google Shape;283;p35"/>
          <p:cNvSpPr txBox="1">
            <a:spLocks noGrp="1"/>
          </p:cNvSpPr>
          <p:nvPr>
            <p:ph type="body" idx="1"/>
          </p:nvPr>
        </p:nvSpPr>
        <p:spPr>
          <a:xfrm>
            <a:off x="174172" y="1488168"/>
            <a:ext cx="6574971"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An independent data mart is created and maintained separately from the data warehouse. It is created to satisfy the particular needs of a specific business unit or department. </a:t>
            </a:r>
            <a:endParaRPr/>
          </a:p>
          <a:p>
            <a:pPr marL="228600" lvl="0" indent="-228600" algn="l" rtl="0">
              <a:lnSpc>
                <a:spcPct val="90000"/>
              </a:lnSpc>
              <a:spcBef>
                <a:spcPts val="1000"/>
              </a:spcBef>
              <a:spcAft>
                <a:spcPts val="0"/>
              </a:spcAft>
              <a:buClr>
                <a:schemeClr val="dk1"/>
              </a:buClr>
              <a:buSzPct val="100000"/>
              <a:buChar char="•"/>
            </a:pPr>
            <a:r>
              <a:rPr lang="en-US"/>
              <a:t>Independent data marts are typically smaller in size and more rapidly and readily set up. </a:t>
            </a:r>
            <a:endParaRPr/>
          </a:p>
          <a:p>
            <a:pPr marL="228600" lvl="0" indent="-228600" algn="l" rtl="0">
              <a:lnSpc>
                <a:spcPct val="90000"/>
              </a:lnSpc>
              <a:spcBef>
                <a:spcPts val="1000"/>
              </a:spcBef>
              <a:spcAft>
                <a:spcPts val="0"/>
              </a:spcAft>
              <a:buClr>
                <a:schemeClr val="dk1"/>
              </a:buClr>
              <a:buSzPct val="100000"/>
              <a:buChar char="•"/>
            </a:pPr>
            <a:r>
              <a:rPr lang="en-US"/>
              <a:t>They offer flexibility and agility since they are not constrained by the challenges of the centralized data warehouse. Nevertheless, data redundancy and inconsistency may result if it is replicated over several different data marts.</a:t>
            </a:r>
            <a:endParaRPr/>
          </a:p>
        </p:txBody>
      </p:sp>
      <p:sp>
        <p:nvSpPr>
          <p:cNvPr id="284" name="Google Shape;284;p35" descr="independentd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35" descr="independentdm"/>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6" name="Google Shape;286;p35"/>
          <p:cNvPicPr preferRelativeResize="0"/>
          <p:nvPr/>
        </p:nvPicPr>
        <p:blipFill rotWithShape="1">
          <a:blip r:embed="rId3">
            <a:alphaModFix/>
          </a:blip>
          <a:srcRect/>
          <a:stretch/>
        </p:blipFill>
        <p:spPr>
          <a:xfrm>
            <a:off x="7229552" y="1343818"/>
            <a:ext cx="4503810" cy="407705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6"/>
          <p:cNvSpPr txBox="1">
            <a:spLocks noGrp="1"/>
          </p:cNvSpPr>
          <p:nvPr>
            <p:ph type="title"/>
          </p:nvPr>
        </p:nvSpPr>
        <p:spPr>
          <a:xfrm>
            <a:off x="2166257"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2. Dependent Data Mart</a:t>
            </a:r>
            <a:br>
              <a:rPr lang="en-US" b="1"/>
            </a:br>
            <a:endParaRPr/>
          </a:p>
        </p:txBody>
      </p:sp>
      <p:sp>
        <p:nvSpPr>
          <p:cNvPr id="292" name="Google Shape;292;p36"/>
          <p:cNvSpPr txBox="1">
            <a:spLocks noGrp="1"/>
          </p:cNvSpPr>
          <p:nvPr>
            <p:ph type="body" idx="1"/>
          </p:nvPr>
        </p:nvSpPr>
        <p:spPr>
          <a:xfrm>
            <a:off x="-1" y="1253331"/>
            <a:ext cx="6259287"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chemeClr val="dk1"/>
              </a:buClr>
              <a:buSzPct val="100000"/>
              <a:buChar char="•"/>
            </a:pPr>
            <a:r>
              <a:rPr lang="en-US"/>
              <a:t>A dependent data mart is generated right out of a data warehouse. </a:t>
            </a:r>
            <a:endParaRPr/>
          </a:p>
          <a:p>
            <a:pPr marL="228600" lvl="0" indent="-228600" algn="l" rtl="0">
              <a:lnSpc>
                <a:spcPct val="90000"/>
              </a:lnSpc>
              <a:spcBef>
                <a:spcPts val="1000"/>
              </a:spcBef>
              <a:spcAft>
                <a:spcPts val="0"/>
              </a:spcAft>
              <a:buClr>
                <a:schemeClr val="dk1"/>
              </a:buClr>
              <a:buSzPct val="100000"/>
              <a:buChar char="•"/>
            </a:pPr>
            <a:r>
              <a:rPr lang="en-US"/>
              <a:t>It takes some of the data from the data warehouse and arranges it to meet the needs of a specific industry. Dependent data marts, which profit from the data integration, data quality, and consistency provided by the data warehouse, allow for the centralization and preservation of all data in a single source of truth.</a:t>
            </a:r>
            <a:endParaRPr/>
          </a:p>
          <a:p>
            <a:pPr marL="228600" lvl="0" indent="-228600" algn="l" rtl="0">
              <a:lnSpc>
                <a:spcPct val="90000"/>
              </a:lnSpc>
              <a:spcBef>
                <a:spcPts val="1000"/>
              </a:spcBef>
              <a:spcAft>
                <a:spcPts val="0"/>
              </a:spcAft>
              <a:buClr>
                <a:schemeClr val="dk1"/>
              </a:buClr>
              <a:buSzPct val="100000"/>
              <a:buChar char="•"/>
            </a:pPr>
            <a:r>
              <a:rPr lang="en-US"/>
              <a:t> They are often developed to serve particular reporting and analytical needs, and they are frequently updated from the data warehouse. </a:t>
            </a:r>
            <a:endParaRPr/>
          </a:p>
          <a:p>
            <a:pPr marL="228600" lvl="0" indent="-228600" algn="l" rtl="0">
              <a:lnSpc>
                <a:spcPct val="90000"/>
              </a:lnSpc>
              <a:spcBef>
                <a:spcPts val="1000"/>
              </a:spcBef>
              <a:spcAft>
                <a:spcPts val="0"/>
              </a:spcAft>
              <a:buClr>
                <a:schemeClr val="dk1"/>
              </a:buClr>
              <a:buSzPct val="100000"/>
              <a:buChar char="•"/>
            </a:pPr>
            <a:r>
              <a:rPr lang="en-US"/>
              <a:t>Dependent data marts offer data consistency and prevent data duplication because they rely on the data warehouse as their main source of data.</a:t>
            </a:r>
            <a:endParaRPr/>
          </a:p>
        </p:txBody>
      </p:sp>
      <p:pic>
        <p:nvPicPr>
          <p:cNvPr id="293" name="Google Shape;293;p36"/>
          <p:cNvPicPr preferRelativeResize="0"/>
          <p:nvPr/>
        </p:nvPicPr>
        <p:blipFill rotWithShape="1">
          <a:blip r:embed="rId3">
            <a:alphaModFix/>
          </a:blip>
          <a:srcRect/>
          <a:stretch/>
        </p:blipFill>
        <p:spPr>
          <a:xfrm>
            <a:off x="7036341" y="1253331"/>
            <a:ext cx="4237087" cy="397798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7"/>
          <p:cNvSpPr txBox="1">
            <a:spLocks noGrp="1"/>
          </p:cNvSpPr>
          <p:nvPr>
            <p:ph type="title"/>
          </p:nvPr>
        </p:nvSpPr>
        <p:spPr>
          <a:xfrm>
            <a:off x="2743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3. Hybrid Data Mart</a:t>
            </a:r>
            <a:br>
              <a:rPr lang="en-US" b="1"/>
            </a:br>
            <a:endParaRPr/>
          </a:p>
        </p:txBody>
      </p:sp>
      <p:sp>
        <p:nvSpPr>
          <p:cNvPr id="299" name="Google Shape;299;p37"/>
          <p:cNvSpPr txBox="1">
            <a:spLocks noGrp="1"/>
          </p:cNvSpPr>
          <p:nvPr>
            <p:ph type="body" idx="1"/>
          </p:nvPr>
        </p:nvSpPr>
        <p:spPr>
          <a:xfrm>
            <a:off x="152400" y="1422854"/>
            <a:ext cx="5845629" cy="4351338"/>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Char char="•"/>
            </a:pPr>
            <a:r>
              <a:rPr lang="en-US"/>
              <a:t>Both independent and dependent data mart components can be found in a hybrid data mart.</a:t>
            </a:r>
            <a:endParaRPr/>
          </a:p>
          <a:p>
            <a:pPr marL="228600" lvl="0" indent="-228600" algn="l" rtl="0">
              <a:lnSpc>
                <a:spcPct val="90000"/>
              </a:lnSpc>
              <a:spcBef>
                <a:spcPts val="1000"/>
              </a:spcBef>
              <a:spcAft>
                <a:spcPts val="0"/>
              </a:spcAft>
              <a:buClr>
                <a:schemeClr val="dk1"/>
              </a:buClr>
              <a:buSzPct val="100000"/>
              <a:buChar char="•"/>
            </a:pPr>
            <a:r>
              <a:rPr lang="en-US"/>
              <a:t> As well as combining additional data sources particular to a given business unit or department, it makes use of the centralized data warehouse for the integration and consistency of the core data. </a:t>
            </a:r>
            <a:endParaRPr/>
          </a:p>
          <a:p>
            <a:pPr marL="228600" lvl="0" indent="-228600" algn="l" rtl="0">
              <a:lnSpc>
                <a:spcPct val="90000"/>
              </a:lnSpc>
              <a:spcBef>
                <a:spcPts val="1000"/>
              </a:spcBef>
              <a:spcAft>
                <a:spcPts val="0"/>
              </a:spcAft>
              <a:buClr>
                <a:schemeClr val="dk1"/>
              </a:buClr>
              <a:buSzPct val="100000"/>
              <a:buChar char="•"/>
            </a:pPr>
            <a:r>
              <a:rPr lang="en-US"/>
              <a:t>By offering flexibility and agility for department-specific needs while keeping the integrity and consistency of shared data from the data warehouse, hybrid data marts offer the benefits of both strategies. </a:t>
            </a:r>
            <a:endParaRPr/>
          </a:p>
          <a:p>
            <a:pPr marL="228600" lvl="0" indent="-228600" algn="l" rtl="0">
              <a:lnSpc>
                <a:spcPct val="90000"/>
              </a:lnSpc>
              <a:spcBef>
                <a:spcPts val="1000"/>
              </a:spcBef>
              <a:spcAft>
                <a:spcPts val="0"/>
              </a:spcAft>
              <a:buClr>
                <a:schemeClr val="dk1"/>
              </a:buClr>
              <a:buSzPct val="100000"/>
              <a:buChar char="•"/>
            </a:pPr>
            <a:r>
              <a:rPr lang="en-US"/>
              <a:t>This strategy creates a balance between localized data management and centralized data management.</a:t>
            </a:r>
            <a:endParaRPr/>
          </a:p>
          <a:p>
            <a:pPr marL="228600" lvl="0" indent="-228600" algn="l" rtl="0">
              <a:lnSpc>
                <a:spcPct val="90000"/>
              </a:lnSpc>
              <a:spcBef>
                <a:spcPts val="1000"/>
              </a:spcBef>
              <a:spcAft>
                <a:spcPts val="0"/>
              </a:spcAft>
              <a:buClr>
                <a:schemeClr val="dk1"/>
              </a:buClr>
              <a:buSzPct val="100000"/>
              <a:buChar char="•"/>
            </a:pPr>
            <a:br>
              <a:rPr lang="en-US"/>
            </a:br>
            <a:endParaRPr/>
          </a:p>
        </p:txBody>
      </p:sp>
      <p:sp>
        <p:nvSpPr>
          <p:cNvPr id="300" name="Google Shape;300;p37" descr="Hybridd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01" name="Google Shape;301;p37"/>
          <p:cNvPicPr preferRelativeResize="0"/>
          <p:nvPr/>
        </p:nvPicPr>
        <p:blipFill rotWithShape="1">
          <a:blip r:embed="rId3">
            <a:alphaModFix/>
          </a:blip>
          <a:srcRect/>
          <a:stretch/>
        </p:blipFill>
        <p:spPr>
          <a:xfrm>
            <a:off x="6843658" y="1087316"/>
            <a:ext cx="4404742" cy="385605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2024</Words>
  <Application>Microsoft Office PowerPoint</Application>
  <PresentationFormat>Widescreen</PresentationFormat>
  <Paragraphs>319</Paragraphs>
  <Slides>37</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Day3-Datawarehouse</vt:lpstr>
      <vt:lpstr>What is a Data Warehouse?</vt:lpstr>
      <vt:lpstr>🧩 Core Characteristics of a Data Warehouse</vt:lpstr>
      <vt:lpstr>Denormalization</vt:lpstr>
      <vt:lpstr>Use cases</vt:lpstr>
      <vt:lpstr>Types of DWH tables</vt:lpstr>
      <vt:lpstr>Dimension Table</vt:lpstr>
      <vt:lpstr>Types of Dimension tables</vt:lpstr>
      <vt:lpstr>1️⃣ Conformed Dimension</vt:lpstr>
      <vt:lpstr>2️⃣ Role-Playing Dimension</vt:lpstr>
      <vt:lpstr>3️⃣ Slowly Changing Dimension (SCD)</vt:lpstr>
      <vt:lpstr>4️⃣ Junk Dimension</vt:lpstr>
      <vt:lpstr>5️⃣ Degenerate Dimension</vt:lpstr>
      <vt:lpstr>6️⃣ Snowflaked Dimension</vt:lpstr>
      <vt:lpstr>7️⃣ Static Dimension</vt:lpstr>
      <vt:lpstr>8️⃣ Inferred (Early-Arriving) Dimension</vt:lpstr>
      <vt:lpstr>9️⃣ Outrigger Dimension</vt:lpstr>
      <vt:lpstr>🔟 Mini Dimension</vt:lpstr>
      <vt:lpstr>PowerPoint Presentation</vt:lpstr>
      <vt:lpstr>Fact Table</vt:lpstr>
      <vt:lpstr>Fact less Fact table</vt:lpstr>
      <vt:lpstr>🧠 Data Warehouse vs Database</vt:lpstr>
      <vt:lpstr>🗃️ Common Data Warehouse Schemas</vt:lpstr>
      <vt:lpstr>DWH vs Data Lake</vt:lpstr>
      <vt:lpstr>Data warehousing architecture</vt:lpstr>
      <vt:lpstr>⚙️ Data Warehouse Architecture</vt:lpstr>
      <vt:lpstr>PowerPoint Presentation</vt:lpstr>
      <vt:lpstr>Operational Data Store(ODS) </vt:lpstr>
      <vt:lpstr>PowerPoint Presentation</vt:lpstr>
      <vt:lpstr>PowerPoint Presentation</vt:lpstr>
      <vt:lpstr>Key features of an ODS : </vt:lpstr>
      <vt:lpstr>PowerPoint Presentation</vt:lpstr>
      <vt:lpstr>What is Data Mart? </vt:lpstr>
      <vt:lpstr>Types of Data Mart </vt:lpstr>
      <vt:lpstr>1. Independent Data Mart </vt:lpstr>
      <vt:lpstr>2. Dependent Data Mart </vt:lpstr>
      <vt:lpstr>3. Hybrid Data Mart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Data Engineering</dc:creator>
  <cp:lastModifiedBy>Rajesh Kumar Devabhaktuni</cp:lastModifiedBy>
  <cp:revision>4</cp:revision>
  <dcterms:created xsi:type="dcterms:W3CDTF">2025-10-22T11:01:29Z</dcterms:created>
  <dcterms:modified xsi:type="dcterms:W3CDTF">2026-02-17T05:58:06Z</dcterms:modified>
</cp:coreProperties>
</file>