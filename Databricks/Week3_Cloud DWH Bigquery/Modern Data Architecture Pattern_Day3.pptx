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69" r:id="rId3"/>
    <p:sldId id="268" r:id="rId4"/>
    <p:sldId id="270" r:id="rId5"/>
    <p:sldId id="271" r:id="rId6"/>
    <p:sldId id="272" r:id="rId7"/>
    <p:sldId id="273" r:id="rId8"/>
    <p:sldId id="274" r:id="rId9"/>
    <p:sldId id="275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47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3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281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54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93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12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75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1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5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9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4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The exterior of a honeycomb building design">
            <a:extLst>
              <a:ext uri="{FF2B5EF4-FFF2-40B4-BE49-F238E27FC236}">
                <a16:creationId xmlns:a16="http://schemas.microsoft.com/office/drawing/2014/main" id="{34E18341-7365-7EED-A0D6-43E2224D84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40A6B1-A37C-6DD2-A4FE-034F8E25C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Modern Data Architecture Patterns</a:t>
            </a:r>
          </a:p>
        </p:txBody>
      </p:sp>
    </p:spTree>
    <p:extLst>
      <p:ext uri="{BB962C8B-B14F-4D97-AF65-F5344CB8AC3E}">
        <p14:creationId xmlns:p14="http://schemas.microsoft.com/office/powerpoint/2010/main" val="129388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13F66-7C63-C649-CD57-5F20D07A6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7971"/>
            <a:ext cx="11155680" cy="3810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Medallion Architecture?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6991D-7AF0-4ED3-63B8-F74B62D93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Medallion Architecture</a:t>
            </a:r>
            <a:r>
              <a:rPr lang="en-US" dirty="0"/>
              <a:t> is a </a:t>
            </a:r>
            <a:r>
              <a:rPr lang="en-US" b="1" dirty="0"/>
              <a:t>layered data design pattern</a:t>
            </a:r>
            <a:r>
              <a:rPr lang="en-US" dirty="0"/>
              <a:t> used in modern data platforms to </a:t>
            </a:r>
            <a:r>
              <a:rPr lang="en-US" b="1" dirty="0"/>
              <a:t>incrementally improve data quality, structure, and performance</a:t>
            </a:r>
            <a:r>
              <a:rPr lang="en-US" dirty="0"/>
              <a:t> as data flows through the system.</a:t>
            </a:r>
          </a:p>
          <a:p>
            <a:r>
              <a:rPr lang="en-US" dirty="0"/>
              <a:t>It was popularized by </a:t>
            </a:r>
            <a:r>
              <a:rPr lang="en-US" b="1" dirty="0"/>
              <a:t>Databricks</a:t>
            </a:r>
            <a:r>
              <a:rPr lang="en-US" dirty="0"/>
              <a:t> as part of the </a:t>
            </a:r>
            <a:r>
              <a:rPr lang="en-US" b="1" dirty="0"/>
              <a:t>Lakehouse</a:t>
            </a:r>
            <a:r>
              <a:rPr lang="en-US" dirty="0"/>
              <a:t> approach.</a:t>
            </a:r>
          </a:p>
          <a:p>
            <a:r>
              <a:rPr lang="en-US" dirty="0"/>
              <a:t>Think of it as:</a:t>
            </a:r>
          </a:p>
          <a:p>
            <a:r>
              <a:rPr lang="en-US" b="1" dirty="0"/>
              <a:t>Raw → Clean → Business-ready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549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E03E-EFB1-F9BC-0FEC-6600434A0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3" y="978408"/>
            <a:ext cx="6473081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Core Layers of Medallion Architecture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3E527-A9B0-0553-7A08-297EA651A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/>
              <a:t>Logical layering for data quality &amp; governance</a:t>
            </a:r>
          </a:p>
          <a:p>
            <a:pPr lvl="1"/>
            <a:r>
              <a:rPr lang="en-US"/>
              <a:t>Often used inside </a:t>
            </a:r>
            <a:r>
              <a:rPr lang="en-US" b="1" err="1"/>
              <a:t>lakehouse</a:t>
            </a:r>
            <a:r>
              <a:rPr lang="en-US" b="1"/>
              <a:t> platforms</a:t>
            </a:r>
            <a:endParaRPr lang="en-US"/>
          </a:p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242D25-2969-10AB-9308-1BAA86C6C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640892"/>
              </p:ext>
            </p:extLst>
          </p:nvPr>
        </p:nvGraphicFramePr>
        <p:xfrm>
          <a:off x="517867" y="2742432"/>
          <a:ext cx="6281929" cy="3290832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1641236">
                  <a:extLst>
                    <a:ext uri="{9D8B030D-6E8A-4147-A177-3AD203B41FA5}">
                      <a16:colId xmlns:a16="http://schemas.microsoft.com/office/drawing/2014/main" val="4106283021"/>
                    </a:ext>
                  </a:extLst>
                </a:gridCol>
                <a:gridCol w="4640693">
                  <a:extLst>
                    <a:ext uri="{9D8B030D-6E8A-4147-A177-3AD203B41FA5}">
                      <a16:colId xmlns:a16="http://schemas.microsoft.com/office/drawing/2014/main" val="1978087384"/>
                    </a:ext>
                  </a:extLst>
                </a:gridCol>
              </a:tblGrid>
              <a:tr h="82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Layer</a:t>
                      </a:r>
                    </a:p>
                  </a:txBody>
                  <a:tcPr marL="140462" marR="200660" marT="40132" marB="30099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marL="140462" marR="200660" marT="40132" marB="3009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553387"/>
                  </a:ext>
                </a:extLst>
              </a:tr>
              <a:tr h="82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Bronze</a:t>
                      </a:r>
                    </a:p>
                  </a:txBody>
                  <a:tcPr marL="140462" marR="200660" marT="40132" marB="30099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Raw ingested data</a:t>
                      </a:r>
                    </a:p>
                  </a:txBody>
                  <a:tcPr marL="140462" marR="200660" marT="40132" marB="3009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068654"/>
                  </a:ext>
                </a:extLst>
              </a:tr>
              <a:tr h="82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Silver</a:t>
                      </a:r>
                    </a:p>
                  </a:txBody>
                  <a:tcPr marL="140462" marR="200660" marT="40132" marB="30099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Cleaned &amp; standardized</a:t>
                      </a:r>
                    </a:p>
                  </a:txBody>
                  <a:tcPr marL="140462" marR="200660" marT="40132" marB="3009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912534"/>
                  </a:ext>
                </a:extLst>
              </a:tr>
              <a:tr h="82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Gold</a:t>
                      </a:r>
                    </a:p>
                  </a:txBody>
                  <a:tcPr marL="140462" marR="200660" marT="40132" marB="30099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Business-ready aggregates</a:t>
                      </a:r>
                    </a:p>
                  </a:txBody>
                  <a:tcPr marL="140462" marR="200660" marT="40132" marB="3009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827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615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C6D8-DE8D-5674-95FA-A4696A2F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3706" y="-121049"/>
            <a:ext cx="11155680" cy="1463040"/>
          </a:xfrm>
        </p:spPr>
        <p:txBody>
          <a:bodyPr/>
          <a:lstStyle/>
          <a:p>
            <a:r>
              <a:rPr lang="en-US" dirty="0"/>
              <a:t>🥉 Bronze Layer (Raw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3C085-1031-5CFC-2ADF-89BA42135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9922"/>
            <a:ext cx="11155680" cy="564010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Purpose:</a:t>
            </a:r>
            <a:r>
              <a:rPr lang="en-US" dirty="0"/>
              <a:t> Ingest data </a:t>
            </a:r>
            <a:r>
              <a:rPr lang="en-US" i="1" dirty="0"/>
              <a:t>as-is</a:t>
            </a:r>
            <a:endParaRPr lang="en-US" dirty="0"/>
          </a:p>
          <a:p>
            <a:r>
              <a:rPr lang="en-US" b="1" dirty="0"/>
              <a:t>Characteristics</a:t>
            </a:r>
            <a:endParaRPr lang="en-US" dirty="0"/>
          </a:p>
          <a:p>
            <a:r>
              <a:rPr lang="en-US" dirty="0"/>
              <a:t>Raw, unfiltered data</a:t>
            </a:r>
          </a:p>
          <a:p>
            <a:r>
              <a:rPr lang="en-US" dirty="0"/>
              <a:t>Source-aligned (Kafka, APIs, RDBMS, logs, files)</a:t>
            </a:r>
          </a:p>
          <a:p>
            <a:r>
              <a:rPr lang="en-US" dirty="0"/>
              <a:t>Schema-on-read</a:t>
            </a:r>
          </a:p>
          <a:p>
            <a:r>
              <a:rPr lang="en-US" dirty="0"/>
              <a:t>Append-only (no deletes/updates usually)</a:t>
            </a:r>
          </a:p>
          <a:p>
            <a:pPr marL="0" indent="0">
              <a:buNone/>
            </a:pPr>
            <a:r>
              <a:rPr lang="en-US" b="1" dirty="0"/>
              <a:t>Examples</a:t>
            </a:r>
            <a:endParaRPr lang="en-US" dirty="0"/>
          </a:p>
          <a:p>
            <a:r>
              <a:rPr lang="en-US" dirty="0"/>
              <a:t>Kafka events</a:t>
            </a:r>
          </a:p>
          <a:p>
            <a:r>
              <a:rPr lang="en-US" dirty="0"/>
              <a:t>CDC data</a:t>
            </a:r>
          </a:p>
          <a:p>
            <a:r>
              <a:rPr lang="en-US" dirty="0"/>
              <a:t>JSON / CSV / Parquet files</a:t>
            </a:r>
          </a:p>
          <a:p>
            <a:pPr marL="0" indent="0">
              <a:buNone/>
            </a:pPr>
            <a:r>
              <a:rPr lang="en-US" b="1" dirty="0"/>
              <a:t>Typical Operations</a:t>
            </a:r>
            <a:endParaRPr lang="en-US" dirty="0"/>
          </a:p>
          <a:p>
            <a:r>
              <a:rPr lang="en-US" dirty="0"/>
              <a:t>Basic ingestion</a:t>
            </a:r>
          </a:p>
          <a:p>
            <a:r>
              <a:rPr lang="en-US" dirty="0"/>
              <a:t>Metadata capture</a:t>
            </a:r>
          </a:p>
          <a:p>
            <a:r>
              <a:rPr lang="en-US" dirty="0"/>
              <a:t>Minimal validation</a:t>
            </a:r>
          </a:p>
          <a:p>
            <a:r>
              <a:rPr lang="en-US" i="1" dirty="0"/>
              <a:t>Goal:</a:t>
            </a:r>
            <a:r>
              <a:rPr lang="en-US" dirty="0"/>
              <a:t> </a:t>
            </a:r>
            <a:r>
              <a:rPr lang="en-US" b="1" dirty="0"/>
              <a:t>Data preservation &amp; traceability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298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B923D-69ED-C8DC-972C-56AC9C75A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6363" y="-99277"/>
            <a:ext cx="11155680" cy="948363"/>
          </a:xfrm>
        </p:spPr>
        <p:txBody>
          <a:bodyPr>
            <a:normAutofit fontScale="90000"/>
          </a:bodyPr>
          <a:lstStyle/>
          <a:p>
            <a:r>
              <a:rPr lang="en-US" dirty="0"/>
              <a:t>🥈 Silver Layer (Cleaned &amp; Conformed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AB125-42F5-4D9B-8F1C-305166DB2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9085"/>
            <a:ext cx="11568031" cy="588917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Purpose:</a:t>
            </a:r>
            <a:r>
              <a:rPr lang="en-US" dirty="0"/>
              <a:t> Clean, standardize, and enrich data</a:t>
            </a:r>
          </a:p>
          <a:p>
            <a:pPr marL="0" indent="0">
              <a:buNone/>
            </a:pPr>
            <a:r>
              <a:rPr lang="en-US" b="1" dirty="0"/>
              <a:t>Characteristics</a:t>
            </a:r>
            <a:endParaRPr lang="en-US" dirty="0"/>
          </a:p>
          <a:p>
            <a:r>
              <a:rPr lang="en-US" dirty="0"/>
              <a:t>Deduplicated</a:t>
            </a:r>
          </a:p>
          <a:p>
            <a:r>
              <a:rPr lang="en-US" dirty="0"/>
              <a:t>Null handling</a:t>
            </a:r>
          </a:p>
          <a:p>
            <a:r>
              <a:rPr lang="en-US" dirty="0"/>
              <a:t>Type casting</a:t>
            </a:r>
          </a:p>
          <a:p>
            <a:r>
              <a:rPr lang="en-US" dirty="0"/>
              <a:t>Business keys applied</a:t>
            </a:r>
          </a:p>
          <a:p>
            <a:r>
              <a:rPr lang="en-US" dirty="0"/>
              <a:t>Joins across sources</a:t>
            </a:r>
          </a:p>
          <a:p>
            <a:pPr marL="0" indent="0">
              <a:buNone/>
            </a:pPr>
            <a:r>
              <a:rPr lang="en-US" b="1" dirty="0"/>
              <a:t>Examples</a:t>
            </a:r>
            <a:endParaRPr lang="en-US" dirty="0"/>
          </a:p>
          <a:p>
            <a:r>
              <a:rPr lang="en-US" dirty="0"/>
              <a:t>Clean customer table</a:t>
            </a:r>
          </a:p>
          <a:p>
            <a:r>
              <a:rPr lang="en-US" dirty="0"/>
              <a:t>Valid transactions</a:t>
            </a:r>
          </a:p>
          <a:p>
            <a:r>
              <a:rPr lang="en-US" dirty="0"/>
              <a:t>Standardized timestamps &amp; currencies</a:t>
            </a:r>
          </a:p>
          <a:p>
            <a:pPr marL="0" indent="0">
              <a:buNone/>
            </a:pPr>
            <a:r>
              <a:rPr lang="en-US" b="1" dirty="0"/>
              <a:t>Typical Operations</a:t>
            </a:r>
            <a:endParaRPr lang="en-US" dirty="0"/>
          </a:p>
          <a:p>
            <a:r>
              <a:rPr lang="en-US" dirty="0"/>
              <a:t>Data quality rules</a:t>
            </a:r>
          </a:p>
          <a:p>
            <a:r>
              <a:rPr lang="en-US" dirty="0"/>
              <a:t>Schema enforcement</a:t>
            </a:r>
          </a:p>
          <a:p>
            <a:r>
              <a:rPr lang="en-US" dirty="0"/>
              <a:t>CDC merge (UPSERT)</a:t>
            </a:r>
          </a:p>
          <a:p>
            <a:r>
              <a:rPr lang="en-US" dirty="0"/>
              <a:t>Reference data joins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 </a:t>
            </a:r>
            <a:r>
              <a:rPr lang="en-US" b="1" i="1" dirty="0">
                <a:highlight>
                  <a:srgbClr val="FFFF00"/>
                </a:highlight>
              </a:rPr>
              <a:t>Goal:</a:t>
            </a:r>
            <a:r>
              <a:rPr lang="en-US" b="1" dirty="0">
                <a:highlight>
                  <a:srgbClr val="FFFF00"/>
                </a:highlight>
              </a:rPr>
              <a:t> Reliable, analytics-ready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481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88EC5-9F53-6BA6-53BE-60E16C2C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0792" y="-110163"/>
            <a:ext cx="11155680" cy="752421"/>
          </a:xfrm>
        </p:spPr>
        <p:txBody>
          <a:bodyPr>
            <a:normAutofit fontScale="90000"/>
          </a:bodyPr>
          <a:lstStyle/>
          <a:p>
            <a:r>
              <a:rPr lang="en-US" dirty="0"/>
              <a:t>🥇 Gold Layer (Business &amp; Analytics Layer)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2ED30-7413-082B-FABD-3777D4E06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1322"/>
            <a:ext cx="11557146" cy="596667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Purpose:</a:t>
            </a:r>
            <a:r>
              <a:rPr lang="en-US" dirty="0"/>
              <a:t> Serve data for </a:t>
            </a:r>
            <a:r>
              <a:rPr lang="en-US" b="1" dirty="0"/>
              <a:t>BI, ML, and reporting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Characteristics</a:t>
            </a:r>
            <a:endParaRPr lang="en-US" dirty="0"/>
          </a:p>
          <a:p>
            <a:r>
              <a:rPr lang="en-US" dirty="0"/>
              <a:t>Aggregated</a:t>
            </a:r>
          </a:p>
          <a:p>
            <a:r>
              <a:rPr lang="en-US" dirty="0"/>
              <a:t>Denormalized</a:t>
            </a:r>
          </a:p>
          <a:p>
            <a:r>
              <a:rPr lang="en-US" dirty="0"/>
              <a:t>Optimized for queries</a:t>
            </a:r>
          </a:p>
          <a:p>
            <a:r>
              <a:rPr lang="en-US" dirty="0"/>
              <a:t>Business logic applied</a:t>
            </a:r>
          </a:p>
          <a:p>
            <a:pPr marL="0" indent="0">
              <a:buNone/>
            </a:pPr>
            <a:r>
              <a:rPr lang="en-US" b="1" dirty="0"/>
              <a:t>Examples</a:t>
            </a:r>
            <a:endParaRPr lang="en-US" dirty="0"/>
          </a:p>
          <a:p>
            <a:r>
              <a:rPr lang="en-US" dirty="0"/>
              <a:t>Daily sales metrics</a:t>
            </a:r>
          </a:p>
          <a:p>
            <a:r>
              <a:rPr lang="en-US" dirty="0"/>
              <a:t>Revenue by region</a:t>
            </a:r>
          </a:p>
          <a:p>
            <a:r>
              <a:rPr lang="en-US" dirty="0"/>
              <a:t>Customer lifetime value</a:t>
            </a:r>
          </a:p>
          <a:p>
            <a:r>
              <a:rPr lang="en-US" dirty="0"/>
              <a:t>Fact &amp; dimension tables</a:t>
            </a:r>
          </a:p>
          <a:p>
            <a:pPr marL="0" indent="0">
              <a:buNone/>
            </a:pPr>
            <a:r>
              <a:rPr lang="en-US" b="1" dirty="0"/>
              <a:t>Typical Operations</a:t>
            </a:r>
            <a:endParaRPr lang="en-US" dirty="0"/>
          </a:p>
          <a:p>
            <a:r>
              <a:rPr lang="en-US" dirty="0"/>
              <a:t>Aggregations</a:t>
            </a:r>
          </a:p>
          <a:p>
            <a:r>
              <a:rPr lang="en-US" dirty="0"/>
              <a:t>Window functions</a:t>
            </a:r>
          </a:p>
          <a:p>
            <a:r>
              <a:rPr lang="en-US" dirty="0"/>
              <a:t>KPI calculations</a:t>
            </a:r>
          </a:p>
          <a:p>
            <a:r>
              <a:rPr lang="en-US" dirty="0"/>
              <a:t>Star / Snowflake schemas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i="1" dirty="0">
                <a:solidFill>
                  <a:srgbClr val="FF0000"/>
                </a:solidFill>
              </a:rPr>
              <a:t>Goal:</a:t>
            </a:r>
            <a:r>
              <a:rPr lang="en-US" b="1" dirty="0">
                <a:solidFill>
                  <a:srgbClr val="FF0000"/>
                </a:solidFill>
              </a:rPr>
              <a:t> High-performance business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0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9002E-05EB-3F73-3500-079A1615F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945750"/>
            <a:ext cx="11155680" cy="59122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Source Systems</a:t>
            </a:r>
          </a:p>
          <a:p>
            <a:pPr marL="0" indent="0">
              <a:buNone/>
            </a:pPr>
            <a:r>
              <a:rPr lang="en-US" sz="2800" dirty="0"/>
              <a:t>  ↓</a:t>
            </a:r>
          </a:p>
          <a:p>
            <a:pPr marL="0" indent="0">
              <a:buNone/>
            </a:pPr>
            <a:r>
              <a:rPr lang="en-US" sz="2800" dirty="0"/>
              <a:t>🥉 Bronze (Raw)</a:t>
            </a:r>
          </a:p>
          <a:p>
            <a:pPr marL="0" indent="0">
              <a:buNone/>
            </a:pPr>
            <a:r>
              <a:rPr lang="en-US" sz="2800" dirty="0"/>
              <a:t>  ↓</a:t>
            </a:r>
          </a:p>
          <a:p>
            <a:pPr marL="0" indent="0">
              <a:buNone/>
            </a:pPr>
            <a:r>
              <a:rPr lang="en-US" sz="2800" dirty="0"/>
              <a:t>🥈 Silver (Cleaned &amp; Conformed)</a:t>
            </a:r>
          </a:p>
          <a:p>
            <a:pPr marL="0" indent="0">
              <a:buNone/>
            </a:pPr>
            <a:r>
              <a:rPr lang="en-US" sz="2800" dirty="0"/>
              <a:t>   ↓</a:t>
            </a:r>
          </a:p>
          <a:p>
            <a:pPr marL="0" indent="0">
              <a:buNone/>
            </a:pPr>
            <a:r>
              <a:rPr lang="en-US" sz="2800" dirty="0"/>
              <a:t>🥇 Gold (Aggregated &amp; Business Metrics)</a:t>
            </a:r>
          </a:p>
          <a:p>
            <a:pPr marL="0" indent="0">
              <a:buNone/>
            </a:pPr>
            <a:r>
              <a:rPr lang="en-US" sz="2800" dirty="0"/>
              <a:t>   ↓</a:t>
            </a:r>
          </a:p>
          <a:p>
            <a:r>
              <a:rPr lang="en-US" sz="2800" dirty="0"/>
              <a:t>BI / Dashboards / ML Models</a:t>
            </a:r>
          </a:p>
        </p:txBody>
      </p:sp>
    </p:spTree>
    <p:extLst>
      <p:ext uri="{BB962C8B-B14F-4D97-AF65-F5344CB8AC3E}">
        <p14:creationId xmlns:p14="http://schemas.microsoft.com/office/powerpoint/2010/main" val="2611312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F93DE-8F6F-DB76-C20D-79934B94F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278"/>
            <a:ext cx="11155680" cy="730649"/>
          </a:xfrm>
        </p:spPr>
        <p:txBody>
          <a:bodyPr>
            <a:normAutofit fontScale="90000"/>
          </a:bodyPr>
          <a:lstStyle/>
          <a:p>
            <a:r>
              <a:rPr lang="en-US" dirty="0"/>
              <a:t>Why Medallion Architecture is Powerful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45354-0BB8-13CE-F87C-1467F520B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✅ Clear separation of concerns</a:t>
            </a:r>
            <a:br>
              <a:rPr lang="en-US" dirty="0"/>
            </a:br>
            <a:r>
              <a:rPr lang="en-US" dirty="0"/>
              <a:t>✅ Easier debugging &amp; replay</a:t>
            </a:r>
            <a:br>
              <a:rPr lang="en-US" dirty="0"/>
            </a:br>
            <a:r>
              <a:rPr lang="en-US" dirty="0"/>
              <a:t>✅ Scales well with big data</a:t>
            </a:r>
            <a:br>
              <a:rPr lang="en-US" dirty="0"/>
            </a:br>
            <a:r>
              <a:rPr lang="en-US" dirty="0"/>
              <a:t>✅ Supports batch + streaming</a:t>
            </a:r>
            <a:br>
              <a:rPr lang="en-US" dirty="0"/>
            </a:br>
            <a:r>
              <a:rPr lang="en-US" dirty="0"/>
              <a:t>✅ Strong data governance</a:t>
            </a:r>
            <a:br>
              <a:rPr lang="en-US" dirty="0"/>
            </a:br>
            <a:r>
              <a:rPr lang="en-US" dirty="0"/>
              <a:t>✅ Works perfectly with Delta / Iceberg / Hudi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36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94D86-23F6-D5E4-4E7D-607CED442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0163"/>
            <a:ext cx="11155680" cy="752421"/>
          </a:xfrm>
        </p:spPr>
        <p:txBody>
          <a:bodyPr>
            <a:normAutofit fontScale="90000"/>
          </a:bodyPr>
          <a:lstStyle/>
          <a:p>
            <a:r>
              <a:rPr lang="en-US" dirty="0"/>
              <a:t>Common Tools Used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CB561-20A2-D940-4372-EE54DC06D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Ingestion:</a:t>
            </a:r>
            <a:r>
              <a:rPr lang="en-US" dirty="0"/>
              <a:t> Kafka, Kinesis, </a:t>
            </a:r>
            <a:r>
              <a:rPr lang="en-US" dirty="0" err="1"/>
              <a:t>NiFi</a:t>
            </a:r>
            <a:endParaRPr lang="en-US" dirty="0"/>
          </a:p>
          <a:p>
            <a:r>
              <a:rPr lang="en-US" b="1" dirty="0"/>
              <a:t>Processing:</a:t>
            </a:r>
            <a:r>
              <a:rPr lang="en-US" dirty="0"/>
              <a:t> Spark, Flink</a:t>
            </a:r>
          </a:p>
          <a:p>
            <a:r>
              <a:rPr lang="en-US" b="1" dirty="0"/>
              <a:t>Storage:</a:t>
            </a:r>
            <a:r>
              <a:rPr lang="en-US" dirty="0"/>
              <a:t> Data Lake (S3, ADLS, GCS)</a:t>
            </a:r>
          </a:p>
          <a:p>
            <a:r>
              <a:rPr lang="en-US" b="1" dirty="0"/>
              <a:t>Table Formats:</a:t>
            </a:r>
            <a:r>
              <a:rPr lang="en-US" dirty="0"/>
              <a:t> Delta Lake, Apache Iceberg</a:t>
            </a:r>
          </a:p>
          <a:p>
            <a:r>
              <a:rPr lang="en-US" b="1" dirty="0"/>
              <a:t>BI:</a:t>
            </a:r>
            <a:r>
              <a:rPr lang="en-US" dirty="0"/>
              <a:t> Power BI, Tableau, Looker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01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32C9E-68F3-359C-86D7-D726A068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22" y="-175478"/>
            <a:ext cx="11155680" cy="850392"/>
          </a:xfrm>
        </p:spPr>
        <p:txBody>
          <a:bodyPr/>
          <a:lstStyle/>
          <a:p>
            <a:r>
              <a:rPr lang="en-US" dirty="0"/>
              <a:t>2️⃣ Data Lake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EACA4-2331-B4FA-E057-42C2B5DE4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054608"/>
            <a:ext cx="11155680" cy="54877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Low-cost storage for raw, semi-structured &amp; unstructured data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Core idea</a:t>
            </a:r>
            <a:endParaRPr lang="en-US" dirty="0"/>
          </a:p>
          <a:p>
            <a:r>
              <a:rPr lang="en-US" dirty="0"/>
              <a:t>Store everything first</a:t>
            </a:r>
          </a:p>
          <a:p>
            <a:r>
              <a:rPr lang="en-US" dirty="0"/>
              <a:t>Schema-on-read</a:t>
            </a:r>
          </a:p>
          <a:p>
            <a:pPr marL="0" indent="0">
              <a:buNone/>
            </a:pPr>
            <a:r>
              <a:rPr lang="en-US" b="1" dirty="0"/>
              <a:t>Layers</a:t>
            </a:r>
            <a:endParaRPr lang="en-US" dirty="0"/>
          </a:p>
          <a:p>
            <a:r>
              <a:rPr lang="en-US" dirty="0"/>
              <a:t>Raw (Bronze)</a:t>
            </a:r>
          </a:p>
          <a:p>
            <a:r>
              <a:rPr lang="en-US" dirty="0"/>
              <a:t>Cleaned (Silver)</a:t>
            </a:r>
          </a:p>
          <a:p>
            <a:r>
              <a:rPr lang="en-US" dirty="0"/>
              <a:t>Curated (Gold)</a:t>
            </a:r>
          </a:p>
          <a:p>
            <a:pPr marL="0" indent="0">
              <a:buNone/>
            </a:pPr>
            <a:r>
              <a:rPr lang="en-US" b="1" dirty="0"/>
              <a:t>Best for</a:t>
            </a:r>
            <a:endParaRPr lang="en-US" dirty="0"/>
          </a:p>
          <a:p>
            <a:r>
              <a:rPr lang="en-US" dirty="0"/>
              <a:t>Big data</a:t>
            </a:r>
          </a:p>
          <a:p>
            <a:r>
              <a:rPr lang="en-US" dirty="0"/>
              <a:t>ML workloads</a:t>
            </a:r>
          </a:p>
          <a:p>
            <a:r>
              <a:rPr lang="en-US" dirty="0"/>
              <a:t>Log, IoT, clickstream data</a:t>
            </a:r>
          </a:p>
          <a:p>
            <a:r>
              <a:rPr lang="en-US" i="1" dirty="0"/>
              <a:t>Cheap storage, flexible — but governance is hard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918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8BE10-11C2-C12A-21EE-05B289329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865" y="-142820"/>
            <a:ext cx="11155680" cy="1463040"/>
          </a:xfrm>
        </p:spPr>
        <p:txBody>
          <a:bodyPr/>
          <a:lstStyle/>
          <a:p>
            <a:r>
              <a:rPr lang="en-US" dirty="0"/>
              <a:t>3️⃣ Lakehouse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09596-6C18-D1F7-9850-1759BFE68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351" y="1217893"/>
            <a:ext cx="11155680" cy="5367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Best of Data Lake + Data Warehouse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Core idea</a:t>
            </a:r>
            <a:endParaRPr lang="en-US" dirty="0"/>
          </a:p>
          <a:p>
            <a:r>
              <a:rPr lang="en-US" dirty="0"/>
              <a:t>Open data formats (Parquet, ORC)</a:t>
            </a:r>
          </a:p>
          <a:p>
            <a:r>
              <a:rPr lang="en-US" dirty="0"/>
              <a:t>ACID transactions on data lakes</a:t>
            </a:r>
          </a:p>
          <a:p>
            <a:r>
              <a:rPr lang="en-US" dirty="0"/>
              <a:t>One platform for BI + ML</a:t>
            </a:r>
          </a:p>
          <a:p>
            <a:pPr marL="0" indent="0">
              <a:buNone/>
            </a:pPr>
            <a:r>
              <a:rPr lang="en-US" b="1" dirty="0"/>
              <a:t>Why it wins</a:t>
            </a:r>
            <a:endParaRPr lang="en-US" dirty="0"/>
          </a:p>
          <a:p>
            <a:r>
              <a:rPr lang="en-US" dirty="0"/>
              <a:t>No data duplication</a:t>
            </a:r>
          </a:p>
          <a:p>
            <a:r>
              <a:rPr lang="en-US" dirty="0"/>
              <a:t>Handles structured &amp; unstructured data</a:t>
            </a:r>
          </a:p>
          <a:p>
            <a:r>
              <a:rPr lang="en-US" dirty="0"/>
              <a:t>Lower cost than DW-only approach</a:t>
            </a:r>
          </a:p>
          <a:p>
            <a:pPr marL="0" indent="0">
              <a:buNone/>
            </a:pPr>
            <a:r>
              <a:rPr lang="en-US" b="1" dirty="0"/>
              <a:t>Best for</a:t>
            </a:r>
            <a:endParaRPr lang="en-US" dirty="0"/>
          </a:p>
          <a:p>
            <a:r>
              <a:rPr lang="en-US" dirty="0"/>
              <a:t>Analytics + ML together</a:t>
            </a:r>
          </a:p>
          <a:p>
            <a:r>
              <a:rPr lang="en-US" dirty="0"/>
              <a:t>Streaming + batch</a:t>
            </a:r>
          </a:p>
          <a:p>
            <a:r>
              <a:rPr lang="en-US" dirty="0"/>
              <a:t>Unified data platform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i="1" dirty="0"/>
              <a:t>Industry default in 2024–2026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02167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518</Words>
  <Application>Microsoft Office PowerPoint</Application>
  <PresentationFormat>Widescreen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Bierstadt</vt:lpstr>
      <vt:lpstr>GestaltVTI</vt:lpstr>
      <vt:lpstr>Modern Data Architecture Patterns</vt:lpstr>
      <vt:lpstr>What is Medallion Architecture? </vt:lpstr>
      <vt:lpstr>Core Layers of Medallion Architecture</vt:lpstr>
      <vt:lpstr>🥉 Bronze Layer (Raw Data)</vt:lpstr>
      <vt:lpstr>🥈 Silver Layer (Cleaned &amp; Conformed Data)</vt:lpstr>
      <vt:lpstr>🥇 Gold Layer (Business &amp; Analytics Layer)</vt:lpstr>
      <vt:lpstr>PowerPoint Presentation</vt:lpstr>
      <vt:lpstr>Why Medallion Architecture is Powerful </vt:lpstr>
      <vt:lpstr>Common Tools Used </vt:lpstr>
      <vt:lpstr>2️⃣ Data Lake Architecture</vt:lpstr>
      <vt:lpstr>3️⃣ Lakehouse Architecture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8</cp:revision>
  <dcterms:created xsi:type="dcterms:W3CDTF">2026-02-17T06:02:12Z</dcterms:created>
  <dcterms:modified xsi:type="dcterms:W3CDTF">2026-02-19T15:43:21Z</dcterms:modified>
</cp:coreProperties>
</file>