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57" r:id="rId8"/>
    <p:sldId id="264" r:id="rId9"/>
    <p:sldId id="265" r:id="rId10"/>
    <p:sldId id="263"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CFF58-9044-5BF1-5263-6E9716095D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BA22135-24D0-472B-42D5-CED5D4CC12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3D4643C-EC36-703B-0370-F6824AF822CC}"/>
              </a:ext>
            </a:extLst>
          </p:cNvPr>
          <p:cNvSpPr>
            <a:spLocks noGrp="1"/>
          </p:cNvSpPr>
          <p:nvPr>
            <p:ph type="dt" sz="half" idx="10"/>
          </p:nvPr>
        </p:nvSpPr>
        <p:spPr/>
        <p:txBody>
          <a:bodyPr/>
          <a:lstStyle/>
          <a:p>
            <a:fld id="{C993C767-9A2C-4780-9E8C-00E464E736C9}" type="datetimeFigureOut">
              <a:rPr lang="en-US" smtClean="0"/>
              <a:t>2/17/2026</a:t>
            </a:fld>
            <a:endParaRPr lang="en-US"/>
          </a:p>
        </p:txBody>
      </p:sp>
      <p:sp>
        <p:nvSpPr>
          <p:cNvPr id="5" name="Footer Placeholder 4">
            <a:extLst>
              <a:ext uri="{FF2B5EF4-FFF2-40B4-BE49-F238E27FC236}">
                <a16:creationId xmlns:a16="http://schemas.microsoft.com/office/drawing/2014/main" id="{F8EBD2F4-28D8-D7C3-FEB5-F4DFB0CE36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4C41A6-F715-BF18-F0CD-FF0AC9F2E943}"/>
              </a:ext>
            </a:extLst>
          </p:cNvPr>
          <p:cNvSpPr>
            <a:spLocks noGrp="1"/>
          </p:cNvSpPr>
          <p:nvPr>
            <p:ph type="sldNum" sz="quarter" idx="12"/>
          </p:nvPr>
        </p:nvSpPr>
        <p:spPr/>
        <p:txBody>
          <a:bodyPr/>
          <a:lstStyle/>
          <a:p>
            <a:fld id="{D2BFD6BD-308D-477E-8B03-975EBE7B26C7}" type="slidenum">
              <a:rPr lang="en-US" smtClean="0"/>
              <a:t>‹#›</a:t>
            </a:fld>
            <a:endParaRPr lang="en-US"/>
          </a:p>
        </p:txBody>
      </p:sp>
    </p:spTree>
    <p:extLst>
      <p:ext uri="{BB962C8B-B14F-4D97-AF65-F5344CB8AC3E}">
        <p14:creationId xmlns:p14="http://schemas.microsoft.com/office/powerpoint/2010/main" val="1430602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B4709-A4C6-F69E-85E9-AB28F8978D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6F748B-48A7-9832-1205-BA9A2FE95A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8DBA5B-BB24-47C3-91C6-5C42DC7D6D1D}"/>
              </a:ext>
            </a:extLst>
          </p:cNvPr>
          <p:cNvSpPr>
            <a:spLocks noGrp="1"/>
          </p:cNvSpPr>
          <p:nvPr>
            <p:ph type="dt" sz="half" idx="10"/>
          </p:nvPr>
        </p:nvSpPr>
        <p:spPr/>
        <p:txBody>
          <a:bodyPr/>
          <a:lstStyle/>
          <a:p>
            <a:fld id="{C993C767-9A2C-4780-9E8C-00E464E736C9}" type="datetimeFigureOut">
              <a:rPr lang="en-US" smtClean="0"/>
              <a:t>2/17/2026</a:t>
            </a:fld>
            <a:endParaRPr lang="en-US"/>
          </a:p>
        </p:txBody>
      </p:sp>
      <p:sp>
        <p:nvSpPr>
          <p:cNvPr id="5" name="Footer Placeholder 4">
            <a:extLst>
              <a:ext uri="{FF2B5EF4-FFF2-40B4-BE49-F238E27FC236}">
                <a16:creationId xmlns:a16="http://schemas.microsoft.com/office/drawing/2014/main" id="{599AD283-B0CD-8A64-44EC-17420545D2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BC16F8-9AAB-79F3-094B-E64EDF51C558}"/>
              </a:ext>
            </a:extLst>
          </p:cNvPr>
          <p:cNvSpPr>
            <a:spLocks noGrp="1"/>
          </p:cNvSpPr>
          <p:nvPr>
            <p:ph type="sldNum" sz="quarter" idx="12"/>
          </p:nvPr>
        </p:nvSpPr>
        <p:spPr/>
        <p:txBody>
          <a:bodyPr/>
          <a:lstStyle/>
          <a:p>
            <a:fld id="{D2BFD6BD-308D-477E-8B03-975EBE7B26C7}" type="slidenum">
              <a:rPr lang="en-US" smtClean="0"/>
              <a:t>‹#›</a:t>
            </a:fld>
            <a:endParaRPr lang="en-US"/>
          </a:p>
        </p:txBody>
      </p:sp>
    </p:spTree>
    <p:extLst>
      <p:ext uri="{BB962C8B-B14F-4D97-AF65-F5344CB8AC3E}">
        <p14:creationId xmlns:p14="http://schemas.microsoft.com/office/powerpoint/2010/main" val="1811879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654F1-85A0-5E04-1D9A-8D01FD35B9A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8F10959-D3A4-B850-203D-4B0118566F2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FCAC25-5A72-1213-1987-E5B7D0FDE6F8}"/>
              </a:ext>
            </a:extLst>
          </p:cNvPr>
          <p:cNvSpPr>
            <a:spLocks noGrp="1"/>
          </p:cNvSpPr>
          <p:nvPr>
            <p:ph type="dt" sz="half" idx="10"/>
          </p:nvPr>
        </p:nvSpPr>
        <p:spPr/>
        <p:txBody>
          <a:bodyPr/>
          <a:lstStyle/>
          <a:p>
            <a:fld id="{C993C767-9A2C-4780-9E8C-00E464E736C9}" type="datetimeFigureOut">
              <a:rPr lang="en-US" smtClean="0"/>
              <a:t>2/17/2026</a:t>
            </a:fld>
            <a:endParaRPr lang="en-US"/>
          </a:p>
        </p:txBody>
      </p:sp>
      <p:sp>
        <p:nvSpPr>
          <p:cNvPr id="5" name="Footer Placeholder 4">
            <a:extLst>
              <a:ext uri="{FF2B5EF4-FFF2-40B4-BE49-F238E27FC236}">
                <a16:creationId xmlns:a16="http://schemas.microsoft.com/office/drawing/2014/main" id="{002D4E7C-8E80-882F-72A1-2CD3D0C619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065408-58CC-3D98-CDA2-4A6E114541DD}"/>
              </a:ext>
            </a:extLst>
          </p:cNvPr>
          <p:cNvSpPr>
            <a:spLocks noGrp="1"/>
          </p:cNvSpPr>
          <p:nvPr>
            <p:ph type="sldNum" sz="quarter" idx="12"/>
          </p:nvPr>
        </p:nvSpPr>
        <p:spPr/>
        <p:txBody>
          <a:bodyPr/>
          <a:lstStyle/>
          <a:p>
            <a:fld id="{D2BFD6BD-308D-477E-8B03-975EBE7B26C7}" type="slidenum">
              <a:rPr lang="en-US" smtClean="0"/>
              <a:t>‹#›</a:t>
            </a:fld>
            <a:endParaRPr lang="en-US"/>
          </a:p>
        </p:txBody>
      </p:sp>
    </p:spTree>
    <p:extLst>
      <p:ext uri="{BB962C8B-B14F-4D97-AF65-F5344CB8AC3E}">
        <p14:creationId xmlns:p14="http://schemas.microsoft.com/office/powerpoint/2010/main" val="3246661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3D34C-BC2B-E4A2-AA9E-09B47ADF8F7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81D3E9-ADC3-BCFA-B3AF-B082AAC55B6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529165E-DAE7-CEF0-E85D-343381DBDAF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CE97D29-0B23-9915-5DC1-4F772D085115}"/>
              </a:ext>
            </a:extLst>
          </p:cNvPr>
          <p:cNvSpPr>
            <a:spLocks noGrp="1"/>
          </p:cNvSpPr>
          <p:nvPr>
            <p:ph type="dt" sz="half" idx="10"/>
          </p:nvPr>
        </p:nvSpPr>
        <p:spPr/>
        <p:txBody>
          <a:bodyPr/>
          <a:lstStyle/>
          <a:p>
            <a:fld id="{C993C767-9A2C-4780-9E8C-00E464E736C9}" type="datetimeFigureOut">
              <a:rPr lang="en-US" smtClean="0"/>
              <a:t>2/17/2026</a:t>
            </a:fld>
            <a:endParaRPr lang="en-US"/>
          </a:p>
        </p:txBody>
      </p:sp>
      <p:sp>
        <p:nvSpPr>
          <p:cNvPr id="6" name="Footer Placeholder 5">
            <a:extLst>
              <a:ext uri="{FF2B5EF4-FFF2-40B4-BE49-F238E27FC236}">
                <a16:creationId xmlns:a16="http://schemas.microsoft.com/office/drawing/2014/main" id="{156F27C9-6C0D-FB4B-85CB-599AAA5B1D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8A2531-273E-03F1-6E03-CC992311F73A}"/>
              </a:ext>
            </a:extLst>
          </p:cNvPr>
          <p:cNvSpPr>
            <a:spLocks noGrp="1"/>
          </p:cNvSpPr>
          <p:nvPr>
            <p:ph type="sldNum" sz="quarter" idx="12"/>
          </p:nvPr>
        </p:nvSpPr>
        <p:spPr/>
        <p:txBody>
          <a:bodyPr/>
          <a:lstStyle/>
          <a:p>
            <a:fld id="{D2BFD6BD-308D-477E-8B03-975EBE7B26C7}" type="slidenum">
              <a:rPr lang="en-US" smtClean="0"/>
              <a:t>‹#›</a:t>
            </a:fld>
            <a:endParaRPr lang="en-US"/>
          </a:p>
        </p:txBody>
      </p:sp>
    </p:spTree>
    <p:extLst>
      <p:ext uri="{BB962C8B-B14F-4D97-AF65-F5344CB8AC3E}">
        <p14:creationId xmlns:p14="http://schemas.microsoft.com/office/powerpoint/2010/main" val="818233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0D47E-BECC-8017-186D-88826A61FF7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F43F4C0-3609-3C45-BADF-32C14F5749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F8C10B-321A-20A5-11C3-5EB962D321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ADE1A58-1A31-37E2-CA92-763B71AB70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A9CAF6-73B8-7F1E-7A96-ADCB8AFCCF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2AA6A9C-9E64-85E4-942D-746ABD3F65A3}"/>
              </a:ext>
            </a:extLst>
          </p:cNvPr>
          <p:cNvSpPr>
            <a:spLocks noGrp="1"/>
          </p:cNvSpPr>
          <p:nvPr>
            <p:ph type="dt" sz="half" idx="10"/>
          </p:nvPr>
        </p:nvSpPr>
        <p:spPr/>
        <p:txBody>
          <a:bodyPr/>
          <a:lstStyle/>
          <a:p>
            <a:fld id="{C993C767-9A2C-4780-9E8C-00E464E736C9}" type="datetimeFigureOut">
              <a:rPr lang="en-US" smtClean="0"/>
              <a:t>2/17/2026</a:t>
            </a:fld>
            <a:endParaRPr lang="en-US"/>
          </a:p>
        </p:txBody>
      </p:sp>
      <p:sp>
        <p:nvSpPr>
          <p:cNvPr id="8" name="Footer Placeholder 7">
            <a:extLst>
              <a:ext uri="{FF2B5EF4-FFF2-40B4-BE49-F238E27FC236}">
                <a16:creationId xmlns:a16="http://schemas.microsoft.com/office/drawing/2014/main" id="{7E4B55A4-1825-DF1D-F161-E0115E78DF0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C54D410-259E-AE92-76B8-21D8D40E9DF7}"/>
              </a:ext>
            </a:extLst>
          </p:cNvPr>
          <p:cNvSpPr>
            <a:spLocks noGrp="1"/>
          </p:cNvSpPr>
          <p:nvPr>
            <p:ph type="sldNum" sz="quarter" idx="12"/>
          </p:nvPr>
        </p:nvSpPr>
        <p:spPr/>
        <p:txBody>
          <a:bodyPr/>
          <a:lstStyle/>
          <a:p>
            <a:fld id="{D2BFD6BD-308D-477E-8B03-975EBE7B26C7}" type="slidenum">
              <a:rPr lang="en-US" smtClean="0"/>
              <a:t>‹#›</a:t>
            </a:fld>
            <a:endParaRPr lang="en-US"/>
          </a:p>
        </p:txBody>
      </p:sp>
    </p:spTree>
    <p:extLst>
      <p:ext uri="{BB962C8B-B14F-4D97-AF65-F5344CB8AC3E}">
        <p14:creationId xmlns:p14="http://schemas.microsoft.com/office/powerpoint/2010/main" val="2320604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98D55-620F-718A-8AC4-79761C0157B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AA309DA-B40A-6E41-985B-F28669012E66}"/>
              </a:ext>
            </a:extLst>
          </p:cNvPr>
          <p:cNvSpPr>
            <a:spLocks noGrp="1"/>
          </p:cNvSpPr>
          <p:nvPr>
            <p:ph type="dt" sz="half" idx="10"/>
          </p:nvPr>
        </p:nvSpPr>
        <p:spPr/>
        <p:txBody>
          <a:bodyPr/>
          <a:lstStyle/>
          <a:p>
            <a:fld id="{C993C767-9A2C-4780-9E8C-00E464E736C9}" type="datetimeFigureOut">
              <a:rPr lang="en-US" smtClean="0"/>
              <a:t>2/17/2026</a:t>
            </a:fld>
            <a:endParaRPr lang="en-US"/>
          </a:p>
        </p:txBody>
      </p:sp>
      <p:sp>
        <p:nvSpPr>
          <p:cNvPr id="4" name="Footer Placeholder 3">
            <a:extLst>
              <a:ext uri="{FF2B5EF4-FFF2-40B4-BE49-F238E27FC236}">
                <a16:creationId xmlns:a16="http://schemas.microsoft.com/office/drawing/2014/main" id="{029541AF-24E5-AF14-104C-FE404551703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18BD9B-71C3-1C8B-7D59-9D29C6208A44}"/>
              </a:ext>
            </a:extLst>
          </p:cNvPr>
          <p:cNvSpPr>
            <a:spLocks noGrp="1"/>
          </p:cNvSpPr>
          <p:nvPr>
            <p:ph type="sldNum" sz="quarter" idx="12"/>
          </p:nvPr>
        </p:nvSpPr>
        <p:spPr/>
        <p:txBody>
          <a:bodyPr/>
          <a:lstStyle/>
          <a:p>
            <a:fld id="{D2BFD6BD-308D-477E-8B03-975EBE7B26C7}" type="slidenum">
              <a:rPr lang="en-US" smtClean="0"/>
              <a:t>‹#›</a:t>
            </a:fld>
            <a:endParaRPr lang="en-US"/>
          </a:p>
        </p:txBody>
      </p:sp>
    </p:spTree>
    <p:extLst>
      <p:ext uri="{BB962C8B-B14F-4D97-AF65-F5344CB8AC3E}">
        <p14:creationId xmlns:p14="http://schemas.microsoft.com/office/powerpoint/2010/main" val="3710884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623D3A-D9F9-1AB1-B0F6-0DEAD8BC911E}"/>
              </a:ext>
            </a:extLst>
          </p:cNvPr>
          <p:cNvSpPr>
            <a:spLocks noGrp="1"/>
          </p:cNvSpPr>
          <p:nvPr>
            <p:ph type="dt" sz="half" idx="10"/>
          </p:nvPr>
        </p:nvSpPr>
        <p:spPr/>
        <p:txBody>
          <a:bodyPr/>
          <a:lstStyle/>
          <a:p>
            <a:fld id="{C993C767-9A2C-4780-9E8C-00E464E736C9}" type="datetimeFigureOut">
              <a:rPr lang="en-US" smtClean="0"/>
              <a:t>2/17/2026</a:t>
            </a:fld>
            <a:endParaRPr lang="en-US"/>
          </a:p>
        </p:txBody>
      </p:sp>
      <p:sp>
        <p:nvSpPr>
          <p:cNvPr id="3" name="Footer Placeholder 2">
            <a:extLst>
              <a:ext uri="{FF2B5EF4-FFF2-40B4-BE49-F238E27FC236}">
                <a16:creationId xmlns:a16="http://schemas.microsoft.com/office/drawing/2014/main" id="{8E850C28-0333-DB63-82ED-A58FF8CCB30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4E5612-F29F-8556-06AC-2CFE79BC06C0}"/>
              </a:ext>
            </a:extLst>
          </p:cNvPr>
          <p:cNvSpPr>
            <a:spLocks noGrp="1"/>
          </p:cNvSpPr>
          <p:nvPr>
            <p:ph type="sldNum" sz="quarter" idx="12"/>
          </p:nvPr>
        </p:nvSpPr>
        <p:spPr/>
        <p:txBody>
          <a:bodyPr/>
          <a:lstStyle/>
          <a:p>
            <a:fld id="{D2BFD6BD-308D-477E-8B03-975EBE7B26C7}" type="slidenum">
              <a:rPr lang="en-US" smtClean="0"/>
              <a:t>‹#›</a:t>
            </a:fld>
            <a:endParaRPr lang="en-US"/>
          </a:p>
        </p:txBody>
      </p:sp>
    </p:spTree>
    <p:extLst>
      <p:ext uri="{BB962C8B-B14F-4D97-AF65-F5344CB8AC3E}">
        <p14:creationId xmlns:p14="http://schemas.microsoft.com/office/powerpoint/2010/main" val="186088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B1A60-AED4-8133-7158-D99E89DF2E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4D35A16-A8EE-1812-9DFB-6483DD5D57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EA84C1A-EA36-F380-826A-6991661274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086ECB-E76C-298B-B226-7DF692AA0703}"/>
              </a:ext>
            </a:extLst>
          </p:cNvPr>
          <p:cNvSpPr>
            <a:spLocks noGrp="1"/>
          </p:cNvSpPr>
          <p:nvPr>
            <p:ph type="dt" sz="half" idx="10"/>
          </p:nvPr>
        </p:nvSpPr>
        <p:spPr/>
        <p:txBody>
          <a:bodyPr/>
          <a:lstStyle/>
          <a:p>
            <a:fld id="{C993C767-9A2C-4780-9E8C-00E464E736C9}" type="datetimeFigureOut">
              <a:rPr lang="en-US" smtClean="0"/>
              <a:t>2/17/2026</a:t>
            </a:fld>
            <a:endParaRPr lang="en-US"/>
          </a:p>
        </p:txBody>
      </p:sp>
      <p:sp>
        <p:nvSpPr>
          <p:cNvPr id="6" name="Footer Placeholder 5">
            <a:extLst>
              <a:ext uri="{FF2B5EF4-FFF2-40B4-BE49-F238E27FC236}">
                <a16:creationId xmlns:a16="http://schemas.microsoft.com/office/drawing/2014/main" id="{AF0F5841-7DBA-3A20-9E5C-ABCA375EE2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7120CF-04EB-BA96-EAEF-6E975B267F6C}"/>
              </a:ext>
            </a:extLst>
          </p:cNvPr>
          <p:cNvSpPr>
            <a:spLocks noGrp="1"/>
          </p:cNvSpPr>
          <p:nvPr>
            <p:ph type="sldNum" sz="quarter" idx="12"/>
          </p:nvPr>
        </p:nvSpPr>
        <p:spPr/>
        <p:txBody>
          <a:bodyPr/>
          <a:lstStyle/>
          <a:p>
            <a:fld id="{D2BFD6BD-308D-477E-8B03-975EBE7B26C7}" type="slidenum">
              <a:rPr lang="en-US" smtClean="0"/>
              <a:t>‹#›</a:t>
            </a:fld>
            <a:endParaRPr lang="en-US"/>
          </a:p>
        </p:txBody>
      </p:sp>
    </p:spTree>
    <p:extLst>
      <p:ext uri="{BB962C8B-B14F-4D97-AF65-F5344CB8AC3E}">
        <p14:creationId xmlns:p14="http://schemas.microsoft.com/office/powerpoint/2010/main" val="1297592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7D75B-B826-203B-9C8B-195ADB80CE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A3C2E06-43F2-6139-D19F-AC497701DF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BE456D9-16BA-9217-7662-62E69DD901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1CDF9F-6151-7B22-2991-F93B04C60220}"/>
              </a:ext>
            </a:extLst>
          </p:cNvPr>
          <p:cNvSpPr>
            <a:spLocks noGrp="1"/>
          </p:cNvSpPr>
          <p:nvPr>
            <p:ph type="dt" sz="half" idx="10"/>
          </p:nvPr>
        </p:nvSpPr>
        <p:spPr/>
        <p:txBody>
          <a:bodyPr/>
          <a:lstStyle/>
          <a:p>
            <a:fld id="{C993C767-9A2C-4780-9E8C-00E464E736C9}" type="datetimeFigureOut">
              <a:rPr lang="en-US" smtClean="0"/>
              <a:t>2/17/2026</a:t>
            </a:fld>
            <a:endParaRPr lang="en-US"/>
          </a:p>
        </p:txBody>
      </p:sp>
      <p:sp>
        <p:nvSpPr>
          <p:cNvPr id="6" name="Footer Placeholder 5">
            <a:extLst>
              <a:ext uri="{FF2B5EF4-FFF2-40B4-BE49-F238E27FC236}">
                <a16:creationId xmlns:a16="http://schemas.microsoft.com/office/drawing/2014/main" id="{6351954E-30AF-2359-17C3-409C3374CF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632ADA-B2CC-076D-0D61-672F516EE49C}"/>
              </a:ext>
            </a:extLst>
          </p:cNvPr>
          <p:cNvSpPr>
            <a:spLocks noGrp="1"/>
          </p:cNvSpPr>
          <p:nvPr>
            <p:ph type="sldNum" sz="quarter" idx="12"/>
          </p:nvPr>
        </p:nvSpPr>
        <p:spPr/>
        <p:txBody>
          <a:bodyPr/>
          <a:lstStyle/>
          <a:p>
            <a:fld id="{D2BFD6BD-308D-477E-8B03-975EBE7B26C7}" type="slidenum">
              <a:rPr lang="en-US" smtClean="0"/>
              <a:t>‹#›</a:t>
            </a:fld>
            <a:endParaRPr lang="en-US"/>
          </a:p>
        </p:txBody>
      </p:sp>
    </p:spTree>
    <p:extLst>
      <p:ext uri="{BB962C8B-B14F-4D97-AF65-F5344CB8AC3E}">
        <p14:creationId xmlns:p14="http://schemas.microsoft.com/office/powerpoint/2010/main" val="3484469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577DC-A7A1-9B5B-B595-065BD11F0CA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5F8FA53-0DEC-558F-EE14-C91FE200D0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359227-C2E0-B4C1-3C9E-61C03731981B}"/>
              </a:ext>
            </a:extLst>
          </p:cNvPr>
          <p:cNvSpPr>
            <a:spLocks noGrp="1"/>
          </p:cNvSpPr>
          <p:nvPr>
            <p:ph type="dt" sz="half" idx="10"/>
          </p:nvPr>
        </p:nvSpPr>
        <p:spPr/>
        <p:txBody>
          <a:bodyPr/>
          <a:lstStyle/>
          <a:p>
            <a:fld id="{C993C767-9A2C-4780-9E8C-00E464E736C9}" type="datetimeFigureOut">
              <a:rPr lang="en-US" smtClean="0"/>
              <a:t>2/17/2026</a:t>
            </a:fld>
            <a:endParaRPr lang="en-US"/>
          </a:p>
        </p:txBody>
      </p:sp>
      <p:sp>
        <p:nvSpPr>
          <p:cNvPr id="5" name="Footer Placeholder 4">
            <a:extLst>
              <a:ext uri="{FF2B5EF4-FFF2-40B4-BE49-F238E27FC236}">
                <a16:creationId xmlns:a16="http://schemas.microsoft.com/office/drawing/2014/main" id="{28B74920-BE65-03B1-990A-832B0C5D04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40A833-5A94-F04B-8B88-AE5B08A7CD26}"/>
              </a:ext>
            </a:extLst>
          </p:cNvPr>
          <p:cNvSpPr>
            <a:spLocks noGrp="1"/>
          </p:cNvSpPr>
          <p:nvPr>
            <p:ph type="sldNum" sz="quarter" idx="12"/>
          </p:nvPr>
        </p:nvSpPr>
        <p:spPr/>
        <p:txBody>
          <a:bodyPr/>
          <a:lstStyle/>
          <a:p>
            <a:fld id="{D2BFD6BD-308D-477E-8B03-975EBE7B26C7}" type="slidenum">
              <a:rPr lang="en-US" smtClean="0"/>
              <a:t>‹#›</a:t>
            </a:fld>
            <a:endParaRPr lang="en-US"/>
          </a:p>
        </p:txBody>
      </p:sp>
    </p:spTree>
    <p:extLst>
      <p:ext uri="{BB962C8B-B14F-4D97-AF65-F5344CB8AC3E}">
        <p14:creationId xmlns:p14="http://schemas.microsoft.com/office/powerpoint/2010/main" val="1669498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923D67-96C0-24E2-FA44-7318AD9F804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FC32F54-6AA6-F445-609F-2AF102E22A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3CC952-30E4-BB91-9AB9-1EDFA12F1038}"/>
              </a:ext>
            </a:extLst>
          </p:cNvPr>
          <p:cNvSpPr>
            <a:spLocks noGrp="1"/>
          </p:cNvSpPr>
          <p:nvPr>
            <p:ph type="dt" sz="half" idx="10"/>
          </p:nvPr>
        </p:nvSpPr>
        <p:spPr/>
        <p:txBody>
          <a:bodyPr/>
          <a:lstStyle/>
          <a:p>
            <a:fld id="{C993C767-9A2C-4780-9E8C-00E464E736C9}" type="datetimeFigureOut">
              <a:rPr lang="en-US" smtClean="0"/>
              <a:t>2/17/2026</a:t>
            </a:fld>
            <a:endParaRPr lang="en-US"/>
          </a:p>
        </p:txBody>
      </p:sp>
      <p:sp>
        <p:nvSpPr>
          <p:cNvPr id="5" name="Footer Placeholder 4">
            <a:extLst>
              <a:ext uri="{FF2B5EF4-FFF2-40B4-BE49-F238E27FC236}">
                <a16:creationId xmlns:a16="http://schemas.microsoft.com/office/drawing/2014/main" id="{D6D90336-3761-0F1F-D0AB-0C6DC3B1C3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040E76-8BA3-B1DC-BCA4-BA3E2E67F5E2}"/>
              </a:ext>
            </a:extLst>
          </p:cNvPr>
          <p:cNvSpPr>
            <a:spLocks noGrp="1"/>
          </p:cNvSpPr>
          <p:nvPr>
            <p:ph type="sldNum" sz="quarter" idx="12"/>
          </p:nvPr>
        </p:nvSpPr>
        <p:spPr/>
        <p:txBody>
          <a:bodyPr/>
          <a:lstStyle/>
          <a:p>
            <a:fld id="{D2BFD6BD-308D-477E-8B03-975EBE7B26C7}" type="slidenum">
              <a:rPr lang="en-US" smtClean="0"/>
              <a:t>‹#›</a:t>
            </a:fld>
            <a:endParaRPr lang="en-US"/>
          </a:p>
        </p:txBody>
      </p:sp>
    </p:spTree>
    <p:extLst>
      <p:ext uri="{BB962C8B-B14F-4D97-AF65-F5344CB8AC3E}">
        <p14:creationId xmlns:p14="http://schemas.microsoft.com/office/powerpoint/2010/main" val="1134036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DBDA83-67BA-7563-5AD7-7826CF69A1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1E1C64E-E1F0-38D9-5B07-2877AC55CF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4A016E-34F6-C4C0-3A17-F3B7E09378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993C767-9A2C-4780-9E8C-00E464E736C9}" type="datetimeFigureOut">
              <a:rPr lang="en-US" smtClean="0"/>
              <a:t>2/17/2026</a:t>
            </a:fld>
            <a:endParaRPr lang="en-US"/>
          </a:p>
        </p:txBody>
      </p:sp>
      <p:sp>
        <p:nvSpPr>
          <p:cNvPr id="5" name="Footer Placeholder 4">
            <a:extLst>
              <a:ext uri="{FF2B5EF4-FFF2-40B4-BE49-F238E27FC236}">
                <a16:creationId xmlns:a16="http://schemas.microsoft.com/office/drawing/2014/main" id="{12C9024C-BD5B-6472-4ACD-8A91687038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82400BD-53F0-619F-BE05-5EC5FF902E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2BFD6BD-308D-477E-8B03-975EBE7B26C7}" type="slidenum">
              <a:rPr lang="en-US" smtClean="0"/>
              <a:t>‹#›</a:t>
            </a:fld>
            <a:endParaRPr lang="en-US"/>
          </a:p>
        </p:txBody>
      </p:sp>
    </p:spTree>
    <p:extLst>
      <p:ext uri="{BB962C8B-B14F-4D97-AF65-F5344CB8AC3E}">
        <p14:creationId xmlns:p14="http://schemas.microsoft.com/office/powerpoint/2010/main" val="32308936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geeksforgeeks.org/dbms/snowflake-schema-in-data-warehouse-model/" TargetMode="External"/><Relationship Id="rId2" Type="http://schemas.openxmlformats.org/officeDocument/2006/relationships/hyperlink" Target="https://www.geeksforgeeks.org/dbms/star-schema-in-data-warehouse-modeling/"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datacamp.com/courses/data-warehousing-concepts"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datacamp.com/tutorial/normalization-in-sql"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E133E-4B09-15A3-858F-97D9484FC6E8}"/>
              </a:ext>
            </a:extLst>
          </p:cNvPr>
          <p:cNvSpPr>
            <a:spLocks noGrp="1"/>
          </p:cNvSpPr>
          <p:nvPr>
            <p:ph type="ctrTitle"/>
          </p:nvPr>
        </p:nvSpPr>
        <p:spPr/>
        <p:txBody>
          <a:bodyPr/>
          <a:lstStyle/>
          <a:p>
            <a:r>
              <a:rPr lang="en-US" dirty="0"/>
              <a:t>Dimensional Modeling</a:t>
            </a:r>
          </a:p>
        </p:txBody>
      </p:sp>
    </p:spTree>
    <p:extLst>
      <p:ext uri="{BB962C8B-B14F-4D97-AF65-F5344CB8AC3E}">
        <p14:creationId xmlns:p14="http://schemas.microsoft.com/office/powerpoint/2010/main" val="561654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D6EA0-C6FE-CF1C-B99B-5CCBEA27170A}"/>
              </a:ext>
            </a:extLst>
          </p:cNvPr>
          <p:cNvSpPr>
            <a:spLocks noGrp="1"/>
          </p:cNvSpPr>
          <p:nvPr>
            <p:ph type="title"/>
          </p:nvPr>
        </p:nvSpPr>
        <p:spPr/>
        <p:txBody>
          <a:bodyPr/>
          <a:lstStyle/>
          <a:p>
            <a:r>
              <a:rPr lang="en-US" dirty="0"/>
              <a:t>Data Modelling </a:t>
            </a:r>
          </a:p>
        </p:txBody>
      </p:sp>
      <p:sp>
        <p:nvSpPr>
          <p:cNvPr id="3" name="Content Placeholder 2">
            <a:extLst>
              <a:ext uri="{FF2B5EF4-FFF2-40B4-BE49-F238E27FC236}">
                <a16:creationId xmlns:a16="http://schemas.microsoft.com/office/drawing/2014/main" id="{8F886E7C-D610-93EF-A163-7863C4F9F55C}"/>
              </a:ext>
            </a:extLst>
          </p:cNvPr>
          <p:cNvSpPr>
            <a:spLocks noGrp="1"/>
          </p:cNvSpPr>
          <p:nvPr>
            <p:ph idx="1"/>
          </p:nvPr>
        </p:nvSpPr>
        <p:spPr/>
        <p:txBody>
          <a:bodyPr/>
          <a:lstStyle/>
          <a:p>
            <a:endParaRPr lang="en-US" dirty="0"/>
          </a:p>
          <a:p>
            <a:endParaRPr lang="en-US" dirty="0"/>
          </a:p>
          <a:p>
            <a:endParaRPr lang="en-US" dirty="0"/>
          </a:p>
        </p:txBody>
      </p:sp>
    </p:spTree>
    <p:extLst>
      <p:ext uri="{BB962C8B-B14F-4D97-AF65-F5344CB8AC3E}">
        <p14:creationId xmlns:p14="http://schemas.microsoft.com/office/powerpoint/2010/main" val="554916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EE634-513F-4F06-AC7D-F0929139B365}"/>
              </a:ext>
            </a:extLst>
          </p:cNvPr>
          <p:cNvSpPr>
            <a:spLocks noGrp="1"/>
          </p:cNvSpPr>
          <p:nvPr>
            <p:ph type="title"/>
          </p:nvPr>
        </p:nvSpPr>
        <p:spPr>
          <a:xfrm>
            <a:off x="0" y="1"/>
            <a:ext cx="10515600" cy="838200"/>
          </a:xfrm>
        </p:spPr>
        <p:txBody>
          <a:bodyPr/>
          <a:lstStyle/>
          <a:p>
            <a:r>
              <a:rPr lang="en-US" dirty="0"/>
              <a:t>Data Modelling levels</a:t>
            </a:r>
          </a:p>
        </p:txBody>
      </p:sp>
      <p:sp>
        <p:nvSpPr>
          <p:cNvPr id="3" name="Content Placeholder 2">
            <a:extLst>
              <a:ext uri="{FF2B5EF4-FFF2-40B4-BE49-F238E27FC236}">
                <a16:creationId xmlns:a16="http://schemas.microsoft.com/office/drawing/2014/main" id="{080AC7C4-6415-F6F5-EDDD-D5C2441FDF8C}"/>
              </a:ext>
            </a:extLst>
          </p:cNvPr>
          <p:cNvSpPr>
            <a:spLocks noGrp="1"/>
          </p:cNvSpPr>
          <p:nvPr>
            <p:ph idx="1"/>
          </p:nvPr>
        </p:nvSpPr>
        <p:spPr>
          <a:xfrm>
            <a:off x="163285" y="926760"/>
            <a:ext cx="11919858" cy="4351338"/>
          </a:xfrm>
        </p:spPr>
        <p:txBody>
          <a:bodyPr/>
          <a:lstStyle/>
          <a:p>
            <a:r>
              <a:rPr lang="en-US" dirty="0"/>
              <a:t>These describe </a:t>
            </a:r>
            <a:r>
              <a:rPr lang="en-US" b="1" dirty="0"/>
              <a:t>how detailed your data model is</a:t>
            </a:r>
            <a:r>
              <a:rPr lang="en-US" dirty="0"/>
              <a:t>, from business idea to actual tables.</a:t>
            </a:r>
          </a:p>
          <a:p>
            <a:endParaRPr lang="en-US" dirty="0"/>
          </a:p>
          <a:p>
            <a:pPr marL="0" indent="0">
              <a:buNone/>
            </a:pPr>
            <a:r>
              <a:rPr lang="en-US" dirty="0"/>
              <a:t>🔹 Conceptual Data Model (CDM)</a:t>
            </a:r>
          </a:p>
          <a:p>
            <a:pPr marL="0" indent="0">
              <a:buNone/>
            </a:pPr>
            <a:r>
              <a:rPr lang="en-US" dirty="0"/>
              <a:t>🔹 Logical Data Model (LDM)</a:t>
            </a:r>
          </a:p>
          <a:p>
            <a:pPr marL="0" indent="0">
              <a:buNone/>
            </a:pPr>
            <a:r>
              <a:rPr lang="en-US" dirty="0"/>
              <a:t>🔹 Physical Data Model (PDM)</a:t>
            </a:r>
          </a:p>
        </p:txBody>
      </p:sp>
    </p:spTree>
    <p:extLst>
      <p:ext uri="{BB962C8B-B14F-4D97-AF65-F5344CB8AC3E}">
        <p14:creationId xmlns:p14="http://schemas.microsoft.com/office/powerpoint/2010/main" val="3429368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10046-ECE7-7833-5B84-8603B511D295}"/>
              </a:ext>
            </a:extLst>
          </p:cNvPr>
          <p:cNvSpPr>
            <a:spLocks noGrp="1"/>
          </p:cNvSpPr>
          <p:nvPr>
            <p:ph type="title"/>
          </p:nvPr>
        </p:nvSpPr>
        <p:spPr>
          <a:xfrm>
            <a:off x="0" y="18255"/>
            <a:ext cx="10515600" cy="662781"/>
          </a:xfrm>
        </p:spPr>
        <p:txBody>
          <a:bodyPr>
            <a:normAutofit fontScale="90000"/>
          </a:bodyPr>
          <a:lstStyle/>
          <a:p>
            <a:r>
              <a:rPr lang="en-US" dirty="0"/>
              <a:t>CDM</a:t>
            </a:r>
          </a:p>
        </p:txBody>
      </p:sp>
      <p:sp>
        <p:nvSpPr>
          <p:cNvPr id="3" name="Content Placeholder 2">
            <a:extLst>
              <a:ext uri="{FF2B5EF4-FFF2-40B4-BE49-F238E27FC236}">
                <a16:creationId xmlns:a16="http://schemas.microsoft.com/office/drawing/2014/main" id="{E0CE3638-B0E1-23B8-6400-03A96B794602}"/>
              </a:ext>
            </a:extLst>
          </p:cNvPr>
          <p:cNvSpPr>
            <a:spLocks noGrp="1"/>
          </p:cNvSpPr>
          <p:nvPr>
            <p:ph idx="1"/>
          </p:nvPr>
        </p:nvSpPr>
        <p:spPr>
          <a:xfrm>
            <a:off x="446314" y="1020082"/>
            <a:ext cx="10515600" cy="5696404"/>
          </a:xfrm>
        </p:spPr>
        <p:txBody>
          <a:bodyPr>
            <a:normAutofit lnSpcReduction="10000"/>
          </a:bodyPr>
          <a:lstStyle/>
          <a:p>
            <a:pPr marL="0" indent="0">
              <a:buNone/>
            </a:pPr>
            <a:r>
              <a:rPr lang="en-US" b="1" dirty="0"/>
              <a:t>Business view of data</a:t>
            </a:r>
            <a:endParaRPr lang="en-US" dirty="0"/>
          </a:p>
          <a:p>
            <a:r>
              <a:rPr lang="en-US" dirty="0"/>
              <a:t>High-level</a:t>
            </a:r>
          </a:p>
          <a:p>
            <a:r>
              <a:rPr lang="en-US" dirty="0"/>
              <a:t>No technical details</a:t>
            </a:r>
          </a:p>
          <a:p>
            <a:r>
              <a:rPr lang="en-US" dirty="0"/>
              <a:t>Focuses on </a:t>
            </a:r>
            <a:r>
              <a:rPr lang="en-US" b="1" dirty="0"/>
              <a:t>what</a:t>
            </a:r>
            <a:r>
              <a:rPr lang="en-US" dirty="0"/>
              <a:t> data exists, not how</a:t>
            </a:r>
          </a:p>
          <a:p>
            <a:pPr marL="0" indent="0">
              <a:buNone/>
            </a:pPr>
            <a:r>
              <a:rPr lang="en-US" b="1" dirty="0"/>
              <a:t>Characteristics</a:t>
            </a:r>
            <a:endParaRPr lang="en-US" dirty="0"/>
          </a:p>
          <a:p>
            <a:r>
              <a:rPr lang="en-US" dirty="0"/>
              <a:t>Entities</a:t>
            </a:r>
          </a:p>
          <a:p>
            <a:r>
              <a:rPr lang="en-US" dirty="0"/>
              <a:t>Relationships</a:t>
            </a:r>
          </a:p>
          <a:p>
            <a:r>
              <a:rPr lang="en-US" dirty="0"/>
              <a:t>No attributes, no data types</a:t>
            </a:r>
          </a:p>
          <a:p>
            <a:pPr marL="0" indent="0">
              <a:buNone/>
            </a:pPr>
            <a:r>
              <a:rPr lang="en-US" b="1" dirty="0"/>
              <a:t>Example</a:t>
            </a:r>
            <a:endParaRPr lang="en-US" dirty="0"/>
          </a:p>
          <a:p>
            <a:r>
              <a:rPr lang="en-US" dirty="0"/>
              <a:t>Customer ── places ── Order ── contains ── Product</a:t>
            </a:r>
          </a:p>
          <a:p>
            <a:pPr marL="0" indent="0">
              <a:buNone/>
            </a:pPr>
            <a:r>
              <a:rPr lang="en-US" b="1" dirty="0">
                <a:highlight>
                  <a:srgbClr val="FFFF00"/>
                </a:highlight>
              </a:rPr>
              <a:t>Used by: Business users, architects</a:t>
            </a:r>
            <a:br>
              <a:rPr lang="en-US" b="1" dirty="0">
                <a:highlight>
                  <a:srgbClr val="FFFF00"/>
                </a:highlight>
              </a:rPr>
            </a:br>
            <a:r>
              <a:rPr lang="en-US" b="1" dirty="0">
                <a:highlight>
                  <a:srgbClr val="FFFF00"/>
                </a:highlight>
              </a:rPr>
              <a:t>Answers: </a:t>
            </a:r>
            <a:r>
              <a:rPr lang="en-US" b="1" i="1" dirty="0">
                <a:highlight>
                  <a:srgbClr val="FFFF00"/>
                </a:highlight>
              </a:rPr>
              <a:t>What data do we care about?</a:t>
            </a:r>
            <a:endParaRPr lang="en-US" b="1" dirty="0">
              <a:highlight>
                <a:srgbClr val="FFFF00"/>
              </a:highlight>
            </a:endParaRPr>
          </a:p>
          <a:p>
            <a:pPr marL="0" indent="0">
              <a:buNone/>
            </a:pPr>
            <a:endParaRPr lang="en-US" dirty="0"/>
          </a:p>
        </p:txBody>
      </p:sp>
    </p:spTree>
    <p:extLst>
      <p:ext uri="{BB962C8B-B14F-4D97-AF65-F5344CB8AC3E}">
        <p14:creationId xmlns:p14="http://schemas.microsoft.com/office/powerpoint/2010/main" val="1269193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9668E-E017-9ED7-3EC8-39C7CED75200}"/>
              </a:ext>
            </a:extLst>
          </p:cNvPr>
          <p:cNvSpPr>
            <a:spLocks noGrp="1"/>
          </p:cNvSpPr>
          <p:nvPr>
            <p:ph type="title"/>
          </p:nvPr>
        </p:nvSpPr>
        <p:spPr>
          <a:xfrm>
            <a:off x="0" y="18256"/>
            <a:ext cx="10515600" cy="460716"/>
          </a:xfrm>
        </p:spPr>
        <p:txBody>
          <a:bodyPr>
            <a:normAutofit fontScale="90000"/>
          </a:bodyPr>
          <a:lstStyle/>
          <a:p>
            <a:r>
              <a:rPr lang="en-US" dirty="0"/>
              <a:t>🔹 Logical Data Model (LDM)</a:t>
            </a:r>
          </a:p>
        </p:txBody>
      </p:sp>
      <p:sp>
        <p:nvSpPr>
          <p:cNvPr id="3" name="Content Placeholder 2">
            <a:extLst>
              <a:ext uri="{FF2B5EF4-FFF2-40B4-BE49-F238E27FC236}">
                <a16:creationId xmlns:a16="http://schemas.microsoft.com/office/drawing/2014/main" id="{D13E4146-6107-2E8D-B96D-A6E784078656}"/>
              </a:ext>
            </a:extLst>
          </p:cNvPr>
          <p:cNvSpPr>
            <a:spLocks noGrp="1"/>
          </p:cNvSpPr>
          <p:nvPr>
            <p:ph idx="1"/>
          </p:nvPr>
        </p:nvSpPr>
        <p:spPr>
          <a:xfrm>
            <a:off x="250372" y="1074511"/>
            <a:ext cx="10515600" cy="5533118"/>
          </a:xfrm>
        </p:spPr>
        <p:txBody>
          <a:bodyPr>
            <a:normAutofit fontScale="85000" lnSpcReduction="20000"/>
          </a:bodyPr>
          <a:lstStyle/>
          <a:p>
            <a:pPr marL="0" indent="0">
              <a:buNone/>
            </a:pPr>
            <a:r>
              <a:rPr lang="en-US" b="1" dirty="0"/>
              <a:t>Detailed structure, still DB-agnostic</a:t>
            </a:r>
            <a:endParaRPr lang="en-US" dirty="0"/>
          </a:p>
          <a:p>
            <a:r>
              <a:rPr lang="en-US" dirty="0"/>
              <a:t>Adds attributes</a:t>
            </a:r>
          </a:p>
          <a:p>
            <a:r>
              <a:rPr lang="en-US" dirty="0"/>
              <a:t>Defines primary &amp; foreign keys</a:t>
            </a:r>
          </a:p>
          <a:p>
            <a:r>
              <a:rPr lang="en-US" dirty="0"/>
              <a:t>Normalized (3NF)</a:t>
            </a:r>
          </a:p>
          <a:p>
            <a:pPr marL="0" indent="0">
              <a:buNone/>
            </a:pPr>
            <a:r>
              <a:rPr lang="en-US" b="1" dirty="0"/>
              <a:t>Characteristics</a:t>
            </a:r>
            <a:endParaRPr lang="en-US" dirty="0"/>
          </a:p>
          <a:p>
            <a:r>
              <a:rPr lang="en-US" dirty="0"/>
              <a:t>Entity attributes</a:t>
            </a:r>
          </a:p>
          <a:p>
            <a:r>
              <a:rPr lang="en-US" dirty="0"/>
              <a:t>Relationships</a:t>
            </a:r>
          </a:p>
          <a:p>
            <a:r>
              <a:rPr lang="en-US" dirty="0"/>
              <a:t>No database-specific types</a:t>
            </a:r>
          </a:p>
          <a:p>
            <a:pPr marL="0" indent="0">
              <a:buNone/>
            </a:pPr>
            <a:r>
              <a:rPr lang="en-US" b="1" dirty="0"/>
              <a:t>Example</a:t>
            </a:r>
            <a:endParaRPr lang="en-US" dirty="0"/>
          </a:p>
          <a:p>
            <a:r>
              <a:rPr lang="en-US" dirty="0"/>
              <a:t>Customer (</a:t>
            </a:r>
            <a:r>
              <a:rPr lang="en-US" dirty="0" err="1"/>
              <a:t>Customer_ID</a:t>
            </a:r>
            <a:r>
              <a:rPr lang="en-US" dirty="0"/>
              <a:t>, Name, Email)</a:t>
            </a:r>
          </a:p>
          <a:p>
            <a:r>
              <a:rPr lang="en-US" dirty="0"/>
              <a:t>Order    (</a:t>
            </a:r>
            <a:r>
              <a:rPr lang="en-US" dirty="0" err="1"/>
              <a:t>Order_ID</a:t>
            </a:r>
            <a:r>
              <a:rPr lang="en-US" dirty="0"/>
              <a:t>, </a:t>
            </a:r>
            <a:r>
              <a:rPr lang="en-US" dirty="0" err="1"/>
              <a:t>Order_Date</a:t>
            </a:r>
            <a:r>
              <a:rPr lang="en-US" dirty="0"/>
              <a:t>, </a:t>
            </a:r>
            <a:r>
              <a:rPr lang="en-US" dirty="0" err="1"/>
              <a:t>Customer_ID</a:t>
            </a:r>
            <a:r>
              <a:rPr lang="en-US" dirty="0"/>
              <a:t>)</a:t>
            </a:r>
          </a:p>
          <a:p>
            <a:r>
              <a:rPr lang="en-US" dirty="0"/>
              <a:t>Product  (</a:t>
            </a:r>
            <a:r>
              <a:rPr lang="en-US" dirty="0" err="1"/>
              <a:t>Product_ID</a:t>
            </a:r>
            <a:r>
              <a:rPr lang="en-US" dirty="0"/>
              <a:t>, </a:t>
            </a:r>
            <a:r>
              <a:rPr lang="en-US" dirty="0" err="1"/>
              <a:t>Product_Name</a:t>
            </a:r>
            <a:r>
              <a:rPr lang="en-US" dirty="0"/>
              <a:t>, Price)</a:t>
            </a:r>
          </a:p>
          <a:p>
            <a:pPr marL="0" indent="0">
              <a:buNone/>
            </a:pPr>
            <a:r>
              <a:rPr lang="en-US" dirty="0"/>
              <a:t> </a:t>
            </a:r>
            <a:r>
              <a:rPr lang="en-US" b="1" dirty="0">
                <a:highlight>
                  <a:srgbClr val="FFFF00"/>
                </a:highlight>
              </a:rPr>
              <a:t>Used by: Data architects</a:t>
            </a:r>
            <a:br>
              <a:rPr lang="en-US" b="1" dirty="0">
                <a:highlight>
                  <a:srgbClr val="FFFF00"/>
                </a:highlight>
              </a:rPr>
            </a:br>
            <a:r>
              <a:rPr lang="en-US" b="1" dirty="0">
                <a:highlight>
                  <a:srgbClr val="FFFF00"/>
                </a:highlight>
              </a:rPr>
              <a:t> Answers: </a:t>
            </a:r>
            <a:r>
              <a:rPr lang="en-US" b="1" i="1" dirty="0">
                <a:highlight>
                  <a:srgbClr val="FFFF00"/>
                </a:highlight>
              </a:rPr>
              <a:t>How is data logically structured?</a:t>
            </a:r>
            <a:endParaRPr lang="en-US" b="1" dirty="0">
              <a:highlight>
                <a:srgbClr val="FFFF00"/>
              </a:highlight>
            </a:endParaRPr>
          </a:p>
          <a:p>
            <a:endParaRPr lang="en-US" dirty="0"/>
          </a:p>
        </p:txBody>
      </p:sp>
    </p:spTree>
    <p:extLst>
      <p:ext uri="{BB962C8B-B14F-4D97-AF65-F5344CB8AC3E}">
        <p14:creationId xmlns:p14="http://schemas.microsoft.com/office/powerpoint/2010/main" val="1578094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827C7-2E45-C779-25AD-DD2DE78B2B3B}"/>
              </a:ext>
            </a:extLst>
          </p:cNvPr>
          <p:cNvSpPr>
            <a:spLocks noGrp="1"/>
          </p:cNvSpPr>
          <p:nvPr>
            <p:ph type="title"/>
          </p:nvPr>
        </p:nvSpPr>
        <p:spPr>
          <a:xfrm>
            <a:off x="0" y="1"/>
            <a:ext cx="10515600" cy="457200"/>
          </a:xfrm>
        </p:spPr>
        <p:txBody>
          <a:bodyPr>
            <a:normAutofit fontScale="90000"/>
          </a:bodyPr>
          <a:lstStyle/>
          <a:p>
            <a:r>
              <a:rPr lang="en-US" dirty="0"/>
              <a:t>🔹 Physical Data Model (PDM)</a:t>
            </a:r>
          </a:p>
        </p:txBody>
      </p:sp>
      <p:sp>
        <p:nvSpPr>
          <p:cNvPr id="3" name="Content Placeholder 2">
            <a:extLst>
              <a:ext uri="{FF2B5EF4-FFF2-40B4-BE49-F238E27FC236}">
                <a16:creationId xmlns:a16="http://schemas.microsoft.com/office/drawing/2014/main" id="{CAF009FD-9379-8C51-7B53-D1285655E3D6}"/>
              </a:ext>
            </a:extLst>
          </p:cNvPr>
          <p:cNvSpPr>
            <a:spLocks noGrp="1"/>
          </p:cNvSpPr>
          <p:nvPr>
            <p:ph idx="1"/>
          </p:nvPr>
        </p:nvSpPr>
        <p:spPr>
          <a:xfrm>
            <a:off x="348343" y="998310"/>
            <a:ext cx="10515600" cy="5239204"/>
          </a:xfrm>
        </p:spPr>
        <p:txBody>
          <a:bodyPr>
            <a:normAutofit/>
          </a:bodyPr>
          <a:lstStyle/>
          <a:p>
            <a:pPr marL="0" indent="0">
              <a:buNone/>
            </a:pPr>
            <a:r>
              <a:rPr lang="en-US" b="1" dirty="0"/>
              <a:t>Implementation in a specific database</a:t>
            </a:r>
            <a:endParaRPr lang="en-US" dirty="0"/>
          </a:p>
          <a:p>
            <a:r>
              <a:rPr lang="en-US" dirty="0"/>
              <a:t>Tables, columns</a:t>
            </a:r>
          </a:p>
          <a:p>
            <a:r>
              <a:rPr lang="en-US" dirty="0"/>
              <a:t>Data types</a:t>
            </a:r>
          </a:p>
          <a:p>
            <a:r>
              <a:rPr lang="en-US" dirty="0"/>
              <a:t>Indexes, partitions</a:t>
            </a:r>
          </a:p>
          <a:p>
            <a:pPr marL="0" indent="0">
              <a:buNone/>
            </a:pPr>
            <a:r>
              <a:rPr lang="en-US" b="1" dirty="0"/>
              <a:t>Example (MySQL)</a:t>
            </a:r>
            <a:endParaRPr lang="en-US" dirty="0"/>
          </a:p>
          <a:p>
            <a:r>
              <a:rPr lang="en-US" dirty="0" err="1"/>
              <a:t>customer_id</a:t>
            </a:r>
            <a:r>
              <a:rPr lang="en-US" dirty="0"/>
              <a:t> INT PRIMARY KEY,</a:t>
            </a:r>
          </a:p>
          <a:p>
            <a:r>
              <a:rPr lang="en-US" dirty="0"/>
              <a:t>email VARCHAR(100),</a:t>
            </a:r>
          </a:p>
          <a:p>
            <a:r>
              <a:rPr lang="en-US" dirty="0" err="1"/>
              <a:t>created_at</a:t>
            </a:r>
            <a:r>
              <a:rPr lang="en-US" dirty="0"/>
              <a:t> TIMESTAMP</a:t>
            </a:r>
          </a:p>
          <a:p>
            <a:pPr marL="0" indent="0">
              <a:buNone/>
            </a:pPr>
            <a:r>
              <a:rPr lang="en-US" b="1" dirty="0">
                <a:highlight>
                  <a:srgbClr val="FFFF00"/>
                </a:highlight>
              </a:rPr>
              <a:t>Used by: DBAs, engineers</a:t>
            </a:r>
            <a:br>
              <a:rPr lang="en-US" b="1" dirty="0">
                <a:highlight>
                  <a:srgbClr val="FFFF00"/>
                </a:highlight>
              </a:rPr>
            </a:br>
            <a:r>
              <a:rPr lang="en-US" b="1" dirty="0">
                <a:highlight>
                  <a:srgbClr val="FFFF00"/>
                </a:highlight>
              </a:rPr>
              <a:t>Answers: </a:t>
            </a:r>
            <a:r>
              <a:rPr lang="en-US" b="1" i="1" dirty="0">
                <a:highlight>
                  <a:srgbClr val="FFFF00"/>
                </a:highlight>
              </a:rPr>
              <a:t>How is data stored physically?</a:t>
            </a:r>
            <a:endParaRPr lang="en-US" b="1" dirty="0">
              <a:highlight>
                <a:srgbClr val="FFFF00"/>
              </a:highlight>
            </a:endParaRPr>
          </a:p>
          <a:p>
            <a:pPr marL="0" indent="0">
              <a:buNone/>
            </a:pPr>
            <a:endParaRPr lang="en-US" dirty="0"/>
          </a:p>
        </p:txBody>
      </p:sp>
    </p:spTree>
    <p:extLst>
      <p:ext uri="{BB962C8B-B14F-4D97-AF65-F5344CB8AC3E}">
        <p14:creationId xmlns:p14="http://schemas.microsoft.com/office/powerpoint/2010/main" val="1112244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16D895-DB11-C4BB-1D8A-0496B69426EF}"/>
              </a:ext>
            </a:extLst>
          </p:cNvPr>
          <p:cNvSpPr>
            <a:spLocks noGrp="1"/>
          </p:cNvSpPr>
          <p:nvPr>
            <p:ph idx="1"/>
          </p:nvPr>
        </p:nvSpPr>
        <p:spPr>
          <a:xfrm>
            <a:off x="0" y="83911"/>
            <a:ext cx="10515600" cy="6643460"/>
          </a:xfrm>
        </p:spPr>
        <p:txBody>
          <a:bodyPr>
            <a:normAutofit/>
          </a:bodyPr>
          <a:lstStyle/>
          <a:p>
            <a:r>
              <a:rPr lang="en-US" dirty="0"/>
              <a:t>Analytics-focused modeling technique (Kimball)</a:t>
            </a:r>
          </a:p>
          <a:p>
            <a:endParaRPr lang="en-US" dirty="0"/>
          </a:p>
          <a:p>
            <a:pPr marL="0" indent="0">
              <a:buNone/>
            </a:pPr>
            <a:r>
              <a:rPr lang="en-US" b="1" dirty="0"/>
              <a:t>Goal</a:t>
            </a:r>
            <a:endParaRPr lang="en-US" dirty="0"/>
          </a:p>
          <a:p>
            <a:r>
              <a:rPr lang="en-US" dirty="0"/>
              <a:t>Fast querying</a:t>
            </a:r>
          </a:p>
          <a:p>
            <a:r>
              <a:rPr lang="en-US" dirty="0"/>
              <a:t>Easy to understand</a:t>
            </a:r>
          </a:p>
          <a:p>
            <a:r>
              <a:rPr lang="en-US" dirty="0"/>
              <a:t>Optimized for BI</a:t>
            </a:r>
          </a:p>
          <a:p>
            <a:endParaRPr lang="en-US" dirty="0"/>
          </a:p>
          <a:p>
            <a:pPr marL="0" indent="0">
              <a:buNone/>
            </a:pPr>
            <a:r>
              <a:rPr lang="en-US" b="1" dirty="0"/>
              <a:t>Core Components</a:t>
            </a:r>
            <a:endParaRPr lang="en-US" dirty="0"/>
          </a:p>
          <a:p>
            <a:r>
              <a:rPr lang="en-US" dirty="0"/>
              <a:t>Fact tables</a:t>
            </a:r>
          </a:p>
          <a:p>
            <a:r>
              <a:rPr lang="en-US" dirty="0"/>
              <a:t>Dimension tables</a:t>
            </a:r>
          </a:p>
          <a:p>
            <a:pPr marL="0" indent="0">
              <a:buNone/>
            </a:pPr>
            <a:r>
              <a:rPr lang="en-US" dirty="0"/>
              <a:t>Used in data warehouses &amp; </a:t>
            </a:r>
            <a:r>
              <a:rPr lang="en-US" dirty="0" err="1"/>
              <a:t>lakehouses</a:t>
            </a:r>
            <a:br>
              <a:rPr lang="en-US" dirty="0"/>
            </a:br>
            <a:r>
              <a:rPr lang="en-US" dirty="0"/>
              <a:t>Optimized for </a:t>
            </a:r>
            <a:r>
              <a:rPr lang="en-US" b="1" dirty="0"/>
              <a:t>read-heavy workloads</a:t>
            </a:r>
            <a:endParaRPr lang="en-US" dirty="0"/>
          </a:p>
          <a:p>
            <a:endParaRPr lang="en-US" dirty="0"/>
          </a:p>
        </p:txBody>
      </p:sp>
    </p:spTree>
    <p:extLst>
      <p:ext uri="{BB962C8B-B14F-4D97-AF65-F5344CB8AC3E}">
        <p14:creationId xmlns:p14="http://schemas.microsoft.com/office/powerpoint/2010/main" val="729187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2EE99-CADF-819F-7DB3-B266070AE577}"/>
              </a:ext>
            </a:extLst>
          </p:cNvPr>
          <p:cNvSpPr>
            <a:spLocks noGrp="1"/>
          </p:cNvSpPr>
          <p:nvPr>
            <p:ph type="title"/>
          </p:nvPr>
        </p:nvSpPr>
        <p:spPr>
          <a:xfrm>
            <a:off x="0" y="18255"/>
            <a:ext cx="10515600" cy="1325563"/>
          </a:xfrm>
        </p:spPr>
        <p:txBody>
          <a:bodyPr/>
          <a:lstStyle/>
          <a:p>
            <a:r>
              <a:rPr lang="en-US" b="1" dirty="0"/>
              <a:t>Steps to Create Dimensional Data Modeling</a:t>
            </a:r>
            <a:br>
              <a:rPr lang="en-US" b="1" dirty="0"/>
            </a:br>
            <a:endParaRPr lang="en-US" dirty="0"/>
          </a:p>
        </p:txBody>
      </p:sp>
      <p:sp>
        <p:nvSpPr>
          <p:cNvPr id="3" name="Content Placeholder 2">
            <a:extLst>
              <a:ext uri="{FF2B5EF4-FFF2-40B4-BE49-F238E27FC236}">
                <a16:creationId xmlns:a16="http://schemas.microsoft.com/office/drawing/2014/main" id="{02538B74-7423-CB49-8A88-780FB232565E}"/>
              </a:ext>
            </a:extLst>
          </p:cNvPr>
          <p:cNvSpPr>
            <a:spLocks noGrp="1"/>
          </p:cNvSpPr>
          <p:nvPr>
            <p:ph idx="1"/>
          </p:nvPr>
        </p:nvSpPr>
        <p:spPr>
          <a:xfrm>
            <a:off x="-1" y="1253331"/>
            <a:ext cx="12300857" cy="5484926"/>
          </a:xfrm>
        </p:spPr>
        <p:txBody>
          <a:bodyPr>
            <a:normAutofit fontScale="77500" lnSpcReduction="20000"/>
          </a:bodyPr>
          <a:lstStyle/>
          <a:p>
            <a:pPr fontAlgn="base"/>
            <a:r>
              <a:rPr lang="en-US" b="1" dirty="0"/>
              <a:t>Step-1: Identifying the business objective: </a:t>
            </a:r>
            <a:r>
              <a:rPr lang="en-US" dirty="0"/>
              <a:t>The first step is to identify the business objective. Sales, HR, Marketing, etc. are some examples of the need of the organization. Since it is the most important step of Data Modelling the selection of business objectives also depends on the quality of data available for that process. </a:t>
            </a:r>
            <a:br>
              <a:rPr lang="en-US" dirty="0"/>
            </a:br>
            <a:r>
              <a:rPr lang="en-US" dirty="0"/>
              <a:t> </a:t>
            </a:r>
          </a:p>
          <a:p>
            <a:pPr fontAlgn="base"/>
            <a:r>
              <a:rPr lang="en-US" b="1" dirty="0"/>
              <a:t>Step-2: Identifying Granularity: </a:t>
            </a:r>
            <a:r>
              <a:rPr lang="en-US" dirty="0"/>
              <a:t>Granularity is the lowest level of information stored in the table. The level of detail for business problems and its solution is described by Grain. </a:t>
            </a:r>
            <a:br>
              <a:rPr lang="en-US" dirty="0"/>
            </a:br>
            <a:r>
              <a:rPr lang="en-US" dirty="0"/>
              <a:t> </a:t>
            </a:r>
          </a:p>
          <a:p>
            <a:pPr fontAlgn="base"/>
            <a:r>
              <a:rPr lang="en-US" b="1" dirty="0"/>
              <a:t>Step-3: Identifying Dimensions and their Attributes: </a:t>
            </a:r>
            <a:r>
              <a:rPr lang="en-US" dirty="0"/>
              <a:t>Dimensions are objects or things. Dimensions categorize and describe data warehouse facts and measures in a way that supports meaningful answers to business questions. A data warehouse organizes descriptive attributes as columns in dimension tables. For Example, the data dimension may contain data like a year, month, and weekday. </a:t>
            </a:r>
            <a:br>
              <a:rPr lang="en-US" dirty="0"/>
            </a:br>
            <a:r>
              <a:rPr lang="en-US" dirty="0"/>
              <a:t> </a:t>
            </a:r>
          </a:p>
          <a:p>
            <a:pPr fontAlgn="base"/>
            <a:r>
              <a:rPr lang="en-US" b="1" dirty="0"/>
              <a:t>Step-4: Identifying the Fact: </a:t>
            </a:r>
            <a:r>
              <a:rPr lang="en-US" dirty="0"/>
              <a:t>The measurable data is held by the fact table. Most of the fact table rows are numerical values like price or cost per unit, etc. </a:t>
            </a:r>
            <a:br>
              <a:rPr lang="en-US" dirty="0"/>
            </a:br>
            <a:r>
              <a:rPr lang="en-US" dirty="0"/>
              <a:t> </a:t>
            </a:r>
          </a:p>
          <a:p>
            <a:pPr fontAlgn="base"/>
            <a:r>
              <a:rPr lang="en-US" b="1" dirty="0"/>
              <a:t>Step-5: Building of Schema: </a:t>
            </a:r>
            <a:r>
              <a:rPr lang="en-US" dirty="0"/>
              <a:t>We implement the Dimension Model in this step. A schema is a database structure. There are two popular schemes: </a:t>
            </a:r>
            <a:r>
              <a:rPr lang="en-US" u="sng" dirty="0">
                <a:hlinkClick r:id="rId2"/>
              </a:rPr>
              <a:t>Star Schema</a:t>
            </a:r>
            <a:r>
              <a:rPr lang="en-US" dirty="0"/>
              <a:t> and </a:t>
            </a:r>
            <a:r>
              <a:rPr lang="en-US" u="sng" dirty="0">
                <a:hlinkClick r:id="rId3"/>
              </a:rPr>
              <a:t>Snowflake Schema</a:t>
            </a:r>
            <a:r>
              <a:rPr lang="en-US" dirty="0"/>
              <a:t>. </a:t>
            </a:r>
          </a:p>
          <a:p>
            <a:endParaRPr lang="en-US" dirty="0"/>
          </a:p>
        </p:txBody>
      </p:sp>
    </p:spTree>
    <p:extLst>
      <p:ext uri="{BB962C8B-B14F-4D97-AF65-F5344CB8AC3E}">
        <p14:creationId xmlns:p14="http://schemas.microsoft.com/office/powerpoint/2010/main" val="2375510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Isosceles Triangle 20">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E886B753-B954-8512-41B6-8AFA964CBB7E}"/>
              </a:ext>
            </a:extLst>
          </p:cNvPr>
          <p:cNvPicPr>
            <a:picLocks noChangeAspect="1"/>
          </p:cNvPicPr>
          <p:nvPr/>
        </p:nvPicPr>
        <p:blipFill>
          <a:blip r:embed="rId2"/>
          <a:stretch>
            <a:fillRect/>
          </a:stretch>
        </p:blipFill>
        <p:spPr>
          <a:xfrm>
            <a:off x="2808515" y="-206829"/>
            <a:ext cx="5411454" cy="7064829"/>
          </a:xfrm>
          <a:prstGeom prst="rect">
            <a:avLst/>
          </a:prstGeom>
          <a:ln>
            <a:noFill/>
          </a:ln>
        </p:spPr>
      </p:pic>
      <p:sp>
        <p:nvSpPr>
          <p:cNvPr id="23" name="Isosceles Triangle 22">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utoShape 2" descr="Dimensional Data Modeling Steps">
            <a:extLst>
              <a:ext uri="{FF2B5EF4-FFF2-40B4-BE49-F238E27FC236}">
                <a16:creationId xmlns:a16="http://schemas.microsoft.com/office/drawing/2014/main" id="{97A83D39-768D-F3AA-1A26-E2A7FB62196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188281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97936-3D01-EE07-4A61-75B6964C4F26}"/>
              </a:ext>
            </a:extLst>
          </p:cNvPr>
          <p:cNvSpPr>
            <a:spLocks noGrp="1"/>
          </p:cNvSpPr>
          <p:nvPr>
            <p:ph type="title"/>
          </p:nvPr>
        </p:nvSpPr>
        <p:spPr>
          <a:xfrm>
            <a:off x="0" y="18255"/>
            <a:ext cx="10515600" cy="743745"/>
          </a:xfrm>
        </p:spPr>
        <p:txBody>
          <a:bodyPr/>
          <a:lstStyle/>
          <a:p>
            <a:r>
              <a:rPr lang="en-US" dirty="0"/>
              <a:t>Dimensional Data Modelling Approaches</a:t>
            </a:r>
          </a:p>
        </p:txBody>
      </p:sp>
      <p:sp>
        <p:nvSpPr>
          <p:cNvPr id="3" name="Content Placeholder 2">
            <a:extLst>
              <a:ext uri="{FF2B5EF4-FFF2-40B4-BE49-F238E27FC236}">
                <a16:creationId xmlns:a16="http://schemas.microsoft.com/office/drawing/2014/main" id="{99924028-5974-65C9-5A19-9718DB1C37C1}"/>
              </a:ext>
            </a:extLst>
          </p:cNvPr>
          <p:cNvSpPr>
            <a:spLocks noGrp="1"/>
          </p:cNvSpPr>
          <p:nvPr>
            <p:ph idx="1"/>
          </p:nvPr>
        </p:nvSpPr>
        <p:spPr/>
        <p:txBody>
          <a:bodyPr/>
          <a:lstStyle/>
          <a:p>
            <a:r>
              <a:rPr lang="en-US" dirty="0"/>
              <a:t>Star Schema </a:t>
            </a:r>
          </a:p>
          <a:p>
            <a:r>
              <a:rPr lang="en-US" dirty="0"/>
              <a:t>Snowflake Schema ❄️</a:t>
            </a:r>
          </a:p>
        </p:txBody>
      </p:sp>
    </p:spTree>
    <p:extLst>
      <p:ext uri="{BB962C8B-B14F-4D97-AF65-F5344CB8AC3E}">
        <p14:creationId xmlns:p14="http://schemas.microsoft.com/office/powerpoint/2010/main" val="3982615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438B6-B342-0619-302D-C2707CCA3D5E}"/>
              </a:ext>
            </a:extLst>
          </p:cNvPr>
          <p:cNvSpPr>
            <a:spLocks noGrp="1"/>
          </p:cNvSpPr>
          <p:nvPr>
            <p:ph type="title"/>
          </p:nvPr>
        </p:nvSpPr>
        <p:spPr>
          <a:xfrm>
            <a:off x="0" y="18255"/>
            <a:ext cx="10515600" cy="1325563"/>
          </a:xfrm>
        </p:spPr>
        <p:txBody>
          <a:bodyPr/>
          <a:lstStyle/>
          <a:p>
            <a:r>
              <a:rPr lang="en-US" b="1" dirty="0"/>
              <a:t>What is a Star Schema?</a:t>
            </a:r>
            <a:br>
              <a:rPr lang="en-US" b="1" dirty="0"/>
            </a:br>
            <a:endParaRPr lang="en-US" dirty="0"/>
          </a:p>
        </p:txBody>
      </p:sp>
      <p:sp>
        <p:nvSpPr>
          <p:cNvPr id="3" name="Content Placeholder 2">
            <a:extLst>
              <a:ext uri="{FF2B5EF4-FFF2-40B4-BE49-F238E27FC236}">
                <a16:creationId xmlns:a16="http://schemas.microsoft.com/office/drawing/2014/main" id="{5F575BFF-3FAB-7A09-2C63-A1545E439E79}"/>
              </a:ext>
            </a:extLst>
          </p:cNvPr>
          <p:cNvSpPr>
            <a:spLocks noGrp="1"/>
          </p:cNvSpPr>
          <p:nvPr>
            <p:ph idx="1"/>
          </p:nvPr>
        </p:nvSpPr>
        <p:spPr>
          <a:xfrm>
            <a:off x="0" y="962818"/>
            <a:ext cx="4880278" cy="5579496"/>
          </a:xfrm>
        </p:spPr>
        <p:txBody>
          <a:bodyPr>
            <a:normAutofit fontScale="92500" lnSpcReduction="10000"/>
          </a:bodyPr>
          <a:lstStyle/>
          <a:p>
            <a:r>
              <a:rPr lang="en-US" dirty="0"/>
              <a:t>A star schema is a way to organize data in a database, especially in </a:t>
            </a:r>
            <a:r>
              <a:rPr lang="en-US" b="1" dirty="0">
                <a:hlinkClick r:id="rId2"/>
              </a:rPr>
              <a:t>data warehouses</a:t>
            </a:r>
            <a:r>
              <a:rPr lang="en-US" dirty="0"/>
              <a:t>, to make it easier and faster to analyze. </a:t>
            </a:r>
          </a:p>
          <a:p>
            <a:r>
              <a:rPr lang="en-US" dirty="0"/>
              <a:t>At the center, there's a main table called the </a:t>
            </a:r>
            <a:r>
              <a:rPr lang="en-US" b="1" dirty="0"/>
              <a:t>fact table</a:t>
            </a:r>
            <a:r>
              <a:rPr lang="en-US" dirty="0"/>
              <a:t>, which holds measurable data like sales or revenue. </a:t>
            </a:r>
          </a:p>
          <a:p>
            <a:r>
              <a:rPr lang="en-US" dirty="0"/>
              <a:t>Around it are </a:t>
            </a:r>
            <a:r>
              <a:rPr lang="en-US" b="1" dirty="0"/>
              <a:t>dimension tables</a:t>
            </a:r>
            <a:r>
              <a:rPr lang="en-US" dirty="0"/>
              <a:t>, which add details like product names, customer info, or dates. </a:t>
            </a:r>
          </a:p>
          <a:p>
            <a:r>
              <a:rPr lang="en-US" dirty="0"/>
              <a:t>This layout forms a star-like shape.</a:t>
            </a:r>
          </a:p>
        </p:txBody>
      </p:sp>
      <p:sp>
        <p:nvSpPr>
          <p:cNvPr id="4" name="AutoShape 2" descr="Star schema layout.">
            <a:extLst>
              <a:ext uri="{FF2B5EF4-FFF2-40B4-BE49-F238E27FC236}">
                <a16:creationId xmlns:a16="http://schemas.microsoft.com/office/drawing/2014/main" id="{991A362D-F2AE-CAFF-AD8D-6E6BFD5324F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76BA83F3-920B-9151-F781-41FFF9AAAD4D}"/>
              </a:ext>
            </a:extLst>
          </p:cNvPr>
          <p:cNvPicPr>
            <a:picLocks noChangeAspect="1"/>
          </p:cNvPicPr>
          <p:nvPr/>
        </p:nvPicPr>
        <p:blipFill>
          <a:blip r:embed="rId3"/>
          <a:stretch>
            <a:fillRect/>
          </a:stretch>
        </p:blipFill>
        <p:spPr>
          <a:xfrm>
            <a:off x="5050971" y="565947"/>
            <a:ext cx="6527951" cy="5976367"/>
          </a:xfrm>
          <a:prstGeom prst="rect">
            <a:avLst/>
          </a:prstGeom>
        </p:spPr>
      </p:pic>
    </p:spTree>
    <p:extLst>
      <p:ext uri="{BB962C8B-B14F-4D97-AF65-F5344CB8AC3E}">
        <p14:creationId xmlns:p14="http://schemas.microsoft.com/office/powerpoint/2010/main" val="3778843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F827E-25C3-5B86-1F96-E29E075A89F8}"/>
              </a:ext>
            </a:extLst>
          </p:cNvPr>
          <p:cNvSpPr>
            <a:spLocks noGrp="1"/>
          </p:cNvSpPr>
          <p:nvPr>
            <p:ph type="title"/>
          </p:nvPr>
        </p:nvSpPr>
        <p:spPr>
          <a:xfrm>
            <a:off x="0" y="18256"/>
            <a:ext cx="10515600" cy="662782"/>
          </a:xfrm>
        </p:spPr>
        <p:txBody>
          <a:bodyPr>
            <a:normAutofit fontScale="90000"/>
          </a:bodyPr>
          <a:lstStyle/>
          <a:p>
            <a:r>
              <a:rPr lang="en-US" dirty="0"/>
              <a:t>key features of the star schema</a:t>
            </a:r>
          </a:p>
        </p:txBody>
      </p:sp>
      <p:sp>
        <p:nvSpPr>
          <p:cNvPr id="3" name="Content Placeholder 2">
            <a:extLst>
              <a:ext uri="{FF2B5EF4-FFF2-40B4-BE49-F238E27FC236}">
                <a16:creationId xmlns:a16="http://schemas.microsoft.com/office/drawing/2014/main" id="{BDD7D559-F1ED-8F4D-2F3D-1100F1242E8C}"/>
              </a:ext>
            </a:extLst>
          </p:cNvPr>
          <p:cNvSpPr>
            <a:spLocks noGrp="1"/>
          </p:cNvSpPr>
          <p:nvPr>
            <p:ph idx="1"/>
          </p:nvPr>
        </p:nvSpPr>
        <p:spPr>
          <a:xfrm>
            <a:off x="195942" y="1085396"/>
            <a:ext cx="11767457" cy="4351338"/>
          </a:xfrm>
        </p:spPr>
        <p:txBody>
          <a:bodyPr>
            <a:normAutofit/>
          </a:bodyPr>
          <a:lstStyle/>
          <a:p>
            <a:r>
              <a:rPr lang="en-US" b="1" dirty="0"/>
              <a:t>Single-level dimension tables</a:t>
            </a:r>
            <a:r>
              <a:rPr lang="en-US" dirty="0"/>
              <a:t>: The dimension tables connect directly to the fact table without extra layers. Each table focuses on one area, like products, regions, or time, making it simple to use.</a:t>
            </a:r>
          </a:p>
          <a:p>
            <a:r>
              <a:rPr lang="en-US" b="1" dirty="0"/>
              <a:t>Denormalized design</a:t>
            </a:r>
            <a:r>
              <a:rPr lang="en-US" dirty="0"/>
              <a:t>: In a star schema, related data is stored together in one table using a denormalized approach. For example, a product table may include the product ID, name, and category in the same place. While this may mean some data repetition, it processes queries faster.</a:t>
            </a:r>
          </a:p>
          <a:p>
            <a:r>
              <a:rPr lang="en-US" b="1" dirty="0"/>
              <a:t>Common in data warehousing</a:t>
            </a:r>
            <a:r>
              <a:rPr lang="en-US" dirty="0"/>
              <a:t>: The star schema is used for quick analysis. It can easily filter or calculate totals, so it’s likely a good choice for data warehouses where fast insights are required.</a:t>
            </a:r>
          </a:p>
          <a:p>
            <a:pPr marL="0" indent="0">
              <a:buNone/>
            </a:pPr>
            <a:endParaRPr lang="en-US" dirty="0"/>
          </a:p>
        </p:txBody>
      </p:sp>
    </p:spTree>
    <p:extLst>
      <p:ext uri="{BB962C8B-B14F-4D97-AF65-F5344CB8AC3E}">
        <p14:creationId xmlns:p14="http://schemas.microsoft.com/office/powerpoint/2010/main" val="3908075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235F2-95D1-B1CD-6946-9D0DB67FD752}"/>
              </a:ext>
            </a:extLst>
          </p:cNvPr>
          <p:cNvSpPr>
            <a:spLocks noGrp="1"/>
          </p:cNvSpPr>
          <p:nvPr>
            <p:ph type="title"/>
          </p:nvPr>
        </p:nvSpPr>
        <p:spPr>
          <a:xfrm>
            <a:off x="0" y="1"/>
            <a:ext cx="10515600" cy="772886"/>
          </a:xfrm>
        </p:spPr>
        <p:txBody>
          <a:bodyPr/>
          <a:lstStyle/>
          <a:p>
            <a:r>
              <a:rPr lang="en-US" dirty="0"/>
              <a:t>Star Schema Design Example</a:t>
            </a:r>
          </a:p>
        </p:txBody>
      </p:sp>
      <p:pic>
        <p:nvPicPr>
          <p:cNvPr id="7" name="Picture 6">
            <a:extLst>
              <a:ext uri="{FF2B5EF4-FFF2-40B4-BE49-F238E27FC236}">
                <a16:creationId xmlns:a16="http://schemas.microsoft.com/office/drawing/2014/main" id="{84D8D4F7-53FC-2C3E-15CE-121B65A47BC6}"/>
              </a:ext>
            </a:extLst>
          </p:cNvPr>
          <p:cNvPicPr>
            <a:picLocks noChangeAspect="1"/>
          </p:cNvPicPr>
          <p:nvPr/>
        </p:nvPicPr>
        <p:blipFill>
          <a:blip r:embed="rId2"/>
          <a:stretch>
            <a:fillRect/>
          </a:stretch>
        </p:blipFill>
        <p:spPr>
          <a:xfrm>
            <a:off x="0" y="1081206"/>
            <a:ext cx="12192000" cy="5776793"/>
          </a:xfrm>
          <a:prstGeom prst="rect">
            <a:avLst/>
          </a:prstGeom>
        </p:spPr>
      </p:pic>
    </p:spTree>
    <p:extLst>
      <p:ext uri="{BB962C8B-B14F-4D97-AF65-F5344CB8AC3E}">
        <p14:creationId xmlns:p14="http://schemas.microsoft.com/office/powerpoint/2010/main" val="35362765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5AB96-C46C-CF2B-D51D-7467241D43F1}"/>
              </a:ext>
            </a:extLst>
          </p:cNvPr>
          <p:cNvSpPr>
            <a:spLocks noGrp="1"/>
          </p:cNvSpPr>
          <p:nvPr>
            <p:ph type="title"/>
          </p:nvPr>
        </p:nvSpPr>
        <p:spPr>
          <a:xfrm>
            <a:off x="0" y="1"/>
            <a:ext cx="12192000" cy="990600"/>
          </a:xfrm>
        </p:spPr>
        <p:txBody>
          <a:bodyPr>
            <a:normAutofit/>
          </a:bodyPr>
          <a:lstStyle/>
          <a:p>
            <a:r>
              <a:rPr lang="en-US" sz="2000" b="1" dirty="0">
                <a:highlight>
                  <a:srgbClr val="FFFF00"/>
                </a:highlight>
              </a:rPr>
              <a:t>SQL example for setting up a star schema with a Sales fact table and dimension tables for Product, Customer, and Date:</a:t>
            </a:r>
          </a:p>
        </p:txBody>
      </p:sp>
      <p:sp>
        <p:nvSpPr>
          <p:cNvPr id="3" name="Content Placeholder 2">
            <a:extLst>
              <a:ext uri="{FF2B5EF4-FFF2-40B4-BE49-F238E27FC236}">
                <a16:creationId xmlns:a16="http://schemas.microsoft.com/office/drawing/2014/main" id="{BB208F84-DE50-40F3-C138-DBB1F31BEBEC}"/>
              </a:ext>
            </a:extLst>
          </p:cNvPr>
          <p:cNvSpPr>
            <a:spLocks noGrp="1"/>
          </p:cNvSpPr>
          <p:nvPr>
            <p:ph idx="1"/>
          </p:nvPr>
        </p:nvSpPr>
        <p:spPr>
          <a:xfrm>
            <a:off x="195943" y="1253331"/>
            <a:ext cx="10515600" cy="5604668"/>
          </a:xfrm>
        </p:spPr>
        <p:txBody>
          <a:bodyPr>
            <a:normAutofit lnSpcReduction="10000"/>
          </a:bodyPr>
          <a:lstStyle/>
          <a:p>
            <a:r>
              <a:rPr lang="en-US" dirty="0"/>
              <a:t>-- Fact table</a:t>
            </a:r>
          </a:p>
          <a:p>
            <a:pPr marL="0" indent="0">
              <a:buNone/>
            </a:pPr>
            <a:r>
              <a:rPr lang="en-US" dirty="0"/>
              <a:t>CREATE TABLE Sales (</a:t>
            </a:r>
          </a:p>
          <a:p>
            <a:pPr marL="0" indent="0">
              <a:buNone/>
            </a:pPr>
            <a:r>
              <a:rPr lang="en-US" dirty="0"/>
              <a:t>    </a:t>
            </a:r>
            <a:r>
              <a:rPr lang="en-US" dirty="0" err="1"/>
              <a:t>Sales_ID</a:t>
            </a:r>
            <a:r>
              <a:rPr lang="en-US" dirty="0"/>
              <a:t> INT PRIMARY KEY,</a:t>
            </a:r>
          </a:p>
          <a:p>
            <a:pPr marL="0" indent="0">
              <a:buNone/>
            </a:pPr>
            <a:r>
              <a:rPr lang="en-US" dirty="0"/>
              <a:t>    </a:t>
            </a:r>
            <a:r>
              <a:rPr lang="en-US" dirty="0" err="1"/>
              <a:t>Product_ID</a:t>
            </a:r>
            <a:r>
              <a:rPr lang="en-US" dirty="0"/>
              <a:t> INT,</a:t>
            </a:r>
          </a:p>
          <a:p>
            <a:pPr marL="0" indent="0">
              <a:buNone/>
            </a:pPr>
            <a:r>
              <a:rPr lang="en-US" dirty="0"/>
              <a:t>    </a:t>
            </a:r>
            <a:r>
              <a:rPr lang="en-US" dirty="0" err="1"/>
              <a:t>Customer_ID</a:t>
            </a:r>
            <a:r>
              <a:rPr lang="en-US" dirty="0"/>
              <a:t> INT,</a:t>
            </a:r>
          </a:p>
          <a:p>
            <a:pPr marL="0" indent="0">
              <a:buNone/>
            </a:pPr>
            <a:r>
              <a:rPr lang="en-US" dirty="0"/>
              <a:t>    </a:t>
            </a:r>
            <a:r>
              <a:rPr lang="en-US" dirty="0" err="1"/>
              <a:t>Date_ID</a:t>
            </a:r>
            <a:r>
              <a:rPr lang="en-US" dirty="0"/>
              <a:t> INT,</a:t>
            </a:r>
          </a:p>
          <a:p>
            <a:pPr marL="0" indent="0">
              <a:buNone/>
            </a:pPr>
            <a:r>
              <a:rPr lang="en-US" dirty="0"/>
              <a:t>    </a:t>
            </a:r>
            <a:r>
              <a:rPr lang="en-US" dirty="0" err="1"/>
              <a:t>Sales_Amount</a:t>
            </a:r>
            <a:r>
              <a:rPr lang="en-US" dirty="0"/>
              <a:t> DECIMAL(10, 2),</a:t>
            </a:r>
          </a:p>
          <a:p>
            <a:pPr marL="0" indent="0">
              <a:buNone/>
            </a:pPr>
            <a:r>
              <a:rPr lang="en-US" dirty="0"/>
              <a:t>    FOREIGN KEY (</a:t>
            </a:r>
            <a:r>
              <a:rPr lang="en-US" dirty="0" err="1"/>
              <a:t>Product_ID</a:t>
            </a:r>
            <a:r>
              <a:rPr lang="en-US" dirty="0"/>
              <a:t>) REFERENCES Product(</a:t>
            </a:r>
            <a:r>
              <a:rPr lang="en-US" dirty="0" err="1"/>
              <a:t>Product_ID</a:t>
            </a:r>
            <a:r>
              <a:rPr lang="en-US" dirty="0"/>
              <a:t>),</a:t>
            </a:r>
          </a:p>
          <a:p>
            <a:pPr marL="0" indent="0">
              <a:buNone/>
            </a:pPr>
            <a:r>
              <a:rPr lang="en-US" dirty="0"/>
              <a:t>    FOREIGN KEY (</a:t>
            </a:r>
            <a:r>
              <a:rPr lang="en-US" dirty="0" err="1"/>
              <a:t>Customer_ID</a:t>
            </a:r>
            <a:r>
              <a:rPr lang="en-US" dirty="0"/>
              <a:t>) REFERENCES Customer(</a:t>
            </a:r>
            <a:r>
              <a:rPr lang="en-US" dirty="0" err="1"/>
              <a:t>Customer_ID</a:t>
            </a:r>
            <a:r>
              <a:rPr lang="en-US" dirty="0"/>
              <a:t>),</a:t>
            </a:r>
          </a:p>
          <a:p>
            <a:pPr marL="0" indent="0">
              <a:buNone/>
            </a:pPr>
            <a:r>
              <a:rPr lang="en-US" dirty="0"/>
              <a:t>    FOREIGN KEY (</a:t>
            </a:r>
            <a:r>
              <a:rPr lang="en-US" dirty="0" err="1"/>
              <a:t>Date_ID</a:t>
            </a:r>
            <a:r>
              <a:rPr lang="en-US" dirty="0"/>
              <a:t>) REFERENCES Date(</a:t>
            </a:r>
            <a:r>
              <a:rPr lang="en-US" dirty="0" err="1"/>
              <a:t>Date_ID</a:t>
            </a:r>
            <a:r>
              <a:rPr lang="en-US" dirty="0"/>
              <a:t>)</a:t>
            </a:r>
          </a:p>
          <a:p>
            <a:pPr marL="0" indent="0">
              <a:buNone/>
            </a:pPr>
            <a:r>
              <a:rPr lang="en-US" dirty="0"/>
              <a:t>);</a:t>
            </a:r>
          </a:p>
          <a:p>
            <a:endParaRPr lang="en-US" dirty="0"/>
          </a:p>
          <a:p>
            <a:endParaRPr lang="en-US" dirty="0"/>
          </a:p>
          <a:p>
            <a:endParaRPr lang="en-US" dirty="0"/>
          </a:p>
        </p:txBody>
      </p:sp>
    </p:spTree>
    <p:extLst>
      <p:ext uri="{BB962C8B-B14F-4D97-AF65-F5344CB8AC3E}">
        <p14:creationId xmlns:p14="http://schemas.microsoft.com/office/powerpoint/2010/main" val="42006747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EDE022-23C6-297B-8B2E-D44A0F5733A8}"/>
              </a:ext>
            </a:extLst>
          </p:cNvPr>
          <p:cNvSpPr>
            <a:spLocks noGrp="1"/>
          </p:cNvSpPr>
          <p:nvPr>
            <p:ph idx="1"/>
          </p:nvPr>
        </p:nvSpPr>
        <p:spPr>
          <a:xfrm>
            <a:off x="0" y="-1"/>
            <a:ext cx="10515600" cy="6727371"/>
          </a:xfrm>
        </p:spPr>
        <p:txBody>
          <a:bodyPr>
            <a:normAutofit fontScale="62500" lnSpcReduction="20000"/>
          </a:bodyPr>
          <a:lstStyle/>
          <a:p>
            <a:pPr marL="0" indent="0">
              <a:buNone/>
            </a:pPr>
            <a:r>
              <a:rPr lang="en-US" dirty="0"/>
              <a:t>-- Dimension table: Product</a:t>
            </a:r>
          </a:p>
          <a:p>
            <a:pPr marL="0" indent="0">
              <a:buNone/>
            </a:pPr>
            <a:r>
              <a:rPr lang="en-US" dirty="0"/>
              <a:t>CREATE TABLE Product (</a:t>
            </a:r>
          </a:p>
          <a:p>
            <a:pPr marL="0" indent="0">
              <a:buNone/>
            </a:pPr>
            <a:r>
              <a:rPr lang="en-US" dirty="0"/>
              <a:t>    </a:t>
            </a:r>
            <a:r>
              <a:rPr lang="en-US" dirty="0" err="1"/>
              <a:t>Product_ID</a:t>
            </a:r>
            <a:r>
              <a:rPr lang="en-US" dirty="0"/>
              <a:t> INT PRIMARY KEY,</a:t>
            </a:r>
          </a:p>
          <a:p>
            <a:pPr marL="0" indent="0">
              <a:buNone/>
            </a:pPr>
            <a:r>
              <a:rPr lang="en-US" dirty="0"/>
              <a:t>    </a:t>
            </a:r>
            <a:r>
              <a:rPr lang="en-US" dirty="0" err="1"/>
              <a:t>Product_Name</a:t>
            </a:r>
            <a:r>
              <a:rPr lang="en-US" dirty="0"/>
              <a:t> VARCHAR(100),</a:t>
            </a:r>
          </a:p>
          <a:p>
            <a:pPr marL="0" indent="0">
              <a:buNone/>
            </a:pPr>
            <a:r>
              <a:rPr lang="en-US" dirty="0"/>
              <a:t>    Category VARCHAR(50)</a:t>
            </a:r>
          </a:p>
          <a:p>
            <a:pPr marL="0" indent="0">
              <a:buNone/>
            </a:pPr>
            <a:r>
              <a:rPr lang="en-US" dirty="0"/>
              <a:t>);</a:t>
            </a:r>
          </a:p>
          <a:p>
            <a:pPr marL="0" indent="0">
              <a:buNone/>
            </a:pPr>
            <a:r>
              <a:rPr lang="en-US" dirty="0"/>
              <a:t>-- Dimension table: Customer</a:t>
            </a:r>
          </a:p>
          <a:p>
            <a:pPr marL="0" indent="0">
              <a:buNone/>
            </a:pPr>
            <a:r>
              <a:rPr lang="en-US" dirty="0"/>
              <a:t>CREATE TABLE Customer (</a:t>
            </a:r>
          </a:p>
          <a:p>
            <a:pPr marL="0" indent="0">
              <a:buNone/>
            </a:pPr>
            <a:r>
              <a:rPr lang="en-US" dirty="0"/>
              <a:t>    </a:t>
            </a:r>
            <a:r>
              <a:rPr lang="en-US" dirty="0" err="1"/>
              <a:t>Customer_ID</a:t>
            </a:r>
            <a:r>
              <a:rPr lang="en-US" dirty="0"/>
              <a:t> INT PRIMARY KEY,</a:t>
            </a:r>
          </a:p>
          <a:p>
            <a:pPr marL="0" indent="0">
              <a:buNone/>
            </a:pPr>
            <a:r>
              <a:rPr lang="en-US" dirty="0"/>
              <a:t>    </a:t>
            </a:r>
            <a:r>
              <a:rPr lang="en-US" dirty="0" err="1"/>
              <a:t>Customer_Name</a:t>
            </a:r>
            <a:r>
              <a:rPr lang="en-US" dirty="0"/>
              <a:t> VARCHAR(100),</a:t>
            </a:r>
          </a:p>
          <a:p>
            <a:pPr marL="0" indent="0">
              <a:buNone/>
            </a:pPr>
            <a:r>
              <a:rPr lang="en-US" dirty="0"/>
              <a:t>    Location VARCHAR(50)</a:t>
            </a:r>
          </a:p>
          <a:p>
            <a:pPr marL="0" indent="0">
              <a:buNone/>
            </a:pPr>
            <a:r>
              <a:rPr lang="en-US" dirty="0"/>
              <a:t>);</a:t>
            </a:r>
          </a:p>
          <a:p>
            <a:endParaRPr lang="en-US" dirty="0"/>
          </a:p>
          <a:p>
            <a:r>
              <a:rPr lang="en-US" dirty="0"/>
              <a:t>-- Dimension table: Date</a:t>
            </a:r>
          </a:p>
          <a:p>
            <a:pPr marL="0" indent="0">
              <a:buNone/>
            </a:pPr>
            <a:r>
              <a:rPr lang="en-US" dirty="0"/>
              <a:t>CREATE TABLE Date (</a:t>
            </a:r>
          </a:p>
          <a:p>
            <a:pPr marL="0" indent="0">
              <a:buNone/>
            </a:pPr>
            <a:r>
              <a:rPr lang="en-US" dirty="0"/>
              <a:t>    </a:t>
            </a:r>
            <a:r>
              <a:rPr lang="en-US" dirty="0" err="1"/>
              <a:t>Date_ID</a:t>
            </a:r>
            <a:r>
              <a:rPr lang="en-US" dirty="0"/>
              <a:t> INT PRIMARY KEY,</a:t>
            </a:r>
          </a:p>
          <a:p>
            <a:pPr marL="0" indent="0">
              <a:buNone/>
            </a:pPr>
            <a:r>
              <a:rPr lang="en-US" dirty="0"/>
              <a:t>    Date </a:t>
            </a:r>
            <a:r>
              <a:rPr lang="en-US" dirty="0" err="1"/>
              <a:t>DATE</a:t>
            </a:r>
            <a:r>
              <a:rPr lang="en-US" dirty="0"/>
              <a:t>,</a:t>
            </a:r>
          </a:p>
          <a:p>
            <a:pPr marL="0" indent="0">
              <a:buNone/>
            </a:pPr>
            <a:r>
              <a:rPr lang="en-US" dirty="0"/>
              <a:t>    Year INT,</a:t>
            </a:r>
          </a:p>
          <a:p>
            <a:pPr marL="0" indent="0">
              <a:buNone/>
            </a:pPr>
            <a:r>
              <a:rPr lang="en-US" dirty="0"/>
              <a:t>    Month VARCHAR(20)</a:t>
            </a:r>
          </a:p>
          <a:p>
            <a:pPr marL="0" indent="0">
              <a:buNone/>
            </a:pPr>
            <a:r>
              <a:rPr lang="en-US" dirty="0"/>
              <a:t>);</a:t>
            </a:r>
          </a:p>
          <a:p>
            <a:endParaRPr lang="en-US" dirty="0"/>
          </a:p>
          <a:p>
            <a:endParaRPr lang="en-US" dirty="0"/>
          </a:p>
        </p:txBody>
      </p:sp>
    </p:spTree>
    <p:extLst>
      <p:ext uri="{BB962C8B-B14F-4D97-AF65-F5344CB8AC3E}">
        <p14:creationId xmlns:p14="http://schemas.microsoft.com/office/powerpoint/2010/main" val="37105778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AA73D1-8A1B-15F7-951E-5CE054D6D3A5}"/>
              </a:ext>
            </a:extLst>
          </p:cNvPr>
          <p:cNvSpPr>
            <a:spLocks noGrp="1"/>
          </p:cNvSpPr>
          <p:nvPr>
            <p:ph idx="1"/>
          </p:nvPr>
        </p:nvSpPr>
        <p:spPr>
          <a:xfrm>
            <a:off x="-1" y="900339"/>
            <a:ext cx="12061371" cy="4351338"/>
          </a:xfrm>
        </p:spPr>
        <p:txBody>
          <a:bodyPr/>
          <a:lstStyle/>
          <a:p>
            <a:r>
              <a:rPr lang="en-US" b="1" dirty="0"/>
              <a:t>To retrieve total sales grouped by customer location.</a:t>
            </a:r>
          </a:p>
          <a:p>
            <a:endParaRPr lang="en-US" dirty="0"/>
          </a:p>
          <a:p>
            <a:pPr marL="0" indent="0">
              <a:buNone/>
            </a:pPr>
            <a:r>
              <a:rPr lang="en-US" dirty="0"/>
              <a:t>SELECT </a:t>
            </a:r>
            <a:r>
              <a:rPr lang="en-US" dirty="0" err="1"/>
              <a:t>c.Location</a:t>
            </a:r>
            <a:r>
              <a:rPr lang="en-US" dirty="0"/>
              <a:t>, SUM(</a:t>
            </a:r>
            <a:r>
              <a:rPr lang="en-US" dirty="0" err="1"/>
              <a:t>s.Sales_Amount</a:t>
            </a:r>
            <a:r>
              <a:rPr lang="en-US" dirty="0"/>
              <a:t>) AS </a:t>
            </a:r>
            <a:r>
              <a:rPr lang="en-US" dirty="0" err="1"/>
              <a:t>TotalSales</a:t>
            </a:r>
            <a:endParaRPr lang="en-US" dirty="0"/>
          </a:p>
          <a:p>
            <a:pPr marL="0" indent="0">
              <a:buNone/>
            </a:pPr>
            <a:r>
              <a:rPr lang="en-US" dirty="0"/>
              <a:t>FROM Sales s</a:t>
            </a:r>
          </a:p>
          <a:p>
            <a:pPr marL="0" indent="0">
              <a:buNone/>
            </a:pPr>
            <a:r>
              <a:rPr lang="en-US" dirty="0"/>
              <a:t>JOIN Customer c ON </a:t>
            </a:r>
            <a:r>
              <a:rPr lang="en-US" dirty="0" err="1"/>
              <a:t>s.Customer_ID</a:t>
            </a:r>
            <a:r>
              <a:rPr lang="en-US" dirty="0"/>
              <a:t> = </a:t>
            </a:r>
            <a:r>
              <a:rPr lang="en-US" dirty="0" err="1"/>
              <a:t>c.Customer_ID</a:t>
            </a:r>
            <a:endParaRPr lang="en-US" dirty="0"/>
          </a:p>
          <a:p>
            <a:pPr marL="0" indent="0">
              <a:buNone/>
            </a:pPr>
            <a:r>
              <a:rPr lang="en-US" dirty="0"/>
              <a:t>GROUP BY </a:t>
            </a:r>
            <a:r>
              <a:rPr lang="en-US" dirty="0" err="1"/>
              <a:t>c.Location</a:t>
            </a:r>
            <a:r>
              <a:rPr lang="en-US" dirty="0"/>
              <a:t>;</a:t>
            </a:r>
          </a:p>
        </p:txBody>
      </p:sp>
    </p:spTree>
    <p:extLst>
      <p:ext uri="{BB962C8B-B14F-4D97-AF65-F5344CB8AC3E}">
        <p14:creationId xmlns:p14="http://schemas.microsoft.com/office/powerpoint/2010/main" val="942254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5FC3C9-3624-A6DC-A14C-4C131694D3B1}"/>
              </a:ext>
            </a:extLst>
          </p:cNvPr>
          <p:cNvSpPr>
            <a:spLocks noGrp="1"/>
          </p:cNvSpPr>
          <p:nvPr>
            <p:ph idx="1"/>
          </p:nvPr>
        </p:nvSpPr>
        <p:spPr/>
        <p:txBody>
          <a:bodyPr/>
          <a:lstStyle/>
          <a:p>
            <a:pPr marL="0" indent="0">
              <a:buNone/>
            </a:pPr>
            <a:r>
              <a:rPr lang="en-US" b="1" dirty="0"/>
              <a:t>Characteristics</a:t>
            </a:r>
          </a:p>
          <a:p>
            <a:r>
              <a:rPr lang="en-US" dirty="0"/>
              <a:t>Denormalized dimensions</a:t>
            </a:r>
          </a:p>
          <a:p>
            <a:r>
              <a:rPr lang="en-US" dirty="0"/>
              <a:t>Simple joins</a:t>
            </a:r>
          </a:p>
          <a:p>
            <a:r>
              <a:rPr lang="en-US" dirty="0"/>
              <a:t>Excellent performance</a:t>
            </a:r>
          </a:p>
          <a:p>
            <a:pPr lvl="1"/>
            <a:endParaRPr lang="en-US" dirty="0"/>
          </a:p>
        </p:txBody>
      </p:sp>
    </p:spTree>
    <p:extLst>
      <p:ext uri="{BB962C8B-B14F-4D97-AF65-F5344CB8AC3E}">
        <p14:creationId xmlns:p14="http://schemas.microsoft.com/office/powerpoint/2010/main" val="20717202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2C131-556A-5AFE-5CD9-20897F3F9636}"/>
              </a:ext>
            </a:extLst>
          </p:cNvPr>
          <p:cNvSpPr>
            <a:spLocks noGrp="1"/>
          </p:cNvSpPr>
          <p:nvPr>
            <p:ph type="title"/>
          </p:nvPr>
        </p:nvSpPr>
        <p:spPr>
          <a:xfrm>
            <a:off x="0" y="0"/>
            <a:ext cx="10515600" cy="1325563"/>
          </a:xfrm>
        </p:spPr>
        <p:txBody>
          <a:bodyPr/>
          <a:lstStyle/>
          <a:p>
            <a:r>
              <a:rPr lang="en-US" b="1" dirty="0"/>
              <a:t>What is a Snowflake Schema?</a:t>
            </a:r>
            <a:br>
              <a:rPr lang="en-US" b="1" dirty="0"/>
            </a:br>
            <a:r>
              <a:rPr lang="en-US" b="1" dirty="0"/>
              <a:t>		</a:t>
            </a:r>
            <a:endParaRPr lang="en-US" dirty="0"/>
          </a:p>
        </p:txBody>
      </p:sp>
      <p:sp>
        <p:nvSpPr>
          <p:cNvPr id="3" name="Content Placeholder 2">
            <a:extLst>
              <a:ext uri="{FF2B5EF4-FFF2-40B4-BE49-F238E27FC236}">
                <a16:creationId xmlns:a16="http://schemas.microsoft.com/office/drawing/2014/main" id="{E460767E-081A-2B45-5B01-E5B9ECDD9C94}"/>
              </a:ext>
            </a:extLst>
          </p:cNvPr>
          <p:cNvSpPr>
            <a:spLocks noGrp="1"/>
          </p:cNvSpPr>
          <p:nvPr>
            <p:ph idx="1"/>
          </p:nvPr>
        </p:nvSpPr>
        <p:spPr>
          <a:xfrm>
            <a:off x="87085" y="965653"/>
            <a:ext cx="5094515" cy="5326290"/>
          </a:xfrm>
        </p:spPr>
        <p:txBody>
          <a:bodyPr>
            <a:normAutofit/>
          </a:bodyPr>
          <a:lstStyle/>
          <a:p>
            <a:r>
              <a:rPr lang="en-US" dirty="0"/>
              <a:t>A </a:t>
            </a:r>
            <a:r>
              <a:rPr lang="en-US" b="1" dirty="0"/>
              <a:t>snowflake schema</a:t>
            </a:r>
            <a:r>
              <a:rPr lang="en-US" dirty="0"/>
              <a:t> is another way of organizing data. In this schema, dimension tables are split into smaller sub-dimensions to keep data more organized and detailed — just like snowflakes in a large lake. </a:t>
            </a:r>
          </a:p>
        </p:txBody>
      </p:sp>
      <p:pic>
        <p:nvPicPr>
          <p:cNvPr id="5" name="Picture 4">
            <a:extLst>
              <a:ext uri="{FF2B5EF4-FFF2-40B4-BE49-F238E27FC236}">
                <a16:creationId xmlns:a16="http://schemas.microsoft.com/office/drawing/2014/main" id="{18A68B71-7296-BF61-43BE-CA7EE7FD8872}"/>
              </a:ext>
            </a:extLst>
          </p:cNvPr>
          <p:cNvPicPr>
            <a:picLocks noChangeAspect="1"/>
          </p:cNvPicPr>
          <p:nvPr/>
        </p:nvPicPr>
        <p:blipFill>
          <a:blip r:embed="rId2"/>
          <a:stretch>
            <a:fillRect/>
          </a:stretch>
        </p:blipFill>
        <p:spPr>
          <a:xfrm>
            <a:off x="5574960" y="768236"/>
            <a:ext cx="6617040" cy="3664138"/>
          </a:xfrm>
          <a:prstGeom prst="rect">
            <a:avLst/>
          </a:prstGeom>
        </p:spPr>
      </p:pic>
    </p:spTree>
    <p:extLst>
      <p:ext uri="{BB962C8B-B14F-4D97-AF65-F5344CB8AC3E}">
        <p14:creationId xmlns:p14="http://schemas.microsoft.com/office/powerpoint/2010/main" val="1384573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12E819-C393-4E5F-DF53-BF63CABCD742}"/>
              </a:ext>
            </a:extLst>
          </p:cNvPr>
          <p:cNvSpPr>
            <a:spLocks noGrp="1"/>
          </p:cNvSpPr>
          <p:nvPr>
            <p:ph idx="1"/>
          </p:nvPr>
        </p:nvSpPr>
        <p:spPr>
          <a:xfrm>
            <a:off x="-1" y="0"/>
            <a:ext cx="12017829" cy="6858000"/>
          </a:xfrm>
        </p:spPr>
        <p:txBody>
          <a:bodyPr>
            <a:normAutofit/>
          </a:bodyPr>
          <a:lstStyle/>
          <a:p>
            <a:r>
              <a:rPr lang="en-US" b="1" dirty="0"/>
              <a:t>Multi-level dimension tables</a:t>
            </a:r>
            <a:r>
              <a:rPr lang="en-US" dirty="0"/>
              <a:t>: We can break down our dimension tables into smaller, more specific tables. For example, if I want to track store locations, instead of putting all location details in one big table, I can split them into separate tables for countries, states, and cities. This way, each table would contain only the information it needs to reduce redundancy and improve organization.</a:t>
            </a:r>
          </a:p>
          <a:p>
            <a:r>
              <a:rPr lang="en-US" b="1" dirty="0"/>
              <a:t>Normalization for storage efficiency</a:t>
            </a:r>
            <a:r>
              <a:rPr lang="en-US" dirty="0"/>
              <a:t>: Unlike star schema, the snowflake schema follows a </a:t>
            </a:r>
            <a:r>
              <a:rPr lang="en-US" b="1" dirty="0">
                <a:hlinkClick r:id="rId2"/>
              </a:rPr>
              <a:t>normalized design</a:t>
            </a:r>
            <a:r>
              <a:rPr lang="en-US" dirty="0"/>
              <a:t>, which avoids data duplication. For example, rather than repeating a product category like Electronics for every product, I can store the category in a separate table and link it to individual products.</a:t>
            </a:r>
          </a:p>
          <a:p>
            <a:r>
              <a:rPr lang="en-US" dirty="0"/>
              <a:t>Suitability for complex data environments: The snowflake schema works best for complex data environments because it uses multi-level tables to handle intricate relationships and hierarchical data structures.</a:t>
            </a:r>
          </a:p>
          <a:p>
            <a:endParaRPr lang="en-US" dirty="0"/>
          </a:p>
        </p:txBody>
      </p:sp>
    </p:spTree>
    <p:extLst>
      <p:ext uri="{BB962C8B-B14F-4D97-AF65-F5344CB8AC3E}">
        <p14:creationId xmlns:p14="http://schemas.microsoft.com/office/powerpoint/2010/main" val="6099300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Picture 6">
            <a:extLst>
              <a:ext uri="{FF2B5EF4-FFF2-40B4-BE49-F238E27FC236}">
                <a16:creationId xmlns:a16="http://schemas.microsoft.com/office/drawing/2014/main" id="{EE3A8154-2971-373E-CB24-0F673A911CCF}"/>
              </a:ext>
            </a:extLst>
          </p:cNvPr>
          <p:cNvPicPr>
            <a:picLocks noChangeAspect="1"/>
          </p:cNvPicPr>
          <p:nvPr/>
        </p:nvPicPr>
        <p:blipFill>
          <a:blip r:embed="rId2"/>
          <a:srcRect r="2204"/>
          <a:stretch>
            <a:fillRect/>
          </a:stretch>
        </p:blipFill>
        <p:spPr>
          <a:xfrm>
            <a:off x="20" y="1282"/>
            <a:ext cx="12191980" cy="6856718"/>
          </a:xfrm>
          <a:prstGeom prst="rect">
            <a:avLst/>
          </a:prstGeom>
        </p:spPr>
      </p:pic>
    </p:spTree>
    <p:extLst>
      <p:ext uri="{BB962C8B-B14F-4D97-AF65-F5344CB8AC3E}">
        <p14:creationId xmlns:p14="http://schemas.microsoft.com/office/powerpoint/2010/main" val="7366397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Content Placeholder 6">
            <a:extLst>
              <a:ext uri="{FF2B5EF4-FFF2-40B4-BE49-F238E27FC236}">
                <a16:creationId xmlns:a16="http://schemas.microsoft.com/office/drawing/2014/main" id="{74E13D08-F223-3ABE-F11A-285BCB0D9D96}"/>
              </a:ext>
            </a:extLst>
          </p:cNvPr>
          <p:cNvPicPr>
            <a:picLocks noGrp="1" noChangeAspect="1"/>
          </p:cNvPicPr>
          <p:nvPr>
            <p:ph idx="1"/>
          </p:nvPr>
        </p:nvPicPr>
        <p:blipFill>
          <a:blip r:embed="rId2"/>
          <a:srcRect l="2683" r="22191" b="-1"/>
          <a:stretch>
            <a:fillRect/>
          </a:stretch>
        </p:blipFill>
        <p:spPr>
          <a:xfrm>
            <a:off x="20" y="1282"/>
            <a:ext cx="12191980" cy="6856718"/>
          </a:xfrm>
          <a:prstGeom prst="rect">
            <a:avLst/>
          </a:prstGeom>
        </p:spPr>
      </p:pic>
    </p:spTree>
    <p:extLst>
      <p:ext uri="{BB962C8B-B14F-4D97-AF65-F5344CB8AC3E}">
        <p14:creationId xmlns:p14="http://schemas.microsoft.com/office/powerpoint/2010/main" val="41366356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279712E-136B-1C71-B139-C3339B85388D}"/>
              </a:ext>
            </a:extLst>
          </p:cNvPr>
          <p:cNvPicPr>
            <a:picLocks noChangeAspect="1"/>
          </p:cNvPicPr>
          <p:nvPr/>
        </p:nvPicPr>
        <p:blipFill>
          <a:blip r:embed="rId2"/>
          <a:stretch>
            <a:fillRect/>
          </a:stretch>
        </p:blipFill>
        <p:spPr>
          <a:xfrm>
            <a:off x="359229" y="228600"/>
            <a:ext cx="11832771" cy="6302829"/>
          </a:xfrm>
          <a:prstGeom prst="rect">
            <a:avLst/>
          </a:prstGeom>
        </p:spPr>
      </p:pic>
    </p:spTree>
    <p:extLst>
      <p:ext uri="{BB962C8B-B14F-4D97-AF65-F5344CB8AC3E}">
        <p14:creationId xmlns:p14="http://schemas.microsoft.com/office/powerpoint/2010/main" val="18606210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373F58-9162-CFFA-9DCA-1D56C1E8D9EA}"/>
              </a:ext>
            </a:extLst>
          </p:cNvPr>
          <p:cNvSpPr>
            <a:spLocks noGrp="1"/>
          </p:cNvSpPr>
          <p:nvPr>
            <p:ph idx="1"/>
          </p:nvPr>
        </p:nvSpPr>
        <p:spPr/>
        <p:txBody>
          <a:bodyPr/>
          <a:lstStyle/>
          <a:p>
            <a:pPr marL="0" indent="0">
              <a:buNone/>
            </a:pPr>
            <a:r>
              <a:rPr lang="en-US" b="1" i="1" dirty="0"/>
              <a:t>SELECT </a:t>
            </a:r>
            <a:r>
              <a:rPr lang="en-US" b="1" i="1" dirty="0" err="1"/>
              <a:t>cat.Category_Name</a:t>
            </a:r>
            <a:r>
              <a:rPr lang="en-US" b="1" i="1" dirty="0"/>
              <a:t>, SUM(</a:t>
            </a:r>
            <a:r>
              <a:rPr lang="en-US" b="1" i="1" dirty="0" err="1"/>
              <a:t>s.Sales_Amount</a:t>
            </a:r>
            <a:r>
              <a:rPr lang="en-US" b="1" i="1" dirty="0"/>
              <a:t>) AS </a:t>
            </a:r>
            <a:r>
              <a:rPr lang="en-US" b="1" i="1" dirty="0" err="1"/>
              <a:t>TotalSales</a:t>
            </a:r>
            <a:r>
              <a:rPr lang="en-US" b="1" i="1" dirty="0"/>
              <a:t> </a:t>
            </a:r>
          </a:p>
          <a:p>
            <a:pPr marL="0" indent="0">
              <a:buNone/>
            </a:pPr>
            <a:r>
              <a:rPr lang="en-US" b="1" i="1" dirty="0"/>
              <a:t>FROM Sales s </a:t>
            </a:r>
          </a:p>
          <a:p>
            <a:pPr marL="0" indent="0">
              <a:buNone/>
            </a:pPr>
            <a:r>
              <a:rPr lang="en-US" b="1" i="1" dirty="0"/>
              <a:t>JOIN Product p</a:t>
            </a:r>
          </a:p>
          <a:p>
            <a:pPr marL="0" indent="0">
              <a:buNone/>
            </a:pPr>
            <a:r>
              <a:rPr lang="en-US" b="1" i="1" dirty="0"/>
              <a:t>ON </a:t>
            </a:r>
            <a:r>
              <a:rPr lang="en-US" b="1" i="1" dirty="0" err="1"/>
              <a:t>s.Product_ID</a:t>
            </a:r>
            <a:r>
              <a:rPr lang="en-US" b="1" i="1" dirty="0"/>
              <a:t> = </a:t>
            </a:r>
            <a:r>
              <a:rPr lang="en-US" b="1" i="1" dirty="0" err="1"/>
              <a:t>p.Product_ID</a:t>
            </a:r>
            <a:r>
              <a:rPr lang="en-US" b="1" i="1" dirty="0"/>
              <a:t> </a:t>
            </a:r>
          </a:p>
          <a:p>
            <a:pPr marL="0" indent="0">
              <a:buNone/>
            </a:pPr>
            <a:r>
              <a:rPr lang="en-US" b="1" i="1" dirty="0"/>
              <a:t>JOIN Category cat </a:t>
            </a:r>
          </a:p>
          <a:p>
            <a:pPr marL="0" indent="0">
              <a:buNone/>
            </a:pPr>
            <a:r>
              <a:rPr lang="en-US" b="1" i="1" dirty="0"/>
              <a:t>ON </a:t>
            </a:r>
            <a:r>
              <a:rPr lang="en-US" b="1" i="1" dirty="0" err="1"/>
              <a:t>p.Category_ID</a:t>
            </a:r>
            <a:r>
              <a:rPr lang="en-US" b="1" i="1" dirty="0"/>
              <a:t> = </a:t>
            </a:r>
            <a:r>
              <a:rPr lang="en-US" b="1" i="1" dirty="0" err="1"/>
              <a:t>cat.Category_ID</a:t>
            </a:r>
            <a:r>
              <a:rPr lang="en-US" b="1" i="1" dirty="0"/>
              <a:t> </a:t>
            </a:r>
          </a:p>
          <a:p>
            <a:pPr marL="0" indent="0">
              <a:buNone/>
            </a:pPr>
            <a:r>
              <a:rPr lang="en-US" b="1" i="1" dirty="0"/>
              <a:t>GROUP BY </a:t>
            </a:r>
            <a:r>
              <a:rPr lang="en-US" b="1" i="1" dirty="0" err="1"/>
              <a:t>cat.Category_Name</a:t>
            </a:r>
            <a:r>
              <a:rPr lang="en-US" b="1" i="1" dirty="0"/>
              <a:t>;</a:t>
            </a:r>
          </a:p>
        </p:txBody>
      </p:sp>
    </p:spTree>
    <p:extLst>
      <p:ext uri="{BB962C8B-B14F-4D97-AF65-F5344CB8AC3E}">
        <p14:creationId xmlns:p14="http://schemas.microsoft.com/office/powerpoint/2010/main" val="22494563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13429-C8D8-2559-131B-35BE0FC3E8E4}"/>
              </a:ext>
            </a:extLst>
          </p:cNvPr>
          <p:cNvSpPr>
            <a:spLocks noGrp="1"/>
          </p:cNvSpPr>
          <p:nvPr>
            <p:ph type="title"/>
          </p:nvPr>
        </p:nvSpPr>
        <p:spPr/>
        <p:txBody>
          <a:bodyPr>
            <a:normAutofit/>
          </a:bodyPr>
          <a:lstStyle/>
          <a:p>
            <a:br>
              <a:rPr lang="en-US" b="1" dirty="0"/>
            </a:br>
            <a:endParaRPr lang="en-US" dirty="0"/>
          </a:p>
        </p:txBody>
      </p:sp>
      <p:sp>
        <p:nvSpPr>
          <p:cNvPr id="3" name="Content Placeholder 2">
            <a:extLst>
              <a:ext uri="{FF2B5EF4-FFF2-40B4-BE49-F238E27FC236}">
                <a16:creationId xmlns:a16="http://schemas.microsoft.com/office/drawing/2014/main" id="{4BA9FC00-F0A0-D841-B7BE-9EF7DD10C007}"/>
              </a:ext>
            </a:extLst>
          </p:cNvPr>
          <p:cNvSpPr>
            <a:spLocks noGrp="1"/>
          </p:cNvSpPr>
          <p:nvPr>
            <p:ph idx="1"/>
          </p:nvPr>
        </p:nvSpPr>
        <p:spPr/>
        <p:txBody>
          <a:bodyPr/>
          <a:lstStyle/>
          <a:p>
            <a:pPr marL="0" indent="0">
              <a:buNone/>
            </a:pPr>
            <a:r>
              <a:rPr lang="en-US" b="1" dirty="0"/>
              <a:t>Characteristics</a:t>
            </a:r>
          </a:p>
          <a:p>
            <a:r>
              <a:rPr lang="en-US" dirty="0"/>
              <a:t>More joins</a:t>
            </a:r>
          </a:p>
          <a:p>
            <a:r>
              <a:rPr lang="en-US" dirty="0"/>
              <a:t>Less redundancy</a:t>
            </a:r>
          </a:p>
          <a:p>
            <a:r>
              <a:rPr lang="en-US" dirty="0"/>
              <a:t>More complex queries</a:t>
            </a:r>
          </a:p>
          <a:p>
            <a:r>
              <a:rPr lang="en-US" dirty="0"/>
              <a:t>📌 Pros: Storage efficient</a:t>
            </a:r>
            <a:br>
              <a:rPr lang="en-US" dirty="0"/>
            </a:br>
            <a:r>
              <a:rPr lang="en-US" dirty="0"/>
              <a:t>📌 Cons: Slower queries</a:t>
            </a:r>
            <a:br>
              <a:rPr lang="en-US" dirty="0"/>
            </a:br>
            <a:r>
              <a:rPr lang="en-US" dirty="0"/>
              <a:t>📌 Used when dimensions are very large or hierarchical</a:t>
            </a:r>
          </a:p>
          <a:p>
            <a:endParaRPr lang="en-US" dirty="0"/>
          </a:p>
        </p:txBody>
      </p:sp>
    </p:spTree>
    <p:extLst>
      <p:ext uri="{BB962C8B-B14F-4D97-AF65-F5344CB8AC3E}">
        <p14:creationId xmlns:p14="http://schemas.microsoft.com/office/powerpoint/2010/main" val="8569181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Freeform: Shape 45">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Shape 51">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4" name="Isosceles Triangle 53">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Isosceles Triangle 55">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0D124AAF-9A50-3716-9E59-D3335EDBE08F}"/>
              </a:ext>
            </a:extLst>
          </p:cNvPr>
          <p:cNvGraphicFramePr>
            <a:graphicFrameLocks noGrp="1"/>
          </p:cNvGraphicFramePr>
          <p:nvPr>
            <p:extLst>
              <p:ext uri="{D42A27DB-BD31-4B8C-83A1-F6EECF244321}">
                <p14:modId xmlns:p14="http://schemas.microsoft.com/office/powerpoint/2010/main" val="3328620004"/>
              </p:ext>
            </p:extLst>
          </p:nvPr>
        </p:nvGraphicFramePr>
        <p:xfrm>
          <a:off x="1027218" y="1216151"/>
          <a:ext cx="10137564" cy="4425696"/>
        </p:xfrm>
        <a:graphic>
          <a:graphicData uri="http://schemas.openxmlformats.org/drawingml/2006/table">
            <a:tbl>
              <a:tblPr/>
              <a:tblGrid>
                <a:gridCol w="2975610">
                  <a:extLst>
                    <a:ext uri="{9D8B030D-6E8A-4147-A177-3AD203B41FA5}">
                      <a16:colId xmlns:a16="http://schemas.microsoft.com/office/drawing/2014/main" val="4027988730"/>
                    </a:ext>
                  </a:extLst>
                </a:gridCol>
                <a:gridCol w="2998894">
                  <a:extLst>
                    <a:ext uri="{9D8B030D-6E8A-4147-A177-3AD203B41FA5}">
                      <a16:colId xmlns:a16="http://schemas.microsoft.com/office/drawing/2014/main" val="2953348869"/>
                    </a:ext>
                  </a:extLst>
                </a:gridCol>
                <a:gridCol w="4163060">
                  <a:extLst>
                    <a:ext uri="{9D8B030D-6E8A-4147-A177-3AD203B41FA5}">
                      <a16:colId xmlns:a16="http://schemas.microsoft.com/office/drawing/2014/main" val="3711293818"/>
                    </a:ext>
                  </a:extLst>
                </a:gridCol>
              </a:tblGrid>
              <a:tr h="737616">
                <a:tc>
                  <a:txBody>
                    <a:bodyPr/>
                    <a:lstStyle/>
                    <a:p>
                      <a:pPr>
                        <a:buNone/>
                      </a:pPr>
                      <a:r>
                        <a:rPr lang="en-US" sz="3300">
                          <a:highlight>
                            <a:srgbClr val="FFFF00"/>
                          </a:highlight>
                        </a:rPr>
                        <a:t>Feature</a:t>
                      </a:r>
                    </a:p>
                  </a:txBody>
                  <a:tcPr marL="167640" marR="167640" marT="83820" marB="83820" anchor="ctr">
                    <a:lnL>
                      <a:noFill/>
                    </a:lnL>
                    <a:lnR>
                      <a:noFill/>
                    </a:lnR>
                    <a:lnT>
                      <a:noFill/>
                    </a:lnT>
                    <a:lnB>
                      <a:noFill/>
                    </a:lnB>
                    <a:noFill/>
                  </a:tcPr>
                </a:tc>
                <a:tc>
                  <a:txBody>
                    <a:bodyPr/>
                    <a:lstStyle/>
                    <a:p>
                      <a:pPr>
                        <a:buNone/>
                      </a:pPr>
                      <a:r>
                        <a:rPr lang="en-US" sz="3300">
                          <a:highlight>
                            <a:srgbClr val="FFFF00"/>
                          </a:highlight>
                        </a:rPr>
                        <a:t>Star Schema</a:t>
                      </a:r>
                    </a:p>
                  </a:txBody>
                  <a:tcPr marL="167640" marR="167640" marT="83820" marB="83820" anchor="ctr">
                    <a:lnL>
                      <a:noFill/>
                    </a:lnL>
                    <a:lnR>
                      <a:noFill/>
                    </a:lnR>
                    <a:lnT>
                      <a:noFill/>
                    </a:lnT>
                    <a:lnB>
                      <a:noFill/>
                    </a:lnB>
                    <a:noFill/>
                  </a:tcPr>
                </a:tc>
                <a:tc>
                  <a:txBody>
                    <a:bodyPr/>
                    <a:lstStyle/>
                    <a:p>
                      <a:pPr>
                        <a:buNone/>
                      </a:pPr>
                      <a:r>
                        <a:rPr lang="en-US" sz="3300" dirty="0">
                          <a:highlight>
                            <a:srgbClr val="FFFF00"/>
                          </a:highlight>
                        </a:rPr>
                        <a:t>Snowflake Schema</a:t>
                      </a:r>
                    </a:p>
                  </a:txBody>
                  <a:tcPr marL="167640" marR="167640" marT="83820" marB="83820" anchor="ctr">
                    <a:lnL>
                      <a:noFill/>
                    </a:lnL>
                    <a:lnR>
                      <a:noFill/>
                    </a:lnR>
                    <a:lnT>
                      <a:noFill/>
                    </a:lnT>
                    <a:lnB>
                      <a:noFill/>
                    </a:lnB>
                    <a:noFill/>
                  </a:tcPr>
                </a:tc>
                <a:extLst>
                  <a:ext uri="{0D108BD9-81ED-4DB2-BD59-A6C34878D82A}">
                    <a16:rowId xmlns:a16="http://schemas.microsoft.com/office/drawing/2014/main" val="375332769"/>
                  </a:ext>
                </a:extLst>
              </a:tr>
              <a:tr h="737616">
                <a:tc>
                  <a:txBody>
                    <a:bodyPr/>
                    <a:lstStyle/>
                    <a:p>
                      <a:pPr>
                        <a:buNone/>
                      </a:pPr>
                      <a:r>
                        <a:rPr lang="en-US" sz="3300"/>
                        <a:t>Complexity</a:t>
                      </a:r>
                    </a:p>
                  </a:txBody>
                  <a:tcPr marL="167640" marR="167640" marT="83820" marB="83820" anchor="ctr">
                    <a:lnL>
                      <a:noFill/>
                    </a:lnL>
                    <a:lnR>
                      <a:noFill/>
                    </a:lnR>
                    <a:lnT>
                      <a:noFill/>
                    </a:lnT>
                    <a:lnB>
                      <a:noFill/>
                    </a:lnB>
                    <a:noFill/>
                  </a:tcPr>
                </a:tc>
                <a:tc>
                  <a:txBody>
                    <a:bodyPr/>
                    <a:lstStyle/>
                    <a:p>
                      <a:pPr>
                        <a:buNone/>
                      </a:pPr>
                      <a:r>
                        <a:rPr lang="en-US" sz="3300"/>
                        <a:t>Simple</a:t>
                      </a:r>
                    </a:p>
                  </a:txBody>
                  <a:tcPr marL="167640" marR="167640" marT="83820" marB="83820" anchor="ctr">
                    <a:lnL>
                      <a:noFill/>
                    </a:lnL>
                    <a:lnR>
                      <a:noFill/>
                    </a:lnR>
                    <a:lnT>
                      <a:noFill/>
                    </a:lnT>
                    <a:lnB>
                      <a:noFill/>
                    </a:lnB>
                    <a:noFill/>
                  </a:tcPr>
                </a:tc>
                <a:tc>
                  <a:txBody>
                    <a:bodyPr/>
                    <a:lstStyle/>
                    <a:p>
                      <a:pPr>
                        <a:buNone/>
                      </a:pPr>
                      <a:r>
                        <a:rPr lang="en-US" sz="3300"/>
                        <a:t>Complex</a:t>
                      </a:r>
                    </a:p>
                  </a:txBody>
                  <a:tcPr marL="167640" marR="167640" marT="83820" marB="83820" anchor="ctr">
                    <a:lnL>
                      <a:noFill/>
                    </a:lnL>
                    <a:lnR>
                      <a:noFill/>
                    </a:lnR>
                    <a:lnT>
                      <a:noFill/>
                    </a:lnT>
                    <a:lnB>
                      <a:noFill/>
                    </a:lnB>
                    <a:noFill/>
                  </a:tcPr>
                </a:tc>
                <a:extLst>
                  <a:ext uri="{0D108BD9-81ED-4DB2-BD59-A6C34878D82A}">
                    <a16:rowId xmlns:a16="http://schemas.microsoft.com/office/drawing/2014/main" val="2172602863"/>
                  </a:ext>
                </a:extLst>
              </a:tr>
              <a:tr h="737616">
                <a:tc>
                  <a:txBody>
                    <a:bodyPr/>
                    <a:lstStyle/>
                    <a:p>
                      <a:pPr>
                        <a:buNone/>
                      </a:pPr>
                      <a:r>
                        <a:rPr lang="en-US" sz="3300"/>
                        <a:t>Joins</a:t>
                      </a:r>
                    </a:p>
                  </a:txBody>
                  <a:tcPr marL="167640" marR="167640" marT="83820" marB="83820" anchor="ctr">
                    <a:lnL>
                      <a:noFill/>
                    </a:lnL>
                    <a:lnR>
                      <a:noFill/>
                    </a:lnR>
                    <a:lnT>
                      <a:noFill/>
                    </a:lnT>
                    <a:lnB>
                      <a:noFill/>
                    </a:lnB>
                    <a:noFill/>
                  </a:tcPr>
                </a:tc>
                <a:tc>
                  <a:txBody>
                    <a:bodyPr/>
                    <a:lstStyle/>
                    <a:p>
                      <a:pPr>
                        <a:buNone/>
                      </a:pPr>
                      <a:r>
                        <a:rPr lang="en-US" sz="3300"/>
                        <a:t>Fewer</a:t>
                      </a:r>
                    </a:p>
                  </a:txBody>
                  <a:tcPr marL="167640" marR="167640" marT="83820" marB="83820" anchor="ctr">
                    <a:lnL>
                      <a:noFill/>
                    </a:lnL>
                    <a:lnR>
                      <a:noFill/>
                    </a:lnR>
                    <a:lnT>
                      <a:noFill/>
                    </a:lnT>
                    <a:lnB>
                      <a:noFill/>
                    </a:lnB>
                    <a:noFill/>
                  </a:tcPr>
                </a:tc>
                <a:tc>
                  <a:txBody>
                    <a:bodyPr/>
                    <a:lstStyle/>
                    <a:p>
                      <a:pPr>
                        <a:buNone/>
                      </a:pPr>
                      <a:r>
                        <a:rPr lang="en-US" sz="3300"/>
                        <a:t>More</a:t>
                      </a:r>
                    </a:p>
                  </a:txBody>
                  <a:tcPr marL="167640" marR="167640" marT="83820" marB="83820" anchor="ctr">
                    <a:lnL>
                      <a:noFill/>
                    </a:lnL>
                    <a:lnR>
                      <a:noFill/>
                    </a:lnR>
                    <a:lnT>
                      <a:noFill/>
                    </a:lnT>
                    <a:lnB>
                      <a:noFill/>
                    </a:lnB>
                    <a:noFill/>
                  </a:tcPr>
                </a:tc>
                <a:extLst>
                  <a:ext uri="{0D108BD9-81ED-4DB2-BD59-A6C34878D82A}">
                    <a16:rowId xmlns:a16="http://schemas.microsoft.com/office/drawing/2014/main" val="2514319310"/>
                  </a:ext>
                </a:extLst>
              </a:tr>
              <a:tr h="737616">
                <a:tc>
                  <a:txBody>
                    <a:bodyPr/>
                    <a:lstStyle/>
                    <a:p>
                      <a:pPr>
                        <a:buNone/>
                      </a:pPr>
                      <a:r>
                        <a:rPr lang="en-US" sz="3300"/>
                        <a:t>Performance</a:t>
                      </a:r>
                    </a:p>
                  </a:txBody>
                  <a:tcPr marL="167640" marR="167640" marT="83820" marB="83820" anchor="ctr">
                    <a:lnL>
                      <a:noFill/>
                    </a:lnL>
                    <a:lnR>
                      <a:noFill/>
                    </a:lnR>
                    <a:lnT>
                      <a:noFill/>
                    </a:lnT>
                    <a:lnB>
                      <a:noFill/>
                    </a:lnB>
                    <a:noFill/>
                  </a:tcPr>
                </a:tc>
                <a:tc>
                  <a:txBody>
                    <a:bodyPr/>
                    <a:lstStyle/>
                    <a:p>
                      <a:pPr>
                        <a:buNone/>
                      </a:pPr>
                      <a:r>
                        <a:rPr lang="en-US" sz="3300"/>
                        <a:t>Faster</a:t>
                      </a:r>
                    </a:p>
                  </a:txBody>
                  <a:tcPr marL="167640" marR="167640" marT="83820" marB="83820" anchor="ctr">
                    <a:lnL>
                      <a:noFill/>
                    </a:lnL>
                    <a:lnR>
                      <a:noFill/>
                    </a:lnR>
                    <a:lnT>
                      <a:noFill/>
                    </a:lnT>
                    <a:lnB>
                      <a:noFill/>
                    </a:lnB>
                    <a:noFill/>
                  </a:tcPr>
                </a:tc>
                <a:tc>
                  <a:txBody>
                    <a:bodyPr/>
                    <a:lstStyle/>
                    <a:p>
                      <a:pPr>
                        <a:buNone/>
                      </a:pPr>
                      <a:r>
                        <a:rPr lang="en-US" sz="3300"/>
                        <a:t>Slower</a:t>
                      </a:r>
                    </a:p>
                  </a:txBody>
                  <a:tcPr marL="167640" marR="167640" marT="83820" marB="83820" anchor="ctr">
                    <a:lnL>
                      <a:noFill/>
                    </a:lnL>
                    <a:lnR>
                      <a:noFill/>
                    </a:lnR>
                    <a:lnT>
                      <a:noFill/>
                    </a:lnT>
                    <a:lnB>
                      <a:noFill/>
                    </a:lnB>
                    <a:noFill/>
                  </a:tcPr>
                </a:tc>
                <a:extLst>
                  <a:ext uri="{0D108BD9-81ED-4DB2-BD59-A6C34878D82A}">
                    <a16:rowId xmlns:a16="http://schemas.microsoft.com/office/drawing/2014/main" val="3778865510"/>
                  </a:ext>
                </a:extLst>
              </a:tr>
              <a:tr h="737616">
                <a:tc>
                  <a:txBody>
                    <a:bodyPr/>
                    <a:lstStyle/>
                    <a:p>
                      <a:pPr>
                        <a:buNone/>
                      </a:pPr>
                      <a:r>
                        <a:rPr lang="en-US" sz="3300"/>
                        <a:t>Storage</a:t>
                      </a:r>
                    </a:p>
                  </a:txBody>
                  <a:tcPr marL="167640" marR="167640" marT="83820" marB="83820" anchor="ctr">
                    <a:lnL>
                      <a:noFill/>
                    </a:lnL>
                    <a:lnR>
                      <a:noFill/>
                    </a:lnR>
                    <a:lnT>
                      <a:noFill/>
                    </a:lnT>
                    <a:lnB>
                      <a:noFill/>
                    </a:lnB>
                    <a:noFill/>
                  </a:tcPr>
                </a:tc>
                <a:tc>
                  <a:txBody>
                    <a:bodyPr/>
                    <a:lstStyle/>
                    <a:p>
                      <a:pPr>
                        <a:buNone/>
                      </a:pPr>
                      <a:r>
                        <a:rPr lang="en-US" sz="3300"/>
                        <a:t>More</a:t>
                      </a:r>
                    </a:p>
                  </a:txBody>
                  <a:tcPr marL="167640" marR="167640" marT="83820" marB="83820" anchor="ctr">
                    <a:lnL>
                      <a:noFill/>
                    </a:lnL>
                    <a:lnR>
                      <a:noFill/>
                    </a:lnR>
                    <a:lnT>
                      <a:noFill/>
                    </a:lnT>
                    <a:lnB>
                      <a:noFill/>
                    </a:lnB>
                    <a:noFill/>
                  </a:tcPr>
                </a:tc>
                <a:tc>
                  <a:txBody>
                    <a:bodyPr/>
                    <a:lstStyle/>
                    <a:p>
                      <a:pPr>
                        <a:buNone/>
                      </a:pPr>
                      <a:r>
                        <a:rPr lang="en-US" sz="3300"/>
                        <a:t>Less</a:t>
                      </a:r>
                    </a:p>
                  </a:txBody>
                  <a:tcPr marL="167640" marR="167640" marT="83820" marB="83820" anchor="ctr">
                    <a:lnL>
                      <a:noFill/>
                    </a:lnL>
                    <a:lnR>
                      <a:noFill/>
                    </a:lnR>
                    <a:lnT>
                      <a:noFill/>
                    </a:lnT>
                    <a:lnB>
                      <a:noFill/>
                    </a:lnB>
                    <a:noFill/>
                  </a:tcPr>
                </a:tc>
                <a:extLst>
                  <a:ext uri="{0D108BD9-81ED-4DB2-BD59-A6C34878D82A}">
                    <a16:rowId xmlns:a16="http://schemas.microsoft.com/office/drawing/2014/main" val="3945268998"/>
                  </a:ext>
                </a:extLst>
              </a:tr>
              <a:tr h="737616">
                <a:tc>
                  <a:txBody>
                    <a:bodyPr/>
                    <a:lstStyle/>
                    <a:p>
                      <a:pPr>
                        <a:buNone/>
                      </a:pPr>
                      <a:r>
                        <a:rPr lang="en-US" sz="3300"/>
                        <a:t>BI Friendly</a:t>
                      </a:r>
                    </a:p>
                  </a:txBody>
                  <a:tcPr marL="167640" marR="167640" marT="83820" marB="83820" anchor="ctr">
                    <a:lnL>
                      <a:noFill/>
                    </a:lnL>
                    <a:lnR>
                      <a:noFill/>
                    </a:lnR>
                    <a:lnT>
                      <a:noFill/>
                    </a:lnT>
                    <a:lnB>
                      <a:noFill/>
                    </a:lnB>
                    <a:noFill/>
                  </a:tcPr>
                </a:tc>
                <a:tc>
                  <a:txBody>
                    <a:bodyPr/>
                    <a:lstStyle/>
                    <a:p>
                      <a:pPr>
                        <a:buNone/>
                      </a:pPr>
                      <a:r>
                        <a:rPr lang="en-US" sz="3300"/>
                        <a:t>✅ Yes</a:t>
                      </a:r>
                    </a:p>
                  </a:txBody>
                  <a:tcPr marL="167640" marR="167640" marT="83820" marB="83820" anchor="ctr">
                    <a:lnL>
                      <a:noFill/>
                    </a:lnL>
                    <a:lnR>
                      <a:noFill/>
                    </a:lnR>
                    <a:lnT>
                      <a:noFill/>
                    </a:lnT>
                    <a:lnB>
                      <a:noFill/>
                    </a:lnB>
                    <a:noFill/>
                  </a:tcPr>
                </a:tc>
                <a:tc>
                  <a:txBody>
                    <a:bodyPr/>
                    <a:lstStyle/>
                    <a:p>
                      <a:pPr>
                        <a:buNone/>
                      </a:pPr>
                      <a:r>
                        <a:rPr lang="en-US" sz="3300" dirty="0"/>
                        <a:t>❌ Less</a:t>
                      </a:r>
                    </a:p>
                  </a:txBody>
                  <a:tcPr marL="167640" marR="167640" marT="83820" marB="83820" anchor="ctr">
                    <a:lnL>
                      <a:noFill/>
                    </a:lnL>
                    <a:lnR>
                      <a:noFill/>
                    </a:lnR>
                    <a:lnT>
                      <a:noFill/>
                    </a:lnT>
                    <a:lnB>
                      <a:noFill/>
                    </a:lnB>
                    <a:noFill/>
                  </a:tcPr>
                </a:tc>
                <a:extLst>
                  <a:ext uri="{0D108BD9-81ED-4DB2-BD59-A6C34878D82A}">
                    <a16:rowId xmlns:a16="http://schemas.microsoft.com/office/drawing/2014/main" val="1340114656"/>
                  </a:ext>
                </a:extLst>
              </a:tr>
            </a:tbl>
          </a:graphicData>
        </a:graphic>
      </p:graphicFrame>
    </p:spTree>
    <p:extLst>
      <p:ext uri="{BB962C8B-B14F-4D97-AF65-F5344CB8AC3E}">
        <p14:creationId xmlns:p14="http://schemas.microsoft.com/office/powerpoint/2010/main" val="29197681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TotalTime>
  <Words>1316</Words>
  <Application>Microsoft Office PowerPoint</Application>
  <PresentationFormat>Widescreen</PresentationFormat>
  <Paragraphs>154</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Aptos</vt:lpstr>
      <vt:lpstr>Aptos Display</vt:lpstr>
      <vt:lpstr>Arial</vt:lpstr>
      <vt:lpstr>Office Theme</vt:lpstr>
      <vt:lpstr>Dimensional Modeling</vt:lpstr>
      <vt:lpstr>Data Modelling </vt:lpstr>
      <vt:lpstr>Data Modelling levels</vt:lpstr>
      <vt:lpstr>CDM</vt:lpstr>
      <vt:lpstr>🔹 Logical Data Model (LDM)</vt:lpstr>
      <vt:lpstr>🔹 Physical Data Model (PDM)</vt:lpstr>
      <vt:lpstr>PowerPoint Presentation</vt:lpstr>
      <vt:lpstr>Steps to Create Dimensional Data Modeling </vt:lpstr>
      <vt:lpstr>PowerPoint Presentation</vt:lpstr>
      <vt:lpstr>Dimensional Data Modelling Approaches</vt:lpstr>
      <vt:lpstr>What is a Star Schema? </vt:lpstr>
      <vt:lpstr>key features of the star schema</vt:lpstr>
      <vt:lpstr>Star Schema Design Example</vt:lpstr>
      <vt:lpstr>SQL example for setting up a star schema with a Sales fact table and dimension tables for Product, Customer, and Date:</vt:lpstr>
      <vt:lpstr>PowerPoint Presentation</vt:lpstr>
      <vt:lpstr>PowerPoint Presentation</vt:lpstr>
      <vt:lpstr>PowerPoint Presentation</vt:lpstr>
      <vt:lpstr>What is a Snowflake Schema?   </vt:lpstr>
      <vt:lpstr>PowerPoint Presentation</vt:lpstr>
      <vt:lpstr>PowerPoint Presentation</vt:lpstr>
      <vt:lpstr>PowerPoint Presentation</vt:lpstr>
      <vt:lpstr>PowerPoint Presentation</vt:lpstr>
      <vt:lpstr>PowerPoint Presentation</vt:lpstr>
      <vt:lpstr>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Rajesh Kumar Devabhaktuni</dc:creator>
  <cp:lastModifiedBy>Rajesh Kumar Devabhaktuni</cp:lastModifiedBy>
  <cp:revision>7</cp:revision>
  <dcterms:created xsi:type="dcterms:W3CDTF">2026-02-17T06:24:34Z</dcterms:created>
  <dcterms:modified xsi:type="dcterms:W3CDTF">2026-02-17T07:03:34Z</dcterms:modified>
</cp:coreProperties>
</file>