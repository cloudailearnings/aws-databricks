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" charset="1" panose="020206030504050203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5.png" Type="http://schemas.openxmlformats.org/officeDocument/2006/relationships/image"/><Relationship Id="rId18" Target="../media/image26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9.pn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53767" y="818507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09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64274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97614" y="276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4274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2665" y="3044000"/>
            <a:ext cx="10941671" cy="347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3"/>
              </a:lnSpc>
            </a:pPr>
            <a:r>
              <a:rPr lang="en-US" sz="6199" b="true">
                <a:solidFill>
                  <a:srgbClr val="0C0C0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Optimizing Aviation Insights: A Data Engineering Approach for Analyzing Flight Delays and Cancellations</a:t>
            </a:r>
          </a:p>
          <a:p>
            <a:pPr algn="l">
              <a:lnSpc>
                <a:spcPts val="204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32665" y="7117698"/>
            <a:ext cx="7222718" cy="4470809"/>
            <a:chOff x="0" y="0"/>
            <a:chExt cx="9630290" cy="5961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30243" cy="5960763"/>
            </a:xfrm>
            <a:custGeom>
              <a:avLst/>
              <a:gdLst/>
              <a:ahLst/>
              <a:cxnLst/>
              <a:rect r="r" b="b" t="t" l="l"/>
              <a:pathLst>
                <a:path h="5960763" w="9630243">
                  <a:moveTo>
                    <a:pt x="0" y="0"/>
                  </a:moveTo>
                  <a:lnTo>
                    <a:pt x="9630243" y="0"/>
                  </a:lnTo>
                  <a:lnTo>
                    <a:pt x="9630243" y="5960763"/>
                  </a:lnTo>
                  <a:lnTo>
                    <a:pt x="0" y="5960763"/>
                  </a:lnTo>
                  <a:close/>
                </a:path>
              </a:pathLst>
            </a:custGeom>
            <a:solidFill>
              <a:srgbClr val="325A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630290" cy="5989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A Data Engineering Case Study</a:t>
              </a:r>
            </a:p>
            <a:p>
              <a:pPr algn="l">
                <a:lnSpc>
                  <a:spcPts val="4319"/>
                </a:lnSpc>
              </a:pPr>
            </a:p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Presented by- D Bhanu prakash</a:t>
              </a:r>
            </a:p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              Santhkumar Ankala</a:t>
              </a:r>
            </a:p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                V Siri Vaishnavi</a:t>
              </a:r>
            </a:p>
            <a:p>
              <a:pPr algn="l">
                <a:lnSpc>
                  <a:spcPts val="4319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73593" y="1357378"/>
            <a:ext cx="6960490" cy="2747670"/>
          </a:xfrm>
          <a:custGeom>
            <a:avLst/>
            <a:gdLst/>
            <a:ahLst/>
            <a:cxnLst/>
            <a:rect r="r" b="b" t="t" l="l"/>
            <a:pathLst>
              <a:path h="2747670" w="6960490">
                <a:moveTo>
                  <a:pt x="0" y="0"/>
                </a:moveTo>
                <a:lnTo>
                  <a:pt x="6960490" y="0"/>
                </a:lnTo>
                <a:lnTo>
                  <a:pt x="6960490" y="2747670"/>
                </a:lnTo>
                <a:lnTo>
                  <a:pt x="0" y="2747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31346" y="7876276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44092" y="8140600"/>
            <a:ext cx="20776184" cy="2146456"/>
          </a:xfrm>
          <a:custGeom>
            <a:avLst/>
            <a:gdLst/>
            <a:ahLst/>
            <a:cxnLst/>
            <a:rect r="r" b="b" t="t" l="l"/>
            <a:pathLst>
              <a:path h="2146456" w="20776184">
                <a:moveTo>
                  <a:pt x="0" y="0"/>
                </a:moveTo>
                <a:lnTo>
                  <a:pt x="20776184" y="0"/>
                </a:lnTo>
                <a:lnTo>
                  <a:pt x="2077618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1514" y="2533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70314" y="1371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02800" y="18288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6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16698" y="6270076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1425" y="784845"/>
            <a:ext cx="152251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7118" y="2672022"/>
            <a:ext cx="15057348" cy="642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Business Problem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domestic flights experience major delays &amp; cancellations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DOT–BTS provides historical datasets (2015) with delays, cancellations &amp; diversions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a pipeline that analyzes delay trends, reasons, real-time updates, and predictive insights</a:t>
            </a:r>
          </a:p>
          <a:p>
            <a:pPr algn="just">
              <a:lnSpc>
                <a:spcPts val="4200"/>
              </a:lnSpc>
            </a:pP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Multiple data sources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+ historical merge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&amp; standardization</a:t>
            </a:r>
          </a:p>
          <a:p>
            <a:pPr algn="just" marL="755651" indent="-377825" lvl="1">
              <a:lnSpc>
                <a:spcPts val="4200"/>
              </a:lnSpc>
              <a:buAutoNum type="arabicPeriod" startAt="1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ingestion &amp; 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2504" y="7546926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97614" y="276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31346" y="7876276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30325" y="1000125"/>
            <a:ext cx="136273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0340" y="2314717"/>
            <a:ext cx="13716715" cy="482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end-to-end scalable cloud data pipeline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 flight datasets via AWS S3 → Snowflake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 Snowpipe for automated Bronze ingestion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cleansing, transformations, and modeling with dbt and snowpark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historical + real-time (flights_latest.csv) data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dimensional model (Star Schema)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 Gold layer fact &amp; dimension tables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Snowflake Time Travel</a:t>
            </a:r>
          </a:p>
          <a:p>
            <a:pPr algn="l" marL="763146" indent="-381573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analytics &amp; dashboards for delay insights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543888" y="1963332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2504" y="7546926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97614" y="276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31346" y="7876276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30325" y="1000125"/>
            <a:ext cx="136273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0340" y="2314717"/>
            <a:ext cx="12136324" cy="435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219" indent="-344109" lvl="1">
              <a:lnSpc>
                <a:spcPts val="3825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Airline Analytics Data Pipeline using Snowflake and dbt.</a:t>
            </a:r>
          </a:p>
          <a:p>
            <a:pPr algn="l" marL="688219" indent="-344109" lvl="1">
              <a:lnSpc>
                <a:spcPts val="3825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Bronze, Silver, and Gold layers for raw, cleaned, and curated data.</a:t>
            </a:r>
          </a:p>
          <a:p>
            <a:pPr algn="l" marL="688219" indent="-344109" lvl="1">
              <a:lnSpc>
                <a:spcPts val="3825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dimension and fact tables for flights, airlines, airports, and dates.</a:t>
            </a:r>
          </a:p>
          <a:p>
            <a:pPr algn="l" marL="688219" indent="-344109" lvl="1">
              <a:lnSpc>
                <a:spcPts val="3825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SCD Type 2 and Time Travel for historical tracking and data recovery.</a:t>
            </a:r>
          </a:p>
          <a:p>
            <a:pPr algn="l" marL="688219" indent="-344109" lvl="1">
              <a:lnSpc>
                <a:spcPts val="3825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dashboards, analytics, and business insights with clean, reliable data.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543888" y="1963332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20900" y="495376"/>
            <a:ext cx="1297592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&amp; Technologies Used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06664" y="4929714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94948" y="1905647"/>
            <a:ext cx="1297592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Snowflake – Cloud data warehouse for storage, SQL transformations, Streams, Tasks, and SCD2 logic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dbt Cloud/Core – ELT modeling framework for building dimensions, facts, tests, and documentation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Glue + PySpark – Used to preprocess raw files (CSV → Parquet) 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Snowpark (Python) – In-Snowflake transformations for Silver-layer cleaning, standardization, and feature creation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S3  – S3 as raw data landing zone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Streamlit  - Streamlit for dashboarding and KPI visualization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– Version control for dbt models, documentation, and collaborative development.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3691" y="6385401"/>
            <a:ext cx="7254736" cy="33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Data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Airlines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Airports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Flights Historical (2015)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Data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Flights Latest (Incremental)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Formats &amp; Storage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files stored in AWS S3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Loaded into Snowflake via Snowpipe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2243" y="5779733"/>
            <a:ext cx="202084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325A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90" y="8140600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146" y="7876276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514" y="17179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21864" y="15536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67162" y="7571372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8188" y="7571372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1146" y="4250358"/>
            <a:ext cx="5938243" cy="1571663"/>
          </a:xfrm>
          <a:custGeom>
            <a:avLst/>
            <a:gdLst/>
            <a:ahLst/>
            <a:cxnLst/>
            <a:rect r="r" b="b" t="t" l="l"/>
            <a:pathLst>
              <a:path h="1571663" w="5938243">
                <a:moveTo>
                  <a:pt x="0" y="0"/>
                </a:moveTo>
                <a:lnTo>
                  <a:pt x="5938243" y="0"/>
                </a:lnTo>
                <a:lnTo>
                  <a:pt x="5938243" y="1571662"/>
                </a:lnTo>
                <a:lnTo>
                  <a:pt x="0" y="15716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94793" y="2376377"/>
            <a:ext cx="9416196" cy="73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S3 (CSV / Parquet)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Snowpipe (Auto-Ingest)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Bronze Layer (Raw)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 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Silver Layer (Cleaned / Standardized)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snowpark transformations, dbt Transformations, Macros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 Layer (Dimensional / Fact / Aggregations)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</a:p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Dashboards (Snowflake / Streamlit)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9723" y="533400"/>
            <a:ext cx="902633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High-Level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2504" y="7546926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97614" y="276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41806" y="8008412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0325" y="879151"/>
            <a:ext cx="136273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Medallion Architecture (Snowflake + dbt)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548462" y="6644390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1522" y="2828925"/>
            <a:ext cx="14928975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Bronze Layer (Raw Ingestion): Data auto-ingested from S3 using Snowpipe, stored in raw form for lineage and auditability.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Silver Layer (Clean &amp; Standardized): Performed core transformations using Snowpark + dbt, including cleansing, type casting, surrogate key generation, and enrichment.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 Layer (Curated Business Layer): Applied SCD2 on dimensions and built final Dims &amp; Fact tables optimized for analytics, reporting, and time-travel demonstrations.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Approach: Used a mix of auto-ingestion (Snowpipe) and batch processing for curated transformations.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Layer: Gold datasets consumed for insights and dashboards such as airline delay comparisons, trends, and performance KPIs.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90" y="8140600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146" y="7876276"/>
            <a:ext cx="1622492" cy="2410728"/>
          </a:xfrm>
          <a:custGeom>
            <a:avLst/>
            <a:gdLst/>
            <a:ahLst/>
            <a:cxnLst/>
            <a:rect r="r" b="b" t="t" l="l"/>
            <a:pathLst>
              <a:path h="2410728" w="1622492">
                <a:moveTo>
                  <a:pt x="0" y="0"/>
                </a:moveTo>
                <a:lnTo>
                  <a:pt x="1622492" y="0"/>
                </a:lnTo>
                <a:lnTo>
                  <a:pt x="1622492" y="2410728"/>
                </a:lnTo>
                <a:lnTo>
                  <a:pt x="0" y="2410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514" y="17179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21864" y="15536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67162" y="7571372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8188" y="7571372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76646" y="-538278"/>
            <a:ext cx="8335617" cy="11022618"/>
          </a:xfrm>
          <a:custGeom>
            <a:avLst/>
            <a:gdLst/>
            <a:ahLst/>
            <a:cxnLst/>
            <a:rect r="r" b="b" t="t" l="l"/>
            <a:pathLst>
              <a:path h="11022618" w="8335617">
                <a:moveTo>
                  <a:pt x="0" y="0"/>
                </a:moveTo>
                <a:lnTo>
                  <a:pt x="8335618" y="0"/>
                </a:lnTo>
                <a:lnTo>
                  <a:pt x="8335618" y="11022618"/>
                </a:lnTo>
                <a:lnTo>
                  <a:pt x="0" y="110226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56" t="-2423" r="0" b="-268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2392" y="3397776"/>
            <a:ext cx="3205428" cy="34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0"/>
              </a:lnSpc>
            </a:pPr>
            <a:r>
              <a:rPr lang="en-US" b="true" sz="5633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Modelling(Star Schema)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31854" y="4070495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60839" y="1000125"/>
            <a:ext cx="9260031" cy="873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┌──────────────────────┐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│   Raw CSV (Bronze)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└──────────┬───────────┘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▼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┌──────────────────────┐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│ Silver Flights Table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│ (Cleaned &amp; Standard)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└──────────┬───────────┘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Snowflake Stream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▼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┌────────────────────────┐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│ Latest Changed Records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│ (ROW_NUMBER filter)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└──────────┬─────────────┘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SCD2 Stored Procedure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┌─────────────────────┴──────────────────────────────┐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│                                              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▼                                                    ▼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old record                                  Insert new version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(effective_end ← now)                             (effective_start ← now)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(is_current ← 'N')                                (is_current = 'Y')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│                                                  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└─────────────────────┬───────────────────────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▼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┌────────────────────────┐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│    DIM_FLIGHTS (SCD2)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│ Full Version History   │</a:t>
            </a:r>
          </a:p>
          <a:p>
            <a:pPr algn="ctr">
              <a:lnSpc>
                <a:spcPts val="2215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└────────────────────────┘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1425" y="784845"/>
            <a:ext cx="479409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Flowchart of SCD 2 Using streams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06664" y="4929714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2004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20900" y="495376"/>
            <a:ext cx="1297592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Processing Approaches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106664" y="4929714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19828" y="1896693"/>
            <a:ext cx="13526165" cy="871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25A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Processing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Glue + PySpark used for optional preprocessing and schema validation before landing data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Snowpark and  dbt models perform batch cleansing, standardization, and enrichment in Silver layer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transformations generate curated Gold datasets for KPIs, aggregations, and reporting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batch runs refresh facts, dimensions, and aggregated marts for dashboards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325A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/ Incremental Processing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Snowpipe automatically ingests new files from S3 → Bronze Layer with zero manual triggers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Snowflake Streams monitor Silver tables for row-level inserts and updates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SCD Type-2 implemented using Streams + MERGE to version flight-level dimensional data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Incremental processing pipeline ensures only changed flights are updated in Dim &amp; Fact table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78282" y="6366351"/>
            <a:ext cx="1483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67085" y="8008412"/>
            <a:ext cx="23195534" cy="2146456"/>
          </a:xfrm>
          <a:custGeom>
            <a:avLst/>
            <a:gdLst/>
            <a:ahLst/>
            <a:cxnLst/>
            <a:rect r="r" b="b" t="t" l="l"/>
            <a:pathLst>
              <a:path h="2146456" w="23195534">
                <a:moveTo>
                  <a:pt x="0" y="0"/>
                </a:moveTo>
                <a:lnTo>
                  <a:pt x="23195534" y="0"/>
                </a:lnTo>
                <a:lnTo>
                  <a:pt x="231955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2504" y="7546926"/>
            <a:ext cx="938516" cy="2745504"/>
          </a:xfrm>
          <a:custGeom>
            <a:avLst/>
            <a:gdLst/>
            <a:ahLst/>
            <a:cxnLst/>
            <a:rect r="r" b="b" t="t" l="l"/>
            <a:pathLst>
              <a:path h="2745504" w="938516">
                <a:moveTo>
                  <a:pt x="0" y="0"/>
                </a:moveTo>
                <a:lnTo>
                  <a:pt x="938516" y="0"/>
                </a:lnTo>
                <a:lnTo>
                  <a:pt x="938516" y="2745504"/>
                </a:lnTo>
                <a:lnTo>
                  <a:pt x="0" y="274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02800" y="533476"/>
            <a:ext cx="3262150" cy="748500"/>
          </a:xfrm>
          <a:custGeom>
            <a:avLst/>
            <a:gdLst/>
            <a:ahLst/>
            <a:cxnLst/>
            <a:rect r="r" b="b" t="t" l="l"/>
            <a:pathLst>
              <a:path h="748500" w="3262150">
                <a:moveTo>
                  <a:pt x="0" y="0"/>
                </a:moveTo>
                <a:lnTo>
                  <a:pt x="3262150" y="0"/>
                </a:lnTo>
                <a:lnTo>
                  <a:pt x="3262150" y="748500"/>
                </a:lnTo>
                <a:lnTo>
                  <a:pt x="0" y="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97614" y="276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0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64298" y="626550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9148" y="533400"/>
            <a:ext cx="685712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Quality checks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9148" y="2889781"/>
            <a:ext cx="6857122" cy="414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Validated: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checks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primary keys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Referential integrity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value ranges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Timestamp consistency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dbt tests for automated checks</a:t>
            </a:r>
            <a:r>
              <a:rPr lang="en-US" b="true" sz="3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941004" y="7546926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02974" y="533400"/>
            <a:ext cx="395775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Travel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2059517"/>
            <a:ext cx="7154193" cy="682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292" indent="-345646" lvl="1">
              <a:lnSpc>
                <a:spcPts val="3842"/>
              </a:lnSpc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afe experimentation: Copied the flights table to try changes without affecting original data.</a:t>
            </a:r>
          </a:p>
          <a:p>
            <a:pPr algn="l" marL="691292" indent="-345646" lvl="1">
              <a:lnSpc>
                <a:spcPts val="3842"/>
              </a:lnSpc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 changes: Deleted specific flight records.</a:t>
            </a:r>
          </a:p>
          <a:p>
            <a:pPr algn="l" marL="691292" indent="-345646" lvl="1">
              <a:lnSpc>
                <a:spcPts val="3842"/>
              </a:lnSpc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Recover historical data: Viewed past versions of the table to restore deleted records.</a:t>
            </a:r>
          </a:p>
          <a:p>
            <a:pPr algn="l" marL="691292" indent="-345646" lvl="1">
              <a:lnSpc>
                <a:spcPts val="3842"/>
              </a:lnSpc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Permanent clone with retention: Created a clone that keeps historical data for a set period.</a:t>
            </a:r>
          </a:p>
          <a:p>
            <a:pPr algn="l" marL="691292" indent="-345646" lvl="1">
              <a:lnSpc>
                <a:spcPts val="3842"/>
              </a:lnSpc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benefit: Enables data recovery, auditing, and rollback safely and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87366" y="8140600"/>
            <a:ext cx="27615134" cy="2146456"/>
          </a:xfrm>
          <a:custGeom>
            <a:avLst/>
            <a:gdLst/>
            <a:ahLst/>
            <a:cxnLst/>
            <a:rect r="r" b="b" t="t" l="l"/>
            <a:pathLst>
              <a:path h="2146456" w="27615134">
                <a:moveTo>
                  <a:pt x="0" y="0"/>
                </a:moveTo>
                <a:lnTo>
                  <a:pt x="27615134" y="0"/>
                </a:lnTo>
                <a:lnTo>
                  <a:pt x="276151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7964" y="3658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8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1226" y="626545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7138" y="1022582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31933" y="626052"/>
            <a:ext cx="1254033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325AD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Dashboard Visualizations and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10635" y="2713804"/>
            <a:ext cx="14386595" cy="58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415" indent="-319208" lvl="1">
              <a:lnSpc>
                <a:spcPts val="3548"/>
              </a:lnSpc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Aviation Performance Visualizations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This section of the dashboard highlights key aviation metrics, showing totals for flights, delays, cancellations, and the overall average delay</a:t>
            </a:r>
          </a:p>
          <a:p>
            <a:pPr algn="l" marL="638415" indent="-319208" lvl="1">
              <a:lnSpc>
                <a:spcPts val="3548"/>
              </a:lnSpc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Delay trend over time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This  chart shows how average flight arrival delays steadily increase over time across the selected flight dates.</a:t>
            </a:r>
          </a:p>
          <a:p>
            <a:pPr algn="l" marL="638415" indent="-319208" lvl="1">
              <a:lnSpc>
                <a:spcPts val="3548"/>
              </a:lnSpc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Airline Delay Comparision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A comparison of average arrival delays across major U.S. airlines, highlighting which carriers consistently run early or late.</a:t>
            </a:r>
          </a:p>
          <a:p>
            <a:pPr algn="l" marL="638415" indent="-319208" lvl="1">
              <a:lnSpc>
                <a:spcPts val="3548"/>
              </a:lnSpc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Cancellation Rate by airline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This chart compares cancellation rates across airlines, showing that American Eagle has the highest cancellation rate among them.</a:t>
            </a:r>
          </a:p>
          <a:p>
            <a:pPr algn="l" marL="638415" indent="-319208" lvl="1">
              <a:lnSpc>
                <a:spcPts val="3548"/>
              </a:lnSpc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Route Delay Heatmap -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route-level heatmap visualizing average delays between origin–destination airport pairs, helping identify the most delay-prone flight routes.</a:t>
            </a:r>
          </a:p>
          <a:p>
            <a:pPr algn="l" marL="638415" indent="-319208" lvl="1">
              <a:lnSpc>
                <a:spcPts val="3548"/>
              </a:lnSpc>
              <a:spcBef>
                <a:spcPct val="0"/>
              </a:spcBef>
              <a:buAutoNum type="arabicPeriod" startAt="1"/>
            </a:pPr>
            <a:r>
              <a:rPr lang="en-US" b="true" sz="295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Monthly Average Delay</a:t>
            </a:r>
            <a:r>
              <a:rPr lang="en-US" sz="29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The chart shows that the average arrival delay increases steadily from January to March 2015.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87366" y="8140600"/>
            <a:ext cx="27615134" cy="2146456"/>
          </a:xfrm>
          <a:custGeom>
            <a:avLst/>
            <a:gdLst/>
            <a:ahLst/>
            <a:cxnLst/>
            <a:rect r="r" b="b" t="t" l="l"/>
            <a:pathLst>
              <a:path h="2146456" w="27615134">
                <a:moveTo>
                  <a:pt x="0" y="0"/>
                </a:moveTo>
                <a:lnTo>
                  <a:pt x="27615134" y="0"/>
                </a:lnTo>
                <a:lnTo>
                  <a:pt x="27615134" y="2146456"/>
                </a:lnTo>
                <a:lnTo>
                  <a:pt x="0" y="21464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7964" y="36584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664" y="185990"/>
            <a:ext cx="1931208" cy="478162"/>
          </a:xfrm>
          <a:custGeom>
            <a:avLst/>
            <a:gdLst/>
            <a:ahLst/>
            <a:cxnLst/>
            <a:rect r="r" b="b" t="t" l="l"/>
            <a:pathLst>
              <a:path h="478162" w="1931208">
                <a:moveTo>
                  <a:pt x="0" y="0"/>
                </a:moveTo>
                <a:lnTo>
                  <a:pt x="1931208" y="0"/>
                </a:lnTo>
                <a:lnTo>
                  <a:pt x="1931208" y="478162"/>
                </a:lnTo>
                <a:lnTo>
                  <a:pt x="0" y="47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27850" y="6394926"/>
            <a:ext cx="1330472" cy="3892124"/>
          </a:xfrm>
          <a:custGeom>
            <a:avLst/>
            <a:gdLst/>
            <a:ahLst/>
            <a:cxnLst/>
            <a:rect r="r" b="b" t="t" l="l"/>
            <a:pathLst>
              <a:path h="3892124" w="1330472">
                <a:moveTo>
                  <a:pt x="0" y="0"/>
                </a:moveTo>
                <a:lnTo>
                  <a:pt x="1330472" y="0"/>
                </a:lnTo>
                <a:lnTo>
                  <a:pt x="1330472" y="3892124"/>
                </a:lnTo>
                <a:lnTo>
                  <a:pt x="0" y="3892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1226" y="6265458"/>
            <a:ext cx="1528974" cy="4021518"/>
          </a:xfrm>
          <a:custGeom>
            <a:avLst/>
            <a:gdLst/>
            <a:ahLst/>
            <a:cxnLst/>
            <a:rect r="r" b="b" t="t" l="l"/>
            <a:pathLst>
              <a:path h="4021518" w="1528974">
                <a:moveTo>
                  <a:pt x="0" y="0"/>
                </a:moveTo>
                <a:lnTo>
                  <a:pt x="1528974" y="0"/>
                </a:lnTo>
                <a:lnTo>
                  <a:pt x="1528974" y="4021518"/>
                </a:lnTo>
                <a:lnTo>
                  <a:pt x="0" y="4021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7138" y="1022582"/>
            <a:ext cx="2286334" cy="902536"/>
          </a:xfrm>
          <a:custGeom>
            <a:avLst/>
            <a:gdLst/>
            <a:ahLst/>
            <a:cxnLst/>
            <a:rect r="r" b="b" t="t" l="l"/>
            <a:pathLst>
              <a:path h="902536" w="2286334">
                <a:moveTo>
                  <a:pt x="0" y="0"/>
                </a:moveTo>
                <a:lnTo>
                  <a:pt x="2286334" y="0"/>
                </a:lnTo>
                <a:lnTo>
                  <a:pt x="2286334" y="902536"/>
                </a:lnTo>
                <a:lnTo>
                  <a:pt x="0" y="902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50317" y="4591050"/>
            <a:ext cx="9026336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134025" y="6265458"/>
            <a:ext cx="5938243" cy="1571663"/>
          </a:xfrm>
          <a:custGeom>
            <a:avLst/>
            <a:gdLst/>
            <a:ahLst/>
            <a:cxnLst/>
            <a:rect r="r" b="b" t="t" l="l"/>
            <a:pathLst>
              <a:path h="1571663" w="5938243">
                <a:moveTo>
                  <a:pt x="0" y="0"/>
                </a:moveTo>
                <a:lnTo>
                  <a:pt x="5938243" y="0"/>
                </a:lnTo>
                <a:lnTo>
                  <a:pt x="5938243" y="1571663"/>
                </a:lnTo>
                <a:lnTo>
                  <a:pt x="0" y="15716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DAG6E5qMC0E</dc:identifier>
  <dcterms:modified xsi:type="dcterms:W3CDTF">2011-08-01T06:04:30Z</dcterms:modified>
  <cp:revision>1</cp:revision>
  <dc:title>Aviation insights project.pptx</dc:title>
</cp:coreProperties>
</file>